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793" r:id="rId2"/>
    <p:sldId id="888" r:id="rId3"/>
    <p:sldId id="1089" r:id="rId4"/>
    <p:sldId id="947" r:id="rId5"/>
    <p:sldId id="1090" r:id="rId6"/>
    <p:sldId id="1091" r:id="rId7"/>
    <p:sldId id="1092" r:id="rId8"/>
    <p:sldId id="1129" r:id="rId9"/>
    <p:sldId id="1093" r:id="rId10"/>
    <p:sldId id="1095" r:id="rId11"/>
    <p:sldId id="1104" r:id="rId12"/>
    <p:sldId id="1097" r:id="rId13"/>
    <p:sldId id="1098" r:id="rId14"/>
    <p:sldId id="1099" r:id="rId15"/>
    <p:sldId id="1101" r:id="rId16"/>
    <p:sldId id="1102" r:id="rId17"/>
    <p:sldId id="890" r:id="rId18"/>
    <p:sldId id="1105" r:id="rId19"/>
    <p:sldId id="1106" r:id="rId20"/>
    <p:sldId id="1108" r:id="rId21"/>
    <p:sldId id="1109" r:id="rId22"/>
    <p:sldId id="1110" r:id="rId23"/>
    <p:sldId id="1111" r:id="rId24"/>
    <p:sldId id="1112" r:id="rId25"/>
    <p:sldId id="1113" r:id="rId26"/>
    <p:sldId id="1114" r:id="rId27"/>
    <p:sldId id="1116" r:id="rId28"/>
    <p:sldId id="1117" r:id="rId29"/>
    <p:sldId id="1121" r:id="rId30"/>
    <p:sldId id="1122" r:id="rId31"/>
    <p:sldId id="1125" r:id="rId32"/>
    <p:sldId id="1124" r:id="rId33"/>
    <p:sldId id="1126" r:id="rId34"/>
    <p:sldId id="1127" r:id="rId35"/>
    <p:sldId id="1128" r:id="rId36"/>
    <p:sldId id="1118" r:id="rId37"/>
    <p:sldId id="1119" r:id="rId38"/>
    <p:sldId id="945" r:id="rId39"/>
    <p:sldId id="946" r:id="rId40"/>
  </p:sldIdLst>
  <p:sldSz cx="18288000" cy="10288588"/>
  <p:notesSz cx="6889750" cy="960755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HY엽서M" panose="02030600000101010101" pitchFamily="18" charset="-127"/>
      <p:regular r:id="rId47"/>
    </p:embeddedFont>
    <p:embeddedFont>
      <p:font typeface="맑은 고딕" panose="020B0503020000020004" pitchFamily="50" charset="-127"/>
      <p:regular r:id="rId48"/>
      <p:bold r:id="rId49"/>
    </p:embeddedFont>
    <p:embeddedFont>
      <p:font typeface="Calibri Light" panose="020F0302020204030204" pitchFamily="34" charset="0"/>
      <p:regular r:id="rId50"/>
      <p:italic r:id="rId51"/>
    </p:embeddedFont>
    <p:embeddedFont>
      <p:font typeface="나눔바른고딕" panose="020B0600000101010101" charset="-127"/>
      <p:regular r:id="rId52"/>
      <p:bold r:id="rId53"/>
    </p:embeddedFont>
    <p:embeddedFont>
      <p:font typeface="Wingdings 3" panose="05040102010807070707" pitchFamily="18" charset="2"/>
      <p:regular r:id="rId54"/>
    </p:embeddedFont>
  </p:embeddedFontLst>
  <p:defaultTextStyle>
    <a:defPPr>
      <a:defRPr lang="ko-KR"/>
    </a:defPPr>
    <a:lvl1pPr marL="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6212" userDrawn="1">
          <p15:clr>
            <a:srgbClr val="A4A3A4"/>
          </p15:clr>
        </p15:guide>
        <p15:guide id="2" pos="79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2" clrIdx="0">
    <p:extLst/>
  </p:cmAuthor>
  <p:cmAuthor id="2" name="서희 박" initials="서박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262626"/>
    <a:srgbClr val="A3D977"/>
    <a:srgbClr val="00B050"/>
    <a:srgbClr val="FFFFFF"/>
    <a:srgbClr val="99D2F2"/>
    <a:srgbClr val="FFF8DC"/>
    <a:srgbClr val="44546A"/>
    <a:srgbClr val="2F5597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1" autoAdjust="0"/>
    <p:restoredTop sz="95388" autoAdjust="0"/>
  </p:normalViewPr>
  <p:slideViewPr>
    <p:cSldViewPr snapToGrid="0">
      <p:cViewPr varScale="1">
        <p:scale>
          <a:sx n="61" d="100"/>
          <a:sy n="61" d="100"/>
        </p:scale>
        <p:origin x="-738" y="-72"/>
      </p:cViewPr>
      <p:guideLst>
        <p:guide orient="horz" pos="6212"/>
        <p:guide pos="7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482046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482046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>
              <a:defRPr sz="1200"/>
            </a:lvl1pPr>
          </a:lstStyle>
          <a:p>
            <a:fld id="{EE66659B-9FE9-4976-A837-D4C69607BDDE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125506"/>
            <a:ext cx="2985558" cy="48204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2597" y="9125506"/>
            <a:ext cx="2985558" cy="48204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r">
              <a:defRPr sz="1200"/>
            </a:lvl1pPr>
          </a:lstStyle>
          <a:p>
            <a:fld id="{B2004E29-DFAC-4011-B70C-7655C6BAF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7690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805B5-DE37-452D-A62B-A8E50391DBE4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44475" y="720725"/>
            <a:ext cx="6400800" cy="3602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564063"/>
            <a:ext cx="5511800" cy="43227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2495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075" y="912495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D470C-A72D-47B9-B107-6AD1788B3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64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804"/>
            <a:ext cx="13716000" cy="358195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891"/>
            <a:ext cx="13716000" cy="2484026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75E2-20BE-465F-A4BA-00B6964157B2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‹#›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972000" indent="-342900">
              <a:buFont typeface="나눔바른고딕" panose="020B0603020101020101" pitchFamily="50" charset="-127"/>
              <a:buChar char="-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440000" indent="-342900">
              <a:buFont typeface="Wingdings" panose="05000000000000000000" pitchFamily="2" charset="2"/>
              <a:buChar char="§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2400300" indent="-342900">
              <a:buFont typeface="Wingdings" panose="05000000000000000000" pitchFamily="2" charset="2"/>
              <a:buChar char="ü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DA0EA-863A-4F72-8650-3216AD3AF0E2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31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5004"/>
            <a:ext cx="15773400" cy="427976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5258"/>
            <a:ext cx="15773400" cy="2250628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F44D-DA3F-4B8A-878A-8D83E747D8F9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90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860"/>
            <a:ext cx="7772400" cy="652801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860"/>
            <a:ext cx="7772400" cy="652801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DC99-7833-4551-8230-9A9F477EBB17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8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773"/>
            <a:ext cx="15773400" cy="198865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2134"/>
            <a:ext cx="7736681" cy="12360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8193"/>
            <a:ext cx="7736681" cy="552773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2134"/>
            <a:ext cx="7774782" cy="12360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8193"/>
            <a:ext cx="7774782" cy="552773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95EB-4634-4B6D-8625-DB0B30401634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85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97E4-E5A2-4938-A0D3-C28BB8D965FA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17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902B-7717-4347-BF28-DFF6E32F278D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21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906"/>
            <a:ext cx="5898356" cy="240067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367"/>
            <a:ext cx="9258300" cy="731156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576"/>
            <a:ext cx="5898356" cy="571826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DC04F-80AB-45D3-9A8F-00ACA3C8F4DC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4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906"/>
            <a:ext cx="5898356" cy="240067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367"/>
            <a:ext cx="9258300" cy="7311566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576"/>
            <a:ext cx="5898356" cy="571826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97C7-6B12-406E-B2CD-AA4AA10D48DB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27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0E0E-EDD4-4A2C-A185-B7532A25E047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81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772"/>
            <a:ext cx="3943350" cy="871910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772"/>
            <a:ext cx="11601450" cy="871910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5138-B2C5-467B-AE9C-3B1796D0AC3B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08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773"/>
            <a:ext cx="15773400" cy="1988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860"/>
            <a:ext cx="15773400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5998"/>
            <a:ext cx="41148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955E9-5A40-4466-A138-C328315A611D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5998"/>
            <a:ext cx="61722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5998"/>
            <a:ext cx="41148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094EA7AB-B050-444D-A603-EB00471B9317}"/>
              </a:ext>
            </a:extLst>
          </p:cNvPr>
          <p:cNvGrpSpPr/>
          <p:nvPr/>
        </p:nvGrpSpPr>
        <p:grpSpPr>
          <a:xfrm>
            <a:off x="0" y="0"/>
            <a:ext cx="18240032" cy="320843"/>
            <a:chOff x="0" y="0"/>
            <a:chExt cx="18240032" cy="3208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7281863C-4890-4C62-AE45-37011F809F2C}"/>
                </a:ext>
              </a:extLst>
            </p:cNvPr>
            <p:cNvSpPr/>
            <p:nvPr/>
          </p:nvSpPr>
          <p:spPr>
            <a:xfrm>
              <a:off x="0" y="1"/>
              <a:ext cx="15086101" cy="3208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xmlns="" id="{BE19EF5E-01D6-4192-92DF-5351631BC48C}"/>
                </a:ext>
              </a:extLst>
            </p:cNvPr>
            <p:cNvSpPr/>
            <p:nvPr/>
          </p:nvSpPr>
          <p:spPr>
            <a:xfrm>
              <a:off x="15086102" y="0"/>
              <a:ext cx="1798820" cy="3208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xmlns="" id="{69592F03-FEF8-4366-B0CC-56D6ECC743E6}"/>
                </a:ext>
              </a:extLst>
            </p:cNvPr>
            <p:cNvSpPr/>
            <p:nvPr/>
          </p:nvSpPr>
          <p:spPr>
            <a:xfrm>
              <a:off x="16884921" y="0"/>
              <a:ext cx="953373" cy="32084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xmlns="" id="{51E300A2-1F01-4680-A94B-BE275DF667E9}"/>
                </a:ext>
              </a:extLst>
            </p:cNvPr>
            <p:cNvSpPr/>
            <p:nvPr/>
          </p:nvSpPr>
          <p:spPr>
            <a:xfrm>
              <a:off x="17838295" y="0"/>
              <a:ext cx="401737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CABF6730-1BE9-4DE4-984A-11EA523C6167}"/>
              </a:ext>
            </a:extLst>
          </p:cNvPr>
          <p:cNvGrpSpPr/>
          <p:nvPr/>
        </p:nvGrpSpPr>
        <p:grpSpPr>
          <a:xfrm flipV="1">
            <a:off x="0" y="0"/>
            <a:ext cx="18361152" cy="10288588"/>
            <a:chOff x="0" y="0"/>
            <a:chExt cx="18361152" cy="1028858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xmlns="" id="{6A66E8EB-4A6F-4C8F-8891-EC763344B48B}"/>
                </a:ext>
              </a:extLst>
            </p:cNvPr>
            <p:cNvSpPr/>
            <p:nvPr/>
          </p:nvSpPr>
          <p:spPr>
            <a:xfrm>
              <a:off x="0" y="1"/>
              <a:ext cx="15086101" cy="3208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xmlns="" id="{C4416E4C-9F56-49AF-98BF-E128D2866CD8}"/>
                </a:ext>
              </a:extLst>
            </p:cNvPr>
            <p:cNvSpPr/>
            <p:nvPr/>
          </p:nvSpPr>
          <p:spPr>
            <a:xfrm>
              <a:off x="15086102" y="0"/>
              <a:ext cx="1798820" cy="3208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360FBEF9-D7B6-46F3-AFAD-6E3908AB19A9}"/>
                </a:ext>
              </a:extLst>
            </p:cNvPr>
            <p:cNvSpPr/>
            <p:nvPr/>
          </p:nvSpPr>
          <p:spPr>
            <a:xfrm>
              <a:off x="16884921" y="0"/>
              <a:ext cx="953373" cy="32084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2A221E6C-39BB-45A5-BA48-AC6CA978017C}"/>
                </a:ext>
              </a:extLst>
            </p:cNvPr>
            <p:cNvSpPr/>
            <p:nvPr/>
          </p:nvSpPr>
          <p:spPr>
            <a:xfrm>
              <a:off x="17838295" y="0"/>
              <a:ext cx="401737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C04813E0-CD6F-461D-A8E5-EDD58A8E622F}"/>
                </a:ext>
              </a:extLst>
            </p:cNvPr>
            <p:cNvSpPr/>
            <p:nvPr/>
          </p:nvSpPr>
          <p:spPr>
            <a:xfrm rot="5400000">
              <a:off x="13056463" y="4983899"/>
              <a:ext cx="10288536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BF117464-5B11-41EE-801F-B142BD14A5A4}"/>
              </a:ext>
            </a:extLst>
          </p:cNvPr>
          <p:cNvSpPr/>
          <p:nvPr/>
        </p:nvSpPr>
        <p:spPr>
          <a:xfrm rot="16200000" flipV="1">
            <a:off x="-5060048" y="4994364"/>
            <a:ext cx="10288536" cy="3208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0" spc="-15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3F250FDD-6E82-43E2-AF59-20296424A3FD}"/>
              </a:ext>
            </a:extLst>
          </p:cNvPr>
          <p:cNvGrpSpPr/>
          <p:nvPr/>
        </p:nvGrpSpPr>
        <p:grpSpPr>
          <a:xfrm>
            <a:off x="929775" y="2907396"/>
            <a:ext cx="5361116" cy="2184123"/>
            <a:chOff x="773001" y="3158082"/>
            <a:chExt cx="5361116" cy="2184123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773001" y="4623194"/>
              <a:ext cx="2727825" cy="70788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10</a:t>
              </a:r>
              <a:r>
                <a:rPr lang="ko-KR" altLang="en-US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주차 </a:t>
              </a:r>
              <a:r>
                <a:rPr lang="en-US" altLang="ko-KR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1</a:t>
              </a:r>
              <a:r>
                <a:rPr lang="ko-KR" altLang="en-US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교시</a:t>
              </a:r>
              <a:endParaRPr lang="ko-KR" altLang="en-US" sz="32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04257" y="4634319"/>
              <a:ext cx="252986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spc="-150" dirty="0" smtClean="0">
                  <a:ln w="317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그래프 구조</a:t>
              </a:r>
              <a:endParaRPr lang="ko-KR" altLang="en-US" sz="4000" spc="-150" dirty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xmlns="" id="{BE8602FE-E2F0-47BC-ADDA-7573D795AA35}"/>
                </a:ext>
              </a:extLst>
            </p:cNvPr>
            <p:cNvSpPr/>
            <p:nvPr/>
          </p:nvSpPr>
          <p:spPr>
            <a:xfrm>
              <a:off x="773001" y="3158082"/>
              <a:ext cx="3930983" cy="120035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6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자료구조</a:t>
              </a:r>
              <a:endParaRPr lang="ko-KR" altLang="en-US" sz="66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056E7A73-56B3-4626-914B-600BB5AEB92B}"/>
              </a:ext>
            </a:extLst>
          </p:cNvPr>
          <p:cNvSpPr/>
          <p:nvPr/>
        </p:nvSpPr>
        <p:spPr>
          <a:xfrm>
            <a:off x="929775" y="5461258"/>
            <a:ext cx="66132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그래프의 개요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056E7A73-56B3-4626-914B-600BB5AEB92B}"/>
              </a:ext>
            </a:extLst>
          </p:cNvPr>
          <p:cNvSpPr/>
          <p:nvPr/>
        </p:nvSpPr>
        <p:spPr>
          <a:xfrm>
            <a:off x="923151" y="6468412"/>
            <a:ext cx="53737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그래프의</a:t>
            </a: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종류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xmlns="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47506" y="7248192"/>
            <a:ext cx="263538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056E7A73-56B3-4626-914B-600BB5AEB92B}"/>
              </a:ext>
            </a:extLst>
          </p:cNvPr>
          <p:cNvSpPr/>
          <p:nvPr/>
        </p:nvSpPr>
        <p:spPr>
          <a:xfrm>
            <a:off x="950859" y="7431310"/>
            <a:ext cx="53737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그래프의 표현 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xmlns="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52313" y="8211088"/>
            <a:ext cx="2618182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78467" y="6229017"/>
            <a:ext cx="2546585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1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709567" y="3323967"/>
            <a:ext cx="10535980" cy="11244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626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113" y="6153150"/>
            <a:ext cx="3876675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108817"/>
            <a:chOff x="1454251" y="3644747"/>
            <a:chExt cx="11282473" cy="4108817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108817"/>
            </a:xfrm>
            <a:prstGeom prst="rect">
              <a:avLst/>
            </a:prstGeom>
            <a:ln>
              <a:noFill/>
              <a:prstDash val="sysDash"/>
            </a:ln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이론의 배경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쾨니히스베르크시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러시아 칼리닌그라드 주 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칼리닌그라드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한 가운데는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프레겔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강이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흐르고 있고 여기에는 가운데 섬들과 연결되어있는 일곱 개의 다리가 있다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다리들을한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번씩만 차례로 모두 건널 수 있겠는가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?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Koenigsberg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다리 문제를 해결하기 위해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Euler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처음 사용함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최단거리, 연구계획 분석, 전기회로 분석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지도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도로 등에 이용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그래프는 항공 노선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선수과목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작업 스케줄링 등을 구성하는데 쓰임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ko-KR" altLang="en-US" sz="1100" dirty="0">
                <a:latin typeface="Adobe 고딕 Std B" pitchFamily="34" charset="-127"/>
                <a:ea typeface="Adobe 고딕 Std B" pitchFamily="34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6053138"/>
            <a:ext cx="2967037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8" descr="그림2 copy"/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091" y="7105135"/>
            <a:ext cx="394725" cy="632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7963" y="6096000"/>
            <a:ext cx="1766887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190750" y="8949034"/>
            <a:ext cx="10172700" cy="404515"/>
          </a:xfrm>
          <a:prstGeom prst="rect">
            <a:avLst/>
          </a:prstGeom>
          <a:solidFill>
            <a:srgbClr val="203864"/>
          </a:solidFill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정점이 짝수 개의 차수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(degree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갖는다면 모든 다리를 한 번씩만 건너서 도달하는 것이 성립</a:t>
            </a:r>
          </a:p>
        </p:txBody>
      </p:sp>
      <p:pic>
        <p:nvPicPr>
          <p:cNvPr id="22" name="Picture 8" descr="그림2 copy"/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146" y="7096897"/>
            <a:ext cx="394725" cy="632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모서리가 둥근 직사각형 9">
            <a:extLst>
              <a:ext uri="{FF2B5EF4-FFF2-40B4-BE49-F238E27FC236}">
                <a16:creationId xmlns:a16="http://schemas.microsoft.com/office/drawing/2014/main" xmlns="" id="{54DE5E1B-B975-48A5-BFDE-DDE1B45FB555}"/>
              </a:ext>
            </a:extLst>
          </p:cNvPr>
          <p:cNvSpPr/>
          <p:nvPr/>
        </p:nvSpPr>
        <p:spPr>
          <a:xfrm>
            <a:off x="1082083" y="2873148"/>
            <a:ext cx="283109" cy="2849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V</a:t>
            </a:r>
            <a:endParaRPr lang="ko-KR" altLang="en-US" sz="2400" b="1" spc="-150" dirty="0">
              <a:ln w="12700">
                <a:noFill/>
              </a:ln>
              <a:solidFill>
                <a:schemeClr val="accent5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335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573" y="7078525"/>
            <a:ext cx="5419931" cy="1906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278094"/>
            <a:chOff x="1454251" y="3644747"/>
            <a:chExt cx="11282473" cy="4278094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2780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선형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자료구조나 트리 자료구조로 표현하기 어려운 多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多의 관계를 가지는 원소들을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표현하기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위한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자료구조를 말함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 = (V,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E)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V(vertex,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-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공집합이 아닌 그래프에 있는 정점들의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집합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위치의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개념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E(edge,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연결선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-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정점을 연결하는 간선들의 집합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위치간의 관계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예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2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V(G</a:t>
              </a:r>
              <a:r>
                <a:rPr lang="en-US" altLang="ko-KR" sz="20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= {0, 1, 2, 3}, E(G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= {(0, 1), (0, 3), (1, 2),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2, 3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)}</a:t>
              </a: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V(G</a:t>
              </a:r>
              <a:r>
                <a:rPr lang="en-US" altLang="ko-KR" sz="20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= {0, 1, 2}, E(G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= {&lt;0, 1&gt;, &lt;1, 0&gt;, &lt;1, 2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&gt;}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2" name="직사각형 43"/>
          <p:cNvSpPr>
            <a:spLocks noChangeArrowheads="1"/>
          </p:cNvSpPr>
          <p:nvPr/>
        </p:nvSpPr>
        <p:spPr bwMode="auto">
          <a:xfrm>
            <a:off x="3496828" y="8752802"/>
            <a:ext cx="889226" cy="50344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&lt;G</a:t>
            </a:r>
            <a:r>
              <a:rPr kumimoji="0"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kumimoji="0"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43"/>
          <p:cNvSpPr>
            <a:spLocks noChangeArrowheads="1"/>
          </p:cNvSpPr>
          <p:nvPr/>
        </p:nvSpPr>
        <p:spPr bwMode="auto">
          <a:xfrm>
            <a:off x="6537374" y="8526686"/>
            <a:ext cx="889226" cy="50344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2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030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1200329"/>
            <a:chOff x="1454251" y="3644747"/>
            <a:chExt cx="11282473" cy="120032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그래프의 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ADT</a:t>
              </a: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547729" y="3453211"/>
            <a:ext cx="9217254" cy="54784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ADT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Graph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데이터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공백이 아닌 정점의 유한집합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간선의 집합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(E)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연산자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연산내용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g∈Graph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v, 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∈Vertex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Graph create() 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공백 그래프를 생성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Graph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InsertV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(g, v)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삽입된 그래프를 출력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Graph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InsertE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연결선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</a:t>
            </a:r>
            <a:r>
              <a:rPr lang="en-US" altLang="ko-KR" sz="22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삽입된 그래프를 출력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Graph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DeleteV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(g, v)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삭제된 그래프를 출력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Graph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(g, 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연결선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v</a:t>
            </a:r>
            <a:r>
              <a: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삭제된 그래프를 출력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Boolean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isEmpty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(g) 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그래프가 공백이면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true,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아니면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false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출력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             </a:t>
            </a: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Vertex Adjacent(g, v)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인접한 정점을 출력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End Graph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6" name="직사각형 25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15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1200329"/>
            <a:chOff x="1454251" y="3644747"/>
            <a:chExt cx="11282473" cy="120032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그래프와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차이</a:t>
              </a: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10538"/>
              </p:ext>
            </p:extLst>
          </p:nvPr>
        </p:nvGraphicFramePr>
        <p:xfrm>
          <a:off x="1581151" y="3518694"/>
          <a:ext cx="8286751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599"/>
                <a:gridCol w="3648076"/>
                <a:gridCol w="364807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트리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그래프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정의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방향성이 있는 </a:t>
                      </a:r>
                      <a:r>
                        <a:rPr lang="ko-KR" altLang="en-US" sz="2000" dirty="0" err="1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비순환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(acyclic) </a:t>
                      </a:r>
                      <a:b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그래프의 한 종류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정점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(vertex)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과 정점을 연결하는 간선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(edge)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으로 구성된 자료구조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순환</a:t>
                      </a:r>
                      <a:endParaRPr lang="en-US" altLang="ko-KR" sz="2000" dirty="0" smtClean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(cycle)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순환이</a:t>
                      </a:r>
                      <a:r>
                        <a:rPr lang="en-US" altLang="ko-KR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없음</a:t>
                      </a:r>
                      <a:r>
                        <a:rPr lang="en-US" altLang="ko-KR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Self-loop </a:t>
                      </a:r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없음</a:t>
                      </a:r>
                      <a:endParaRPr lang="ko-KR" altLang="en-US" sz="20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순환</a:t>
                      </a:r>
                      <a:r>
                        <a:rPr lang="en-US" altLang="ko-KR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2000" dirty="0" err="1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비순환이</a:t>
                      </a:r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있음</a:t>
                      </a:r>
                      <a:r>
                        <a:rPr lang="en-US" altLang="ko-KR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Self-loop </a:t>
                      </a:r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가능</a:t>
                      </a:r>
                      <a:endParaRPr lang="ko-KR" altLang="en-US" sz="20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방향성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방향 그래프</a:t>
                      </a:r>
                      <a:endParaRPr lang="ko-KR" altLang="en-US" sz="20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방향</a:t>
                      </a:r>
                      <a:r>
                        <a:rPr lang="en-US" altLang="ko-KR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2000" dirty="0" err="1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비방향</a:t>
                      </a:r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그래프</a:t>
                      </a:r>
                      <a:endParaRPr lang="ko-KR" altLang="en-US" sz="20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근노드</a:t>
                      </a:r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한 개의 </a:t>
                      </a:r>
                      <a:r>
                        <a:rPr lang="ko-KR" altLang="en-US" sz="2000" dirty="0" err="1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근노드가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존재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err="1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근노드의</a:t>
                      </a:r>
                      <a:r>
                        <a:rPr lang="ko-KR" altLang="en-US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개념이 없음</a:t>
                      </a:r>
                      <a:endParaRPr lang="ko-KR" altLang="en-US" sz="20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간선의 수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err="1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노드의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수가 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 때 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n-1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개를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가짐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그래프에 따라 간선의 수가 다름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없을 수도 있음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모델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계층적 모델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네트워크 모델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관계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부모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자식관계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en-US" altLang="ko-KR" sz="200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1:n)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동등관계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en-US" altLang="ko-KR" sz="2000" dirty="0" err="1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n:m</a:t>
                      </a:r>
                      <a:r>
                        <a:rPr lang="en-US" altLang="ko-KR" sz="2000" dirty="0" smtClean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20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운행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DFS, BFS, preorder, </a:t>
                      </a:r>
                      <a:r>
                        <a:rPr lang="en-US" altLang="ko-KR" sz="2000" dirty="0" err="1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inorder</a:t>
                      </a:r>
                      <a:r>
                        <a:rPr lang="en-US" altLang="ko-KR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2000" dirty="0" err="1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postorder</a:t>
                      </a:r>
                      <a:endParaRPr lang="ko-KR" altLang="en-US" sz="20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 smtClean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DFS, BFS</a:t>
                      </a:r>
                      <a:endParaRPr lang="ko-KR" altLang="en-US" sz="2000" dirty="0">
                        <a:solidFill>
                          <a:srgbClr val="FF0000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6963" y="3500438"/>
            <a:ext cx="22002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113" y="6448425"/>
            <a:ext cx="2109787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0599197" y="5967740"/>
            <a:ext cx="93807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580147" y="8977640"/>
            <a:ext cx="11897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4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017306"/>
            <a:chOff x="1454251" y="3644747"/>
            <a:chExt cx="11282473" cy="7017306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0173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관련 용어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 algn="just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크기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 algn="just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algn="just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개수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 algn="just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(path) 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따라 갈 수 있는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길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순서대로 나열한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것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까지 간선으로 연결된 정점을 순서대로 나열한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것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 algn="just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경로의 길이(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length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342900" lvl="0" indent="-342900" algn="just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algn="just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경로상에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있는 간선의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 algn="just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단순경로(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simple path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342900" lvl="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서로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다른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간선들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반복되는 정점이 없음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구성된 경로(단, 처음과 끝 정점은 같아도 됨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 algn="just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 algn="just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오일러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(Eulerian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trail/path)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그래프에 존재하는 모든 간선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(edge)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한 번만 통과하면서 처음 정점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(vertex)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으로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되돌아오는 경로</a:t>
              </a:r>
              <a:endPara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모든 정점에 연결된 간선의 개수가 짝수일 때만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오일러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경로가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존재함</a:t>
              </a: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863" y="4352924"/>
            <a:ext cx="2300287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43"/>
          <p:cNvSpPr>
            <a:spLocks noChangeArrowheads="1"/>
          </p:cNvSpPr>
          <p:nvPr/>
        </p:nvSpPr>
        <p:spPr bwMode="auto">
          <a:xfrm>
            <a:off x="10271174" y="6221636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&lt;G</a:t>
            </a:r>
            <a:r>
              <a:rPr kumimoji="0" lang="en-US" altLang="ko-KR" sz="20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8150" y="2030587"/>
            <a:ext cx="5980328" cy="2791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27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406" y="5904633"/>
            <a:ext cx="5400053" cy="1866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43"/>
          <p:cNvSpPr>
            <a:spLocks noChangeArrowheads="1"/>
          </p:cNvSpPr>
          <p:nvPr/>
        </p:nvSpPr>
        <p:spPr bwMode="auto">
          <a:xfrm>
            <a:off x="3477689" y="7522588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&lt;G</a:t>
            </a:r>
            <a:r>
              <a:rPr kumimoji="0" lang="en-US" altLang="ko-KR" sz="20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직사각형 43"/>
          <p:cNvSpPr>
            <a:spLocks noChangeArrowheads="1"/>
          </p:cNvSpPr>
          <p:nvPr/>
        </p:nvSpPr>
        <p:spPr bwMode="auto">
          <a:xfrm>
            <a:off x="6359209" y="7197081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355312"/>
            <a:chOff x="1454251" y="3644747"/>
            <a:chExt cx="11282473" cy="535531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3553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관련 용어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사이클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cycle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처음과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마지막 정점이 같은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단순경로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adjacent)/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부속(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incident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u, v)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E(G)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한 간선이라면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와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인접(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adjacent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했다고 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u, v)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정점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와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부속(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incident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되었다고 함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611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6555641"/>
            <a:chOff x="1454251" y="3644747"/>
            <a:chExt cx="11282473" cy="65556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6555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관련 용어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동형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(isomorphic)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그래프에 대해 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두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연결하는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간선이 하나이고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다른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그래프에서 그에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대응하는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연결하는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간선이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하나뿐일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때를 말함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차수(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degree) 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정점에 부속한 간선들의 수 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진입 차수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in-degree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그래프에서 외부에서 오는 간선의 수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진출 차수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out-degree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그래프에서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외부로 향하는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간선의 수</a:t>
              </a: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172" y="4608427"/>
            <a:ext cx="5201423" cy="231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직사각형 43"/>
          <p:cNvSpPr>
            <a:spLocks noChangeArrowheads="1"/>
          </p:cNvSpPr>
          <p:nvPr/>
        </p:nvSpPr>
        <p:spPr bwMode="auto">
          <a:xfrm>
            <a:off x="4728117" y="6579243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43"/>
          <p:cNvSpPr>
            <a:spLocks noChangeArrowheads="1"/>
          </p:cNvSpPr>
          <p:nvPr/>
        </p:nvSpPr>
        <p:spPr bwMode="auto">
          <a:xfrm>
            <a:off x="8290982" y="6348583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298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638" y="6989666"/>
            <a:ext cx="6748462" cy="202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308872"/>
            <a:chOff x="1454251" y="3644747"/>
            <a:chExt cx="11282473" cy="430887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308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관련 용어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선행자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predecessor)/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후속자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successor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</a:t>
              </a: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머리로하는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간선들의 정점들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꼬리로 하는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간선들의 정점들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connected,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경로가 존재함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까지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경로가 존재하는 경우 그래프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연결됨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그래프에서 정점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과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까지 경로가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존재하는 경우로서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비방향인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경우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반드시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존재)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V(G)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속한 서로 다른 정점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와 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모든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쌍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2" name="직사각형 43"/>
          <p:cNvSpPr>
            <a:spLocks noChangeArrowheads="1"/>
          </p:cNvSpPr>
          <p:nvPr/>
        </p:nvSpPr>
        <p:spPr bwMode="auto">
          <a:xfrm>
            <a:off x="4175174" y="8282114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&lt;G</a:t>
            </a:r>
            <a:r>
              <a:rPr kumimoji="0" lang="en-US" altLang="ko-KR" sz="20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직사각형 43"/>
          <p:cNvSpPr>
            <a:spLocks noChangeArrowheads="1"/>
          </p:cNvSpPr>
          <p:nvPr/>
        </p:nvSpPr>
        <p:spPr bwMode="auto">
          <a:xfrm>
            <a:off x="8918624" y="8320214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43"/>
          <p:cNvSpPr>
            <a:spLocks noChangeArrowheads="1"/>
          </p:cNvSpPr>
          <p:nvPr/>
        </p:nvSpPr>
        <p:spPr bwMode="auto">
          <a:xfrm>
            <a:off x="5813474" y="8282114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477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6535122"/>
            <a:chOff x="1454251" y="3644747"/>
            <a:chExt cx="11282473" cy="653512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6535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관련 용어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 요소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connected component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요소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(component)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-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 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간선이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서로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겹치지 않는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(independent)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 그래프를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 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 요소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(component)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라고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함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6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 요소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(connected component)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요소 가운데 요소 내 모든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쌍에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대해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경로가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존재하는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 그래프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 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 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 연결요소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(connected component)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라고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kumimoji="1"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kumimoji="1"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최대</a:t>
              </a:r>
              <a: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 </a:t>
              </a:r>
              <a:r>
                <a:rPr kumimoji="1"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연결</a:t>
              </a:r>
              <a: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 </a:t>
              </a:r>
              <a:r>
                <a:rPr kumimoji="1"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요소</a:t>
              </a:r>
              <a:r>
                <a:rPr kumimoji="1" lang="ko-KR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(maximal connected component) </a:t>
              </a:r>
              <a: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-  </a:t>
              </a:r>
              <a:r>
                <a:rPr kumimoji="1"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부분 그래프에서 </a:t>
              </a:r>
              <a:r>
                <a:rPr kumimoji="1"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연결요소 </a:t>
              </a:r>
              <a: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/>
              </a:r>
              <a:b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</a:br>
              <a:r>
                <a:rPr kumimoji="1"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가운데 </a:t>
              </a:r>
              <a:r>
                <a:rPr kumimoji="1" lang="ko-KR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노드</a:t>
              </a:r>
              <a:r>
                <a:rPr kumimoji="1" lang="ko-KR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 수가 </a:t>
              </a:r>
              <a: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 </a:t>
              </a:r>
              <a:r>
                <a:rPr kumimoji="1"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가장 </a:t>
              </a:r>
              <a:r>
                <a:rPr kumimoji="1" lang="ko-KR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많은 </a:t>
              </a:r>
              <a:r>
                <a:rPr kumimoji="1"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연결</a:t>
              </a:r>
              <a: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 </a:t>
              </a:r>
              <a:r>
                <a:rPr kumimoji="1"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요소를</a:t>
              </a:r>
              <a: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 </a:t>
              </a:r>
              <a:r>
                <a:rPr kumimoji="1"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의미함</a:t>
              </a:r>
              <a:r>
                <a:rPr kumimoji="1"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 </a:t>
              </a:r>
              <a:r>
                <a:rPr kumimoji="1" lang="ko-KR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 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간선의 수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정점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n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정점 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차수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10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8" name="직사각형 43"/>
          <p:cNvSpPr>
            <a:spLocks noChangeArrowheads="1"/>
          </p:cNvSpPr>
          <p:nvPr/>
        </p:nvSpPr>
        <p:spPr bwMode="auto">
          <a:xfrm>
            <a:off x="3644910" y="7300775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직사각형 43"/>
          <p:cNvSpPr>
            <a:spLocks noChangeArrowheads="1"/>
          </p:cNvSpPr>
          <p:nvPr/>
        </p:nvSpPr>
        <p:spPr bwMode="auto">
          <a:xfrm>
            <a:off x="7286773" y="7340531"/>
            <a:ext cx="839532" cy="4726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466" y="6440264"/>
            <a:ext cx="2644223" cy="93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759" y="6483541"/>
            <a:ext cx="2792895" cy="912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6174427" y="6536729"/>
            <a:ext cx="1651312" cy="86497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032" y="8632825"/>
            <a:ext cx="17716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직사각형 41"/>
          <p:cNvSpPr/>
          <p:nvPr/>
        </p:nvSpPr>
        <p:spPr>
          <a:xfrm>
            <a:off x="8130227" y="6524029"/>
            <a:ext cx="1003799" cy="86497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29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016758"/>
            <a:chOff x="1454251" y="3644747"/>
            <a:chExt cx="11282473" cy="5016758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016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관련 용어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강력 연결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strongly connected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그래프에서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V(G)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속한 서로 다른 두 정점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u, v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모든 쌍에 대해서,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또한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경로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directed path)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존재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7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약한 연결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weakly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connected)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까지나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까지 어느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하나의 경로만 존재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 3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그래프에서 트리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(free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tree)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와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w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쌍에 대해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v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로부터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w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까지의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유일한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경로를 가진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그래프를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말함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 3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9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사이클이 없는 그래프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5223423" cy="523220"/>
            <a:chOff x="1577990" y="2199825"/>
            <a:chExt cx="5223423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468269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(graph)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개요 및 용어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13" y="7762874"/>
            <a:ext cx="3938587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7600950"/>
            <a:ext cx="40767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직사각형 25"/>
          <p:cNvSpPr>
            <a:spLocks noChangeArrowheads="1"/>
          </p:cNvSpPr>
          <p:nvPr/>
        </p:nvSpPr>
        <p:spPr bwMode="auto">
          <a:xfrm>
            <a:off x="3401915" y="9288129"/>
            <a:ext cx="839532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5"/>
          <p:cNvSpPr>
            <a:spLocks noChangeArrowheads="1"/>
          </p:cNvSpPr>
          <p:nvPr/>
        </p:nvSpPr>
        <p:spPr bwMode="auto">
          <a:xfrm>
            <a:off x="5472015" y="9313529"/>
            <a:ext cx="839532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5"/>
          <p:cNvSpPr>
            <a:spLocks noChangeArrowheads="1"/>
          </p:cNvSpPr>
          <p:nvPr/>
        </p:nvSpPr>
        <p:spPr bwMode="auto">
          <a:xfrm>
            <a:off x="9878915" y="8957929"/>
            <a:ext cx="839532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 flipV="1">
            <a:off x="-26644" y="1238048"/>
            <a:ext cx="5665444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125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001095"/>
            <a:chOff x="1454251" y="3644747"/>
            <a:chExt cx="11282473" cy="400109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0010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방향과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undirected graph)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간선은 간선을 통해서 양 방향으로 갈 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나타내는 정점의 쌍에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순서가 없음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= (v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directed graph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나타내는 정점의 쌍에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순서가 있음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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&lt;v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간선은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방향을 가지는 정점의 쌍 &lt;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u, v&gt;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표시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꼬리(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tail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), v =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머리(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head)</a:t>
              </a:r>
              <a:endPara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530652" cy="523220"/>
            <a:chOff x="1577990" y="2199825"/>
            <a:chExt cx="3530652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98992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다양한 그래프 종류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2" name="직사각형 21"/>
          <p:cNvSpPr/>
          <p:nvPr/>
        </p:nvSpPr>
        <p:spPr>
          <a:xfrm flipV="1">
            <a:off x="-26644" y="1238048"/>
            <a:ext cx="5932144" cy="3812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종류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6773863"/>
            <a:ext cx="47053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직사각형 25"/>
          <p:cNvSpPr>
            <a:spLocks noChangeArrowheads="1"/>
          </p:cNvSpPr>
          <p:nvPr/>
        </p:nvSpPr>
        <p:spPr bwMode="auto">
          <a:xfrm>
            <a:off x="4316315" y="8672179"/>
            <a:ext cx="839532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직사각형 25"/>
          <p:cNvSpPr>
            <a:spLocks noChangeArrowheads="1"/>
          </p:cNvSpPr>
          <p:nvPr/>
        </p:nvSpPr>
        <p:spPr bwMode="auto">
          <a:xfrm>
            <a:off x="6754715" y="8653129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45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3508653"/>
            <a:chOff x="1454251" y="3644747"/>
            <a:chExt cx="11282473" cy="3508653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35086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그래프와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비연결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lvl="1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(connected graph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서로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다른 모든 쌍의 정점들 사이에 경로가 있는 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떨어져있는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정점이 없는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11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 그래프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(connected graph)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하나의 연결요소만을 가짐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lvl="1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비연결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(disconnected graph)</a:t>
              </a:r>
            </a:p>
            <a:p>
              <a:pPr marL="2862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그래프에서 특정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쌍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사이에 경로가 존재하지 않는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경우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12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Adobe 고딕 Std B" pitchFamily="34" charset="-127"/>
                <a:ea typeface="Adobe 고딕 Std B" pitchFamily="34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530652" cy="523220"/>
            <a:chOff x="1577990" y="2199825"/>
            <a:chExt cx="3530652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98992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다양한 그래프 종류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2" name="직사각형 21"/>
          <p:cNvSpPr/>
          <p:nvPr/>
        </p:nvSpPr>
        <p:spPr>
          <a:xfrm flipV="1">
            <a:off x="-26644" y="1238048"/>
            <a:ext cx="5932144" cy="3812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종류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4" y="6310313"/>
            <a:ext cx="38576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직사각형 25"/>
          <p:cNvSpPr>
            <a:spLocks noChangeArrowheads="1"/>
          </p:cNvSpPr>
          <p:nvPr/>
        </p:nvSpPr>
        <p:spPr bwMode="auto">
          <a:xfrm>
            <a:off x="4221065" y="8024479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25"/>
          <p:cNvSpPr>
            <a:spLocks noChangeArrowheads="1"/>
          </p:cNvSpPr>
          <p:nvPr/>
        </p:nvSpPr>
        <p:spPr bwMode="auto">
          <a:xfrm>
            <a:off x="6164165" y="8081629"/>
            <a:ext cx="113198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127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6155531"/>
            <a:chOff x="1454251" y="3644747"/>
            <a:chExt cx="11282473" cy="615553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6155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단순 그래프와 다중 그래프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simple graph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 간선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self edge)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또는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 루프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self loop)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없음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&lt;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13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endPara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2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동일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간선의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중복이 없음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다중 그래프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multigraph)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제한이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없음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400500" indent="-4572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다중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multigraph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400500" indent="-4572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0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임의의 두 정점 사이에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이상의 다중 연결선이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존재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0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0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다음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사항이 제약되지 않은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14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86300" lvl="1" indent="-4572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0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반드시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트리일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필요는 없지만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트리는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반드시 그래프이어야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함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0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0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연결된 간선((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v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), &lt;v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v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&gt;)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E(G)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있는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경우에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0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=v</a:t>
              </a:r>
              <a:r>
                <a:rPr lang="en-US" altLang="ko-KR" sz="20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라는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조건이 필요함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0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0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E(G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집합이므로 그래프는 같은 간선을 중복해서 포함하지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않음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530652" cy="523220"/>
            <a:chOff x="1577990" y="2199825"/>
            <a:chExt cx="3530652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98992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다양한 그래프 종류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2" name="직사각형 21"/>
          <p:cNvSpPr/>
          <p:nvPr/>
        </p:nvSpPr>
        <p:spPr>
          <a:xfrm flipV="1">
            <a:off x="-26644" y="1238048"/>
            <a:ext cx="5932144" cy="3812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종류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38" y="8457953"/>
            <a:ext cx="423386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25"/>
          <p:cNvSpPr>
            <a:spLocks noChangeArrowheads="1"/>
          </p:cNvSpPr>
          <p:nvPr/>
        </p:nvSpPr>
        <p:spPr bwMode="auto">
          <a:xfrm>
            <a:off x="5078315" y="9424408"/>
            <a:ext cx="113198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직사각형 25"/>
          <p:cNvSpPr>
            <a:spLocks noChangeArrowheads="1"/>
          </p:cNvSpPr>
          <p:nvPr/>
        </p:nvSpPr>
        <p:spPr bwMode="auto">
          <a:xfrm>
            <a:off x="7478615" y="9424408"/>
            <a:ext cx="113198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14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84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6967538"/>
            <a:ext cx="9682162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708981"/>
            <a:chOff x="1454251" y="3644747"/>
            <a:chExt cx="11282473" cy="470898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7089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완전 그래프와 부분 그래프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DAG(directed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acyclic graph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그래프에서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사이클이 없는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15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완전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그래프(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complete graph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정점이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개인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그래프의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최대의 간선 수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n(n-1)/2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 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11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정점이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개인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그래프의 최대의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 수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n(n-1)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 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16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그래프(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subgraph)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V(G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')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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V(G),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E(G')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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E(G)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 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'(&lt;G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13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&gt;)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G(&lt;G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11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&gt;)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부분 그래프 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530652" cy="523220"/>
            <a:chOff x="1577990" y="2199825"/>
            <a:chExt cx="3530652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98992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다양한 그래프 종류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2" name="직사각형 21"/>
          <p:cNvSpPr/>
          <p:nvPr/>
        </p:nvSpPr>
        <p:spPr>
          <a:xfrm flipV="1">
            <a:off x="-26644" y="1238048"/>
            <a:ext cx="5932144" cy="3812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종류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2" name="직사각형 25"/>
          <p:cNvSpPr>
            <a:spLocks noChangeArrowheads="1"/>
          </p:cNvSpPr>
          <p:nvPr/>
        </p:nvSpPr>
        <p:spPr bwMode="auto">
          <a:xfrm>
            <a:off x="6068915" y="8615029"/>
            <a:ext cx="113198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직사각형 25"/>
          <p:cNvSpPr>
            <a:spLocks noChangeArrowheads="1"/>
          </p:cNvSpPr>
          <p:nvPr/>
        </p:nvSpPr>
        <p:spPr bwMode="auto">
          <a:xfrm>
            <a:off x="8069165" y="8634079"/>
            <a:ext cx="113198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직사각형 25"/>
          <p:cNvSpPr>
            <a:spLocks noChangeArrowheads="1"/>
          </p:cNvSpPr>
          <p:nvPr/>
        </p:nvSpPr>
        <p:spPr bwMode="auto">
          <a:xfrm>
            <a:off x="2982815" y="8405479"/>
            <a:ext cx="113198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25"/>
          <p:cNvSpPr>
            <a:spLocks noChangeArrowheads="1"/>
          </p:cNvSpPr>
          <p:nvPr/>
        </p:nvSpPr>
        <p:spPr bwMode="auto">
          <a:xfrm>
            <a:off x="10012265" y="8710279"/>
            <a:ext cx="113198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36"/>
          <p:cNvSpPr>
            <a:spLocks noChangeArrowheads="1"/>
          </p:cNvSpPr>
          <p:nvPr/>
        </p:nvSpPr>
        <p:spPr bwMode="auto">
          <a:xfrm>
            <a:off x="6193730" y="6859838"/>
            <a:ext cx="836326" cy="488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100" b="1" dirty="0">
                <a:solidFill>
                  <a:srgbClr val="FF0000"/>
                </a:solidFill>
                <a:latin typeface="HY엽서M" pitchFamily="18" charset="-127"/>
                <a:ea typeface="HY엽서M" pitchFamily="18" charset="-127"/>
              </a:rPr>
              <a:t>e=6</a:t>
            </a:r>
            <a:endParaRPr kumimoji="0" lang="ko-KR" altLang="en-US" sz="2100" b="1" dirty="0">
              <a:solidFill>
                <a:srgbClr val="FF0000"/>
              </a:solidFill>
              <a:latin typeface="HY엽서M" pitchFamily="18" charset="-127"/>
              <a:ea typeface="HY엽서M" pitchFamily="18" charset="-127"/>
            </a:endParaRPr>
          </a:p>
        </p:txBody>
      </p:sp>
      <p:sp>
        <p:nvSpPr>
          <p:cNvPr id="19" name="직사각형 36"/>
          <p:cNvSpPr>
            <a:spLocks noChangeArrowheads="1"/>
          </p:cNvSpPr>
          <p:nvPr/>
        </p:nvSpPr>
        <p:spPr bwMode="auto">
          <a:xfrm>
            <a:off x="8041580" y="6859838"/>
            <a:ext cx="1023878" cy="488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100" b="1" dirty="0" smtClean="0">
                <a:solidFill>
                  <a:srgbClr val="FF0000"/>
                </a:solidFill>
                <a:latin typeface="HY엽서M" pitchFamily="18" charset="-127"/>
                <a:ea typeface="HY엽서M" pitchFamily="18" charset="-127"/>
              </a:rPr>
              <a:t>e=12</a:t>
            </a:r>
            <a:endParaRPr kumimoji="0" lang="ko-KR" altLang="en-US" sz="2100" b="1" dirty="0">
              <a:solidFill>
                <a:srgbClr val="FF0000"/>
              </a:solidFill>
              <a:latin typeface="HY엽서M" pitchFamily="18" charset="-127"/>
              <a:ea typeface="HY엽서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95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6294031"/>
            <a:chOff x="1454251" y="3644747"/>
            <a:chExt cx="11282473" cy="629403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6294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최소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최대 연결 그래프와 가중 그래프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최소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최대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부분그래프(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minimal/maximal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connected subgraph) 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부분 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G'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 다음 조건을 만족하는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것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V(G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')=V(G), E(G')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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E(G)</a:t>
              </a: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  <a:sym typeface="Symbol" pitchFamily="18" charset="2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'</a:t>
              </a:r>
              <a:r>
                <a:rPr lang="ko-KR" altLang="en-US" sz="20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은 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연결 그래프</a:t>
              </a:r>
              <a:r>
                <a:rPr lang="en-US" altLang="ko-KR" sz="20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,</a:t>
              </a:r>
              <a:r>
                <a:rPr lang="ko-KR" altLang="en-US" sz="20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 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최소</a:t>
              </a:r>
              <a:r>
                <a:rPr lang="en-US" altLang="ko-KR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(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최대</a:t>
              </a:r>
              <a:r>
                <a:rPr lang="en-US" altLang="ko-KR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)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의 </a:t>
              </a:r>
              <a:r>
                <a:rPr lang="ko-KR" altLang="en-US" sz="20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간선의 수를 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가짐</a:t>
              </a:r>
              <a:endParaRPr lang="en-US" altLang="ko-KR" sz="20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Symbol" pitchFamily="18" charset="2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Symbol" pitchFamily="18" charset="2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  <a:sym typeface="Symbol" pitchFamily="18" charset="2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Symbol" pitchFamily="18" charset="2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  <a:sym typeface="Symbol" pitchFamily="18" charset="2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Symbol" pitchFamily="18" charset="2"/>
              </a:endParaRPr>
            </a:p>
            <a:p>
              <a:pPr marL="1657800" lvl="2" indent="-342900">
                <a:buFont typeface="Wingdings" panose="05000000000000000000" pitchFamily="2" charset="2"/>
                <a:buChar char="ü"/>
              </a:pP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  <a:sym typeface="Symbol" pitchFamily="18" charset="2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가중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weighted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graph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)/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네트워크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(network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연결하는 간선에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가중치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(weight)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할당한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17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&gt;,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18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endPara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2" indent="-342900">
                <a:buFont typeface="나눔바른고딕" panose="020B0603020101020101" pitchFamily="50" charset="-127"/>
                <a:buChar char="-"/>
              </a:pPr>
              <a:endParaRPr lang="ko-KR" altLang="en-US" sz="2100" b="1" dirty="0">
                <a:latin typeface="Adobe 고딕 Std B" pitchFamily="34" charset="-127"/>
                <a:ea typeface="Adobe 고딕 Std B" pitchFamily="34" charset="-127"/>
              </a:endParaRPr>
            </a:p>
            <a:p>
              <a:pPr marL="972000" lvl="1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530652" cy="523220"/>
            <a:chOff x="1577990" y="2199825"/>
            <a:chExt cx="3530652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98992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다양한 그래프 종류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2" name="직사각형 21"/>
          <p:cNvSpPr/>
          <p:nvPr/>
        </p:nvSpPr>
        <p:spPr>
          <a:xfrm flipV="1">
            <a:off x="-26644" y="1238048"/>
            <a:ext cx="5932144" cy="3812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종류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5153024"/>
            <a:ext cx="7386637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직사각형 25"/>
          <p:cNvSpPr>
            <a:spLocks noChangeArrowheads="1"/>
          </p:cNvSpPr>
          <p:nvPr/>
        </p:nvSpPr>
        <p:spPr bwMode="auto">
          <a:xfrm>
            <a:off x="2601815" y="6576679"/>
            <a:ext cx="113198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8005763"/>
            <a:ext cx="5000626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직사각형 26"/>
          <p:cNvSpPr>
            <a:spLocks noChangeArrowheads="1"/>
          </p:cNvSpPr>
          <p:nvPr/>
        </p:nvSpPr>
        <p:spPr bwMode="auto">
          <a:xfrm>
            <a:off x="4278215" y="9262729"/>
            <a:ext cx="176063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17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/>
          <p:cNvSpPr>
            <a:spLocks noChangeArrowheads="1"/>
          </p:cNvSpPr>
          <p:nvPr/>
        </p:nvSpPr>
        <p:spPr bwMode="auto">
          <a:xfrm>
            <a:off x="7250015" y="9300829"/>
            <a:ext cx="176063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18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023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530652" cy="523220"/>
            <a:chOff x="1577990" y="2199825"/>
            <a:chExt cx="3530652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98992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그래프의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3354765"/>
            <a:chOff x="1454251" y="3644747"/>
            <a:chExt cx="11282473" cy="335476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33547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컴퓨터의 기억장소에 표현하는 방법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문제의 기능이나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응용 방법에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따라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순차적 표현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행렬(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adjacency matrix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1657800" lvl="2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 표현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리스트(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adjacency lists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다중 리스트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adjacency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multi-lists)</a:t>
              </a: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426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10051" cy="523220"/>
            <a:chOff x="1577990" y="2199825"/>
            <a:chExt cx="32100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6693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순차적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232202"/>
            <a:chOff x="1454251" y="3644747"/>
            <a:chExt cx="11282473" cy="523220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232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 방법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행렬에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대한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차원 배열을 사용하는 순차 자료구조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방법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=(V, E),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n(n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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 그래프에 대해 두 정점을 연결한 간선의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유무를 행렬로 저장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정점을 가진 그래프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en-US" altLang="ko-KR" sz="2000" dirty="0" err="1" smtClean="0">
                  <a:latin typeface="나눔바른고딕"/>
                  <a:ea typeface="나눔바른고딕"/>
                </a:rPr>
                <a:t>×</a:t>
              </a:r>
              <a:r>
                <a:rPr lang="en-US" altLang="ko-KR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정방행렬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행렬의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 번호와 열 번호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 3" pitchFamily="18" charset="2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값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두 정점이 인접되어있으면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1,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인접되어있지 않으면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저장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합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열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합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차수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합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진출 차수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열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합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진입 차수</a:t>
              </a:r>
              <a:endPara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32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10051" cy="523220"/>
            <a:chOff x="1577990" y="2199825"/>
            <a:chExt cx="32100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6693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순차적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308872"/>
            <a:chOff x="1454251" y="3644747"/>
            <a:chExt cx="11282473" cy="430887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308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 방법의 예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&lt;G</a:t>
              </a:r>
              <a:r>
                <a:rPr lang="en-US" altLang="ko-KR" sz="24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11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행의 합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0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열의 합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차수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&lt;G</a:t>
              </a:r>
              <a:r>
                <a:rPr lang="en-US" altLang="ko-KR" sz="24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 1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행의 합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진출차수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2, 1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열의 합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  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진입차수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1 </a:t>
              </a:r>
              <a:endPara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034" y="3864666"/>
            <a:ext cx="2343357" cy="20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987" y="3870876"/>
            <a:ext cx="3029570" cy="209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8" descr="그림2 copy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542" y="4395872"/>
            <a:ext cx="428626" cy="85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25"/>
          <p:cNvSpPr>
            <a:spLocks noChangeArrowheads="1"/>
          </p:cNvSpPr>
          <p:nvPr/>
        </p:nvSpPr>
        <p:spPr bwMode="auto">
          <a:xfrm>
            <a:off x="3942769" y="5301157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768" y="7295736"/>
            <a:ext cx="2953580" cy="101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8" descr="그림2 copy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090" y="7390863"/>
            <a:ext cx="428626" cy="85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966" y="6991558"/>
            <a:ext cx="2621860" cy="185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직사각형 25"/>
          <p:cNvSpPr>
            <a:spLocks noChangeArrowheads="1"/>
          </p:cNvSpPr>
          <p:nvPr/>
        </p:nvSpPr>
        <p:spPr bwMode="auto">
          <a:xfrm>
            <a:off x="3439186" y="8137122"/>
            <a:ext cx="839532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1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10051" cy="523220"/>
            <a:chOff x="1577990" y="2199825"/>
            <a:chExt cx="32100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6693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순차적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154984"/>
            <a:chOff x="1454251" y="3644747"/>
            <a:chExt cx="11282473" cy="4154984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1549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 방법의 특징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정점을 가지는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경우 </a:t>
              </a:r>
              <a:r>
                <a:rPr lang="en-US" altLang="ko-KR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en-US" altLang="ko-KR" sz="2400" dirty="0" err="1" smtClean="0">
                  <a:solidFill>
                    <a:srgbClr val="FF0000"/>
                  </a:solidFill>
                  <a:latin typeface="나눔바른고딕"/>
                  <a:ea typeface="나눔바른고딕"/>
                </a:rPr>
                <a:t>×</a:t>
              </a:r>
              <a:r>
                <a:rPr lang="en-US" altLang="ko-KR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(=n</a:t>
              </a:r>
              <a:r>
                <a:rPr lang="en-US" altLang="ko-KR" sz="2400" baseline="300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비트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기억공간을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사용</a:t>
              </a:r>
              <a:endParaRPr lang="en-US" altLang="ko-KR" sz="24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개수에 비해 간선의 개수가 적은 희소 그래프에 대한 인접 행렬은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희소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행렬이 되어 기억공간의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낭비가 발생함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두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정점이 서로 인접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부속되어 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A[</a:t>
              </a:r>
              <a:r>
                <a:rPr lang="en-US" altLang="ko-KR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j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] =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A[j, </a:t>
              </a:r>
              <a:r>
                <a:rPr lang="en-US" altLang="ko-KR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]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이므로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대칭적임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대칭 행렬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간선의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=m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 경우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1의 개수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대칭 행렬이기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때문에 기억장소를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절반(상위 삼각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또는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하위 삼각만 저장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으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절약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할 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20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33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10051" cy="523220"/>
            <a:chOff x="1577990" y="2199825"/>
            <a:chExt cx="32100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6693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순차적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308872"/>
            <a:chOff x="1454251" y="3644747"/>
            <a:chExt cx="11282473" cy="430887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308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 방법의 특징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와 &lt;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200" baseline="-25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v</a:t>
              </a:r>
              <a:r>
                <a:rPr lang="en-US" altLang="ko-KR" sz="22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서로 다른 간선이기 때문에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행렬은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대칭이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아닐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개수는 간선의 수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</a:t>
              </a: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시간 복잡도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최악의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수행시간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l-GR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Ο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(n</a:t>
              </a:r>
              <a:r>
                <a:rPr lang="en-US" altLang="ko-KR" sz="2200" baseline="30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있는 간선의 수를 확인하기 위해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내의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en-US" altLang="ko-KR" sz="2200" baseline="30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 항들의 조사가 필요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간선이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많지 않을 경우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(=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대부분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배열의 각 항은 0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l-G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Ο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e+n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 되도록 할 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e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속하는 간선의 수(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 &lt;&lt; n</a:t>
              </a:r>
              <a:r>
                <a:rPr lang="en-US" altLang="ko-KR" sz="2200" baseline="30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/2)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576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행렬 방법의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구현</a:t>
              </a:r>
              <a:endParaRPr lang="ko-KR" altLang="en-US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행렬 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stdio.h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N, M;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정점의 수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N,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간선의수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M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createAdjMatrix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[][N + 1],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arr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[][2])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j;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 N + 1;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{//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행렬을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초기화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(j = 0; j &lt; N + 1;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j++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][j] = 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 M;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행렬에 대한 배열을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운행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arr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][0];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(x, y)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찾음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arr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][1];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][y] = 1;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간선의 값을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변경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][x] = 1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10051" cy="523220"/>
            <a:chOff x="1577990" y="2199825"/>
            <a:chExt cx="3210051" cy="420404"/>
          </a:xfrm>
        </p:grpSpPr>
        <p:sp>
          <p:nvSpPr>
            <p:cNvPr id="2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6693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순차적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999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행렬 방법의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구현</a:t>
              </a:r>
              <a:endParaRPr lang="ko-KR" altLang="en-US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3554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printAdjMatrix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[][N + 1])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생성된 인접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행렬을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출력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j;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1;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 N + 1;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 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행렬에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대한 배열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 ][ ]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운행 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(j = 1; j &lt; N + 1;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j++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 ",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][j]);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10051" cy="523220"/>
            <a:chOff x="1577990" y="2199825"/>
            <a:chExt cx="3210051" cy="420404"/>
          </a:xfrm>
        </p:grpSpPr>
        <p:sp>
          <p:nvSpPr>
            <p:cNvPr id="2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6693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순차적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70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행렬 방법의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구현</a:t>
              </a:r>
              <a:endParaRPr lang="ko-KR" altLang="en-US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3554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main()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5;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정점의 수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arr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[][2] = { {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1, 2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}, {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2, 3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}, {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4, 5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}, {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1, 5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 };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주어진 간선 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arr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arr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[0]);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간선의 수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[N + 1][N + 1]; 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행렬의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createAdjMatrix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arr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printAdjMatrix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return 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10051" cy="523220"/>
            <a:chOff x="1577990" y="2199825"/>
            <a:chExt cx="3210051" cy="420404"/>
          </a:xfrm>
        </p:grpSpPr>
        <p:sp>
          <p:nvSpPr>
            <p:cNvPr id="2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6693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순차적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812094" y="7778191"/>
            <a:ext cx="9691623" cy="20159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0 1 0 0 1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1 0 1 0 0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0 1 0 0 0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0 0 0 0 1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1 0 0 1 0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436714" y="7778191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실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행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결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970" y="5407094"/>
            <a:ext cx="2909681" cy="178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136891"/>
              </p:ext>
            </p:extLst>
          </p:nvPr>
        </p:nvGraphicFramePr>
        <p:xfrm>
          <a:off x="12649846" y="5081505"/>
          <a:ext cx="3082120" cy="1220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포장기 셸 개체" showAsIcon="1" r:id="rId4" imgW="1296000" imgH="513360" progId="Package">
                  <p:embed/>
                </p:oleObj>
              </mc:Choice>
              <mc:Fallback>
                <p:oleObj name="포장기 셸 개체" showAsIcon="1" r:id="rId4" imgW="129600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649846" y="5081505"/>
                        <a:ext cx="3082120" cy="1220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834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447645"/>
            <a:chOff x="1454251" y="3644747"/>
            <a:chExt cx="11282473" cy="544764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4476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행렬의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행에 대해 각각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단일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연결리스트로 표현하는 방법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각 정점에 대해 하나의 리스트가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존재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각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차수만큼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내의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노드들은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정점에 대해서 오름차순으로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리스트의 각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구조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3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정점을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저장하는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필드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3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3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다음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정점을 연결하는 연결 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필드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3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헤드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3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정점에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대한 인접 리스트의 시작을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표현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3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3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특정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정점에 대한 인접 리스트에 임의의 접근을 쉽게 할 수 있도록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순차적으로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할당</a:t>
              </a: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41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3891643"/>
            <a:ext cx="76771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예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정점과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간선을 가진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비방향과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그래프의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리스트 생성 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2" name="직사각형 11"/>
          <p:cNvSpPr>
            <a:spLocks noChangeArrowheads="1"/>
          </p:cNvSpPr>
          <p:nvPr/>
        </p:nvSpPr>
        <p:spPr bwMode="auto">
          <a:xfrm>
            <a:off x="4049615" y="5643229"/>
            <a:ext cx="176063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직사각형 12"/>
          <p:cNvSpPr>
            <a:spLocks noChangeArrowheads="1"/>
          </p:cNvSpPr>
          <p:nvPr/>
        </p:nvSpPr>
        <p:spPr bwMode="auto">
          <a:xfrm>
            <a:off x="3744815" y="7962359"/>
            <a:ext cx="176063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6709529"/>
            <a:chOff x="1454251" y="3644747"/>
            <a:chExt cx="11282473" cy="670952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67095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특징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정점과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간선을 가질 경우의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공간 복잡도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 3" pitchFamily="18" charset="2"/>
                </a:rPr>
                <a:t>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 3" pitchFamily="18" charset="2"/>
                </a:rPr>
                <a:t>- 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헤드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노드와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리스트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필요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 3" pitchFamily="18" charset="2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헤드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노드와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리스트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필요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임의의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차수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인접 리스트에 있는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수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	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두 정점을 연결하는 간선의 존재여부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차수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전체 간선의 수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알아내는데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걸리는 시간 복잡도 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 </a:t>
              </a:r>
              <a:r>
                <a:rPr lang="el-GR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Ο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e+n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j)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존재여부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리스트에서의 정점 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연결 리스트를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탐색해야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하므로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연결리스트의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수만큼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즉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차수 만큼의 시간이 필요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모든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간선의 수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헤더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포함하여 모든 인접  리스트를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조사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104" y="4757350"/>
            <a:ext cx="3836772" cy="15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842" y="4865731"/>
            <a:ext cx="359491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34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893647"/>
            <a:chOff x="1454251" y="3644747"/>
            <a:chExt cx="11282473" cy="4893647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893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특징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그래프인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경우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리스트에서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e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어떤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진출차수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리스트에 있는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모든 정점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진입 차수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반복하여 접근할 필요가 있는 경우에는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리스트에 대한 또 다른 리스트의 집합(역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리스트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)가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필요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역인접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리스트 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그래프에서 각 정점에 대한 그 정점으로 돌아오는 연결선과 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인접한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 정점들로 구성된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것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방향 그래프의 경우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역인접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리스트를 이용하여 진입 차수를 구함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2" name="직사각형 11"/>
          <p:cNvSpPr>
            <a:spLocks noChangeArrowheads="1"/>
          </p:cNvSpPr>
          <p:nvPr/>
        </p:nvSpPr>
        <p:spPr bwMode="auto">
          <a:xfrm>
            <a:off x="3764695" y="8479195"/>
            <a:ext cx="926574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211" y="7196138"/>
            <a:ext cx="973455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176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062651"/>
            <a:chOff x="1454251" y="3644747"/>
            <a:chExt cx="11282473" cy="406265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0626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특징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en-US" altLang="ko-KR" sz="2400" baseline="-25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대한 배열의 순차 표현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kumimoji="1" lang="ko-KR" altLang="en-US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배열의 크기 </a:t>
              </a:r>
              <a:r>
                <a:rPr kumimoji="1" lang="en-US" altLang="ko-KR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– n+2e+1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kumimoji="1" lang="en-US" altLang="ko-KR" sz="1000" dirty="0" smtClean="0">
                <a:solidFill>
                  <a:srgbClr val="33333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kumimoji="1" lang="ko-KR" altLang="ko-KR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배열의 </a:t>
              </a:r>
              <a:r>
                <a:rPr kumimoji="1" lang="ko-KR" altLang="ko-KR" sz="2200" dirty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0~n-1까지 자리는 각 </a:t>
              </a:r>
              <a:r>
                <a:rPr kumimoji="1" lang="ko-KR" altLang="ko-KR" sz="2200" dirty="0" err="1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정점별</a:t>
              </a:r>
              <a:r>
                <a:rPr kumimoji="1" lang="ko-KR" altLang="ko-KR" sz="2200" dirty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 인접 리스트의 시작 위치를 </a:t>
              </a:r>
              <a:r>
                <a:rPr kumimoji="1" lang="ko-KR" altLang="ko-KR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나타</a:t>
              </a:r>
              <a:r>
                <a:rPr kumimoji="1" lang="ko-KR" altLang="en-US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냄</a:t>
              </a:r>
              <a:endParaRPr kumimoji="1" lang="en-US" altLang="ko-KR" sz="2200" dirty="0" smtClean="0">
                <a:solidFill>
                  <a:srgbClr val="33333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kumimoji="1" lang="en-US" altLang="ko-KR" sz="1000" dirty="0" smtClean="0">
                <a:solidFill>
                  <a:srgbClr val="33333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kumimoji="1" lang="ko-KR" altLang="ko-KR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배열의 </a:t>
              </a:r>
              <a:r>
                <a:rPr kumimoji="1" lang="ko-KR" altLang="ko-KR" sz="2200" dirty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n번째 자리는 배열의 크기를 </a:t>
              </a:r>
              <a:r>
                <a:rPr kumimoji="1" lang="ko-KR" altLang="ko-KR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나타</a:t>
              </a:r>
              <a:r>
                <a:rPr kumimoji="1" lang="ko-KR" altLang="en-US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냄</a:t>
              </a:r>
              <a:endParaRPr kumimoji="1" lang="en-US" altLang="ko-KR" sz="2200" dirty="0" smtClean="0">
                <a:solidFill>
                  <a:srgbClr val="33333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kumimoji="1" lang="en-US" altLang="ko-KR" sz="1000" dirty="0" smtClean="0">
                <a:solidFill>
                  <a:srgbClr val="33333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kumimoji="1" lang="ko-KR" altLang="ko-KR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이후 </a:t>
              </a:r>
              <a:r>
                <a:rPr kumimoji="1" lang="ko-KR" altLang="ko-KR" sz="2200" dirty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n+1 ~ n+2e +1 -1 자리까지는 각 정점의 인접 리스트를 </a:t>
              </a:r>
              <a:r>
                <a:rPr kumimoji="1" lang="ko-KR" altLang="en-US" sz="2200" dirty="0" smtClean="0">
                  <a:solidFill>
                    <a:srgbClr val="333333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굴림" pitchFamily="50" charset="-127"/>
                </a:rPr>
                <a:t>포함</a:t>
              </a:r>
              <a:endParaRPr kumimoji="1" lang="en-US" altLang="ko-KR" sz="2200" dirty="0" smtClean="0">
                <a:solidFill>
                  <a:srgbClr val="33333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kumimoji="1" lang="en-US" altLang="ko-KR" sz="2200" dirty="0">
                <a:solidFill>
                  <a:srgbClr val="33333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endParaRPr>
            </a:p>
            <a:p>
              <a:pPr lvl="0" defTabSz="91440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ko-KR" sz="1800" dirty="0" smtClean="0">
                  <a:latin typeface="굴림" pitchFamily="50" charset="-127"/>
                  <a:ea typeface="굴림" pitchFamily="50" charset="-127"/>
                  <a:cs typeface="굴림" pitchFamily="50" charset="-127"/>
                </a:rPr>
                <a:t/>
              </a:r>
              <a:br>
                <a:rPr kumimoji="1" lang="ko-KR" altLang="ko-KR" sz="1800" dirty="0" smtClean="0">
                  <a:latin typeface="굴림" pitchFamily="50" charset="-127"/>
                  <a:ea typeface="굴림" pitchFamily="50" charset="-127"/>
                  <a:cs typeface="굴림" pitchFamily="50" charset="-127"/>
                </a:rPr>
              </a:b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260" y="5828079"/>
            <a:ext cx="2198618" cy="1839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직사각형 31"/>
          <p:cNvSpPr>
            <a:spLocks noChangeArrowheads="1"/>
          </p:cNvSpPr>
          <p:nvPr/>
        </p:nvSpPr>
        <p:spPr bwMode="auto">
          <a:xfrm>
            <a:off x="3870712" y="7088980"/>
            <a:ext cx="959705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082431" y="6438959"/>
            <a:ext cx="6635150" cy="769441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kumimoji="1" lang="ko-KR" altLang="ko-KR" sz="2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정점</a:t>
            </a:r>
            <a:r>
              <a:rPr kumimoji="1" lang="en-US" altLang="ko-KR" sz="2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 =</a:t>
            </a:r>
            <a:r>
              <a:rPr kumimoji="1" lang="ko-KR" altLang="ko-KR" sz="2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 4개, 간선</a:t>
            </a:r>
            <a:r>
              <a:rPr kumimoji="1" lang="en-US" altLang="ko-KR" sz="2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 =</a:t>
            </a:r>
            <a:r>
              <a:rPr kumimoji="1" lang="ko-KR" altLang="ko-KR" sz="2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 5개이기 때문에 배열의 크기</a:t>
            </a:r>
            <a:r>
              <a:rPr kumimoji="1" lang="en-US" altLang="ko-KR" sz="2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 =</a:t>
            </a:r>
            <a:r>
              <a:rPr kumimoji="1" lang="ko-KR" altLang="ko-KR" sz="2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 </a:t>
            </a:r>
            <a:r>
              <a:rPr kumimoji="1" lang="ko-KR" altLang="ko-KR" sz="22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15</a:t>
            </a:r>
            <a:endParaRPr kumimoji="1" lang="en-US" altLang="ko-KR" sz="2200" dirty="0" smtClean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굴림" pitchFamily="50" charset="-127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kumimoji="1" lang="ko-KR" altLang="ko-KR" sz="22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배열 </a:t>
            </a:r>
            <a:r>
              <a:rPr kumimoji="1" lang="ko-KR" altLang="ko-KR" sz="2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[7], [8], [9]에는 1번 정점의 인접 </a:t>
            </a:r>
            <a:r>
              <a:rPr kumimoji="1" lang="ko-KR" altLang="ko-KR" sz="22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리스트</a:t>
            </a:r>
            <a:r>
              <a:rPr kumimoji="1" lang="ko-KR" altLang="en-US" sz="22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굴림" pitchFamily="50" charset="-127"/>
              </a:rPr>
              <a:t>를 포함</a:t>
            </a:r>
            <a:endParaRPr lang="ko-KR" altLang="en-US" dirty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444" y="7808659"/>
            <a:ext cx="9486486" cy="105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직선 화살표 연결선 37"/>
          <p:cNvCxnSpPr/>
          <p:nvPr/>
        </p:nvCxnSpPr>
        <p:spPr>
          <a:xfrm flipH="1" flipV="1">
            <a:off x="5791200" y="8742587"/>
            <a:ext cx="0" cy="1440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 flipH="1" flipV="1">
            <a:off x="2692400" y="8767301"/>
            <a:ext cx="0" cy="1440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H="1">
            <a:off x="2679700" y="8900651"/>
            <a:ext cx="3117150" cy="635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 flipH="1" flipV="1">
            <a:off x="7010400" y="8754601"/>
            <a:ext cx="0" cy="216000"/>
          </a:xfrm>
          <a:prstGeom prst="straightConnector1">
            <a:avLst/>
          </a:prstGeom>
          <a:ln w="38100">
            <a:solidFill>
              <a:srgbClr val="00B0F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flipH="1" flipV="1">
            <a:off x="3282950" y="8799051"/>
            <a:ext cx="0" cy="1800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 flipH="1">
            <a:off x="3270250" y="9025936"/>
            <a:ext cx="3744000" cy="6350"/>
          </a:xfrm>
          <a:prstGeom prst="line">
            <a:avLst/>
          </a:prstGeom>
          <a:ln w="3810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H="1" flipV="1">
            <a:off x="8890000" y="8773651"/>
            <a:ext cx="0" cy="396000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 flipV="1">
            <a:off x="3917950" y="8774680"/>
            <a:ext cx="0" cy="396000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H="1">
            <a:off x="3924300" y="9150878"/>
            <a:ext cx="4968000" cy="635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 flipH="1" flipV="1">
            <a:off x="10134600" y="8760951"/>
            <a:ext cx="0" cy="5400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 flipH="1" flipV="1">
            <a:off x="4495800" y="8805401"/>
            <a:ext cx="0" cy="5040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 flipH="1">
            <a:off x="4483100" y="9294527"/>
            <a:ext cx="5652000" cy="6350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타원 1"/>
          <p:cNvSpPr/>
          <p:nvPr/>
        </p:nvSpPr>
        <p:spPr>
          <a:xfrm>
            <a:off x="5572897" y="7933038"/>
            <a:ext cx="407773" cy="407773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787978" y="7949514"/>
            <a:ext cx="407773" cy="407773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8633253" y="7928919"/>
            <a:ext cx="407773" cy="407773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9885404" y="7920681"/>
            <a:ext cx="407773" cy="407773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85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30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0937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stdio.h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stdlib.h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{ //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구조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next;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리스트의 구조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*head;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 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리스트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구조 표현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V;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정점의 수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array;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};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4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20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478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newAdjListNode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새로운 인접 리스트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생성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*)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                                               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malloc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&gt;next = NULL;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return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Graph*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createGraph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V)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들로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구성된 그래프 생성 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Graph* graph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Graph*)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malloc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Graph));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&gt;V = V;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//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리스트 배열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크기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정점의 수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생성 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&gt;array = 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*)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malloc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 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//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헤드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NULL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초기화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비어있는 인접 리스트 생성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 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4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586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478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 V; ++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].head = NULL;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return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graph;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Graph* graph,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//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비방향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그래프의 간선 추가 </a:t>
            </a:r>
            <a:endParaRPr lang="en-US" altLang="ko-KR" sz="22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&gt;next = graph-&gt;array[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].head;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].head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&gt;next = graph-&gt;array[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].head;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].head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4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6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printGraph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Graph* graph)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그래프의 인접 리스트 출력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 = 0; v &lt; graph-&gt;V; ++v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pCrawl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graph-&gt;array[v].head;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리스트의 정점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%d\n head ", v);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while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pCrawl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{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("-&gt; %d",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pCrawl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pCrawl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pCrawl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-&gt;next;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4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0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08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main()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V = 5;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Graph* graph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0, 1);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0, 4);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1, 2);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1, 3);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1, 4);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2, 3);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3, 4);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printGraph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return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4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653" y="6697731"/>
            <a:ext cx="2591215" cy="2048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722" y="4304265"/>
            <a:ext cx="2826234" cy="1897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125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 방법의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출력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4668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인접 리스트의 정점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head -&gt; 4-&gt;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리스트의 정점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head -&gt; 4-&gt; 3-&gt; 2-&gt; 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리스트의 정점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head -&gt; 3-&gt;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리스트의 정점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head -&gt; 4-&gt; 2-&gt;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리스트의 정점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head -&gt; 3-&gt; 1-&gt; 0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실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행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결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4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538" y="5638794"/>
            <a:ext cx="2826234" cy="1897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902142"/>
              </p:ext>
            </p:extLst>
          </p:nvPr>
        </p:nvGraphicFramePr>
        <p:xfrm>
          <a:off x="12239867" y="5321168"/>
          <a:ext cx="3693634" cy="1266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포장기 셸 개체" showAsIcon="1" r:id="rId4" imgW="1496160" imgH="513360" progId="Package">
                  <p:embed/>
                </p:oleObj>
              </mc:Choice>
              <mc:Fallback>
                <p:oleObj name="포장기 셸 개체" showAsIcon="1" r:id="rId4" imgW="149616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239867" y="5321168"/>
                        <a:ext cx="3693634" cy="1266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430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232202"/>
            <a:chOff x="1454251" y="3644747"/>
            <a:chExt cx="11282473" cy="523220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232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다중 리스트 방법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특정한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간선이 중복해서 조사하는 단점을 피하기 위해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리스트의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노드들이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몇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리스트에 의해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공유되는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노드들이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여러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리스트들을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공용하는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방법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리스트에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표현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각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간선(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000" baseline="-25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두 개의 방향으로 표현할 수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하나가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000" baseline="-25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대한 리스트에서 표현되면 다른 하나는 </a:t>
              </a:r>
              <a:r>
                <a:rPr lang="en-US" altLang="ko-KR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en-US" altLang="ko-KR" sz="2000" baseline="-25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대한 리스트에서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표현할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000" dirty="0" smtClean="0">
                  <a:latin typeface="나눔바른고딕"/>
                  <a:ea typeface="나눔바른고딕"/>
                </a:rPr>
                <a:t>⇒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간선이 부속한 두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각각에 대한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리스트들에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속하는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두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리스트로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표현할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 있음</a:t>
              </a:r>
              <a:endPara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082" y="4102442"/>
            <a:ext cx="4491679" cy="1729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761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953" y="5900056"/>
            <a:ext cx="9126989" cy="399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889451" cy="523220"/>
            <a:chOff x="1577990" y="2199825"/>
            <a:chExt cx="28894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3487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연결 표현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2954655"/>
            <a:chOff x="1454251" y="3644747"/>
            <a:chExt cx="11282473" cy="295465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29546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다중 리스트 방법의 예 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다중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리스트의 간선 (</a:t>
              </a:r>
              <a:r>
                <a:rPr lang="en-US" altLang="ko-KR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j)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대한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구조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간선이 이미 검사되었는지 여부를 표시하는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마크 비트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-link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대한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j-link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j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대한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마크 필드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제외하면 필요한 기억장소는 정상적인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리스트와 동일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5600701" cy="305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4785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그래프의 표현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2" name="직사각형 25"/>
          <p:cNvSpPr>
            <a:spLocks noChangeArrowheads="1"/>
          </p:cNvSpPr>
          <p:nvPr/>
        </p:nvSpPr>
        <p:spPr bwMode="auto">
          <a:xfrm>
            <a:off x="4103407" y="8711627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오른쪽 중괄호 1"/>
          <p:cNvSpPr/>
          <p:nvPr/>
        </p:nvSpPr>
        <p:spPr>
          <a:xfrm>
            <a:off x="5535827" y="4473146"/>
            <a:ext cx="148281" cy="5931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5774045" y="4557354"/>
            <a:ext cx="2420856" cy="40011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pPr marL="0" lvl="1"/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간선에 부속된 정점</a:t>
            </a: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254940"/>
              </p:ext>
            </p:extLst>
          </p:nvPr>
        </p:nvGraphicFramePr>
        <p:xfrm>
          <a:off x="11512578" y="4678808"/>
          <a:ext cx="3334799" cy="1221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포장기 셸 개체" showAsIcon="1" r:id="rId4" imgW="1400760" imgH="513360" progId="Package">
                  <p:embed/>
                </p:oleObj>
              </mc:Choice>
              <mc:Fallback>
                <p:oleObj name="포장기 셸 개체" showAsIcon="1" r:id="rId4" imgW="140076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512578" y="4678808"/>
                        <a:ext cx="3334799" cy="1221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802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373433" y="2030131"/>
            <a:ext cx="109993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나눔바른고딕" panose="020B0603020101020101" pitchFamily="50" charset="-127"/>
              <a:buChar char="-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그래프는 선형 자료구조나 트리 자료구조로 표현하기 어려운 多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多의 관계를 가지는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원소들을 표현하기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위한 자료구조를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말한다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42900" indent="-342900">
              <a:buFont typeface="나눔바른고딕" panose="020B0603020101020101" pitchFamily="50" charset="-127"/>
              <a:buChar char="-"/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Font typeface="나눔바른고딕" panose="020B0603020101020101" pitchFamily="50" charset="-127"/>
              <a:buChar char="-"/>
            </a:pP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그래프를 표현하는 방법에는 주어진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문제의 기능이나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응용 방법에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행렬(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adjacency matrix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리스트(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adjacency lists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다중리스트(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adjacency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multi-lists)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표현할 수 있다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Font typeface="나눔바른고딕" panose="020B0603020101020101" pitchFamily="50" charset="-127"/>
              <a:buChar char="-"/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 flipV="1">
            <a:off x="-1" y="1238048"/>
            <a:ext cx="3461537" cy="3545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80005" y="647996"/>
            <a:ext cx="2781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학습정리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633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373433" y="2030131"/>
            <a:ext cx="1099936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</a:pPr>
            <a:endParaRPr lang="en-US" altLang="ko-KR" sz="1000" spc="-1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indent="-342900" fontAlgn="base">
              <a:spcBef>
                <a:spcPct val="0"/>
              </a:spcBef>
              <a:buFontTx/>
              <a:buChar char="-"/>
              <a:defRPr/>
            </a:pPr>
            <a:endParaRPr lang="en-US" altLang="ko-KR" sz="1000" spc="-1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lvl="0" indent="-342900">
              <a:lnSpc>
                <a:spcPct val="200000"/>
              </a:lnSpc>
              <a:buFont typeface="나눔바른고딕" panose="020B0600000101010101" charset="-127"/>
              <a:buChar char="-"/>
            </a:pPr>
            <a:r>
              <a:rPr lang="ko-KR" altLang="en-US" sz="2400" dirty="0" smtClean="0"/>
              <a:t>본 강좌 자료는 자바로 </a:t>
            </a:r>
            <a:r>
              <a:rPr lang="ko-KR" altLang="en-US" sz="2400" dirty="0"/>
              <a:t>배우는 쉬운 </a:t>
            </a:r>
            <a:r>
              <a:rPr lang="ko-KR" altLang="en-US" sz="2400" dirty="0" smtClean="0"/>
              <a:t>자료구조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한빛아카데미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, 2009), C</a:t>
            </a:r>
            <a:r>
              <a:rPr lang="ko-KR" altLang="en-US" sz="2400" dirty="0" smtClean="0"/>
              <a:t>언어로 </a:t>
            </a:r>
            <a:r>
              <a:rPr lang="ko-KR" altLang="en-US" sz="2400" dirty="0"/>
              <a:t>쉽게 </a:t>
            </a:r>
            <a:r>
              <a:rPr lang="ko-KR" altLang="en-US" sz="2400" dirty="0" smtClean="0"/>
              <a:t>풀어 쓴 자료구조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생능출판사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, 2014), </a:t>
            </a:r>
            <a:r>
              <a:rPr lang="ko-KR" altLang="en-US" sz="2400" dirty="0" smtClean="0"/>
              <a:t>그리고 인터넷의 다양한 참조자료 등의 내용을 </a:t>
            </a:r>
            <a:r>
              <a:rPr lang="ko-KR" altLang="en-US" sz="2400" dirty="0"/>
              <a:t>출처로 작성하였음을 알리는 바입니다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 smtClean="0"/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>
              <a:latin typeface="나눔바른고딕" panose="020B0600000101010101" charset="-127"/>
              <a:ea typeface="나눔바른고딕" panose="020B0600000101010101" charset="-127"/>
            </a:endParaRPr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 smtClean="0">
              <a:latin typeface="나눔바른고딕" panose="020B0600000101010101" charset="-127"/>
              <a:ea typeface="나눔바른고딕" panose="020B0600000101010101" charset="-127"/>
            </a:endParaRPr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38" name="직사각형 37"/>
          <p:cNvSpPr/>
          <p:nvPr/>
        </p:nvSpPr>
        <p:spPr>
          <a:xfrm flipV="1">
            <a:off x="-1" y="1238048"/>
            <a:ext cx="3461537" cy="3545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80005" y="647996"/>
            <a:ext cx="2781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참고문헌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2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8800" dirty="0" err="1" smtClean="0">
            <a:ln w="31750">
              <a:solidFill>
                <a:srgbClr val="203864"/>
              </a:solidFill>
            </a:ln>
            <a:solidFill>
              <a:schemeClr val="accent5">
                <a:lumMod val="75000"/>
              </a:schemeClr>
            </a:solidFill>
            <a:latin typeface="a고딕16" panose="02020600000000000000" pitchFamily="18" charset="-127"/>
            <a:ea typeface="a고딕16" panose="02020600000000000000" pitchFamily="18" charset="-127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44561</TotalTime>
  <Words>3028</Words>
  <Application>Microsoft Office PowerPoint</Application>
  <PresentationFormat>사용자 지정</PresentationFormat>
  <Paragraphs>846</Paragraphs>
  <Slides>39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55" baseType="lpstr">
      <vt:lpstr>굴림</vt:lpstr>
      <vt:lpstr>Arial</vt:lpstr>
      <vt:lpstr>나눔스퀘어 Bold</vt:lpstr>
      <vt:lpstr>Symbol</vt:lpstr>
      <vt:lpstr>나눔스퀘어</vt:lpstr>
      <vt:lpstr>Calibri</vt:lpstr>
      <vt:lpstr>HY엽서M</vt:lpstr>
      <vt:lpstr>맑은 고딕</vt:lpstr>
      <vt:lpstr>Calibri Light</vt:lpstr>
      <vt:lpstr>나눔바른고딕</vt:lpstr>
      <vt:lpstr>Wingdings</vt:lpstr>
      <vt:lpstr>Adobe 고딕 Std B</vt:lpstr>
      <vt:lpstr>Wingdings 3</vt:lpstr>
      <vt:lpstr>나눔스퀘어 ExtraBold</vt:lpstr>
      <vt:lpstr>Office 테마</vt:lpstr>
      <vt:lpstr>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사용자</dc:creator>
  <cp:lastModifiedBy>박인철</cp:lastModifiedBy>
  <cp:revision>1900</cp:revision>
  <cp:lastPrinted>2021-02-12T09:49:11Z</cp:lastPrinted>
  <dcterms:created xsi:type="dcterms:W3CDTF">2019-05-30T05:59:32Z</dcterms:created>
  <dcterms:modified xsi:type="dcterms:W3CDTF">2025-11-23T08:56:17Z</dcterms:modified>
</cp:coreProperties>
</file>