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793" r:id="rId2"/>
    <p:sldId id="1088" r:id="rId3"/>
    <p:sldId id="1091" r:id="rId4"/>
    <p:sldId id="1092" r:id="rId5"/>
    <p:sldId id="1094" r:id="rId6"/>
    <p:sldId id="1096" r:id="rId7"/>
    <p:sldId id="1099" r:id="rId8"/>
    <p:sldId id="1101" r:id="rId9"/>
    <p:sldId id="1103" r:id="rId10"/>
    <p:sldId id="1105" r:id="rId11"/>
    <p:sldId id="1106" r:id="rId12"/>
    <p:sldId id="1112" r:id="rId13"/>
    <p:sldId id="1134" r:id="rId14"/>
    <p:sldId id="1135" r:id="rId15"/>
    <p:sldId id="1120" r:id="rId16"/>
    <p:sldId id="1121" r:id="rId17"/>
    <p:sldId id="1122" r:id="rId18"/>
    <p:sldId id="1123" r:id="rId19"/>
    <p:sldId id="1124" r:id="rId20"/>
    <p:sldId id="1110" r:id="rId21"/>
    <p:sldId id="1136" r:id="rId22"/>
    <p:sldId id="1141" r:id="rId23"/>
    <p:sldId id="1143" r:id="rId24"/>
    <p:sldId id="1145" r:id="rId25"/>
    <p:sldId id="1147" r:id="rId26"/>
    <p:sldId id="1149" r:id="rId27"/>
    <p:sldId id="1151" r:id="rId28"/>
    <p:sldId id="1113" r:id="rId29"/>
    <p:sldId id="1119" r:id="rId30"/>
    <p:sldId id="1155" r:id="rId31"/>
    <p:sldId id="1156" r:id="rId32"/>
    <p:sldId id="1157" r:id="rId33"/>
    <p:sldId id="1158" r:id="rId34"/>
    <p:sldId id="1159" r:id="rId35"/>
    <p:sldId id="1160" r:id="rId36"/>
    <p:sldId id="1161" r:id="rId37"/>
    <p:sldId id="1162" r:id="rId38"/>
    <p:sldId id="1163" r:id="rId39"/>
    <p:sldId id="945" r:id="rId40"/>
    <p:sldId id="946" r:id="rId41"/>
  </p:sldIdLst>
  <p:sldSz cx="18288000" cy="10288588"/>
  <p:notesSz cx="6889750" cy="9607550"/>
  <p:embeddedFontLst>
    <p:embeddedFont>
      <p:font typeface="Wingdings 2" panose="05020102010507070707" pitchFamily="18" charset="2"/>
      <p:regular r:id="rId44"/>
    </p:embeddedFont>
    <p:embeddedFont>
      <p:font typeface="나눔바른고딕" panose="020B0600000101010101" charset="-127"/>
      <p:regular r:id="rId45"/>
      <p:bold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맑은 고딕" panose="020B0503020000020004" pitchFamily="50" charset="-127"/>
      <p:regular r:id="rId51"/>
      <p:bold r:id="rId52"/>
    </p:embeddedFont>
    <p:embeddedFont>
      <p:font typeface="Calibri Light" panose="020F0302020204030204" pitchFamily="34" charset="0"/>
      <p:regular r:id="rId53"/>
      <p:italic r:id="rId54"/>
    </p:embeddedFont>
  </p:embeddedFontLst>
  <p:defaultTextStyle>
    <a:defPPr>
      <a:defRPr lang="ko-KR"/>
    </a:defPPr>
    <a:lvl1pPr marL="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6212" userDrawn="1">
          <p15:clr>
            <a:srgbClr val="A4A3A4"/>
          </p15:clr>
        </p15:guide>
        <p15:guide id="2" pos="79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2" clrIdx="0">
    <p:extLst/>
  </p:cmAuthor>
  <p:cmAuthor id="2" name="서희 박" initials="서박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A3D977"/>
    <a:srgbClr val="00B050"/>
    <a:srgbClr val="262626"/>
    <a:srgbClr val="FFFFFF"/>
    <a:srgbClr val="99D2F2"/>
    <a:srgbClr val="FFF8DC"/>
    <a:srgbClr val="44546A"/>
    <a:srgbClr val="2F5597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1" autoAdjust="0"/>
    <p:restoredTop sz="95388" autoAdjust="0"/>
  </p:normalViewPr>
  <p:slideViewPr>
    <p:cSldViewPr snapToGrid="0">
      <p:cViewPr varScale="1">
        <p:scale>
          <a:sx n="61" d="100"/>
          <a:sy n="61" d="100"/>
        </p:scale>
        <p:origin x="-738" y="-72"/>
      </p:cViewPr>
      <p:guideLst>
        <p:guide orient="horz" pos="6212"/>
        <p:guide pos="7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482046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482046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>
              <a:defRPr sz="1200"/>
            </a:lvl1pPr>
          </a:lstStyle>
          <a:p>
            <a:fld id="{EE66659B-9FE9-4976-A837-D4C69607BDDE}" type="datetimeFigureOut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125506"/>
            <a:ext cx="2985558" cy="48204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2597" y="9125506"/>
            <a:ext cx="2985558" cy="48204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r">
              <a:defRPr sz="1200"/>
            </a:lvl1pPr>
          </a:lstStyle>
          <a:p>
            <a:fld id="{B2004E29-DFAC-4011-B70C-7655C6BAF34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4769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805B5-DE37-452D-A62B-A8E50391DBE4}" type="datetimeFigureOut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44475" y="720725"/>
            <a:ext cx="6400800" cy="3602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564063"/>
            <a:ext cx="5511800" cy="43227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2495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075" y="912495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D470C-A72D-47B9-B107-6AD1788B37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264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804"/>
            <a:ext cx="13716000" cy="358195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891"/>
            <a:ext cx="13716000" cy="2484026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75E2-20BE-465F-A4BA-00B6964157B2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‹#›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972000" indent="-342900">
              <a:buFont typeface="나눔바른고딕" panose="020B0603020101020101" pitchFamily="50" charset="-127"/>
              <a:buChar char="-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440000" indent="-342900">
              <a:buFont typeface="Wingdings" panose="05000000000000000000" pitchFamily="2" charset="2"/>
              <a:buChar char="§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2400300" indent="-342900">
              <a:buFont typeface="Wingdings" panose="05000000000000000000" pitchFamily="2" charset="2"/>
              <a:buChar char="ü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DA0EA-863A-4F72-8650-3216AD3AF0E2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231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5004"/>
            <a:ext cx="15773400" cy="427976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5258"/>
            <a:ext cx="15773400" cy="2250628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F44D-DA3F-4B8A-878A-8D83E747D8F9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290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860"/>
            <a:ext cx="7772400" cy="652801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860"/>
            <a:ext cx="7772400" cy="652801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DC99-7833-4551-8230-9A9F477EBB17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98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773"/>
            <a:ext cx="15773400" cy="198865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2134"/>
            <a:ext cx="7736681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8193"/>
            <a:ext cx="7736681" cy="552773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2134"/>
            <a:ext cx="7774782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8193"/>
            <a:ext cx="7774782" cy="552773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95EB-4634-4B6D-8625-DB0B30401634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585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97E4-E5A2-4938-A0D3-C28BB8D965FA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817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902B-7717-4347-BF28-DFF6E32F278D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7121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6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367"/>
            <a:ext cx="9258300" cy="731156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6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DC04F-80AB-45D3-9A8F-00ACA3C8F4DC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964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6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367"/>
            <a:ext cx="9258300" cy="7311566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6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97C7-6B12-406E-B2CD-AA4AA10D48DB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827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0E0E-EDD4-4A2C-A185-B7532A25E047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81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772"/>
            <a:ext cx="3943350" cy="871910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772"/>
            <a:ext cx="11601450" cy="871910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5138-B2C5-467B-AE9C-3B1796D0AC3B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08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773"/>
            <a:ext cx="15773400" cy="1988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860"/>
            <a:ext cx="15773400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955E9-5A40-4466-A138-C328315A611D}" type="datetime1">
              <a:rPr lang="ko-KR" altLang="en-US" smtClean="0"/>
              <a:t>2025-11-23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5998"/>
            <a:ext cx="61722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A13D3-7926-4310-AEAA-1557892109D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7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094EA7AB-B050-444D-A603-EB00471B9317}"/>
              </a:ext>
            </a:extLst>
          </p:cNvPr>
          <p:cNvGrpSpPr/>
          <p:nvPr/>
        </p:nvGrpSpPr>
        <p:grpSpPr>
          <a:xfrm>
            <a:off x="0" y="0"/>
            <a:ext cx="18240032" cy="320843"/>
            <a:chOff x="0" y="0"/>
            <a:chExt cx="18240032" cy="320843"/>
          </a:xfrm>
        </p:grpSpPr>
        <p:sp>
          <p:nvSpPr>
            <p:cNvPr id="5" name="직사각형 4">
              <a:extLst>
                <a:ext uri="{FF2B5EF4-FFF2-40B4-BE49-F238E27FC236}">
                  <a16:creationId xmlns="" xmlns:a16="http://schemas.microsoft.com/office/drawing/2014/main" id="{7281863C-4890-4C62-AE45-37011F809F2C}"/>
                </a:ext>
              </a:extLst>
            </p:cNvPr>
            <p:cNvSpPr/>
            <p:nvPr/>
          </p:nvSpPr>
          <p:spPr>
            <a:xfrm>
              <a:off x="0" y="1"/>
              <a:ext cx="15086101" cy="3208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="" xmlns:a16="http://schemas.microsoft.com/office/drawing/2014/main" id="{BE19EF5E-01D6-4192-92DF-5351631BC48C}"/>
                </a:ext>
              </a:extLst>
            </p:cNvPr>
            <p:cNvSpPr/>
            <p:nvPr/>
          </p:nvSpPr>
          <p:spPr>
            <a:xfrm>
              <a:off x="15086102" y="0"/>
              <a:ext cx="1798820" cy="3208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69592F03-FEF8-4366-B0CC-56D6ECC743E6}"/>
                </a:ext>
              </a:extLst>
            </p:cNvPr>
            <p:cNvSpPr/>
            <p:nvPr/>
          </p:nvSpPr>
          <p:spPr>
            <a:xfrm>
              <a:off x="16884921" y="0"/>
              <a:ext cx="953373" cy="32084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="" xmlns:a16="http://schemas.microsoft.com/office/drawing/2014/main" id="{51E300A2-1F01-4680-A94B-BE275DF667E9}"/>
                </a:ext>
              </a:extLst>
            </p:cNvPr>
            <p:cNvSpPr/>
            <p:nvPr/>
          </p:nvSpPr>
          <p:spPr>
            <a:xfrm>
              <a:off x="17838295" y="0"/>
              <a:ext cx="401737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CABF6730-1BE9-4DE4-984A-11EA523C6167}"/>
              </a:ext>
            </a:extLst>
          </p:cNvPr>
          <p:cNvGrpSpPr/>
          <p:nvPr/>
        </p:nvGrpSpPr>
        <p:grpSpPr>
          <a:xfrm flipV="1">
            <a:off x="0" y="0"/>
            <a:ext cx="18361152" cy="10288588"/>
            <a:chOff x="0" y="0"/>
            <a:chExt cx="18361152" cy="10288588"/>
          </a:xfrm>
        </p:grpSpPr>
        <p:sp>
          <p:nvSpPr>
            <p:cNvPr id="16" name="직사각형 15">
              <a:extLst>
                <a:ext uri="{FF2B5EF4-FFF2-40B4-BE49-F238E27FC236}">
                  <a16:creationId xmlns="" xmlns:a16="http://schemas.microsoft.com/office/drawing/2014/main" id="{6A66E8EB-4A6F-4C8F-8891-EC763344B48B}"/>
                </a:ext>
              </a:extLst>
            </p:cNvPr>
            <p:cNvSpPr/>
            <p:nvPr/>
          </p:nvSpPr>
          <p:spPr>
            <a:xfrm>
              <a:off x="0" y="1"/>
              <a:ext cx="15086101" cy="3208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C4416E4C-9F56-49AF-98BF-E128D2866CD8}"/>
                </a:ext>
              </a:extLst>
            </p:cNvPr>
            <p:cNvSpPr/>
            <p:nvPr/>
          </p:nvSpPr>
          <p:spPr>
            <a:xfrm>
              <a:off x="15086102" y="0"/>
              <a:ext cx="1798820" cy="3208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="" xmlns:a16="http://schemas.microsoft.com/office/drawing/2014/main" id="{360FBEF9-D7B6-46F3-AFAD-6E3908AB19A9}"/>
                </a:ext>
              </a:extLst>
            </p:cNvPr>
            <p:cNvSpPr/>
            <p:nvPr/>
          </p:nvSpPr>
          <p:spPr>
            <a:xfrm>
              <a:off x="16884921" y="0"/>
              <a:ext cx="953373" cy="32084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="" xmlns:a16="http://schemas.microsoft.com/office/drawing/2014/main" id="{2A221E6C-39BB-45A5-BA48-AC6CA978017C}"/>
                </a:ext>
              </a:extLst>
            </p:cNvPr>
            <p:cNvSpPr/>
            <p:nvPr/>
          </p:nvSpPr>
          <p:spPr>
            <a:xfrm>
              <a:off x="17838295" y="0"/>
              <a:ext cx="401737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="" xmlns:a16="http://schemas.microsoft.com/office/drawing/2014/main" id="{C04813E0-CD6F-461D-A8E5-EDD58A8E622F}"/>
                </a:ext>
              </a:extLst>
            </p:cNvPr>
            <p:cNvSpPr/>
            <p:nvPr/>
          </p:nvSpPr>
          <p:spPr>
            <a:xfrm rot="5400000">
              <a:off x="13056463" y="4983899"/>
              <a:ext cx="10288536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BF117464-5B11-41EE-801F-B142BD14A5A4}"/>
              </a:ext>
            </a:extLst>
          </p:cNvPr>
          <p:cNvSpPr/>
          <p:nvPr/>
        </p:nvSpPr>
        <p:spPr>
          <a:xfrm rot="16200000" flipV="1">
            <a:off x="-5060048" y="4994364"/>
            <a:ext cx="10288536" cy="3208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0" spc="-15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="" xmlns:a16="http://schemas.microsoft.com/office/drawing/2014/main" id="{3F250FDD-6E82-43E2-AF59-20296424A3FD}"/>
              </a:ext>
            </a:extLst>
          </p:cNvPr>
          <p:cNvGrpSpPr/>
          <p:nvPr/>
        </p:nvGrpSpPr>
        <p:grpSpPr>
          <a:xfrm>
            <a:off x="929775" y="2907396"/>
            <a:ext cx="5470120" cy="2184123"/>
            <a:chOff x="773001" y="3158082"/>
            <a:chExt cx="5470120" cy="2184123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773001" y="4623194"/>
              <a:ext cx="2727825" cy="70788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10</a:t>
              </a:r>
              <a:r>
                <a:rPr lang="ko-KR" altLang="en-US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주차 </a:t>
              </a:r>
              <a:r>
                <a:rPr lang="en-US" altLang="ko-KR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lang="ko-KR" altLang="en-US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교시</a:t>
              </a:r>
              <a:endParaRPr lang="ko-KR" altLang="en-US" sz="32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04257" y="4634319"/>
              <a:ext cx="263886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spc="-150" dirty="0" smtClean="0">
                  <a:ln w="317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그래프 운행 </a:t>
              </a:r>
              <a:endParaRPr lang="ko-KR" altLang="en-US" sz="4000" spc="-150" dirty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="" xmlns:a16="http://schemas.microsoft.com/office/drawing/2014/main" id="{BE8602FE-E2F0-47BC-ADDA-7573D795AA35}"/>
                </a:ext>
              </a:extLst>
            </p:cNvPr>
            <p:cNvSpPr/>
            <p:nvPr/>
          </p:nvSpPr>
          <p:spPr>
            <a:xfrm>
              <a:off x="773001" y="3158082"/>
              <a:ext cx="3930983" cy="120035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6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자료구조</a:t>
              </a:r>
              <a:endParaRPr lang="ko-KR" altLang="en-US" sz="66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056E7A73-56B3-4626-914B-600BB5AEB92B}"/>
              </a:ext>
            </a:extLst>
          </p:cNvPr>
          <p:cNvSpPr/>
          <p:nvPr/>
        </p:nvSpPr>
        <p:spPr>
          <a:xfrm>
            <a:off x="929775" y="5461258"/>
            <a:ext cx="66132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그래프 운행의 개요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056E7A73-56B3-4626-914B-600BB5AEB92B}"/>
              </a:ext>
            </a:extLst>
          </p:cNvPr>
          <p:cNvSpPr/>
          <p:nvPr/>
        </p:nvSpPr>
        <p:spPr>
          <a:xfrm>
            <a:off x="923151" y="6468412"/>
            <a:ext cx="53737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깊이 우선 탐색</a:t>
            </a: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(DFS)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="" xmlns:a16="http://schemas.microsoft.com/office/drawing/2014/main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60362" y="7248192"/>
            <a:ext cx="3636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056E7A73-56B3-4626-914B-600BB5AEB92B}"/>
              </a:ext>
            </a:extLst>
          </p:cNvPr>
          <p:cNvSpPr/>
          <p:nvPr/>
        </p:nvSpPr>
        <p:spPr>
          <a:xfrm>
            <a:off x="950859" y="7431310"/>
            <a:ext cx="53737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넓이 우선 탐색</a:t>
            </a: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(BFS)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60983" y="8211088"/>
            <a:ext cx="3636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="" xmlns:a16="http://schemas.microsoft.com/office/drawing/2014/main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78466" y="6229017"/>
            <a:ext cx="3384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1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10051" cy="523220"/>
            <a:chOff x="1577990" y="2199825"/>
            <a:chExt cx="3210051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669320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그래프 운행 방법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031873"/>
            <a:chOff x="1454251" y="3644747"/>
            <a:chExt cx="11282473" cy="4031873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비방향성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G=(V, E)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와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V(E)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속하는 정점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주어졌을 때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로부터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시작하여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연결된 간선을 거쳐 도달할 수 있는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G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모든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정점을 방문하는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것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방법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깊이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(depth first search - DFS) </a:t>
              </a:r>
              <a:endParaRPr lang="en-US" altLang="ko-KR" sz="24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넓이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(breadth first search - BFS)</a:t>
              </a:r>
              <a:endParaRPr lang="ko-KR" altLang="en-US" sz="2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26644" y="1238048"/>
            <a:ext cx="6912000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6160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그래프 운행의 개요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56" y="5770286"/>
            <a:ext cx="7174396" cy="2538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7841193" y="8221438"/>
            <a:ext cx="663964" cy="400110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DFS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117332" y="8254569"/>
            <a:ext cx="639919" cy="400110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BFS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544884" y="3461525"/>
            <a:ext cx="7961066" cy="5847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DFS(v) {</a:t>
            </a:r>
          </a:p>
          <a:p>
            <a:pPr lvl="0"/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&lt;n;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visited[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false;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}  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stack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createStack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visited[v] = true;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v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방문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while (not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(stack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(visited[v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인접정점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w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]==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false) {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push(stack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v);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visited[w] = true;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w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v = w;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else v = pop(stack);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787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3929063"/>
            <a:ext cx="9015412" cy="268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초기상태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false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초기화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공백 </a:t>
            </a:r>
            <a:r>
              <a:rPr lang="ko-KR" altLang="en-US" sz="24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en-US" altLang="ko-KR" sz="24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생성</a:t>
            </a:r>
            <a:endParaRPr lang="en-US" altLang="ko-KR" sz="24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04664" y="6794275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시작으로 깊이 우선 탐색 시작</a:t>
            </a:r>
          </a:p>
        </p:txBody>
      </p:sp>
      <p:sp>
        <p:nvSpPr>
          <p:cNvPr id="21" name="직사각형 5"/>
          <p:cNvSpPr>
            <a:spLocks noChangeArrowheads="1"/>
          </p:cNvSpPr>
          <p:nvPr/>
        </p:nvSpPr>
        <p:spPr bwMode="auto">
          <a:xfrm>
            <a:off x="3741187" y="5995643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52"/>
          <p:cNvSpPr>
            <a:spLocks noChangeArrowheads="1"/>
          </p:cNvSpPr>
          <p:nvPr/>
        </p:nvSpPr>
        <p:spPr bwMode="auto">
          <a:xfrm>
            <a:off x="6085130" y="5268553"/>
            <a:ext cx="1041511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28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0" y="7331074"/>
            <a:ext cx="8896350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직사각형 52"/>
          <p:cNvSpPr>
            <a:spLocks noChangeArrowheads="1"/>
          </p:cNvSpPr>
          <p:nvPr/>
        </p:nvSpPr>
        <p:spPr bwMode="auto">
          <a:xfrm>
            <a:off x="6775616" y="8798325"/>
            <a:ext cx="1018620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08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1524540" y="3335496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1" indent="-1468508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방문하지 않은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B, C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있으므로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스택에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push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중에서 오름차순에 따라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탐색을 계속 진행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484781" y="6853953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④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방문하지 않은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D, 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있으므로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스택에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push,</a:t>
            </a:r>
          </a:p>
          <a:p>
            <a:pPr marL="0" lvl="2" indent="-652040">
              <a:buSzPct val="95000"/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중에서 오름차순에 따라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탐색을 계속 진행</a:t>
            </a:r>
          </a:p>
        </p:txBody>
      </p:sp>
      <p:sp>
        <p:nvSpPr>
          <p:cNvPr id="17" name="직사각형 16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4198938"/>
            <a:ext cx="9109075" cy="267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직사각형 52"/>
          <p:cNvSpPr>
            <a:spLocks noChangeArrowheads="1"/>
          </p:cNvSpPr>
          <p:nvPr/>
        </p:nvSpPr>
        <p:spPr bwMode="auto">
          <a:xfrm>
            <a:off x="7419728" y="5699525"/>
            <a:ext cx="1018620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0" y="7642226"/>
            <a:ext cx="9096375" cy="264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직사각형 52"/>
          <p:cNvSpPr>
            <a:spLocks noChangeArrowheads="1"/>
          </p:cNvSpPr>
          <p:nvPr/>
        </p:nvSpPr>
        <p:spPr bwMode="auto">
          <a:xfrm>
            <a:off x="8680341" y="9108095"/>
            <a:ext cx="1018620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44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7488238"/>
            <a:ext cx="8982075" cy="264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04663" y="3315630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⑤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방문하지 않은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있으므로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스택에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push,</a:t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탐색을 계속 진행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464903" y="6754569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⑥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방문하지 않은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E, F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있으므로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스택에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push,</a:t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중에서 오름차순에 따라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탐색을 계속 진행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17" name="직사각형 16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29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3" name="직사각형 52"/>
          <p:cNvSpPr>
            <a:spLocks noChangeArrowheads="1"/>
          </p:cNvSpPr>
          <p:nvPr/>
        </p:nvSpPr>
        <p:spPr bwMode="auto">
          <a:xfrm>
            <a:off x="9187789" y="8967291"/>
            <a:ext cx="1018620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4157663"/>
            <a:ext cx="9020175" cy="264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52"/>
          <p:cNvSpPr>
            <a:spLocks noChangeArrowheads="1"/>
          </p:cNvSpPr>
          <p:nvPr/>
        </p:nvSpPr>
        <p:spPr bwMode="auto">
          <a:xfrm>
            <a:off x="10356189" y="5639891"/>
            <a:ext cx="1018620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96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0" y="7554912"/>
            <a:ext cx="8888413" cy="2733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900" y="4165600"/>
            <a:ext cx="8956675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1484785" y="3335507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1" indent="-1468508">
              <a:buSzPct val="95000"/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⑦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방문하지 않은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있으므로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스택에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push,</a:t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탐색을 계속 진행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445025" y="6774446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⑧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방문하지 않은 인접정점이 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마지막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정점으로 돌아가기 위해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0" lvl="2" indent="-652040">
              <a:buSzPct val="95000"/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받은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대해서 방문하지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않은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인접정점이 있는지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확인</a:t>
            </a:r>
          </a:p>
        </p:txBody>
      </p:sp>
      <p:sp>
        <p:nvSpPr>
          <p:cNvPr id="16" name="직사각형 15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6" name="직사각형 52"/>
          <p:cNvSpPr>
            <a:spLocks noChangeArrowheads="1"/>
          </p:cNvSpPr>
          <p:nvPr/>
        </p:nvSpPr>
        <p:spPr bwMode="auto">
          <a:xfrm>
            <a:off x="7968589" y="5627191"/>
            <a:ext cx="1018620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82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0" y="7670800"/>
            <a:ext cx="8812213" cy="266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900" y="4195763"/>
            <a:ext cx="8940799" cy="278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484785" y="3315630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  <a:defRPr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⑨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방문하지 않은 인접정점이 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다시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받은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대해서 방문하지 않은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있는지 확인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445027" y="6873836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⑩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방문하지 않은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있으므로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스택에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push,</a:t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탐색을 계속 진행</a:t>
            </a:r>
          </a:p>
        </p:txBody>
      </p:sp>
      <p:sp>
        <p:nvSpPr>
          <p:cNvPr id="16" name="직사각형 15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22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6" name="직사각형 52"/>
          <p:cNvSpPr>
            <a:spLocks noChangeArrowheads="1"/>
          </p:cNvSpPr>
          <p:nvPr/>
        </p:nvSpPr>
        <p:spPr bwMode="auto">
          <a:xfrm>
            <a:off x="9548358" y="9143987"/>
            <a:ext cx="1018620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786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900" y="7607300"/>
            <a:ext cx="8902699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140200"/>
            <a:ext cx="886142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464904" y="3335507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⑪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방문하지 않은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마지막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정점으로 돌아가기</a:t>
            </a:r>
            <a:endParaRPr lang="en-US" altLang="ko-KR" sz="24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2" indent="-652040">
              <a:buSzPct val="95000"/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위해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받은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대해서 방문하지 않은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있는지 확인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445028" y="6893717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⑫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방문하지 않은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다시 마지막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정점으로 돌아가기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위해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받은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대해서 방문하지 않은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있는지 확인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16" name="직사각형 15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826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445026" y="3335508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방문하지 않은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다시 마지막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정점으로 돌아가기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위해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받은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대해서 방문하지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않은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있는지 확인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445027" y="6853959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1" indent="-1468508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⑭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방문하지 않은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다시 마지막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정점으로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돌아가기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위해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받은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대해서 방문하지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않은 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있는지 확인</a:t>
            </a:r>
          </a:p>
        </p:txBody>
      </p:sp>
      <p:sp>
        <p:nvSpPr>
          <p:cNvPr id="15" name="직사각형 14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4183063"/>
            <a:ext cx="9020175" cy="264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7673976"/>
            <a:ext cx="8964613" cy="261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849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3" y="4241800"/>
            <a:ext cx="6078537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425147" y="3395141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1" indent="-1468508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⑮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방문하지 않은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마지막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정점으로 돌아가기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위해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스택을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pop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하는데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스택이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공백이므로 깊이 우선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탐색을 종료</a:t>
            </a:r>
            <a:endParaRPr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169613" y="7244090"/>
            <a:ext cx="4131259" cy="461665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4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DFS</a:t>
            </a:r>
            <a:r>
              <a:rPr lang="ko-KR" altLang="en-US" sz="24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결과</a:t>
            </a:r>
            <a:r>
              <a:rPr lang="en-US" altLang="ko-KR" sz="24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A-B-D-G-E-C-F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5" name="직사각형 5"/>
          <p:cNvSpPr>
            <a:spLocks noChangeArrowheads="1"/>
          </p:cNvSpPr>
          <p:nvPr/>
        </p:nvSpPr>
        <p:spPr bwMode="auto">
          <a:xfrm>
            <a:off x="4153937" y="6516343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직사각형 5"/>
          <p:cNvSpPr>
            <a:spLocks noChangeArrowheads="1"/>
          </p:cNvSpPr>
          <p:nvPr/>
        </p:nvSpPr>
        <p:spPr bwMode="auto">
          <a:xfrm>
            <a:off x="7367037" y="6497293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22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22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60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340197"/>
            <a:chOff x="1454251" y="3644747"/>
            <a:chExt cx="11282473" cy="6340197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3401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특징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맹목적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 방법의 하나로서 구현 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스택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(stack)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과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순환 호출 알고리즘을 사용할 수 있음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알고리즘을 구현할 때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어떤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방문했었는지 여부를 반드시 검사해야 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이를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검사하지 않을 경우 무한루프에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빠질 수 있음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단지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 경로상의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노드들만을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기억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스택에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저장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하면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되므로 저장공간의 소요가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비교적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적음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과정이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한없이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깊이 진행되는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것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해가 없는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막기 위해 깊이 제한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(depth bound)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사용함으로써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무의미한 탐색을 회피할 수 있음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9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9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미리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지정한 임의의 깊이까지만 탐색하고 목표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발견하지 못하면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다음의 경로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즉 백트래킹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backtracking)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통해 탐색을 하게 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찾는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깊은 곳에 있을 때는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보다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빠름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목표에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이르는 경로가 다수인 문제에 대해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해를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탐색하면 종료되기 때문에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얻어진 해가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최적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경로라는 보장이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없음</a:t>
              </a: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12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924800" y="1277288"/>
            <a:ext cx="9144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 </a:t>
            </a:r>
          </a:p>
        </p:txBody>
      </p:sp>
      <p:sp>
        <p:nvSpPr>
          <p:cNvPr id="12" name="직사각형 11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17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7429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370427"/>
            <a:chOff x="1454251" y="3644747"/>
            <a:chExt cx="11282473" cy="4370427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3704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특징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모든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방문하고자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하는 경우에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좋음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깊이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넓이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보다 좀 더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간단함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단순 탐색 속도는 넓이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비해서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느림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/>
                <a:t>공간 </a:t>
              </a:r>
              <a:r>
                <a:rPr lang="ko-KR" altLang="en-US" sz="2400" dirty="0"/>
                <a:t>복잡도 </a:t>
              </a:r>
              <a:r>
                <a:rPr lang="en-US" altLang="ko-KR" sz="2400" dirty="0" smtClean="0"/>
                <a:t> </a:t>
              </a:r>
            </a:p>
            <a:p>
              <a:pPr marL="1027800" lvl="1" indent="-342000">
                <a:buFont typeface="나눔바른고딕" panose="020B0603020101020101" pitchFamily="50" charset="-127"/>
                <a:buChar char="-"/>
              </a:pPr>
              <a:endParaRPr lang="en-US" altLang="ko-KR" sz="1000" dirty="0" smtClean="0"/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경로상의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현재 탐색하고 있는 정점과 경로상 이미 방문한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정점들을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스택에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저장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i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O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(V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(V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node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수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E : edge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수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13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924800" y="1277288"/>
            <a:ext cx="9144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 </a:t>
            </a:r>
          </a:p>
        </p:txBody>
      </p:sp>
      <p:sp>
        <p:nvSpPr>
          <p:cNvPr id="16" name="직사각형 15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84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463034"/>
            <a:chOff x="1454251" y="3644747"/>
            <a:chExt cx="11282473" cy="5463034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4630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특징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탐색에 필요한 총 수행시간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시간 복잡도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342000" indent="-3420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행렬로 표현할 경우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인접한 모든 정점을 결정하는데 많아야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넘지 않음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</a:t>
              </a:r>
              <a:r>
                <a:rPr lang="el-GR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Ο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(n)</a:t>
              </a: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호출하는 횟수는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|n|</a:t>
              </a: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 수행시간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l-GR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Ο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(n</a:t>
              </a:r>
              <a:r>
                <a:rPr lang="en-US" altLang="ko-KR" sz="2000" baseline="30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2" indent="-342900">
                <a:buFont typeface="Wingdings" panose="05000000000000000000" pitchFamily="2" charset="2"/>
                <a:buChar char="ü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리스트로 표현할 경우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657800" lvl="2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정점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w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정점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 인접하고 있는지의 결정은 정점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v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헤드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시작으로 일련의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연결을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추적하여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확인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한 번씩 호출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각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많아야 한번씩 탐색하는데 리스트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노드는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모두 2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개가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dirty="0" smtClean="0"/>
                <a:t>방향 </a:t>
              </a:r>
              <a:r>
                <a:rPr lang="ko-KR" altLang="en-US" sz="2000" dirty="0"/>
                <a:t>그래프의 </a:t>
              </a:r>
              <a:r>
                <a:rPr lang="en-US" altLang="ko-KR" sz="2000" dirty="0" smtClean="0"/>
                <a:t/>
              </a:r>
              <a:br>
                <a:rPr lang="en-US" altLang="ko-KR" sz="2000" dirty="0" smtClean="0"/>
              </a:br>
              <a:r>
                <a:rPr lang="ko-KR" altLang="en-US" sz="2000" dirty="0" smtClean="0"/>
                <a:t>경우 </a:t>
              </a:r>
              <a:r>
                <a:rPr lang="en-US" altLang="ko-KR" sz="2000" dirty="0" smtClean="0"/>
                <a:t>1</a:t>
              </a:r>
              <a:r>
                <a:rPr lang="ko-KR" altLang="en-US" sz="2000" dirty="0" smtClean="0"/>
                <a:t>번</a:t>
              </a:r>
              <a:r>
                <a:rPr lang="en-US" altLang="ko-KR" sz="2000" dirty="0" smtClean="0"/>
                <a:t>, </a:t>
              </a:r>
              <a:r>
                <a:rPr lang="ko-KR" altLang="en-US" sz="2000" dirty="0" smtClean="0"/>
                <a:t>비방향성 그래프의 경우 </a:t>
              </a:r>
              <a:r>
                <a:rPr lang="en-US" altLang="ko-KR" sz="2000" dirty="0" smtClean="0"/>
                <a:t>2</a:t>
              </a:r>
              <a:r>
                <a:rPr lang="ko-KR" altLang="en-US" sz="2000" dirty="0" smtClean="0"/>
                <a:t>번</a:t>
              </a:r>
              <a:r>
                <a:rPr lang="en-US" altLang="ko-KR" sz="2000" dirty="0" smtClean="0"/>
                <a:t> </a:t>
              </a:r>
              <a:r>
                <a:rPr lang="ko-KR" altLang="en-US" sz="2000" dirty="0" smtClean="0"/>
                <a:t>확인</a:t>
              </a:r>
              <a:r>
                <a:rPr lang="en-US" altLang="ko-KR" sz="2000" dirty="0" smtClean="0"/>
                <a:t>)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수행시간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l-GR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Ο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(V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 E) (V :node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수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E : edge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수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14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924800" y="1277288"/>
            <a:ext cx="9144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 </a:t>
            </a:r>
          </a:p>
        </p:txBody>
      </p:sp>
      <p:sp>
        <p:nvSpPr>
          <p:cNvPr id="16" name="직사각형 15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81710" cy="523220"/>
            <a:chOff x="1577990" y="2199825"/>
            <a:chExt cx="3881710" cy="420404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4097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355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행렬을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행렬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43242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stdio.h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stdlib.h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source, V, E, time, visited[20], G[20][20];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DFS(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visited[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]=1;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 %d-&gt;", i+1);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for(j=0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j&lt;V;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j++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if(G[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][j]==1 &amp;&amp; visited[j]==0) DFS(j);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2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74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행렬을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행렬 생성과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main()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j, v1, v2;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간선의 수를 입력하세요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scanf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("%d", &amp;E);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정점의 수를 입력하세요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scanf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("%d", &amp;V);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for(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=0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&lt;V;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행렬의 초기화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for(j=0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j&lt;V;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j++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G[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][j]=0;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&lt;E;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행렬에 간선을 생성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scanf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 %d", &amp;v1, &amp;v2);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G[v1-1][v2-1]=1;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간선이 있으면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변경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2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70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행렬을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행렬 생성과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for(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=0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&lt;V;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행렬을 출력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for(j=0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j&lt;V;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j++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 %d ", G[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][j]);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운행을 위한 출발점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입력하세요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scanf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("%d", &amp;source);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DFS(source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- 1);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2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58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행렬을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행렬 생성과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0937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간선의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수를 입력하세요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16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정점의 수를 입력하세요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7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1 2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2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1 3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3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2 4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4 2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2 5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5 2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3 5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5 3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5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실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행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결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2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963" y="5189538"/>
            <a:ext cx="43338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776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행렬을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행렬 생성과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DFS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478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7 5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4 7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7 4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6 7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입력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시작점 끝점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 : 7 6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0  1  1  0  0  0  0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1  0  0  1  1  0  0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1  0  0  0  1  0  0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0  1  0  0  0  0  1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0  1  1  0  0  0  1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0  0  0  0  0  0  1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0  0  0  1  1  1  0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운행을 위한 출발점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입력하세요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1-&gt; 2-&gt; 4-&gt; 7-&gt; 5-&gt; 3-&gt; 6-&gt;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실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행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결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28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2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깊이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053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544884" y="3461525"/>
            <a:ext cx="7961066" cy="550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BFS(v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&lt;n;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visited[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false;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  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Queue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createQueue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visited[v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true;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방문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(not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(Queue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)){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(visited[v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]== false){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visited[w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true;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enQueue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(Queue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w);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v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deQueue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(Queue);</a:t>
            </a: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/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16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684912"/>
              </p:ext>
            </p:extLst>
          </p:nvPr>
        </p:nvGraphicFramePr>
        <p:xfrm>
          <a:off x="10883684" y="4359382"/>
          <a:ext cx="2429359" cy="1266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포장기 셸 개체" showAsIcon="1" r:id="rId3" imgW="457560" imgH="513360" progId="Package">
                  <p:embed/>
                </p:oleObj>
              </mc:Choice>
              <mc:Fallback>
                <p:oleObj name="포장기 셸 개체" showAsIcon="1" r:id="rId3" imgW="45756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83684" y="4359382"/>
                        <a:ext cx="2429359" cy="1266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244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초기상태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false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초기화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공백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큐를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생성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04664" y="6794275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시작으로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우선 탐색 시작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3905250"/>
            <a:ext cx="771525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5"/>
          <p:cNvSpPr>
            <a:spLocks noChangeArrowheads="1"/>
          </p:cNvSpPr>
          <p:nvPr/>
        </p:nvSpPr>
        <p:spPr bwMode="auto">
          <a:xfrm>
            <a:off x="3779287" y="5919443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52"/>
          <p:cNvSpPr>
            <a:spLocks noChangeArrowheads="1"/>
          </p:cNvSpPr>
          <p:nvPr/>
        </p:nvSpPr>
        <p:spPr bwMode="auto">
          <a:xfrm>
            <a:off x="5094530" y="5020903"/>
            <a:ext cx="1041511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7277100"/>
            <a:ext cx="78295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직사각형 52"/>
          <p:cNvSpPr>
            <a:spLocks noChangeArrowheads="1"/>
          </p:cNvSpPr>
          <p:nvPr/>
        </p:nvSpPr>
        <p:spPr bwMode="auto">
          <a:xfrm>
            <a:off x="5856530" y="8449903"/>
            <a:ext cx="1041511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34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94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425" y="3908425"/>
            <a:ext cx="7826375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 정점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방문하지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않은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B, C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방문하고 큐에 </a:t>
            </a:r>
            <a:r>
              <a:rPr lang="en-US" altLang="ko-KR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addqueue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04664" y="6527575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④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정점들을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처리했으므로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계속할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정점을 찾기 위해 큐를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deleteq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구함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52"/>
          <p:cNvSpPr>
            <a:spLocks noChangeArrowheads="1"/>
          </p:cNvSpPr>
          <p:nvPr/>
        </p:nvSpPr>
        <p:spPr bwMode="auto">
          <a:xfrm>
            <a:off x="5983530" y="5776553"/>
            <a:ext cx="1041511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33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7493000"/>
            <a:ext cx="7799387" cy="254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86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⑤ 정점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대해 방문하지 않은 모든 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D, 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방문하고 큐에 </a:t>
            </a:r>
            <a:r>
              <a:rPr lang="en-US" altLang="ko-KR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addqueue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04664" y="6527575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⑥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정점들을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처리했으므로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탐색을 계속할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찾기 위해 큐를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deleteq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구함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22" name="직사각형 21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29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949700"/>
            <a:ext cx="7616825" cy="2435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직사각형 52"/>
          <p:cNvSpPr>
            <a:spLocks noChangeArrowheads="1"/>
          </p:cNvSpPr>
          <p:nvPr/>
        </p:nvSpPr>
        <p:spPr bwMode="auto">
          <a:xfrm>
            <a:off x="7037630" y="5770203"/>
            <a:ext cx="1041511" cy="4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visited</a:t>
            </a:r>
            <a:endParaRPr kumimoji="0" lang="ko-KR" altLang="en-US" sz="18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138" y="7453313"/>
            <a:ext cx="7624761" cy="242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061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⑦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 방문하지 않은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인접정점이 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계속할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찾기 위해 큐를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deleteq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구함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04664" y="6679975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⑧ 정점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 방문하지 않은 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방문하고 큐에 </a:t>
            </a:r>
            <a:r>
              <a:rPr lang="en-US" altLang="ko-KR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addqueue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28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4249738"/>
            <a:ext cx="7777161" cy="2468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7270750"/>
            <a:ext cx="7777161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72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⑨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정점들을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처리했으므로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계속할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찾기 위해 큐를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deleteq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구함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04664" y="6679975"/>
            <a:ext cx="10096786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3" indent="-487613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⑩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 방문하지 않은 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계속할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찾기 위해 큐를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deleteq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구함</a:t>
            </a:r>
          </a:p>
        </p:txBody>
      </p:sp>
      <p:sp>
        <p:nvSpPr>
          <p:cNvPr id="26" name="직사각형 25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29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4287839"/>
            <a:ext cx="7747000" cy="244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7572375"/>
            <a:ext cx="7734300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555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534221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⑪ 정점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 방문하지 않은 인접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방문하고 큐에 </a:t>
            </a:r>
            <a:r>
              <a:rPr lang="en-US" altLang="ko-KR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addqueue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04664" y="6679975"/>
            <a:ext cx="10096786" cy="903552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⑫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인접 정점들을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처리했으므로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계속할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찾기 위해 큐를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deleteq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구함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23" name="직사각형 2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28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338" y="4084638"/>
            <a:ext cx="7726361" cy="2455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7567613"/>
            <a:ext cx="7735887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303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69441"/>
            <a:chOff x="1454251" y="3644747"/>
            <a:chExt cx="11282473" cy="76944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예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524540" y="3415009"/>
            <a:ext cx="13969552" cy="1272884"/>
          </a:xfrm>
          <a:prstGeom prst="rect">
            <a:avLst/>
          </a:prstGeom>
        </p:spPr>
        <p:txBody>
          <a:bodyPr wrap="square" lIns="163294" tIns="81647" rIns="163294" bIns="81647">
            <a:spAutoFit/>
          </a:bodyPr>
          <a:lstStyle/>
          <a:p>
            <a:pPr marL="0" lvl="2" indent="-652040">
              <a:buSzPct val="95000"/>
            </a:pP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⑬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대해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방문하지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않은 인접 정점이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없으므로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탐색을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계속할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찾기 위해 큐를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deleteq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하는데 큐가 공백이므로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탐색을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종료</a:t>
            </a:r>
            <a:endParaRPr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8" y="4710113"/>
            <a:ext cx="5719762" cy="26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3379163" y="7606040"/>
            <a:ext cx="4102405" cy="461665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4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BFS</a:t>
            </a:r>
            <a:r>
              <a:rPr lang="ko-KR" altLang="en-US" sz="24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결과</a:t>
            </a:r>
            <a:r>
              <a:rPr lang="en-US" altLang="ko-KR" sz="24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A-B-C-D-E-G-F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1" name="직사각형 5"/>
          <p:cNvSpPr>
            <a:spLocks noChangeArrowheads="1"/>
          </p:cNvSpPr>
          <p:nvPr/>
        </p:nvSpPr>
        <p:spPr bwMode="auto">
          <a:xfrm>
            <a:off x="4236487" y="6605243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21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5"/>
          <p:cNvSpPr>
            <a:spLocks noChangeArrowheads="1"/>
          </p:cNvSpPr>
          <p:nvPr/>
        </p:nvSpPr>
        <p:spPr bwMode="auto">
          <a:xfrm>
            <a:off x="7093987" y="6567143"/>
            <a:ext cx="938918" cy="47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0" hangingPunct="1"/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kumimoji="0" lang="en-US" altLang="ko-KR" sz="2000" baseline="-25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</a:t>
            </a:r>
            <a:r>
              <a:rPr kumimoji="0"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28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620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462760"/>
            <a:chOff x="1454251" y="3644747"/>
            <a:chExt cx="11282473" cy="4462760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4627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 탐색 알고리즘의 특징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답이 되는 경로가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여러 개일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때에도 최단 경로를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보장함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최단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경로가 존재하는 것이 보장되면 깊이와 무관하게 답을 찾아낼 수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경로가 매우 많아질 경우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많은 메모리가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필요함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해가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존재하지 않을 때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유한 그래프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(finite graph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에서는 모든 그래프를 탐색한 후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종료되며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무한 그래프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(infinite graph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에서는 탐색도 실패하고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종료되지도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않음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시간 복잡도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행렬로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표현했을 경우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시간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l-GR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Ο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(n</a:t>
              </a:r>
              <a:r>
                <a:rPr lang="en-US" altLang="ko-KR" sz="2200" baseline="30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리스트로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표현했을 경우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시간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l-GR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Ο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(V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 E) (V :node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수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E : edge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수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28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924800" y="1277288"/>
            <a:ext cx="9144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 </a:t>
            </a:r>
          </a:p>
        </p:txBody>
      </p:sp>
      <p:sp>
        <p:nvSpPr>
          <p:cNvPr id="12" name="직사각형 11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846444" cy="523220"/>
            <a:chOff x="1577990" y="2199825"/>
            <a:chExt cx="3846444" cy="420404"/>
          </a:xfrm>
        </p:grpSpPr>
        <p:sp>
          <p:nvSpPr>
            <p:cNvPr id="17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305713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(BFS)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84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478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stdio.h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stdlib.h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#define SIZE 40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queue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items[SIZE];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front;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rear;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queue*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createQueue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node*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node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vertex;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node* next;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};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581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478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numVertices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node**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visited;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bfs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 graph,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startVertex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//BFS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queue* q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createQueue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&gt;visited[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startVertex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enqueue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startVertex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(!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(q))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printQueue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currentVertex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dequeue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%d\n",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currentVertex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node* temp = graph-&gt;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currentVertex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];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441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(temp)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temp-&gt;vertex;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(graph-&gt;visited[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== 0)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&gt;visited[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enqueue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adjVertex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temp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temp-&gt;next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node*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createNode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v)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//node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생성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node*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node));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&gt;vertex = v;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&gt;next = NULL;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return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31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createGraph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vertices)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그래프의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생성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Graph* graph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numVertices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vertices;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(vertices 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node*));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&gt;visited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(vertices 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vertices;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NULL;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&gt;visited[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415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6247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Graph* graph,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간선 추가  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정점에서 종점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추가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node*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&gt;next = graph-&gt;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//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종점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정점에서 시작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정점을 추가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src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&gt;next = graph-&gt;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graph-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adjLists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dest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newNode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queue*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createQueue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큐를 생성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queue* q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malloc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sizeof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queue));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q-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&gt;front = -1;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q-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&gt;rear = -1;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6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033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queue* q)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큐가 비어있는지 검사 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(q-&gt;rear == -1)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else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enqueue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queue* q,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value)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원소를 삽입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(q-&gt;rear == SIZE - 1)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큐가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가득차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!!");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else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(q-&gt;front == -1)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q-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&gt;front = 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q-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&gt;rear++;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q-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&gt;items[q-&gt;rear] = value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366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dequeue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queue* q)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큐에서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삭제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item;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(q))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큐가 비었음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item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-1;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}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else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item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q-&gt;items[q-&gt;front];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q-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&gt;front++;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(q-&gt;front &gt; q-&gt;rear)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큐의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front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rear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다시 설정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q-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&gt;front = q-&gt;rear = -1;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return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item;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87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43242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printQueue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queue* q)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큐의 원소를 출력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q-&gt;front;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if 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(q))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큐가 비었음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}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else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q-&gt;front;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q-&gt;rear + 1;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 ", q-&gt;items[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1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86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08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main()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struct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Graph* graph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createGraph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(8);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0, 2);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0, 1);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1, 4);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1, 3);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2, 4);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5, 6);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4, 6);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addEdge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(graph, 3, 6); 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bfs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(graph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0);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return 0;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224" y="5224463"/>
            <a:ext cx="2543175" cy="289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3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072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FB4276BC-8CC9-49C8-BF4E-25CE97B16394}"/>
              </a:ext>
            </a:extLst>
          </p:cNvPr>
          <p:cNvGrpSpPr/>
          <p:nvPr/>
        </p:nvGrpSpPr>
        <p:grpSpPr>
          <a:xfrm>
            <a:off x="1090324" y="2805373"/>
            <a:ext cx="11282473" cy="1323439"/>
            <a:chOff x="1454251" y="3664625"/>
            <a:chExt cx="11282473" cy="13234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="" xmlns:a16="http://schemas.microsoft.com/office/drawing/2014/main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="" xmlns:a16="http://schemas.microsoft.com/office/drawing/2014/main" id="{D4B87212-467B-4438-BE04-8744E9D447D7}"/>
                </a:ext>
              </a:extLst>
            </p:cNvPr>
            <p:cNvSpPr/>
            <p:nvPr/>
          </p:nvSpPr>
          <p:spPr>
            <a:xfrm>
              <a:off x="1737360" y="3664625"/>
              <a:ext cx="109993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인접 리스트를 이용한 구현</a:t>
              </a:r>
            </a:p>
            <a:p>
              <a:pPr marL="342900" lvl="0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그래프의 인접 리스트 생성과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BFS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운행 프로그램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 fontAlgn="base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47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0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큐의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front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rear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다시 설정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0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1 2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1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2 3 4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2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3 4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3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4 6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4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6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큐의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front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rear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다시 설정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6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있는 원소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5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큐의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front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rear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다시 설정</a:t>
            </a:r>
          </a:p>
          <a:p>
            <a:pPr fontAlgn="base"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방문했음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--&gt; 5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실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행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결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5091113"/>
            <a:ext cx="3028950" cy="313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/>
          <p:cNvSpPr/>
          <p:nvPr/>
        </p:nvSpPr>
        <p:spPr>
          <a:xfrm flipV="1">
            <a:off x="6931" y="1238048"/>
            <a:ext cx="3197995" cy="32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80005" y="647996"/>
            <a:ext cx="22028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BFS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="" xmlns:a16="http://schemas.microsoft.com/office/drawing/2014/main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610802" cy="523220"/>
            <a:chOff x="1577990" y="2199825"/>
            <a:chExt cx="3610802" cy="420404"/>
          </a:xfrm>
        </p:grpSpPr>
        <p:sp>
          <p:nvSpPr>
            <p:cNvPr id="23" name="모서리가 둥근 직사각형 18">
              <a:extLst>
                <a:ext uri="{FF2B5EF4-FFF2-40B4-BE49-F238E27FC236}">
                  <a16:creationId xmlns="" xmlns:a16="http://schemas.microsoft.com/office/drawing/2014/main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="" xmlns:a16="http://schemas.microsoft.com/office/drawing/2014/main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0700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넓이 우선 탐색 구현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122799"/>
              </p:ext>
            </p:extLst>
          </p:nvPr>
        </p:nvGraphicFramePr>
        <p:xfrm>
          <a:off x="12372797" y="3868849"/>
          <a:ext cx="1520932" cy="1304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포장기 셸 개체" showAsIcon="1" r:id="rId4" imgW="438480" imgH="513360" progId="Package">
                  <p:embed/>
                </p:oleObj>
              </mc:Choice>
              <mc:Fallback>
                <p:oleObj name="포장기 셸 개체" showAsIcon="1" r:id="rId4" imgW="43848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372797" y="3868849"/>
                        <a:ext cx="1520932" cy="13042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661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373433" y="2030131"/>
            <a:ext cx="109993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 운행이란 비방향성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G=(V, E)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V(E)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속하는 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주어졌을 때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로부터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시작하여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연결된 간선을 거쳐 도달할 수 있는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모든 정점을 방문하는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것을 말한다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24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Font typeface="나눔바른고딕" panose="020B0603020101020101" pitchFamily="50" charset="-127"/>
              <a:buChar char="-"/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깊이 우선 탐색은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임의의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시작해서 다음 분기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(branch)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넘어가기 전에 해당 분기를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완벽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깊게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하게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탐색하는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방법이다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42900" indent="-342900">
              <a:buFont typeface="나눔바른고딕" panose="020B0603020101020101" pitchFamily="50" charset="-127"/>
              <a:buChar char="-"/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넓이 우선 탐색은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 전체를 탐색하는 방법 중 하나로써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임의의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시작해서 인접한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먼저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탐색하게 되며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 정점으로부터 가까운 정점을 먼저 방문하고 멀리 떨어져 있는 정점을 나중에 방문하는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운행함으로써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넓게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탐색하는 방법이다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 flipV="1">
            <a:off x="-1" y="1238048"/>
            <a:ext cx="3461537" cy="354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80005" y="647996"/>
            <a:ext cx="2781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학습정리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33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373433" y="2030131"/>
            <a:ext cx="1099936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</a:pPr>
            <a:endParaRPr lang="en-US" altLang="ko-KR" sz="1000" spc="-1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indent="-342900" fontAlgn="base">
              <a:spcBef>
                <a:spcPct val="0"/>
              </a:spcBef>
              <a:buFontTx/>
              <a:buChar char="-"/>
              <a:defRPr/>
            </a:pPr>
            <a:endParaRPr lang="en-US" altLang="ko-KR" sz="1000" spc="-1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lvl="0" indent="-342900">
              <a:lnSpc>
                <a:spcPct val="200000"/>
              </a:lnSpc>
              <a:buFont typeface="나눔바른고딕" panose="020B0600000101010101" charset="-127"/>
              <a:buChar char="-"/>
            </a:pPr>
            <a:r>
              <a:rPr lang="ko-KR" altLang="en-US" sz="2400" dirty="0" smtClean="0"/>
              <a:t>본 강좌 자료는 자바로 </a:t>
            </a:r>
            <a:r>
              <a:rPr lang="ko-KR" altLang="en-US" sz="2400" dirty="0"/>
              <a:t>배우는 쉬운 </a:t>
            </a:r>
            <a:r>
              <a:rPr lang="ko-KR" altLang="en-US" sz="2400" dirty="0" smtClean="0"/>
              <a:t>자료구조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한빛아카데미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, 2009), C</a:t>
            </a:r>
            <a:r>
              <a:rPr lang="ko-KR" altLang="en-US" sz="2400" dirty="0" smtClean="0"/>
              <a:t>언어로 </a:t>
            </a:r>
            <a:r>
              <a:rPr lang="ko-KR" altLang="en-US" sz="2400" dirty="0"/>
              <a:t>쉽게 </a:t>
            </a:r>
            <a:r>
              <a:rPr lang="ko-KR" altLang="en-US" sz="2400" dirty="0" smtClean="0"/>
              <a:t>풀어 쓴 자료구조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생능출판사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, 2014), </a:t>
            </a:r>
            <a:r>
              <a:rPr lang="ko-KR" altLang="en-US" sz="2400" dirty="0" smtClean="0"/>
              <a:t>그리고 인터넷의 다양한 참조자료 등의 내용을 </a:t>
            </a:r>
            <a:r>
              <a:rPr lang="ko-KR" altLang="en-US" sz="2400" dirty="0"/>
              <a:t>출처로 작성하였음을 알리는 바입니다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 smtClean="0"/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 smtClean="0"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38" name="직사각형 37"/>
          <p:cNvSpPr/>
          <p:nvPr/>
        </p:nvSpPr>
        <p:spPr>
          <a:xfrm flipV="1">
            <a:off x="-1" y="1238048"/>
            <a:ext cx="3461537" cy="354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80005" y="647996"/>
            <a:ext cx="2781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참고문헌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2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8800" dirty="0" err="1" smtClean="0">
            <a:ln w="31750">
              <a:solidFill>
                <a:srgbClr val="203864"/>
              </a:solidFill>
            </a:ln>
            <a:solidFill>
              <a:schemeClr val="accent5">
                <a:lumMod val="75000"/>
              </a:schemeClr>
            </a:solidFill>
            <a:latin typeface="a고딕16" panose="02020600000000000000" pitchFamily="18" charset="-127"/>
            <a:ea typeface="a고딕16" panose="02020600000000000000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42631</TotalTime>
  <Words>3255</Words>
  <Application>Microsoft Office PowerPoint</Application>
  <PresentationFormat>사용자 지정</PresentationFormat>
  <Paragraphs>697</Paragraphs>
  <Slides>40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3" baseType="lpstr">
      <vt:lpstr>굴림</vt:lpstr>
      <vt:lpstr>Arial</vt:lpstr>
      <vt:lpstr>나눔스퀘어 ExtraBold</vt:lpstr>
      <vt:lpstr>Wingdings 2</vt:lpstr>
      <vt:lpstr>나눔바른고딕</vt:lpstr>
      <vt:lpstr>Calibri</vt:lpstr>
      <vt:lpstr>나눔스퀘어</vt:lpstr>
      <vt:lpstr>나눔스퀘어 Bold</vt:lpstr>
      <vt:lpstr>맑은 고딕</vt:lpstr>
      <vt:lpstr>Wingdings</vt:lpstr>
      <vt:lpstr>Calibri Light</vt:lpstr>
      <vt:lpstr>Office 테마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사용자</dc:creator>
  <cp:lastModifiedBy>박인철</cp:lastModifiedBy>
  <cp:revision>1938</cp:revision>
  <cp:lastPrinted>2021-02-12T09:49:11Z</cp:lastPrinted>
  <dcterms:created xsi:type="dcterms:W3CDTF">2019-05-30T05:59:32Z</dcterms:created>
  <dcterms:modified xsi:type="dcterms:W3CDTF">2025-11-23T09:11:35Z</dcterms:modified>
</cp:coreProperties>
</file>