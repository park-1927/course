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793" r:id="rId2"/>
    <p:sldId id="888" r:id="rId3"/>
    <p:sldId id="969" r:id="rId4"/>
    <p:sldId id="947" r:id="rId5"/>
    <p:sldId id="948" r:id="rId6"/>
    <p:sldId id="890" r:id="rId7"/>
    <p:sldId id="950" r:id="rId8"/>
    <p:sldId id="953" r:id="rId9"/>
    <p:sldId id="954" r:id="rId10"/>
    <p:sldId id="955" r:id="rId11"/>
    <p:sldId id="957" r:id="rId12"/>
    <p:sldId id="958" r:id="rId13"/>
    <p:sldId id="959" r:id="rId14"/>
    <p:sldId id="970" r:id="rId15"/>
    <p:sldId id="971" r:id="rId16"/>
    <p:sldId id="972" r:id="rId17"/>
    <p:sldId id="973" r:id="rId18"/>
    <p:sldId id="974" r:id="rId19"/>
    <p:sldId id="975" r:id="rId20"/>
    <p:sldId id="976" r:id="rId21"/>
    <p:sldId id="977" r:id="rId22"/>
    <p:sldId id="962" r:id="rId23"/>
    <p:sldId id="965" r:id="rId24"/>
    <p:sldId id="966" r:id="rId25"/>
    <p:sldId id="968" r:id="rId26"/>
    <p:sldId id="1039" r:id="rId27"/>
    <p:sldId id="1038" r:id="rId28"/>
    <p:sldId id="1041" r:id="rId29"/>
    <p:sldId id="1040" r:id="rId30"/>
    <p:sldId id="1043" r:id="rId31"/>
    <p:sldId id="1045" r:id="rId32"/>
    <p:sldId id="1046" r:id="rId33"/>
    <p:sldId id="1048" r:id="rId34"/>
    <p:sldId id="1049" r:id="rId35"/>
    <p:sldId id="1050" r:id="rId36"/>
    <p:sldId id="1051" r:id="rId37"/>
    <p:sldId id="1059" r:id="rId38"/>
    <p:sldId id="1054" r:id="rId39"/>
    <p:sldId id="1055" r:id="rId40"/>
    <p:sldId id="1057" r:id="rId41"/>
    <p:sldId id="1058" r:id="rId42"/>
    <p:sldId id="945" r:id="rId43"/>
    <p:sldId id="946" r:id="rId44"/>
  </p:sldIdLst>
  <p:sldSz cx="18288000" cy="10288588"/>
  <p:notesSz cx="6889750" cy="9607550"/>
  <p:embeddedFontLs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나눔바른고딕" panose="020B0600000101010101" charset="-127"/>
      <p:regular r:id="rId51"/>
      <p:bold r:id="rId52"/>
    </p:embeddedFont>
    <p:embeddedFont>
      <p:font typeface="맑은 고딕" panose="020B0503020000020004" pitchFamily="50" charset="-127"/>
      <p:regular r:id="rId53"/>
      <p:bold r:id="rId54"/>
    </p:embeddedFont>
    <p:embeddedFont>
      <p:font typeface="HY헤드라인M" panose="02030600000101010101" pitchFamily="18" charset="-127"/>
      <p:regular r:id="rId55"/>
    </p:embeddedFont>
    <p:embeddedFont>
      <p:font typeface="Cambria Math" panose="02040503050406030204" pitchFamily="18" charset="0"/>
      <p:regular r:id="rId56"/>
    </p:embeddedFont>
    <p:embeddedFont>
      <p:font typeface="Calibri Light" panose="020F0302020204030204" pitchFamily="34" charset="0"/>
      <p:regular r:id="rId57"/>
      <p:italic r:id="rId58"/>
    </p:embeddedFont>
  </p:embeddedFontLst>
  <p:defaultTextStyle>
    <a:defPPr>
      <a:defRPr lang="ko-KR"/>
    </a:defPPr>
    <a:lvl1pPr marL="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6212" userDrawn="1">
          <p15:clr>
            <a:srgbClr val="A4A3A4"/>
          </p15:clr>
        </p15:guide>
        <p15:guide id="2" pos="79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사용자" initials="W사" lastIdx="2" clrIdx="0">
    <p:extLst/>
  </p:cmAuthor>
  <p:cmAuthor id="2" name="서희 박" initials="서박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203864"/>
    <a:srgbClr val="A3D977"/>
    <a:srgbClr val="99D2F2"/>
    <a:srgbClr val="00B050"/>
    <a:srgbClr val="262626"/>
    <a:srgbClr val="FFFFFF"/>
    <a:srgbClr val="FFF8DC"/>
    <a:srgbClr val="44546A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71" autoAdjust="0"/>
    <p:restoredTop sz="95388" autoAdjust="0"/>
  </p:normalViewPr>
  <p:slideViewPr>
    <p:cSldViewPr snapToGrid="0">
      <p:cViewPr varScale="1">
        <p:scale>
          <a:sx n="61" d="100"/>
          <a:sy n="61" d="100"/>
        </p:scale>
        <p:origin x="-738" y="-72"/>
      </p:cViewPr>
      <p:guideLst>
        <p:guide orient="horz" pos="6212"/>
        <p:guide pos="79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59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482046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02597" y="0"/>
            <a:ext cx="2985558" cy="482046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r">
              <a:defRPr sz="1200"/>
            </a:lvl1pPr>
          </a:lstStyle>
          <a:p>
            <a:fld id="{EE66659B-9FE9-4976-A837-D4C69607BDDE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125506"/>
            <a:ext cx="2985558" cy="482045"/>
          </a:xfrm>
          <a:prstGeom prst="rect">
            <a:avLst/>
          </a:prstGeom>
        </p:spPr>
        <p:txBody>
          <a:bodyPr vert="horz" lIns="94265" tIns="47133" rIns="94265" bIns="4713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02597" y="9125506"/>
            <a:ext cx="2985558" cy="482045"/>
          </a:xfrm>
          <a:prstGeom prst="rect">
            <a:avLst/>
          </a:prstGeom>
        </p:spPr>
        <p:txBody>
          <a:bodyPr vert="horz" lIns="94265" tIns="47133" rIns="94265" bIns="47133" rtlCol="0" anchor="b"/>
          <a:lstStyle>
            <a:lvl1pPr algn="r">
              <a:defRPr sz="1200"/>
            </a:lvl1pPr>
          </a:lstStyle>
          <a:p>
            <a:fld id="{B2004E29-DFAC-4011-B70C-7655C6BAF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7690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805B5-DE37-452D-A62B-A8E50391DBE4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44475" y="720725"/>
            <a:ext cx="6400800" cy="3602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5" y="4564063"/>
            <a:ext cx="5511800" cy="43227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124950"/>
            <a:ext cx="2986088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075" y="9124950"/>
            <a:ext cx="2986088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D470C-A72D-47B9-B107-6AD1788B37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641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804"/>
            <a:ext cx="13716000" cy="3581953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891"/>
            <a:ext cx="13716000" cy="2484026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75E2-20BE-465F-A4BA-00B6964157B2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‹#›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9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Tx/>
              <a:buNone/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972000" indent="-342900">
              <a:buFont typeface="나눔바른고딕" panose="020B0603020101020101" pitchFamily="50" charset="-127"/>
              <a:buChar char="-"/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1440000" indent="-342900">
              <a:buFont typeface="Wingdings" panose="05000000000000000000" pitchFamily="2" charset="2"/>
              <a:buChar char="§"/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 marL="2400300" indent="-342900">
              <a:buFont typeface="Wingdings" panose="05000000000000000000" pitchFamily="2" charset="2"/>
              <a:buChar char="ü"/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DA0EA-863A-4F72-8650-3216AD3AF0E2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319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5004"/>
            <a:ext cx="15773400" cy="427976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5258"/>
            <a:ext cx="15773400" cy="2250628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F44D-DA3F-4B8A-878A-8D83E747D8F9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90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860"/>
            <a:ext cx="7772400" cy="652801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860"/>
            <a:ext cx="7772400" cy="652801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DC99-7833-4551-8230-9A9F477EBB17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98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773"/>
            <a:ext cx="15773400" cy="198865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2134"/>
            <a:ext cx="7736681" cy="123605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8193"/>
            <a:ext cx="7736681" cy="552773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2134"/>
            <a:ext cx="7774782" cy="123605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8193"/>
            <a:ext cx="7774782" cy="552773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95EB-4634-4B6D-8625-DB0B30401634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85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197E4-E5A2-4938-A0D3-C28BB8D965FA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170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902B-7717-4347-BF28-DFF6E32F278D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121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906"/>
            <a:ext cx="5898356" cy="2400671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367"/>
            <a:ext cx="9258300" cy="7311566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576"/>
            <a:ext cx="5898356" cy="571826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DC04F-80AB-45D3-9A8F-00ACA3C8F4DC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64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906"/>
            <a:ext cx="5898356" cy="2400671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367"/>
            <a:ext cx="9258300" cy="7311566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576"/>
            <a:ext cx="5898356" cy="571826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97C7-6B12-406E-B2CD-AA4AA10D48DB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277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0E0E-EDD4-4A2C-A185-B7532A25E047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81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772"/>
            <a:ext cx="3943350" cy="871910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772"/>
            <a:ext cx="11601450" cy="871910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35138-B2C5-467B-AE9C-3B1796D0AC3B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084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773"/>
            <a:ext cx="15773400" cy="1988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860"/>
            <a:ext cx="15773400" cy="6528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5998"/>
            <a:ext cx="4114800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955E9-5A40-4466-A138-C328315A611D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5998"/>
            <a:ext cx="6172200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5998"/>
            <a:ext cx="4114800" cy="547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A13D3-7926-4310-AEAA-1557892109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7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371600" rtl="0" eaLnBrk="1" latinLnBrk="1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1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3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1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4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xmlns="" id="{094EA7AB-B050-444D-A603-EB00471B9317}"/>
              </a:ext>
            </a:extLst>
          </p:cNvPr>
          <p:cNvGrpSpPr/>
          <p:nvPr/>
        </p:nvGrpSpPr>
        <p:grpSpPr>
          <a:xfrm>
            <a:off x="0" y="0"/>
            <a:ext cx="18240032" cy="320843"/>
            <a:chOff x="0" y="0"/>
            <a:chExt cx="18240032" cy="3208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xmlns="" id="{7281863C-4890-4C62-AE45-37011F809F2C}"/>
                </a:ext>
              </a:extLst>
            </p:cNvPr>
            <p:cNvSpPr/>
            <p:nvPr/>
          </p:nvSpPr>
          <p:spPr>
            <a:xfrm>
              <a:off x="0" y="1"/>
              <a:ext cx="15086101" cy="32084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xmlns="" id="{BE19EF5E-01D6-4192-92DF-5351631BC48C}"/>
                </a:ext>
              </a:extLst>
            </p:cNvPr>
            <p:cNvSpPr/>
            <p:nvPr/>
          </p:nvSpPr>
          <p:spPr>
            <a:xfrm>
              <a:off x="15086102" y="0"/>
              <a:ext cx="1798820" cy="32084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xmlns="" id="{69592F03-FEF8-4366-B0CC-56D6ECC743E6}"/>
                </a:ext>
              </a:extLst>
            </p:cNvPr>
            <p:cNvSpPr/>
            <p:nvPr/>
          </p:nvSpPr>
          <p:spPr>
            <a:xfrm>
              <a:off x="16884921" y="0"/>
              <a:ext cx="953373" cy="320842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xmlns="" id="{51E300A2-1F01-4680-A94B-BE275DF667E9}"/>
                </a:ext>
              </a:extLst>
            </p:cNvPr>
            <p:cNvSpPr/>
            <p:nvPr/>
          </p:nvSpPr>
          <p:spPr>
            <a:xfrm>
              <a:off x="17838295" y="0"/>
              <a:ext cx="401737" cy="32084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CABF6730-1BE9-4DE4-984A-11EA523C6167}"/>
              </a:ext>
            </a:extLst>
          </p:cNvPr>
          <p:cNvGrpSpPr/>
          <p:nvPr/>
        </p:nvGrpSpPr>
        <p:grpSpPr>
          <a:xfrm flipV="1">
            <a:off x="0" y="0"/>
            <a:ext cx="18361152" cy="10288588"/>
            <a:chOff x="0" y="0"/>
            <a:chExt cx="18361152" cy="1028858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xmlns="" id="{6A66E8EB-4A6F-4C8F-8891-EC763344B48B}"/>
                </a:ext>
              </a:extLst>
            </p:cNvPr>
            <p:cNvSpPr/>
            <p:nvPr/>
          </p:nvSpPr>
          <p:spPr>
            <a:xfrm>
              <a:off x="0" y="1"/>
              <a:ext cx="15086101" cy="32084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xmlns="" id="{C4416E4C-9F56-49AF-98BF-E128D2866CD8}"/>
                </a:ext>
              </a:extLst>
            </p:cNvPr>
            <p:cNvSpPr/>
            <p:nvPr/>
          </p:nvSpPr>
          <p:spPr>
            <a:xfrm>
              <a:off x="15086102" y="0"/>
              <a:ext cx="1798820" cy="32084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xmlns="" id="{360FBEF9-D7B6-46F3-AFAD-6E3908AB19A9}"/>
                </a:ext>
              </a:extLst>
            </p:cNvPr>
            <p:cNvSpPr/>
            <p:nvPr/>
          </p:nvSpPr>
          <p:spPr>
            <a:xfrm>
              <a:off x="16884921" y="0"/>
              <a:ext cx="953373" cy="320842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2A221E6C-39BB-45A5-BA48-AC6CA978017C}"/>
                </a:ext>
              </a:extLst>
            </p:cNvPr>
            <p:cNvSpPr/>
            <p:nvPr/>
          </p:nvSpPr>
          <p:spPr>
            <a:xfrm>
              <a:off x="17838295" y="0"/>
              <a:ext cx="401737" cy="32084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xmlns="" id="{C04813E0-CD6F-461D-A8E5-EDD58A8E622F}"/>
                </a:ext>
              </a:extLst>
            </p:cNvPr>
            <p:cNvSpPr/>
            <p:nvPr/>
          </p:nvSpPr>
          <p:spPr>
            <a:xfrm rot="5400000">
              <a:off x="13056463" y="4983899"/>
              <a:ext cx="10288536" cy="32084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BF117464-5B11-41EE-801F-B142BD14A5A4}"/>
              </a:ext>
            </a:extLst>
          </p:cNvPr>
          <p:cNvSpPr/>
          <p:nvPr/>
        </p:nvSpPr>
        <p:spPr>
          <a:xfrm rot="16200000" flipV="1">
            <a:off x="-5060048" y="4994364"/>
            <a:ext cx="10288536" cy="3208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0" spc="-15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3F250FDD-6E82-43E2-AF59-20296424A3FD}"/>
              </a:ext>
            </a:extLst>
          </p:cNvPr>
          <p:cNvGrpSpPr/>
          <p:nvPr/>
        </p:nvGrpSpPr>
        <p:grpSpPr>
          <a:xfrm>
            <a:off x="929775" y="2907396"/>
            <a:ext cx="4913877" cy="2184123"/>
            <a:chOff x="773001" y="3158082"/>
            <a:chExt cx="4913877" cy="2184123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773001" y="4623194"/>
              <a:ext cx="2727825" cy="70788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9</a:t>
              </a:r>
              <a:r>
                <a:rPr lang="ko-KR" altLang="en-US" sz="32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주차 </a:t>
              </a:r>
              <a:r>
                <a:rPr lang="en-US" altLang="ko-KR" sz="32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2</a:t>
              </a:r>
              <a:r>
                <a:rPr lang="ko-KR" altLang="en-US" sz="32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교시</a:t>
              </a:r>
              <a:endParaRPr lang="ko-KR" altLang="en-US" sz="32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604257" y="4634319"/>
              <a:ext cx="208262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spc="-150" dirty="0" smtClean="0">
                  <a:ln w="3175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트리 구조</a:t>
              </a:r>
              <a:endParaRPr lang="ko-KR" altLang="en-US" sz="4000" spc="-150" dirty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xmlns="" id="{BE8602FE-E2F0-47BC-ADDA-7573D795AA35}"/>
                </a:ext>
              </a:extLst>
            </p:cNvPr>
            <p:cNvSpPr/>
            <p:nvPr/>
          </p:nvSpPr>
          <p:spPr>
            <a:xfrm>
              <a:off x="773001" y="3158082"/>
              <a:ext cx="3930983" cy="120035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600" spc="-150" dirty="0" smtClean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자료구조</a:t>
              </a:r>
              <a:endParaRPr lang="ko-KR" altLang="en-US" sz="6600" spc="-15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056E7A73-56B3-4626-914B-600BB5AEB92B}"/>
              </a:ext>
            </a:extLst>
          </p:cNvPr>
          <p:cNvSpPr/>
          <p:nvPr/>
        </p:nvSpPr>
        <p:spPr>
          <a:xfrm>
            <a:off x="929775" y="5461258"/>
            <a:ext cx="66132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ko-KR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</a:t>
            </a:r>
            <a:r>
              <a:rPr lang="ko-KR" altLang="en-US" sz="3200" spc="-150" dirty="0" err="1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힙</a:t>
            </a:r>
            <a:endParaRPr lang="en-US" altLang="ko-KR" sz="32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056E7A73-56B3-4626-914B-600BB5AEB92B}"/>
              </a:ext>
            </a:extLst>
          </p:cNvPr>
          <p:cNvSpPr/>
          <p:nvPr/>
        </p:nvSpPr>
        <p:spPr>
          <a:xfrm>
            <a:off x="923151" y="6468412"/>
            <a:ext cx="53737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ko-KR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  <a:r>
              <a:rPr lang="ko-KR" altLang="en-US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최대 </a:t>
            </a:r>
            <a:r>
              <a:rPr lang="ko-KR" altLang="en-US" sz="3200" spc="-150" dirty="0" err="1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힙과</a:t>
            </a:r>
            <a:r>
              <a:rPr lang="en-US" altLang="ko-KR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최소 </a:t>
            </a:r>
            <a:r>
              <a:rPr lang="ko-KR" altLang="en-US" sz="3200" spc="-150" dirty="0" err="1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힙</a:t>
            </a:r>
            <a:endParaRPr lang="en-US" altLang="ko-KR" sz="32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xmlns="" id="{D7B82F08-18CF-41FD-8972-657B2C8911C8}"/>
              </a:ext>
            </a:extLst>
          </p:cNvPr>
          <p:cNvCxnSpPr>
            <a:cxnSpLocks/>
          </p:cNvCxnSpPr>
          <p:nvPr/>
        </p:nvCxnSpPr>
        <p:spPr>
          <a:xfrm>
            <a:off x="1027046" y="7248192"/>
            <a:ext cx="324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056E7A73-56B3-4626-914B-600BB5AEB92B}"/>
              </a:ext>
            </a:extLst>
          </p:cNvPr>
          <p:cNvSpPr/>
          <p:nvPr/>
        </p:nvSpPr>
        <p:spPr>
          <a:xfrm>
            <a:off x="950859" y="7431310"/>
            <a:ext cx="53737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ko-KR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B-</a:t>
            </a:r>
            <a:r>
              <a:rPr lang="ko-KR" altLang="en-US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트리</a:t>
            </a:r>
            <a:r>
              <a:rPr lang="en-US" altLang="ko-KR" sz="3200" spc="-150" dirty="0" smtClean="0">
                <a:ln w="317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32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xmlns="" id="{D7B82F08-18CF-41FD-8972-657B2C8911C8}"/>
              </a:ext>
            </a:extLst>
          </p:cNvPr>
          <p:cNvCxnSpPr>
            <a:cxnSpLocks/>
          </p:cNvCxnSpPr>
          <p:nvPr/>
        </p:nvCxnSpPr>
        <p:spPr>
          <a:xfrm>
            <a:off x="1054754" y="8211088"/>
            <a:ext cx="1584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xmlns="" id="{D7B82F08-18CF-41FD-8972-657B2C8911C8}"/>
              </a:ext>
            </a:extLst>
          </p:cNvPr>
          <p:cNvCxnSpPr>
            <a:cxnSpLocks/>
          </p:cNvCxnSpPr>
          <p:nvPr/>
        </p:nvCxnSpPr>
        <p:spPr>
          <a:xfrm>
            <a:off x="1049759" y="6229017"/>
            <a:ext cx="108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1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4115749" cy="523220"/>
            <a:chOff x="1577990" y="2199825"/>
            <a:chExt cx="4115749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575018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이진 </a:t>
              </a:r>
              <a:r>
                <a:rPr lang="ko-KR" altLang="en-US" sz="28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(binary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heap)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5601533"/>
            <a:chOff x="1454251" y="3644747"/>
            <a:chExt cx="11282473" cy="5601533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56015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개요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완전 </a:t>
              </a:r>
              <a:r>
                <a:rPr lang="ko-KR" altLang="en-US" sz="24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이진트리의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하나로서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우선순위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큐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들어간 순서에 상관없이 우선순위가 높은 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데이터가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먼저 나오는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것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를 위하여 만들어진 자료구조임</a:t>
              </a:r>
              <a:endParaRPr lang="en-US" altLang="ko-KR" sz="24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여러 개의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노드들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가운데서 가장 큰 키 값을 가지는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노드나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가장 작은 키 값을 가지는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빠른 시간 내에 찾아내도록 만들어진 자료구조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마지막 레벨을 제외하고 모든 레벨이 완전히 채워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짐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배열에 저장하기 적합함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마지막 레벨에는 가능한 한 모든 키가 남아 있음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err="1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힙에서는</a:t>
              </a:r>
              <a:r>
                <a:rPr lang="ko-KR" altLang="en-US" sz="24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중복된 키 값을 허용함 </a:t>
              </a:r>
              <a:r>
                <a:rPr lang="ko-KR" altLang="en-US" sz="24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</a:t>
              </a:r>
              <a:r>
                <a:rPr lang="en-US" altLang="ko-KR" sz="24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BST</a:t>
              </a:r>
              <a:r>
                <a:rPr lang="ko-KR" altLang="en-US" sz="24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에서는 허용하지 않음</a:t>
              </a:r>
              <a:endParaRPr lang="en-US" altLang="ko-KR" sz="2400" dirty="0" smtClean="0">
                <a:solidFill>
                  <a:srgbClr val="0000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힙은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반 정렬된 상태를 유지함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부모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키 값이 자식의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키 값보다 항상 큰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작은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이진트리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구조임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431662"/>
              </p:ext>
            </p:extLst>
          </p:nvPr>
        </p:nvGraphicFramePr>
        <p:xfrm>
          <a:off x="4691063" y="7696465"/>
          <a:ext cx="3830637" cy="1178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포장기 셸 개체" showAsIcon="1" r:id="rId3" imgW="1667520" imgH="513360" progId="Package">
                  <p:embed/>
                </p:oleObj>
              </mc:Choice>
              <mc:Fallback>
                <p:oleObj name="포장기 셸 개체" showAsIcon="1" r:id="rId3" imgW="166752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91063" y="7696465"/>
                        <a:ext cx="3830637" cy="11783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335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247317"/>
            <a:chOff x="1454251" y="3644747"/>
            <a:chExt cx="11282473" cy="4247317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2473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개요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우선순위가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제일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높은 원소를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찾거나 삭제하는 것은 아주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쉬움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시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나머지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노드들을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다시 </a:t>
              </a:r>
              <a:r>
                <a:rPr lang="ko-KR" altLang="en-US" sz="2000" dirty="0" err="1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힙이</a:t>
              </a:r>
              <a:r>
                <a:rPr lang="ko-KR" altLang="en-US" sz="20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되도록 </a:t>
              </a:r>
              <a:r>
                <a:rPr lang="ko-KR" altLang="en-US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재구성</a:t>
              </a:r>
              <a:endParaRPr lang="en-US" altLang="ko-KR" sz="20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시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1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1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삽입할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원소의 우선순위에 따라 </a:t>
              </a:r>
              <a:r>
                <a:rPr lang="ko-KR" altLang="en-US" sz="2000" dirty="0" err="1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힙이</a:t>
              </a:r>
              <a:r>
                <a:rPr lang="ko-KR" altLang="en-US" sz="20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유지되도록 해야 </a:t>
              </a:r>
              <a:r>
                <a:rPr lang="ko-KR" altLang="en-US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함</a:t>
              </a:r>
              <a:endParaRPr lang="en-US" altLang="ko-KR" sz="20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종류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max heap, min heap, min-max heap, </a:t>
              </a:r>
              <a:r>
                <a:rPr lang="en-US" altLang="ko-KR" sz="2200" dirty="0" err="1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deap</a:t>
              </a:r>
              <a:endParaRPr lang="ko-KR" altLang="en-US" sz="2200" dirty="0">
                <a:solidFill>
                  <a:srgbClr val="0000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4115749" cy="523220"/>
            <a:chOff x="1577990" y="2199825"/>
            <a:chExt cx="4115749" cy="420404"/>
          </a:xfrm>
        </p:grpSpPr>
        <p:sp>
          <p:nvSpPr>
            <p:cNvPr id="12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575018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(binary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heap)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927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4115749" cy="523220"/>
            <a:chOff x="1577990" y="2199825"/>
            <a:chExt cx="4115749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575018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(binary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heap)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1200329"/>
            <a:chOff x="1454251" y="3644747"/>
            <a:chExt cx="11282473" cy="120032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이진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ADT</a:t>
              </a: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4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547729" y="3453211"/>
            <a:ext cx="9217254" cy="54143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ADT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BinaryHeap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3000"/>
              </a:lnSpc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데이터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n&gt;0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원소로 구성된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완전이진트리로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각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노드의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 값은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그의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자식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ko-KR" altLang="en-US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노드의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키 값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작지 않음</a:t>
            </a:r>
            <a:endParaRPr lang="ko-KR" alt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연산자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및 연산내용  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//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h∈Heap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e∈Element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Heap create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() 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공백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힙을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생성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Heap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Insert(h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e) 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새로운 원소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힙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삽입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Boolean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isEmpty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(h)  //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힙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비워있으면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true,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비워있지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않으면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         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//false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반환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Element Delete(h)   //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힙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비어있으면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underflow, </a:t>
            </a:r>
          </a:p>
          <a:p>
            <a:pPr>
              <a:lnSpc>
                <a:spcPct val="150000"/>
              </a:lnSpc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           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//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그렇지 않으면 가장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큰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작은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값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힙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삭제한 후 반환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2500"/>
              </a:lnSpc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End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BinaryHeap</a:t>
            </a:r>
            <a:endParaRPr lang="ko-KR" alt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415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088" y="5281613"/>
            <a:ext cx="2919412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4115749" cy="523220"/>
            <a:chOff x="1577990" y="2199825"/>
            <a:chExt cx="4115749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575018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(binary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heap)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647426"/>
            <a:chOff x="1454251" y="3644747"/>
            <a:chExt cx="11282473" cy="4647426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6474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이진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구현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차원 배열의 순차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자료구조를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사용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</a:t>
              </a:r>
              <a:r>
                <a:rPr lang="en-US" altLang="ko-KR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err="1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힙은</a:t>
              </a:r>
              <a:r>
                <a:rPr lang="ko-KR" altLang="en-US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완전 </a:t>
              </a:r>
              <a:r>
                <a:rPr lang="ko-KR" altLang="en-US" sz="2200" dirty="0" err="1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이진트리이기</a:t>
              </a:r>
              <a:r>
                <a:rPr lang="ko-KR" altLang="en-US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때문에 배열은 </a:t>
              </a:r>
              <a:r>
                <a:rPr lang="ko-KR" altLang="en-US" sz="2200" dirty="0" err="1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힙을</a:t>
              </a:r>
              <a:r>
                <a:rPr lang="ko-KR" altLang="en-US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저장하는 </a:t>
              </a:r>
              <a:r>
                <a:rPr lang="ko-KR" altLang="en-US" sz="2200" dirty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표준적인 </a:t>
              </a:r>
              <a:r>
                <a:rPr lang="ko-KR" altLang="en-US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자료구조임</a:t>
              </a:r>
              <a:endParaRPr lang="en-US" altLang="ko-KR" sz="2200" dirty="0" smtClean="0">
                <a:solidFill>
                  <a:srgbClr val="0000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구현을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쉽게 하기 위하여 배열의 첫 번째 인덱스인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0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은 사용되지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않음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특정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위치의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번호는 새로운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노드가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추가되어도 변하지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않음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힙에서의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부모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노드와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자식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관계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부모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노드와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자식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쉽게 찾음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왼쪽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자식의 인덱스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(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부모의 인덱스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* 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오른쪽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자식의 인덱스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(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부모의 인덱스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* 2 + 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부모의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인덱스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(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자식의 인덱스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 2</a:t>
              </a:r>
            </a:p>
          </p:txBody>
        </p:sp>
      </p:grpSp>
      <p:sp>
        <p:nvSpPr>
          <p:cNvPr id="42" name="직사각형 41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5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7691438"/>
            <a:ext cx="7205662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8" descr="그림2 copy"/>
          <p:cNvPicPr>
            <a:picLocks noChangeAspect="1" noChangeArrowheads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707424" y="6847028"/>
            <a:ext cx="463232" cy="1285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899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2862322"/>
            <a:chOff x="1454251" y="3644747"/>
            <a:chExt cx="11282473" cy="2862322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28623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완전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이진트리의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힙으로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변환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변환 알고리즘 및 예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1000" b="1" dirty="0" smtClean="0">
                <a:latin typeface="Adobe 고딕 Std B" pitchFamily="34" charset="-127"/>
                <a:ea typeface="Adobe 고딕 Std B" pitchFamily="34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초기에 </a:t>
              </a:r>
              <a:r>
                <a:rPr lang="ko-KR" altLang="en-US" sz="2200" dirty="0" err="1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힙으로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되어있지 않은 완전 </a:t>
              </a:r>
              <a:r>
                <a:rPr lang="ko-KR" altLang="en-US" sz="22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이진트리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H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를 </a:t>
              </a:r>
              <a:r>
                <a:rPr lang="ko-KR" altLang="en-US" sz="2200" dirty="0" err="1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힙으로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변환</a:t>
              </a:r>
              <a:endPara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역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레벨 순서로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H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내부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각각을 근으로 하는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부분트리를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차례로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힙으로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만들어 나감</a:t>
              </a: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6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830634" y="4909325"/>
            <a:ext cx="6703766" cy="4832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defRPr/>
            </a:pP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makeTreeHeap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(H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){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00000"/>
              </a:lnSpc>
              <a:defRPr/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for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(N=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역레벨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순서에 의한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내부노드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00000"/>
              </a:lnSpc>
              <a:defRPr/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while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N.lchild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smtClean="0">
                <a:latin typeface="나눔바른고딕"/>
                <a:ea typeface="나눔바른고딕"/>
              </a:rPr>
              <a:t>≠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null ||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N.rchild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/>
                <a:ea typeface="나눔바른고딕"/>
              </a:rPr>
              <a:t>≠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null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N.lchild.key≥N.rchild.key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M=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N.lchild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else 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M=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N.rchild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N.key≥M.key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return;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else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temp=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M.key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M.key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N.key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N.key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=temp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N=M; 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 </a:t>
            </a:r>
            <a:endParaRPr lang="en-US" altLang="ko-KR" sz="22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00000"/>
              </a:lnSpc>
              <a:defRPr/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} </a:t>
            </a:r>
          </a:p>
          <a:p>
            <a:pPr lvl="0">
              <a:lnSpc>
                <a:spcPct val="100000"/>
              </a:lnSpc>
              <a:defRPr/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00000"/>
              </a:lnSpc>
              <a:defRPr/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26" name="직사각형 25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25" y="7467600"/>
            <a:ext cx="2632075" cy="189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구부러진 연결선 2"/>
          <p:cNvCxnSpPr/>
          <p:nvPr/>
        </p:nvCxnSpPr>
        <p:spPr>
          <a:xfrm rot="16200000" flipH="1">
            <a:off x="6146800" y="7810500"/>
            <a:ext cx="330200" cy="254000"/>
          </a:xfrm>
          <a:prstGeom prst="curvedConnector3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6014325" y="7383790"/>
            <a:ext cx="348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26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4" y="3833813"/>
            <a:ext cx="10010775" cy="315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2031325"/>
            <a:chOff x="1454251" y="3644747"/>
            <a:chExt cx="11282473" cy="203132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완전 </a:t>
              </a:r>
              <a:r>
                <a:rPr lang="ko-KR" altLang="en-US" sz="24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이진트리의</a:t>
              </a:r>
              <a:r>
                <a:rPr lang="ko-KR" altLang="en-US" sz="24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힙으로</a:t>
              </a:r>
              <a:r>
                <a:rPr lang="ko-KR" altLang="en-US" sz="24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변환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변환 알고리즘 및 예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1000" b="1" dirty="0" smtClean="0">
                <a:latin typeface="Adobe 고딕 Std B" pitchFamily="34" charset="-127"/>
                <a:ea typeface="Adobe 고딕 Std B" pitchFamily="34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7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3" name="TextBox 66"/>
          <p:cNvSpPr txBox="1">
            <a:spLocks noChangeArrowheads="1"/>
          </p:cNvSpPr>
          <p:nvPr/>
        </p:nvSpPr>
        <p:spPr bwMode="auto">
          <a:xfrm flipH="1">
            <a:off x="2794116" y="7121301"/>
            <a:ext cx="3149484" cy="472665"/>
          </a:xfrm>
          <a:prstGeom prst="rect">
            <a:avLst/>
          </a:prstGeom>
          <a:solidFill>
            <a:srgbClr val="203864"/>
          </a:solidFill>
          <a:ln>
            <a:noFill/>
          </a:ln>
          <a:extLst/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sz="2000" dirty="0" err="1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힙이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아닌 완전 </a:t>
            </a:r>
            <a:r>
              <a:rPr lang="ko-KR" altLang="en-US" sz="2000" dirty="0" err="1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이진트리</a:t>
            </a:r>
            <a:endParaRPr lang="ko-KR" altLang="en-US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7172143" y="7064020"/>
            <a:ext cx="4429307" cy="1088218"/>
          </a:xfrm>
          <a:prstGeom prst="rect">
            <a:avLst/>
          </a:prstGeom>
          <a:solidFill>
            <a:srgbClr val="203864"/>
          </a:solidFill>
          <a:ln>
            <a:noFill/>
          </a:ln>
          <a:extLst/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근으로 하는 </a:t>
            </a:r>
            <a:r>
              <a:rPr lang="ko-KR" altLang="en-US" sz="2000" dirty="0" err="1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부분트리를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조사</a:t>
            </a:r>
            <a:r>
              <a:rPr lang="en-US" altLang="ko-KR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번과 </a:t>
            </a:r>
            <a:r>
              <a:rPr lang="en-US" altLang="ko-KR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번과의 큰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키값을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교환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50&lt;99)</a:t>
            </a:r>
            <a:endParaRPr lang="ko-KR" altLang="en-US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5" name="Picture 8" descr="그림2 copy"/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683053" y="4699000"/>
            <a:ext cx="390847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9499600" y="4660900"/>
            <a:ext cx="2349500" cy="15748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구부러진 연결선 4"/>
          <p:cNvCxnSpPr/>
          <p:nvPr/>
        </p:nvCxnSpPr>
        <p:spPr>
          <a:xfrm rot="5400000" flipH="1" flipV="1">
            <a:off x="10712450" y="4438650"/>
            <a:ext cx="431800" cy="292100"/>
          </a:xfrm>
          <a:prstGeom prst="curvedConnector3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8950" y="4143375"/>
            <a:ext cx="8001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712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843338"/>
            <a:ext cx="9791700" cy="318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2031325"/>
            <a:chOff x="1454251" y="3644747"/>
            <a:chExt cx="11282473" cy="203132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완전 </a:t>
              </a:r>
              <a:r>
                <a:rPr lang="ko-KR" altLang="en-US" sz="24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이진트리의</a:t>
              </a:r>
              <a:r>
                <a:rPr lang="ko-KR" altLang="en-US" sz="24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힙으로</a:t>
              </a:r>
              <a:r>
                <a:rPr lang="ko-KR" altLang="en-US" sz="24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변환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변환 알고리즘 및 예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1000" b="1" dirty="0" smtClean="0">
                <a:latin typeface="Adobe 고딕 Std B" pitchFamily="34" charset="-127"/>
                <a:ea typeface="Adobe 고딕 Std B" pitchFamily="34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8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3" name="TextBox 66"/>
          <p:cNvSpPr txBox="1">
            <a:spLocks noChangeArrowheads="1"/>
          </p:cNvSpPr>
          <p:nvPr/>
        </p:nvSpPr>
        <p:spPr bwMode="auto">
          <a:xfrm flipH="1">
            <a:off x="1974966" y="7083201"/>
            <a:ext cx="4292484" cy="1395995"/>
          </a:xfrm>
          <a:prstGeom prst="rect">
            <a:avLst/>
          </a:prstGeom>
          <a:solidFill>
            <a:srgbClr val="203864"/>
          </a:solidFill>
          <a:ln>
            <a:noFill/>
          </a:ln>
          <a:extLst/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근으로 하는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부분트리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조사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키값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40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 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왼쪽자식의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키값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(90)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교환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9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노드의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키값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(70)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교환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(40&lt;70)</a:t>
            </a:r>
            <a:endParaRPr lang="ko-KR" altLang="en-US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6905443" y="7083070"/>
            <a:ext cx="4448357" cy="1395995"/>
          </a:xfrm>
          <a:prstGeom prst="rect">
            <a:avLst/>
          </a:prstGeom>
          <a:solidFill>
            <a:srgbClr val="203864"/>
          </a:solidFill>
          <a:ln>
            <a:noFill/>
          </a:ln>
          <a:extLst/>
        </p:spPr>
        <p:txBody>
          <a:bodyPr wrap="square" lIns="163294" tIns="81647" rIns="163294" bIns="8164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역레벨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마지막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노드인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근노드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(1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고려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근노드는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먼저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노드의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키값</a:t>
            </a:r>
            <a:r>
              <a:rPr lang="en-US" altLang="ko-KR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(20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교환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(20&lt;99), 7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노드의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키값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(80)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교환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(20&lt;80)</a:t>
            </a:r>
            <a:endParaRPr lang="ko-KR" altLang="en-US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5" name="Picture 8" descr="그림2 copy"/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613203" y="4629150"/>
            <a:ext cx="587697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811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2031325"/>
            <a:chOff x="1454251" y="3644747"/>
            <a:chExt cx="11282473" cy="203132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 알고리즘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1000" b="1" dirty="0" smtClean="0">
                <a:latin typeface="Adobe 고딕 Std B" pitchFamily="34" charset="-127"/>
                <a:ea typeface="Adobe 고딕 Std B" pitchFamily="34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9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830634" y="3937775"/>
            <a:ext cx="9980366" cy="36471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완전 </a:t>
            </a:r>
            <a:r>
              <a:rPr lang="ko-KR" altLang="en-US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이진트리를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유지하면서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확장하고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삽입할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원소를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임시 저장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①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-1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노드가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완전 </a:t>
            </a:r>
            <a:r>
              <a:rPr lang="ko-KR" altLang="en-US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이진트리에서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노드의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확장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자리는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n+1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번의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노드임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①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-2 n+1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자리에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확장하고 삽입할 원소를 임시 저장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②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만들어진 완전 </a:t>
            </a:r>
            <a:r>
              <a:rPr lang="ko-KR" altLang="en-US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이진트리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내에서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삽입할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원소의 자리를 찾음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②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-1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 위치에서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부모 </a:t>
            </a:r>
            <a:r>
              <a:rPr lang="ko-KR" altLang="en-US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노드와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비교하여 크기 관계를 확인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②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-2 {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부모 </a:t>
            </a:r>
            <a:r>
              <a:rPr lang="ko-KR" altLang="en-US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노드의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 값</a:t>
            </a:r>
            <a:r>
              <a:rPr lang="ko-KR" altLang="en-US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≥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삽입 원소의 키 값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관계가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성립하지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않으면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부모 </a:t>
            </a:r>
            <a:r>
              <a:rPr lang="ko-KR" altLang="en-US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노드의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원소와 삽입 원소의 자리를 서로 바꿈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ko-KR" alt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3327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984885"/>
            <a:chOff x="1454251" y="3644747"/>
            <a:chExt cx="11282473" cy="98488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lvl="1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 예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=17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를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삽입하는 경우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–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자리 교환이 없음</a:t>
              </a: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10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3900488"/>
            <a:ext cx="7577137" cy="488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8" descr="그림2 copy"/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5317805" y="6172202"/>
            <a:ext cx="587697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956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984885"/>
            <a:chOff x="1454251" y="3644747"/>
            <a:chExt cx="11282473" cy="98488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lvl="1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 예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=23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삽입하는 경우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–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자리 교환이 있음</a:t>
              </a: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11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3933824"/>
            <a:ext cx="7481887" cy="4943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원호 13"/>
          <p:cNvSpPr/>
          <p:nvPr/>
        </p:nvSpPr>
        <p:spPr>
          <a:xfrm rot="3023504">
            <a:off x="4486814" y="7637156"/>
            <a:ext cx="1239570" cy="653886"/>
          </a:xfrm>
          <a:prstGeom prst="arc">
            <a:avLst>
              <a:gd name="adj1" fmla="val 13533047"/>
              <a:gd name="adj2" fmla="val 20331489"/>
            </a:avLst>
          </a:prstGeom>
          <a:ln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63294" tIns="81647" rIns="163294" bIns="81647"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4890894" y="7659982"/>
            <a:ext cx="1246695" cy="472665"/>
          </a:xfrm>
          <a:prstGeom prst="rect">
            <a:avLst/>
          </a:prstGeom>
          <a:noFill/>
        </p:spPr>
        <p:txBody>
          <a:bodyPr wrap="none" lIns="163294" tIns="81647" rIns="163294" bIns="81647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자리교환</a:t>
            </a:r>
          </a:p>
        </p:txBody>
      </p:sp>
      <p:sp>
        <p:nvSpPr>
          <p:cNvPr id="16" name="원호 15"/>
          <p:cNvSpPr/>
          <p:nvPr/>
        </p:nvSpPr>
        <p:spPr>
          <a:xfrm rot="2088450">
            <a:off x="7249064" y="6779906"/>
            <a:ext cx="1239570" cy="653886"/>
          </a:xfrm>
          <a:prstGeom prst="arc">
            <a:avLst>
              <a:gd name="adj1" fmla="val 13533047"/>
              <a:gd name="adj2" fmla="val 20781893"/>
            </a:avLst>
          </a:prstGeom>
          <a:ln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63294" tIns="81647" rIns="163294" bIns="81647"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710294" y="6745582"/>
            <a:ext cx="1246695" cy="472665"/>
          </a:xfrm>
          <a:prstGeom prst="rect">
            <a:avLst/>
          </a:prstGeom>
          <a:noFill/>
        </p:spPr>
        <p:txBody>
          <a:bodyPr wrap="none" lIns="163294" tIns="81647" rIns="163294" bIns="81647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자리교환</a:t>
            </a:r>
          </a:p>
        </p:txBody>
      </p:sp>
    </p:spTree>
    <p:extLst>
      <p:ext uri="{BB962C8B-B14F-4D97-AF65-F5344CB8AC3E}">
        <p14:creationId xmlns:p14="http://schemas.microsoft.com/office/powerpoint/2010/main" val="409717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2031325"/>
            <a:chOff x="1454251" y="3644747"/>
            <a:chExt cx="11282473" cy="203132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삭제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 알고리즘 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1000" b="1" dirty="0" smtClean="0">
                <a:latin typeface="Adobe 고딕 Std B" pitchFamily="34" charset="-127"/>
                <a:ea typeface="Adobe 고딕 Std B" pitchFamily="34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12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830634" y="3937775"/>
            <a:ext cx="9980366" cy="46628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근노드의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원소를 삭제하여 반환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②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원소의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개수가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n-1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개로 줄었으므로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노드의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수가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n-1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완전 이진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트리로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조정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②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-1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노드가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개인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완전 </a:t>
            </a:r>
            <a:r>
              <a:rPr lang="ko-KR" altLang="en-US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이진트리에서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수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n-1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개의 완전 </a:t>
            </a:r>
            <a:r>
              <a:rPr lang="ko-KR" altLang="en-US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이진트리가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되기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위해서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마지막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(=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삭제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②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-2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삭제된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노드에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있던 원소는 비어있는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근노드에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임시 저장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ko-KR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③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완전 </a:t>
            </a:r>
            <a:r>
              <a:rPr lang="ko-KR" altLang="en-US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이진트리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내에서 임시 저장된 원소의 자리를 찾음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③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-1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현재 위치에서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자식노드와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비교하여 크기 관계를 확인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③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-2 {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임시 저장 원소의 키 값 </a:t>
            </a:r>
            <a:r>
              <a:rPr lang="ko-KR" altLang="en-US" sz="2200" dirty="0">
                <a:effectLst>
                  <a:outerShdw blurRad="38100" dist="38100" dir="2700000" algn="tl">
                    <a:srgbClr val="C0C0C0"/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≥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자식노드의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키 값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관계가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성립하지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않으면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b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</a:t>
            </a:r>
            <a:r>
              <a:rPr lang="ko-KR" altLang="en-US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자식노드의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원소와 임시 저장 원소의 자리를 서로 바꿈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24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984885"/>
            <a:chOff x="1454251" y="3644747"/>
            <a:chExt cx="11282473" cy="98488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삭제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lvl="1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 예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근노드를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삭제하는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경우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13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3905250"/>
            <a:ext cx="8934450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원호 15"/>
          <p:cNvSpPr/>
          <p:nvPr/>
        </p:nvSpPr>
        <p:spPr>
          <a:xfrm rot="3703578" flipV="1">
            <a:off x="6154800" y="4602289"/>
            <a:ext cx="1415373" cy="677547"/>
          </a:xfrm>
          <a:prstGeom prst="arc">
            <a:avLst>
              <a:gd name="adj1" fmla="val 11741046"/>
              <a:gd name="adj2" fmla="val 20078359"/>
            </a:avLst>
          </a:prstGeom>
          <a:ln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63294" tIns="81647" rIns="163294" bIns="81647"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5957694" y="4935832"/>
            <a:ext cx="1246695" cy="472665"/>
          </a:xfrm>
          <a:prstGeom prst="rect">
            <a:avLst/>
          </a:prstGeom>
          <a:noFill/>
        </p:spPr>
        <p:txBody>
          <a:bodyPr wrap="none" lIns="163294" tIns="81647" rIns="163294" bIns="81647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자리교환</a:t>
            </a:r>
          </a:p>
        </p:txBody>
      </p:sp>
      <p:sp>
        <p:nvSpPr>
          <p:cNvPr id="26" name="원호 25"/>
          <p:cNvSpPr/>
          <p:nvPr/>
        </p:nvSpPr>
        <p:spPr>
          <a:xfrm rot="19396937">
            <a:off x="8445768" y="4257392"/>
            <a:ext cx="976116" cy="288416"/>
          </a:xfrm>
          <a:prstGeom prst="arc">
            <a:avLst>
              <a:gd name="adj1" fmla="val 10992225"/>
              <a:gd name="adj2" fmla="val 21123638"/>
            </a:avLst>
          </a:prstGeom>
          <a:ln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63294" tIns="81647" rIns="163294" bIns="81647"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7919844" y="4173832"/>
            <a:ext cx="1246695" cy="472665"/>
          </a:xfrm>
          <a:prstGeom prst="rect">
            <a:avLst/>
          </a:prstGeom>
          <a:noFill/>
        </p:spPr>
        <p:txBody>
          <a:bodyPr wrap="none" lIns="163294" tIns="81647" rIns="163294" bIns="81647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자리교환</a:t>
            </a:r>
          </a:p>
        </p:txBody>
      </p:sp>
      <p:sp>
        <p:nvSpPr>
          <p:cNvPr id="29" name="원호 28"/>
          <p:cNvSpPr/>
          <p:nvPr/>
        </p:nvSpPr>
        <p:spPr>
          <a:xfrm rot="3887241">
            <a:off x="2823439" y="7787999"/>
            <a:ext cx="829439" cy="551186"/>
          </a:xfrm>
          <a:prstGeom prst="arc">
            <a:avLst>
              <a:gd name="adj1" fmla="val 11741046"/>
              <a:gd name="adj2" fmla="val 20078359"/>
            </a:avLst>
          </a:prstGeom>
          <a:ln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63294" tIns="81647" rIns="163294" bIns="81647"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3023994" y="7755232"/>
            <a:ext cx="1246695" cy="472665"/>
          </a:xfrm>
          <a:prstGeom prst="rect">
            <a:avLst/>
          </a:prstGeom>
          <a:noFill/>
        </p:spPr>
        <p:txBody>
          <a:bodyPr wrap="none" lIns="163294" tIns="81647" rIns="163294" bIns="81647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자리교환</a:t>
            </a:r>
          </a:p>
        </p:txBody>
      </p:sp>
    </p:spTree>
    <p:extLst>
      <p:ext uri="{BB962C8B-B14F-4D97-AF65-F5344CB8AC3E}">
        <p14:creationId xmlns:p14="http://schemas.microsoft.com/office/powerpoint/2010/main" val="3788687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984885"/>
            <a:chOff x="1454251" y="3644747"/>
            <a:chExt cx="11282473" cy="98488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식제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구현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lvl="1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주어진 키 값에 대한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생성 및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프로그램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14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478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#include &lt;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stdio.h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#include &lt;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stdlib.h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array[100], n;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main()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 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choice,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n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0; //heap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에서의 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 값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</a:t>
            </a:r>
            <a:endParaRPr lang="en-US" altLang="ko-KR" sz="22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(“***** 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*****\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n");</a:t>
            </a:r>
            <a:endParaRPr lang="en-US" altLang="ko-KR" sz="22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("1.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원소를 삽입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\n");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("2.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원소를 삭제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\n");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("3.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 원소를 출력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\n");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("4.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종료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\n");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ko-KR" alt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while(1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연산 번호를 선택하세요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scanf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("%d", &amp;choice);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4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984885"/>
            <a:chOff x="1454251" y="3644747"/>
            <a:chExt cx="11282473" cy="98488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식제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구현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lvl="1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주어진 키 값에 대한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생성 및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프로그램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15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863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switch(choice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case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1: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리스트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삽입될 원소를 입력하세요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scanf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("%d", &amp;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insert(</a:t>
            </a:r>
            <a:r>
              <a:rPr lang="en-US" altLang="ko-KR" sz="2200" dirty="0" err="1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n);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 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n + 1;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break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case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2: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리스트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 삭제될 원소를 입력하세요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scanf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("%d", &amp;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delete(</a:t>
            </a:r>
            <a:r>
              <a:rPr lang="en-US" altLang="ko-KR" sz="2200" dirty="0" err="1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break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case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3: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display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break; 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81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984885"/>
            <a:chOff x="1454251" y="3644747"/>
            <a:chExt cx="11282473" cy="98488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식제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구현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lvl="1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주어진 키 값에 대한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생성 및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프로그램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16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863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case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4: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exit(0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default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번호 선택이 잘못되었습니다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\n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"); 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display()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(n == 0)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("Heap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비었음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\n");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return; 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for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0;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&lt; n;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++)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("%d ", 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("\n");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8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984885"/>
            <a:chOff x="1454251" y="3644747"/>
            <a:chExt cx="11282473" cy="98488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식제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구현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lvl="1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주어진 키 값에 대한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생성 및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프로그램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17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082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insert(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location)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parentnode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while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(location &gt; 0)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parentnode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=(location - 1)/2;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&lt;= 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parentnode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array[location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return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array[location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parentnode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location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parentnode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array[0]=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 //</a:t>
            </a:r>
            <a:r>
              <a:rPr lang="ko-KR" altLang="en-US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근노드에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번호를 할당 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825" y="5880100"/>
            <a:ext cx="46291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116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984885"/>
            <a:chOff x="1454251" y="3644747"/>
            <a:chExt cx="11282473" cy="98488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식제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구현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lvl="1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주어진 키 값에 대한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생성 및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프로그램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18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863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delete(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left, right,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temp,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parentnode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for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0;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&lt;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++) 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== 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])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break; 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!= 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])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printf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("%d heap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발견할 수 없음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\n",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num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return;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array[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array[n - 1];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n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n - 1;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parentnode</a:t>
            </a:r>
            <a:r>
              <a: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=(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- 1) / 2; //</a:t>
            </a:r>
            <a:r>
              <a:rPr lang="ko-KR" altLang="en-US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</a:t>
            </a:r>
            <a:r>
              <a:rPr lang="ko-KR" altLang="en-US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ko-KR" altLang="en-US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ko-KR" altLang="en-US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부모노드를</a:t>
            </a:r>
            <a:r>
              <a:rPr lang="ko-KR" altLang="en-US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찾음</a:t>
            </a:r>
            <a:endParaRPr lang="en-US" altLang="ko-KR" sz="2200" dirty="0" smtClean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&gt; 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parentnode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]){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insert(array[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],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); //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자리교환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return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565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984885"/>
            <a:chOff x="1454251" y="3644747"/>
            <a:chExt cx="11282473" cy="98488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식제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구현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lvl="1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주어진 키 값에 대한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생성 및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프로그램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19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5863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left 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2 *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+ 1; //</a:t>
            </a:r>
            <a:r>
              <a:rPr lang="ko-KR" altLang="en-US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</a:t>
            </a:r>
            <a:r>
              <a:rPr lang="ko-KR" altLang="en-US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ko-KR" altLang="en-US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ko-KR" altLang="en-US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왼쪽 </a:t>
            </a:r>
            <a:r>
              <a:rPr lang="ko-KR" altLang="en-US" sz="2200" dirty="0" err="1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자식노드</a:t>
            </a:r>
            <a:endParaRPr lang="ko-KR" altLang="en-US" sz="22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right 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2 *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+ 2; //</a:t>
            </a:r>
            <a:r>
              <a:rPr lang="ko-KR" altLang="en-US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</a:t>
            </a:r>
            <a:r>
              <a:rPr lang="ko-KR" altLang="en-US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ko-KR" altLang="en-US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오른쪽 </a:t>
            </a:r>
            <a:r>
              <a:rPr lang="ko-KR" altLang="en-US" sz="2200" dirty="0" err="1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자식노드</a:t>
            </a:r>
            <a:endParaRPr lang="ko-KR" altLang="en-US" sz="220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while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(right &lt; n){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if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&gt;= array[left] &amp;&amp; 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&gt;= array[right])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return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if 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(array[right] &lt;= array[left]){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temp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array[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array[left];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array[left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temp;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left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else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temp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array[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array[right];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array[right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temp;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right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;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25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984885"/>
            <a:chOff x="1454251" y="3644747"/>
            <a:chExt cx="11282473" cy="98488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식제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구현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lvl="1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주어진 키 값에 대한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생성 및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프로그램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20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3554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left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2 *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+ 1;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right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2 * 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+ 2;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if 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(left == n - 1 &amp;&amp; array[</a:t>
            </a:r>
            <a:r>
              <a:rPr lang="en-US" altLang="ko-KR" sz="2200" dirty="0" err="1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])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{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temp 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array[</a:t>
            </a:r>
            <a:r>
              <a:rPr lang="en-US" altLang="ko-KR" sz="2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array[</a:t>
            </a:r>
            <a:r>
              <a:rPr lang="en-US" altLang="ko-KR" sz="22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array[left];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array[left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 = temp;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}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}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프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err="1" smtClean="0">
                <a:solidFill>
                  <a:schemeClr val="bg1"/>
                </a:solidFill>
                <a:latin typeface="+mn-ea"/>
              </a:rPr>
              <a:t>로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그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램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88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771103" cy="523220"/>
            <a:chOff x="1577990" y="2199825"/>
            <a:chExt cx="377110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23037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984885"/>
            <a:chOff x="1454251" y="3644747"/>
            <a:chExt cx="11282473" cy="98488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힙에서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삽입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식제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구현</a:t>
              </a:r>
              <a:endParaRPr lang="en-US" altLang="ko-KR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000" lvl="1" indent="-342900" fontAlgn="base">
                <a:spcBef>
                  <a:spcPct val="0"/>
                </a:spcBef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주어진 키 값에 대한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힙의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생성 및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프로그램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21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2495552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15776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D4B87212-467B-4438-BE04-8744E9D447D7}"/>
              </a:ext>
            </a:extLst>
          </p:cNvPr>
          <p:cNvSpPr/>
          <p:nvPr/>
        </p:nvSpPr>
        <p:spPr>
          <a:xfrm>
            <a:off x="1798840" y="3868849"/>
            <a:ext cx="9691623" cy="6247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ash"/>
          </a:ln>
        </p:spPr>
        <p:txBody>
          <a:bodyPr wrap="square">
            <a:sp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*****   메뉴  *****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원소를 삽입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원소를 삭제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 원소를 출력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종료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연산 번호를 선택하세요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리스트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삽입될 원소를 입력하세요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55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연산 번호를 선택하세요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리스트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삽입될 원소를 입력하세요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70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연산 번호를 선택하세요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리스트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삽입될 원소를 입력하세요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90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연산 번호를 선택하세요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3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90 55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70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연산 번호를 선택하세요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리스트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ko-KR" altLang="en-US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삭제될 </a:t>
            </a:r>
            <a:r>
              <a: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원소를 입력하세요</a:t>
            </a:r>
            <a:r>
              <a: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90</a:t>
            </a:r>
          </a:p>
          <a:p>
            <a:pPr fontAlgn="base">
              <a:lnSpc>
                <a:spcPts val="3000"/>
              </a:lnSpc>
              <a:spcBef>
                <a:spcPct val="0"/>
              </a:spcBef>
            </a:pPr>
            <a:r>
              <a: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70 55</a:t>
            </a:r>
            <a:endParaRPr lang="en-US" altLang="ko-KR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423460" y="3868849"/>
            <a:ext cx="370614" cy="1077218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실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행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결</a:t>
            </a:r>
            <a:endParaRPr lang="en-US" altLang="ko-KR" sz="1600" spc="-15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1600" spc="-150" dirty="0" smtClean="0">
                <a:solidFill>
                  <a:schemeClr val="bg1"/>
                </a:solidFill>
                <a:latin typeface="+mn-ea"/>
              </a:rPr>
              <a:t>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175" y="6330950"/>
            <a:ext cx="276225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913" y="8350250"/>
            <a:ext cx="1857375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792215"/>
              </p:ext>
            </p:extLst>
          </p:nvPr>
        </p:nvGraphicFramePr>
        <p:xfrm>
          <a:off x="12175115" y="4678507"/>
          <a:ext cx="2330594" cy="1223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포장기 셸 개체" showAsIcon="1" r:id="rId5" imgW="810000" imgH="513360" progId="Package">
                  <p:embed/>
                </p:oleObj>
              </mc:Choice>
              <mc:Fallback>
                <p:oleObj name="포장기 셸 개체" showAsIcon="1" r:id="rId5" imgW="81000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75115" y="4678507"/>
                        <a:ext cx="2330594" cy="1223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319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1847499" cy="523220"/>
            <a:chOff x="1577990" y="2199825"/>
            <a:chExt cx="1847499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1306768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최대 </a:t>
              </a:r>
              <a:r>
                <a:rPr lang="ko-KR" altLang="en-US" sz="28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3293209"/>
            <a:chOff x="1454251" y="3644747"/>
            <a:chExt cx="11282473" cy="329320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32932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최대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(max heap)</a:t>
              </a: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정의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값이 가장 큰 </a:t>
              </a:r>
              <a:r>
                <a:rPr lang="ko-KR" altLang="en-US" sz="2200" dirty="0" err="1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찾기 위한 완전 </a:t>
              </a:r>
              <a:r>
                <a:rPr lang="ko-KR" altLang="en-US" sz="22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이진트리</a:t>
              </a:r>
              <a:endPara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714500" lvl="2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{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부모 </a:t>
              </a:r>
              <a:r>
                <a:rPr lang="ko-KR" altLang="en-US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 </a:t>
              </a:r>
              <a:r>
                <a:rPr lang="ko-KR" altLang="en-US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≥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자식 </a:t>
              </a:r>
              <a:r>
                <a:rPr lang="ko-KR" altLang="en-US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} 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근노드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값이 가장 큰 </a:t>
              </a:r>
              <a:r>
                <a:rPr lang="ko-KR" altLang="en-US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근에는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항상 가장 큰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값을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가지는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노드가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위치하므로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우선순위 큐(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priority queue)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를 구성하는데 적합한 자료구조</a:t>
              </a:r>
              <a:endParaRPr lang="en-US" altLang="ko-KR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22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6588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5703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최대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힙과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최소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550" y="6172200"/>
            <a:ext cx="45720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444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1847499" cy="523220"/>
            <a:chOff x="1577990" y="2199825"/>
            <a:chExt cx="1847499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1306768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최소 </a:t>
              </a:r>
              <a:r>
                <a:rPr lang="ko-KR" altLang="en-US" sz="28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2616101"/>
            <a:chOff x="1454251" y="3644747"/>
            <a:chExt cx="11282473" cy="2616101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26161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최소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(min heap)</a:t>
              </a: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정의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값이 가장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작은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찾기 위한 완전 </a:t>
              </a:r>
              <a:r>
                <a:rPr lang="ko-KR" altLang="en-US" sz="22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이진트리</a:t>
              </a:r>
              <a:endPara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714500" lvl="2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{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부모 </a:t>
              </a:r>
              <a:r>
                <a:rPr lang="ko-KR" altLang="en-US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 </a:t>
              </a:r>
              <a:r>
                <a:rPr lang="ko-KR" altLang="en-US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≤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자식 </a:t>
              </a:r>
              <a:r>
                <a:rPr lang="ko-KR" altLang="en-US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} 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근노드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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값이 가장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작은 </a:t>
              </a:r>
              <a:r>
                <a:rPr lang="ko-KR" altLang="en-US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23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5300663"/>
            <a:ext cx="4533900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1"/>
          <p:cNvSpPr/>
          <p:nvPr/>
        </p:nvSpPr>
        <p:spPr>
          <a:xfrm flipV="1">
            <a:off x="-1" y="1238048"/>
            <a:ext cx="6588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80005" y="647996"/>
            <a:ext cx="5703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최대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힙과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최소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839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3290202" cy="523220"/>
            <a:chOff x="1577990" y="2199825"/>
            <a:chExt cx="3290202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2749471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최소 </a:t>
              </a:r>
              <a:r>
                <a:rPr lang="ko-KR" altLang="en-US" sz="28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힙과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최대 </a:t>
              </a:r>
              <a:r>
                <a:rPr lang="ko-KR" altLang="en-US" sz="28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3816429"/>
            <a:chOff x="1454251" y="3644747"/>
            <a:chExt cx="11282473" cy="381642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381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최소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최대 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힙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(min-max heap)</a:t>
              </a: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정의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double-ended priority 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queue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를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구현하는 데 유용한 자료구조로서 완전 </a:t>
              </a:r>
              <a:r>
                <a:rPr lang="ko-KR" altLang="en-US" sz="22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이진트리이며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min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레벨과 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max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레벨이 차례로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반복됨</a:t>
              </a:r>
              <a:endPara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근은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min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레벨로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시작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min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레벨의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노드는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모든 후손들보다 작은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키값을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가짐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max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레벨의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노드는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그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모든 후손들보다 큰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키값을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가짐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min-max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heap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은 두 가지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큰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작은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모두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찾기에 적합한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자료구조</a:t>
              </a:r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24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724" y="6553200"/>
            <a:ext cx="7572375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1"/>
          <p:cNvSpPr/>
          <p:nvPr/>
        </p:nvSpPr>
        <p:spPr>
          <a:xfrm flipV="1">
            <a:off x="-1" y="1238048"/>
            <a:ext cx="6588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80005" y="647996"/>
            <a:ext cx="5703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최대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힙과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최소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376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6396038"/>
            <a:ext cx="7943850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1446748" cy="523220"/>
            <a:chOff x="1577990" y="2199825"/>
            <a:chExt cx="1446748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4)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906017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8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디프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3877985"/>
            <a:chOff x="1454251" y="3644747"/>
            <a:chExt cx="11282473" cy="387798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38779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디프</a:t>
              </a:r>
              <a:r>
                <a:rPr lang="en-US" altLang="ko-KR" sz="24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deap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: double-ended </a:t>
              </a:r>
              <a:r>
                <a:rPr lang="en-US" altLang="ko-KR" sz="24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heap)</a:t>
              </a:r>
              <a:endParaRPr lang="ko-KR" altLang="en-US" sz="24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정의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min-max 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heap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보다 간단하게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최소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및 </a:t>
              </a:r>
              <a:r>
                <a:rPr lang="ko-KR" altLang="en-US" sz="22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최대키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값을 가지는 </a:t>
              </a:r>
              <a:r>
                <a:rPr lang="ko-KR" altLang="en-US" sz="2200" dirty="0" err="1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찾아낼 수 있도록 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고안된 자료구조</a:t>
              </a:r>
              <a:endPara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완전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이진트리이며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근노드는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비어있음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근의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왼쪽 </a:t>
              </a:r>
              <a:r>
                <a:rPr lang="ko-KR" altLang="en-US" sz="2200" dirty="0" err="1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부분트리는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min heap,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오른쪽 </a:t>
              </a:r>
              <a:r>
                <a:rPr lang="ko-KR" altLang="en-US" sz="2200" dirty="0" err="1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부분트리는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max heap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가짐</a:t>
              </a:r>
              <a:endPara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3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3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왼쪽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부분트리에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있는 임의의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노드는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오른쪽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부분트리의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같은 위치에 대응되는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가짐</a:t>
              </a:r>
              <a:endPara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3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3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같은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위치에 아직 </a:t>
              </a:r>
              <a:r>
                <a:rPr lang="ko-KR" altLang="en-US" sz="20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노드가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채워지지 않은 경우는 그 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부모 </a:t>
              </a:r>
              <a:r>
                <a:rPr lang="ko-KR" altLang="en-US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노드가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대응됨</a:t>
              </a:r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25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8624753" y="9187190"/>
            <a:ext cx="1340432" cy="400110"/>
          </a:xfrm>
          <a:prstGeom prst="rect">
            <a:avLst/>
          </a:prstGeom>
          <a:solidFill>
            <a:srgbClr val="203864"/>
          </a:solidFill>
        </p:spPr>
        <p:txBody>
          <a:bodyPr wrap="non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max heap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624253" y="9225290"/>
            <a:ext cx="1276311" cy="400110"/>
          </a:xfrm>
          <a:prstGeom prst="rect">
            <a:avLst/>
          </a:prstGeom>
          <a:solidFill>
            <a:srgbClr val="203864"/>
          </a:solidFill>
        </p:spPr>
        <p:txBody>
          <a:bodyPr wrap="none">
            <a:sp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min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heap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 flipV="1">
            <a:off x="-1" y="1238048"/>
            <a:ext cx="6588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80005" y="647996"/>
            <a:ext cx="5703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최대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힙과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최소 </a:t>
            </a:r>
            <a:r>
              <a:rPr lang="ko-KR" altLang="en-US" sz="5400" spc="-150" dirty="0" err="1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힙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5424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650" y="5803900"/>
            <a:ext cx="5448300" cy="233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4171853" cy="523220"/>
            <a:chOff x="1577990" y="2199825"/>
            <a:chExt cx="417185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63112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데이터의 저장과 인덱싱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6617196"/>
            <a:chOff x="1454251" y="3644747"/>
            <a:chExt cx="11282473" cy="6617196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66171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개요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인덱스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색인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index)</a:t>
              </a: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DBMS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에서 요청된 레코드에 빠르게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접근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검색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할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 있도록 하는 데이터와 관련된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부가적인 자료 구조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순서 인덱스 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특정 값에 대해 정렬된 순서 구조</a:t>
              </a:r>
            </a:p>
            <a:p>
              <a:pPr marL="1440000" lvl="1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해시 인덱스 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버켓의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범위 안에서 값의 균일한 분포에 기초한 구조로 해시 함수가 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어떤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값이 어떤 </a:t>
              </a:r>
              <a:r>
                <a:rPr lang="ko-KR" altLang="en-US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버켓에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해당되는지 결정</a:t>
              </a: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인덱싱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(indexing)</a:t>
              </a: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검색에서 발생하는 비효율적인 문제를 해결하기 위한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기법으로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인덱스를 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디자인하고 </a:t>
              </a:r>
              <a:r>
                <a:rPr lang="ko-KR" altLang="en-US" sz="22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생성하는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작업을 말함</a:t>
              </a:r>
              <a:endParaRPr lang="ko-KR" altLang="en-US" sz="22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26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388895"/>
              </p:ext>
            </p:extLst>
          </p:nvPr>
        </p:nvGraphicFramePr>
        <p:xfrm>
          <a:off x="11047934" y="6039634"/>
          <a:ext cx="2649726" cy="1422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포장기 셸 개체" showAsIcon="1" r:id="rId4" imgW="743400" imgH="513360" progId="Package">
                  <p:embed/>
                </p:oleObj>
              </mc:Choice>
              <mc:Fallback>
                <p:oleObj name="포장기 셸 개체" showAsIcon="1" r:id="rId4" imgW="74340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47934" y="6039634"/>
                        <a:ext cx="2649726" cy="14224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536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4171853" cy="523220"/>
            <a:chOff x="1577990" y="2199825"/>
            <a:chExt cx="417185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363112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데이터의 저장과 인덱싱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4216539"/>
            <a:chOff x="1454251" y="3644747"/>
            <a:chExt cx="11282473" cy="421653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42165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개요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DMBS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는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인덱스를 통하여 레코드가 디스크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저장 장치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또는 메모리의 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어느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블록에 저장되어 있는지 파악하고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해당 블록을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읽어들임</a:t>
              </a:r>
              <a:endPara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검색 키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파일에서 레코드를 찾는데 사용되는 </a:t>
              </a:r>
              <a:r>
                <a:rPr lang="ko-KR" altLang="en-US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컬럼이나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컬럼의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집합을 말함   </a:t>
              </a:r>
              <a:endPara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인덱스의 평가 기준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접근 시간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데이터를 찾는 데 걸리는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시간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유지 비용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새로운 데이터 삽입 및 기존 데이터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 연산으로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인한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인덱스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구조 갱신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비용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공간 비용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인덱스 구조에 의해 사용되는 부가적인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공간 비용</a:t>
              </a:r>
              <a:endPara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27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7086600"/>
            <a:ext cx="4895850" cy="290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725" y="7153275"/>
            <a:ext cx="4781550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426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488700" cy="523220"/>
            <a:chOff x="1577990" y="2199825"/>
            <a:chExt cx="2488700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1947969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인덱스 구조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1969770"/>
            <a:chOff x="1454251" y="3644747"/>
            <a:chExt cx="11282473" cy="1969770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19697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개요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인덱스를 구현하기 위해서는 여러 가지 자료구조를 사용할 수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있음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해시</a:t>
              </a:r>
              <a:r>
                <a:rPr lang="en-US" altLang="ko-KR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테이블</a:t>
              </a:r>
              <a:endParaRPr lang="en-US" altLang="ko-KR" sz="2200" dirty="0" smtClean="0">
                <a:solidFill>
                  <a:srgbClr val="0000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solidFill>
                  <a:srgbClr val="0000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탐색 트리</a:t>
              </a:r>
              <a:r>
                <a:rPr lang="en-US" altLang="ko-KR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(BST), AVL </a:t>
              </a:r>
              <a:r>
                <a:rPr lang="ko-KR" altLang="en-US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</a:t>
              </a:r>
              <a:r>
                <a:rPr lang="en-US" altLang="ko-KR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m-</a:t>
              </a:r>
              <a:r>
                <a:rPr lang="ko-KR" altLang="en-US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 탐색 트리</a:t>
              </a:r>
              <a:r>
                <a:rPr lang="en-US" altLang="ko-KR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B-</a:t>
              </a:r>
              <a:r>
                <a:rPr lang="ko-KR" altLang="en-US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</a:t>
              </a:r>
              <a:r>
                <a:rPr lang="en-US" altLang="ko-KR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B</a:t>
              </a:r>
              <a:r>
                <a:rPr lang="en-US" altLang="ko-KR" sz="2200" baseline="300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+</a:t>
              </a:r>
              <a:r>
                <a:rPr lang="en-US" altLang="ko-KR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</a:t>
              </a:r>
              <a:r>
                <a:rPr lang="ko-KR" altLang="en-US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</a:t>
              </a:r>
              <a:r>
                <a:rPr lang="en-US" altLang="ko-KR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B</a:t>
              </a:r>
              <a:r>
                <a:rPr lang="en-US" altLang="ko-KR" sz="2200" baseline="300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*</a:t>
              </a:r>
              <a:r>
                <a:rPr lang="en-US" altLang="ko-KR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</a:t>
              </a:r>
              <a:r>
                <a:rPr lang="ko-KR" altLang="en-US" sz="22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 등</a:t>
              </a:r>
              <a:endParaRPr lang="ko-KR" altLang="en-US" sz="2200" dirty="0">
                <a:solidFill>
                  <a:srgbClr val="0000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28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639" y="4924425"/>
            <a:ext cx="3713161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6870700" y="5245099"/>
            <a:ext cx="4521200" cy="2509429"/>
            <a:chOff x="776" y="1160"/>
            <a:chExt cx="4016" cy="2480"/>
          </a:xfrm>
        </p:grpSpPr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2552" y="1160"/>
              <a:ext cx="656" cy="656"/>
            </a:xfrm>
            <a:prstGeom prst="ellipse">
              <a:avLst/>
            </a:prstGeom>
            <a:gradFill rotWithShape="0">
              <a:gsLst>
                <a:gs pos="0">
                  <a:srgbClr val="FFCC99">
                    <a:gamma/>
                    <a:tint val="31765"/>
                    <a:invGamma/>
                  </a:srgbClr>
                </a:gs>
                <a:gs pos="100000">
                  <a:srgbClr val="FFCC99"/>
                </a:gs>
              </a:gsLst>
              <a:lin ang="2700000" scaled="1"/>
            </a:gradFill>
            <a:ln w="28575" algn="ctr">
              <a:solidFill>
                <a:srgbClr val="000000"/>
              </a:solidFill>
              <a:round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lIns="92075" tIns="46038" rIns="92075" bIns="46038" anchor="ctr"/>
            <a:lstStyle/>
            <a:p>
              <a:endParaRPr lang="ko-KR" altLang="en-US"/>
            </a:p>
          </p:txBody>
        </p:sp>
        <p:sp>
          <p:nvSpPr>
            <p:cNvPr id="16" name="AutoShape 15"/>
            <p:cNvSpPr>
              <a:spLocks noChangeArrowheads="1"/>
            </p:cNvSpPr>
            <p:nvPr/>
          </p:nvSpPr>
          <p:spPr bwMode="auto">
            <a:xfrm>
              <a:off x="3512" y="2264"/>
              <a:ext cx="1280" cy="1376"/>
            </a:xfrm>
            <a:prstGeom prst="triangle">
              <a:avLst>
                <a:gd name="adj" fmla="val 49995"/>
              </a:avLst>
            </a:prstGeom>
            <a:gradFill rotWithShape="0">
              <a:gsLst>
                <a:gs pos="0">
                  <a:srgbClr val="FFCC99">
                    <a:gamma/>
                    <a:tint val="31765"/>
                    <a:invGamma/>
                  </a:srgbClr>
                </a:gs>
                <a:gs pos="100000">
                  <a:srgbClr val="FFCC99"/>
                </a:gs>
              </a:gsLst>
              <a:lin ang="2700000" scaled="1"/>
            </a:gra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lIns="92075" tIns="46038" rIns="92075" bIns="46038" anchor="ctr"/>
            <a:lstStyle/>
            <a:p>
              <a:endParaRPr lang="ko-KR" altLang="en-US"/>
            </a:p>
          </p:txBody>
        </p:sp>
        <p:sp>
          <p:nvSpPr>
            <p:cNvPr id="23" name="AutoShape 16"/>
            <p:cNvSpPr>
              <a:spLocks noChangeArrowheads="1"/>
            </p:cNvSpPr>
            <p:nvPr/>
          </p:nvSpPr>
          <p:spPr bwMode="auto">
            <a:xfrm>
              <a:off x="776" y="2888"/>
              <a:ext cx="608" cy="752"/>
            </a:xfrm>
            <a:prstGeom prst="triangle">
              <a:avLst>
                <a:gd name="adj" fmla="val 49995"/>
              </a:avLst>
            </a:prstGeom>
            <a:gradFill rotWithShape="0">
              <a:gsLst>
                <a:gs pos="0">
                  <a:srgbClr val="FFCC99">
                    <a:gamma/>
                    <a:tint val="31765"/>
                    <a:invGamma/>
                  </a:srgbClr>
                </a:gs>
                <a:gs pos="100000">
                  <a:srgbClr val="FFCC99"/>
                </a:gs>
              </a:gsLst>
              <a:lin ang="2700000" scaled="1"/>
            </a:gra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lIns="92075" tIns="46038" rIns="92075" bIns="46038" anchor="ctr"/>
            <a:lstStyle/>
            <a:p>
              <a:endParaRPr lang="ko-KR" altLang="en-US"/>
            </a:p>
          </p:txBody>
        </p:sp>
        <p:sp>
          <p:nvSpPr>
            <p:cNvPr id="26" name="AutoShape 17"/>
            <p:cNvSpPr>
              <a:spLocks noChangeArrowheads="1"/>
            </p:cNvSpPr>
            <p:nvPr/>
          </p:nvSpPr>
          <p:spPr bwMode="auto">
            <a:xfrm>
              <a:off x="1832" y="2888"/>
              <a:ext cx="608" cy="752"/>
            </a:xfrm>
            <a:prstGeom prst="triangle">
              <a:avLst>
                <a:gd name="adj" fmla="val 49995"/>
              </a:avLst>
            </a:prstGeom>
            <a:gradFill rotWithShape="0">
              <a:gsLst>
                <a:gs pos="0">
                  <a:srgbClr val="FFCC99">
                    <a:gamma/>
                    <a:tint val="31765"/>
                    <a:invGamma/>
                  </a:srgbClr>
                </a:gs>
                <a:gs pos="100000">
                  <a:srgbClr val="FFCC99"/>
                </a:gs>
              </a:gsLst>
              <a:lin ang="2700000" scaled="1"/>
            </a:gradFill>
            <a:ln w="28575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lIns="92075" tIns="46038" rIns="92075" bIns="46038" anchor="ctr"/>
            <a:lstStyle/>
            <a:p>
              <a:endParaRPr lang="ko-KR" altLang="en-US"/>
            </a:p>
          </p:txBody>
        </p:sp>
        <p:sp>
          <p:nvSpPr>
            <p:cNvPr id="27" name="Oval 18"/>
            <p:cNvSpPr>
              <a:spLocks noChangeArrowheads="1"/>
            </p:cNvSpPr>
            <p:nvPr/>
          </p:nvSpPr>
          <p:spPr bwMode="auto">
            <a:xfrm>
              <a:off x="1400" y="2264"/>
              <a:ext cx="368" cy="368"/>
            </a:xfrm>
            <a:prstGeom prst="ellipse">
              <a:avLst/>
            </a:prstGeom>
            <a:gradFill rotWithShape="0">
              <a:gsLst>
                <a:gs pos="0">
                  <a:srgbClr val="FFCC99">
                    <a:gamma/>
                    <a:tint val="31765"/>
                    <a:invGamma/>
                  </a:srgbClr>
                </a:gs>
                <a:gs pos="100000">
                  <a:srgbClr val="FFCC99"/>
                </a:gs>
              </a:gsLst>
              <a:lin ang="2700000" scaled="1"/>
            </a:gradFill>
            <a:ln w="28575" algn="ctr">
              <a:solidFill>
                <a:srgbClr val="000000"/>
              </a:solidFill>
              <a:round/>
              <a:headEnd/>
              <a:tailEnd/>
            </a:ln>
            <a:effectLst>
              <a:outerShdw dist="71842" dir="2700000" algn="ctr" rotWithShape="0">
                <a:schemeClr val="bg2"/>
              </a:outerShdw>
            </a:effectLst>
          </p:spPr>
          <p:txBody>
            <a:bodyPr wrap="none" lIns="92075" tIns="46038" rIns="92075" bIns="46038" anchor="ctr"/>
            <a:lstStyle/>
            <a:p>
              <a:endParaRPr lang="ko-KR" altLang="en-US"/>
            </a:p>
          </p:txBody>
        </p:sp>
        <p:sp>
          <p:nvSpPr>
            <p:cNvPr id="28" name="WordArt 19"/>
            <p:cNvSpPr>
              <a:spLocks noChangeArrowheads="1" noChangeShapeType="1" noTextEdit="1"/>
            </p:cNvSpPr>
            <p:nvPr/>
          </p:nvSpPr>
          <p:spPr bwMode="auto">
            <a:xfrm>
              <a:off x="1824" y="1680"/>
              <a:ext cx="240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7100" kern="10"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00"/>
                  </a:solidFill>
                  <a:effectLst>
                    <a:outerShdw dist="35921" dir="2700000" algn="ctr" rotWithShape="0">
                      <a:schemeClr val="bg2"/>
                    </a:outerShdw>
                  </a:effectLst>
                  <a:latin typeface="(한)견출고딕"/>
                </a:rPr>
                <a:t>&lt;</a:t>
              </a:r>
              <a:endParaRPr lang="ko-KR" altLang="en-US" sz="7100" kern="10"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chemeClr val="bg2"/>
                  </a:outerShdw>
                </a:effectLst>
                <a:latin typeface="(한)견출고딕"/>
              </a:endParaRPr>
            </a:p>
          </p:txBody>
        </p:sp>
        <p:sp>
          <p:nvSpPr>
            <p:cNvPr id="29" name="WordArt 20"/>
            <p:cNvSpPr>
              <a:spLocks noChangeArrowheads="1" noChangeShapeType="1" noTextEdit="1"/>
            </p:cNvSpPr>
            <p:nvPr/>
          </p:nvSpPr>
          <p:spPr bwMode="auto">
            <a:xfrm>
              <a:off x="3648" y="1680"/>
              <a:ext cx="240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ko-KR" sz="7100" kern="10"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00"/>
                  </a:solidFill>
                  <a:effectLst>
                    <a:outerShdw dist="35921" dir="2700000" algn="ctr" rotWithShape="0">
                      <a:schemeClr val="bg2"/>
                    </a:outerShdw>
                  </a:effectLst>
                  <a:latin typeface="(한)견출고딕"/>
                </a:rPr>
                <a:t>&lt;</a:t>
              </a:r>
              <a:endParaRPr lang="ko-KR" altLang="en-US" sz="7100" kern="10"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chemeClr val="bg2"/>
                  </a:outerShdw>
                </a:effectLst>
                <a:latin typeface="(한)견출고딕"/>
              </a:endParaRPr>
            </a:p>
          </p:txBody>
        </p:sp>
        <p:grpSp>
          <p:nvGrpSpPr>
            <p:cNvPr id="30" name="Group 21"/>
            <p:cNvGrpSpPr>
              <a:grpSpLocks/>
            </p:cNvGrpSpPr>
            <p:nvPr/>
          </p:nvGrpSpPr>
          <p:grpSpPr bwMode="auto">
            <a:xfrm>
              <a:off x="1008" y="2448"/>
              <a:ext cx="1152" cy="288"/>
              <a:chOff x="1008" y="2448"/>
              <a:chExt cx="1152" cy="288"/>
            </a:xfrm>
          </p:grpSpPr>
          <p:sp>
            <p:nvSpPr>
              <p:cNvPr id="35" name="WordArt 22"/>
              <p:cNvSpPr>
                <a:spLocks noChangeArrowheads="1" noChangeShapeType="1" noTextEdit="1"/>
              </p:cNvSpPr>
              <p:nvPr/>
            </p:nvSpPr>
            <p:spPr bwMode="auto">
              <a:xfrm>
                <a:off x="1008" y="2448"/>
                <a:ext cx="240" cy="2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ko-KR" sz="7100" kern="10"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FFFF00"/>
                    </a:solidFill>
                    <a:effectLst>
                      <a:outerShdw dist="35921" dir="2700000" algn="ctr" rotWithShape="0">
                        <a:schemeClr val="bg2"/>
                      </a:outerShdw>
                    </a:effectLst>
                    <a:latin typeface="(한)견출고딕"/>
                  </a:rPr>
                  <a:t>&lt;</a:t>
                </a:r>
                <a:endParaRPr lang="ko-KR" altLang="en-US" sz="7100" kern="10"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00"/>
                  </a:solidFill>
                  <a:effectLst>
                    <a:outerShdw dist="35921" dir="2700000" algn="ctr" rotWithShape="0">
                      <a:schemeClr val="bg2"/>
                    </a:outerShdw>
                  </a:effectLst>
                  <a:latin typeface="(한)견출고딕"/>
                </a:endParaRPr>
              </a:p>
            </p:txBody>
          </p:sp>
          <p:sp>
            <p:nvSpPr>
              <p:cNvPr id="36" name="WordArt 23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20" y="2448"/>
                <a:ext cx="240" cy="2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ko-KR" sz="7100" kern="10" dirty="0"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FFFF00"/>
                    </a:solidFill>
                    <a:effectLst>
                      <a:outerShdw dist="35921" dir="2700000" algn="ctr" rotWithShape="0">
                        <a:schemeClr val="bg2"/>
                      </a:outerShdw>
                    </a:effectLst>
                    <a:latin typeface="(한)견출고딕"/>
                  </a:rPr>
                  <a:t>&lt;</a:t>
                </a:r>
                <a:endParaRPr lang="ko-KR" altLang="en-US" sz="7100" kern="10" dirty="0"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00"/>
                  </a:solidFill>
                  <a:effectLst>
                    <a:outerShdw dist="35921" dir="2700000" algn="ctr" rotWithShape="0">
                      <a:schemeClr val="bg2"/>
                    </a:outerShdw>
                  </a:effectLst>
                  <a:latin typeface="(한)견출고딕"/>
                </a:endParaRPr>
              </a:p>
            </p:txBody>
          </p:sp>
        </p:grpSp>
        <p:cxnSp>
          <p:nvCxnSpPr>
            <p:cNvPr id="31" name="AutoShape 24"/>
            <p:cNvCxnSpPr>
              <a:cxnSpLocks noChangeShapeType="1"/>
              <a:stCxn id="15" idx="3"/>
              <a:endCxn id="27" idx="7"/>
            </p:cNvCxnSpPr>
            <p:nvPr/>
          </p:nvCxnSpPr>
          <p:spPr bwMode="auto">
            <a:xfrm flipH="1">
              <a:off x="1714" y="1729"/>
              <a:ext cx="934" cy="58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dir="54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AutoShape 25"/>
            <p:cNvCxnSpPr>
              <a:cxnSpLocks noChangeShapeType="1"/>
              <a:stCxn id="15" idx="5"/>
              <a:endCxn id="16" idx="0"/>
            </p:cNvCxnSpPr>
            <p:nvPr/>
          </p:nvCxnSpPr>
          <p:spPr bwMode="auto">
            <a:xfrm>
              <a:off x="3112" y="1729"/>
              <a:ext cx="1040" cy="526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dir="54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26"/>
            <p:cNvCxnSpPr>
              <a:cxnSpLocks noChangeShapeType="1"/>
              <a:stCxn id="27" idx="3"/>
              <a:endCxn id="23" idx="0"/>
            </p:cNvCxnSpPr>
            <p:nvPr/>
          </p:nvCxnSpPr>
          <p:spPr bwMode="auto">
            <a:xfrm flipH="1">
              <a:off x="1080" y="2587"/>
              <a:ext cx="374" cy="29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dir="54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AutoShape 27"/>
            <p:cNvCxnSpPr>
              <a:cxnSpLocks noChangeShapeType="1"/>
              <a:stCxn id="27" idx="5"/>
              <a:endCxn id="26" idx="0"/>
            </p:cNvCxnSpPr>
            <p:nvPr/>
          </p:nvCxnSpPr>
          <p:spPr bwMode="auto">
            <a:xfrm>
              <a:off x="1714" y="2587"/>
              <a:ext cx="422" cy="29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0800" dir="54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8099425"/>
            <a:ext cx="60579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314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2488700" cy="523220"/>
            <a:chOff x="1577990" y="2199825"/>
            <a:chExt cx="2488700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1947969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인덱스 구조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2585323"/>
            <a:chOff x="1454251" y="3644747"/>
            <a:chExt cx="11282473" cy="2585323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25853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개요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이진탐색트리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(BST)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경우 </a:t>
              </a:r>
              <a:r>
                <a:rPr lang="ko-KR" altLang="en-US" sz="24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일반적으로 </a:t>
              </a:r>
              <a:r>
                <a:rPr lang="ko-KR" altLang="en-US" sz="2400" dirty="0" err="1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개수가 많아지면 </a:t>
              </a:r>
              <a:r>
                <a:rPr lang="ko-KR" altLang="en-US" sz="2400" dirty="0" err="1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4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높이가 </a:t>
              </a:r>
              <a:r>
                <a:rPr lang="en-US" altLang="ko-KR" sz="24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4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400" dirty="0" smtClean="0">
                  <a:solidFill>
                    <a:srgbClr val="0000CC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커지게 됨</a:t>
              </a:r>
              <a:endParaRPr lang="en-US" altLang="ko-KR" sz="2400" dirty="0" smtClean="0">
                <a:solidFill>
                  <a:srgbClr val="0000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solidFill>
                  <a:srgbClr val="00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err="1" smtClean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200" dirty="0" smtClean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최소 </a:t>
              </a:r>
              <a:r>
                <a:rPr lang="ko-KR" altLang="en-US" sz="2200" dirty="0" smtClean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높이 </a:t>
              </a:r>
              <a:r>
                <a:rPr lang="en-US" altLang="ko-KR" sz="2200" dirty="0" smtClean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en-US" altLang="ko-KR" sz="22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</a:t>
              </a:r>
              <a:r>
                <a:rPr lang="en-US" altLang="ko-KR" sz="2200" dirty="0" smtClean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log</a:t>
              </a:r>
              <a:r>
                <a:rPr lang="en-US" altLang="ko-KR" sz="2200" baseline="-25000" dirty="0" smtClean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200" dirty="0" smtClean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n+ </a:t>
              </a:r>
              <a:r>
                <a:rPr lang="en-US" altLang="ko-KR" sz="22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r>
                <a:rPr lang="en-US" altLang="ko-KR" sz="2200" dirty="0" smtClean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  </a:t>
              </a:r>
              <a:r>
                <a:rPr lang="en-US" altLang="ko-KR" sz="2200" dirty="0" smtClean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/>
                </a:rPr>
                <a:t>  </a:t>
              </a:r>
              <a:r>
                <a:rPr lang="en-US" altLang="ko-KR" sz="2200" dirty="0" smtClean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2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</a:t>
              </a:r>
              <a:r>
                <a:rPr lang="en-US" altLang="ko-KR" sz="22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log</a:t>
              </a:r>
              <a:r>
                <a:rPr lang="en-US" altLang="ko-KR" sz="2200" baseline="-250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r>
                <a:rPr lang="en-US" altLang="ko-KR" sz="22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10 + 1 </a:t>
              </a:r>
              <a:r>
                <a:rPr lang="en-US" altLang="ko-KR" sz="2200" dirty="0" smtClean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 </a:t>
              </a:r>
              <a:r>
                <a:rPr lang="en-US" altLang="ko-KR" sz="2200" dirty="0" smtClean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en-US" altLang="ko-KR" sz="2200" dirty="0">
                  <a:solidFill>
                    <a:srgbClr val="00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4</a:t>
              </a: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ko-KR" altLang="en-US" sz="2400" dirty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29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89" y="4760913"/>
            <a:ext cx="7427912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3086100" y="7756436"/>
            <a:ext cx="6324600" cy="707886"/>
          </a:xfrm>
          <a:prstGeom prst="rect">
            <a:avLst/>
          </a:prstGeom>
          <a:solidFill>
            <a:srgbClr val="203864"/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파일에 대한 인덱스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트리의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효율을 높이는 방법이 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필요</a:t>
            </a:r>
            <a:endParaRPr lang="en-US" altLang="ko-KR" sz="2000" dirty="0" smtClean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2000" dirty="0" smtClean="0">
                <a:solidFill>
                  <a:schemeClr val="bg1"/>
                </a:solidFill>
                <a:latin typeface="나눔바른고딕"/>
                <a:ea typeface="나눔바른고딕"/>
              </a:rPr>
              <a:t>      ⇒ </a:t>
            </a:r>
            <a:r>
              <a:rPr lang="ko-KR" altLang="en-US" sz="2000" dirty="0" err="1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트리의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균형을 유지하고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트리의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분기율을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높혀야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함</a:t>
            </a:r>
            <a:endParaRPr lang="en-US" altLang="ko-KR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013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6529165" cy="954107"/>
            <a:chOff x="1577990" y="2199825"/>
            <a:chExt cx="6529165" cy="766619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5988434" cy="7666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m-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 탐색 트리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(m-way search tree)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6017032"/>
            <a:chOff x="1454251" y="3644747"/>
            <a:chExt cx="11282473" cy="6017032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60170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개요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이진탐색트리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(BST)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의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확장된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자료구조이며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이진탐색트리보다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분기율이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높은 </a:t>
              </a:r>
              <a:r>
                <a:rPr lang="ko-KR" altLang="en-US" sz="24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트리로서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노드가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 이하의 가지를 가질 수 있는 탐색 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트리를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말함</a:t>
              </a:r>
              <a:endPara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구조 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5" indent="-342900">
                <a:buFont typeface="Wingdings" panose="05000000000000000000" pitchFamily="2" charset="2"/>
                <a:buChar char="§"/>
              </a:pP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최대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개의 포인터를 저장할 수 있는 공간이 필요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노드에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있는 키 값 개수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(1</a:t>
              </a:r>
              <a:r>
                <a:rPr lang="en-US" altLang="ko-KR" sz="2200" dirty="0">
                  <a:latin typeface="나눔바른고딕"/>
                  <a:ea typeface="나눔바른고딕"/>
                </a:rPr>
                <a:t>≤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</a:t>
              </a:r>
              <a:r>
                <a:rPr lang="en-US" altLang="ko-KR" sz="2200" dirty="0">
                  <a:latin typeface="나눔바른고딕"/>
                  <a:ea typeface="나눔바른고딕"/>
                </a:rPr>
                <a:t>≤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m), P(i) :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자식 노드 링크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K(i) :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키 값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한 노드 안에 키 값은 오름차순으로 정렬되어 있음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(k(i)</a:t>
              </a:r>
              <a:r>
                <a:rPr lang="ko-KR" altLang="en-US" sz="2200" dirty="0">
                  <a:latin typeface="나눔바른고딕"/>
                  <a:ea typeface="나눔바른고딕"/>
                </a:rPr>
                <a:t>＜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k(i+1), 1</a:t>
              </a:r>
              <a:r>
                <a:rPr lang="en-US" altLang="ko-KR" sz="2200" dirty="0">
                  <a:latin typeface="나눔바른고딕"/>
                  <a:ea typeface="나눔바른고딕"/>
                </a:rPr>
                <a:t>≤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 </a:t>
              </a:r>
              <a:r>
                <a:rPr lang="en-US" altLang="ko-KR" sz="2200" dirty="0">
                  <a:latin typeface="나눔바른고딕"/>
                  <a:ea typeface="나눔바른고딕"/>
                </a:rPr>
                <a:t>≤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n-1)</a:t>
              </a:r>
            </a:p>
            <a:p>
              <a:pPr marL="972000" lvl="1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P(i), 0</a:t>
              </a:r>
              <a:r>
                <a:rPr lang="en-US" altLang="ko-KR" sz="2200" dirty="0">
                  <a:latin typeface="나눔바른고딕"/>
                  <a:ea typeface="나눔바른고딕"/>
                </a:rPr>
                <a:t>≤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</a:t>
              </a:r>
              <a:r>
                <a:rPr lang="en-US" altLang="ko-KR" sz="2200" dirty="0">
                  <a:latin typeface="나눔바른고딕"/>
                  <a:ea typeface="나눔바른고딕"/>
                </a:rPr>
                <a:t>≤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n-1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 가리키는 자식 노드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트리에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있는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모든 키 값은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     K(i)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값보다 크고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K(i+1)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보다 작음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</a:p>
            <a:p>
              <a:pPr marL="972000" lvl="1" indent="-3429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P(i)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가 가리키는 자식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노드도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역시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m-way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탐색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트리임</a:t>
              </a:r>
              <a:endPara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30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825" y="5197475"/>
            <a:ext cx="80803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401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6529165" cy="954107"/>
            <a:chOff x="1577990" y="2199825"/>
            <a:chExt cx="6529165" cy="766619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5988434" cy="7666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m-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 탐색 트리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(m-way search tree)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3508653"/>
            <a:chOff x="1454251" y="3644747"/>
            <a:chExt cx="11282473" cy="3508653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35086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개요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3-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탐색 트리 예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ko-KR" altLang="en-US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31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89" y="3935413"/>
            <a:ext cx="7593012" cy="360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175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6529165" cy="954107"/>
            <a:chOff x="1577990" y="2199825"/>
            <a:chExt cx="6529165" cy="766619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5988434" cy="7666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m-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 탐색 트리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(m-way search tree)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325082"/>
            <a:chOff x="1454251" y="3644747"/>
            <a:chExt cx="11282473" cy="7325082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xmlns:a14="http://schemas.microsoft.com/office/drawing/2010/main" xmlns:mc="http://schemas.openxmlformats.org/markup-compatibility/2006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7325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분석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m-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탐색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트리는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 </a:t>
              </a:r>
              <a:r>
                <a:rPr lang="ko-KR" altLang="en-US" sz="24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일반화된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형태임</a:t>
              </a:r>
              <a:endParaRPr lang="en-US" altLang="ko-KR" sz="24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0287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이진탐색트리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2-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탐색트리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같은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수의 </a:t>
              </a:r>
              <a:r>
                <a:rPr lang="ko-KR" altLang="en-US" sz="2400" dirty="0" err="1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갖는 </a:t>
              </a:r>
              <a:r>
                <a:rPr lang="ko-KR" altLang="en-US" sz="24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이진탐색트리보다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err="1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높이가 감소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특정 </a:t>
              </a:r>
              <a:r>
                <a:rPr lang="ko-KR" altLang="en-US" sz="2400" dirty="0" err="1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탐색시간 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감소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2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이진탐색트리에서의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탐색 과정은 한 단계 진행될 때에 노드 개수가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1/2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줄어들지만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m-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탐색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트리는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약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1/m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줄어듬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한 </a:t>
              </a:r>
              <a:r>
                <a:rPr lang="ko-KR" altLang="en-US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노드에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m-1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 키 값을 저장하는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m-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 탐색 트리</a:t>
              </a: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indent="-342900">
                <a:buFont typeface="Wingdings" panose="05000000000000000000" pitchFamily="2" charset="2"/>
                <a:buChar char="§"/>
              </a:pP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높이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h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 경우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n=(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</a:t>
              </a:r>
              <a:r>
                <a:rPr lang="en-US" altLang="ko-KR" sz="2200" baseline="30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h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-1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 키 값을 저장</a:t>
              </a: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m-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 탐색 </a:t>
              </a:r>
              <a:r>
                <a:rPr lang="ko-KR" altLang="en-US" sz="24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 탐색 시간 </a:t>
              </a:r>
              <a:r>
                <a:rPr lang="en-US" altLang="ko-KR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4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높이에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비례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각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레벨에서는 한 개의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노드만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탐색</a:t>
              </a:r>
            </a:p>
            <a:p>
              <a:pPr marL="972000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최대로 하면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높이가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낮아짐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분기율을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높임으로써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높이가 얕아지게 되고 탐색시간이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줄어 감소됨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m-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원 탐색 </a:t>
              </a:r>
              <a:r>
                <a:rPr lang="ko-KR" altLang="en-US" sz="2400" dirty="0" err="1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트리는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스스로 균형을 유지하지 못하기 때문에 불균형이 발생할 수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있어 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검색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성능이 떨어지게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됨 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4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노드를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</a:t>
              </a:r>
              <a:r>
                <a:rPr lang="en-US" altLang="ko-KR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삭제할 때 </a:t>
              </a:r>
              <a:r>
                <a:rPr lang="ko-KR" altLang="en-US" sz="2400" dirty="0" err="1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균형을 유지하기 위해서 </a:t>
              </a:r>
              <a: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복잡한 </a:t>
              </a:r>
              <a:r>
                <a:rPr lang="ko-KR" altLang="en-US" sz="2400" dirty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연산이 필요하게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됨</a:t>
              </a:r>
              <a:endParaRPr lang="en-US" altLang="ko-KR" sz="2400" dirty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32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512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1881163" cy="523220"/>
            <a:chOff x="1577990" y="2199825"/>
            <a:chExt cx="188116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4)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134043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7385035"/>
            <a:chOff x="1454251" y="3644747"/>
            <a:chExt cx="11282473" cy="738503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xmlns="" id="{D4B87212-467B-4438-BE04-8744E9D447D7}"/>
                    </a:ext>
                  </a:extLst>
                </p:cNvPr>
                <p:cNvSpPr/>
                <p:nvPr/>
              </p:nvSpPr>
              <p:spPr>
                <a:xfrm>
                  <a:off x="1737360" y="3644747"/>
                  <a:ext cx="10999364" cy="738503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2400" b="1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개요</a:t>
                  </a:r>
                  <a:endParaRPr lang="en-US" altLang="ko-KR" sz="2400" b="1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endParaRPr lang="en-US" altLang="ko-KR" sz="10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286200" indent="-342900">
                    <a:buFont typeface="나눔바른고딕" panose="020B0603020101020101" pitchFamily="50" charset="-127"/>
                    <a:buChar char="-"/>
                  </a:pPr>
                  <a:r>
                    <a:rPr lang="en-US" altLang="ko-KR" sz="24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m-</a:t>
                  </a:r>
                  <a:r>
                    <a:rPr lang="ko-KR" altLang="en-US" sz="24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원</a:t>
                  </a:r>
                  <a:r>
                    <a:rPr lang="en-US" altLang="ko-KR" sz="24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</a:t>
                  </a:r>
                  <a:r>
                    <a:rPr lang="ko-KR" altLang="en-US" sz="24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탐색 </a:t>
                  </a:r>
                  <a:r>
                    <a:rPr lang="ko-KR" altLang="en-US" sz="2400" dirty="0" err="1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트리의</a:t>
                  </a:r>
                  <a:r>
                    <a:rPr lang="ko-KR" altLang="en-US" sz="24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</a:t>
                  </a:r>
                  <a:r>
                    <a:rPr lang="ko-KR" altLang="en-US" sz="2400" dirty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성능 향상을 위해서는 </a:t>
                  </a:r>
                  <a:r>
                    <a:rPr lang="en-US" altLang="ko-KR" sz="2400" dirty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m</a:t>
                  </a:r>
                  <a:r>
                    <a:rPr lang="ko-KR" altLang="en-US" sz="2400" dirty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을 크게 하고 </a:t>
                  </a:r>
                  <a:r>
                    <a:rPr lang="ko-KR" altLang="en-US" sz="2400" dirty="0" err="1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트리가</a:t>
                  </a:r>
                  <a:r>
                    <a:rPr lang="ko-KR" altLang="en-US" sz="2400" dirty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균형이 맞도록 </a:t>
                  </a:r>
                  <a:r>
                    <a:rPr lang="ko-KR" altLang="en-US" sz="2400" dirty="0" err="1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해야함</a:t>
                  </a:r>
                  <a:endParaRPr lang="en-US" altLang="ko-KR" sz="2400" dirty="0">
                    <a:solidFill>
                      <a:srgbClr val="FF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972000" lvl="1" indent="-342900">
                    <a:buFont typeface="Wingdings" panose="05000000000000000000" pitchFamily="2" charset="2"/>
                    <a:buChar char="§"/>
                  </a:pPr>
                  <a:endParaRPr lang="en-US" altLang="ko-KR" sz="10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972000" lvl="2" indent="-342900">
                    <a:buFont typeface="Wingdings" panose="05000000000000000000" pitchFamily="2" charset="2"/>
                    <a:buChar char="§"/>
                  </a:pP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삽입</a:t>
                  </a:r>
                  <a:r>
                    <a:rPr lang="en-US" altLang="ko-KR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, </a:t>
                  </a: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삭제 시 </a:t>
                  </a:r>
                  <a:r>
                    <a:rPr lang="ko-KR" altLang="en-US" sz="2200" dirty="0" err="1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트리의</a:t>
                  </a: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균형 유지에 대한 연산의 오버헤드가 </a:t>
                  </a: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발생</a:t>
                  </a:r>
                  <a:endParaRPr lang="en-US" altLang="ko-KR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972000" lvl="2" indent="-342900">
                    <a:buFont typeface="Wingdings" panose="05000000000000000000" pitchFamily="2" charset="2"/>
                    <a:buChar char="ü"/>
                  </a:pPr>
                  <a:endParaRPr lang="ko-KR" altLang="en-US" sz="10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342900" indent="-342900">
                    <a:buFont typeface="나눔바른고딕" panose="020B0603020101020101" pitchFamily="50" charset="-127"/>
                    <a:buChar char="-"/>
                  </a:pPr>
                  <a:r>
                    <a:rPr lang="en-US" altLang="ko-KR" sz="24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n </a:t>
                  </a:r>
                  <a:r>
                    <a:rPr lang="ko-KR" altLang="en-US" sz="24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개의 키를 가진 </a:t>
                  </a:r>
                  <a:r>
                    <a:rPr lang="en-US" altLang="ko-KR" sz="2400" dirty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m-</a:t>
                  </a:r>
                  <a:r>
                    <a:rPr lang="ko-KR" altLang="en-US" sz="2400" dirty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원 탐색 </a:t>
                  </a:r>
                  <a:r>
                    <a:rPr lang="ko-KR" altLang="en-US" sz="2400" dirty="0" smtClean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트리</a:t>
                  </a:r>
                  <a:r>
                    <a:rPr lang="en-US" altLang="ko-KR" sz="2400" dirty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(B-Tree</a:t>
                  </a:r>
                  <a:r>
                    <a:rPr lang="ko-KR" altLang="en-US" sz="2400" dirty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는 </a:t>
                  </a:r>
                  <a:r>
                    <a:rPr lang="ko-KR" altLang="en-US" sz="2400" dirty="0" err="1" smtClean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균형이진트리</a:t>
                  </a:r>
                  <a:r>
                    <a:rPr lang="en-US" altLang="ko-KR" sz="2400" dirty="0" smtClean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)</a:t>
                  </a:r>
                  <a:r>
                    <a:rPr lang="ko-KR" altLang="en-US" sz="2400" dirty="0" smtClean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의 </a:t>
                  </a:r>
                  <a:r>
                    <a:rPr lang="ko-KR" altLang="en-US" sz="2400" dirty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일반화된 </a:t>
                  </a:r>
                  <a:r>
                    <a:rPr lang="ko-KR" altLang="en-US" sz="2400" dirty="0" smtClean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형태</a:t>
                  </a:r>
                  <a:endParaRPr lang="en-US" altLang="ko-KR" sz="2400" dirty="0" smtClean="0">
                    <a:solidFill>
                      <a:srgbClr val="FF0000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972000" lvl="2" indent="-342900">
                    <a:buFont typeface="Wingdings" panose="05000000000000000000" pitchFamily="2" charset="2"/>
                    <a:buChar char="§"/>
                  </a:pPr>
                  <a:endParaRPr lang="en-US" altLang="ko-KR" sz="10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972000" lvl="2" indent="-342900">
                    <a:buFont typeface="Wingdings" panose="05000000000000000000" pitchFamily="2" charset="2"/>
                    <a:buChar char="§"/>
                  </a:pPr>
                  <a:r>
                    <a:rPr lang="en-US" altLang="ko-KR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DB</a:t>
                  </a: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에서 많이 사용하는 자료 구조이며 외부 검색에 유용하다고 알려져 있음</a:t>
                  </a:r>
                  <a:endParaRPr lang="en-US" altLang="ko-KR" sz="10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342900" indent="-342900">
                    <a:buFont typeface="나눔바른고딕" panose="020B0603020101020101" pitchFamily="50" charset="-127"/>
                    <a:buChar char="-"/>
                  </a:pPr>
                  <a:endParaRPr lang="en-US" altLang="ko-KR" sz="10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972000" indent="-342900">
                    <a:buFont typeface="Wingdings" panose="05000000000000000000" pitchFamily="2" charset="2"/>
                    <a:buChar char="§"/>
                  </a:pP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최소 높이 </a:t>
                  </a:r>
                  <a:r>
                    <a:rPr lang="en-US" altLang="ko-KR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h = </a:t>
                  </a:r>
                  <a14:m>
                    <m:oMath xmlns:m="http://schemas.openxmlformats.org/officeDocument/2006/math">
                      <m:r>
                        <a:rPr lang="ko-KR" altLang="en-US" sz="2400" i="1" dirty="0">
                          <a:latin typeface="Cambria Math"/>
                          <a:sym typeface="Symbol"/>
                        </a:rPr>
                        <m:t></m:t>
                      </m:r>
                    </m:oMath>
                  </a14:m>
                  <a:r>
                    <a:rPr lang="en-US" altLang="ko-KR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log</a:t>
                  </a:r>
                  <a:r>
                    <a:rPr lang="en-US" altLang="ko-KR" sz="2200" baseline="-250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m</a:t>
                  </a:r>
                  <a:r>
                    <a:rPr lang="en-US" altLang="ko-KR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(n+1</a:t>
                  </a:r>
                  <a:r>
                    <a:rPr lang="en-US" altLang="ko-KR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)</a:t>
                  </a:r>
                  <a14:m>
                    <m:oMath xmlns:m="http://schemas.openxmlformats.org/officeDocument/2006/math">
                      <m:r>
                        <a:rPr lang="ko-KR" altLang="en-US" sz="2400" i="1" dirty="0">
                          <a:latin typeface="Cambria Math"/>
                          <a:sym typeface="Symbol"/>
                        </a:rPr>
                        <m:t></m:t>
                      </m:r>
                    </m:oMath>
                  </a14:m>
                  <a:r>
                    <a:rPr lang="en-US" altLang="ko-KR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</a:t>
                  </a:r>
                </a:p>
                <a:p>
                  <a:pPr marL="972000" indent="-342900">
                    <a:buFont typeface="Wingdings" panose="05000000000000000000" pitchFamily="2" charset="2"/>
                    <a:buChar char="§"/>
                  </a:pPr>
                  <a:endParaRPr lang="en-US" altLang="ko-KR" sz="10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972000" indent="-342900">
                    <a:buFont typeface="Wingdings" panose="05000000000000000000" pitchFamily="2" charset="2"/>
                    <a:buChar char="§"/>
                  </a:pP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최대 탐색 시간 </a:t>
                  </a:r>
                  <a:r>
                    <a:rPr lang="en-US" altLang="ko-KR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= </a:t>
                  </a:r>
                  <a:r>
                    <a:rPr lang="en-US" altLang="ko-KR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O(</a:t>
                  </a:r>
                  <a:r>
                    <a:rPr lang="en-US" altLang="ko-KR" sz="2200" dirty="0" err="1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log</a:t>
                  </a:r>
                  <a:r>
                    <a:rPr lang="en-US" altLang="ko-KR" sz="2200" baseline="-25000" dirty="0" err="1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m</a:t>
                  </a:r>
                  <a:r>
                    <a:rPr lang="en-US" altLang="ko-KR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(n+1</a:t>
                  </a:r>
                  <a:r>
                    <a:rPr lang="en-US" altLang="ko-KR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))</a:t>
                  </a:r>
                </a:p>
                <a:p>
                  <a:pPr marL="286200" indent="-342900">
                    <a:buFont typeface="나눔바른고딕" panose="020B0603020101020101" pitchFamily="50" charset="-127"/>
                    <a:buChar char="-"/>
                  </a:pPr>
                  <a:endParaRPr lang="en-US" altLang="ko-KR" sz="10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342900" indent="-342900">
                    <a:buFont typeface="나눔바른고딕" panose="020B0603020101020101" pitchFamily="50" charset="-127"/>
                    <a:buChar char="-"/>
                  </a:pPr>
                  <a:r>
                    <a:rPr lang="ko-KR" altLang="en-US" sz="2400" dirty="0" smtClean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높이 </a:t>
                  </a:r>
                  <a:r>
                    <a:rPr lang="ko-KR" altLang="en-US" sz="2400" dirty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균형 </a:t>
                  </a:r>
                  <a:r>
                    <a:rPr lang="en-US" altLang="ko-KR" sz="2400" dirty="0" smtClean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m-</a:t>
                  </a:r>
                  <a:r>
                    <a:rPr lang="ko-KR" altLang="en-US" sz="2400" dirty="0" smtClean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원 </a:t>
                  </a:r>
                  <a:r>
                    <a:rPr lang="ko-KR" altLang="en-US" sz="2400" dirty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탐색 </a:t>
                  </a:r>
                  <a:r>
                    <a:rPr lang="ko-KR" altLang="en-US" sz="2400" dirty="0" err="1" smtClean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트리는</a:t>
                  </a:r>
                  <a:r>
                    <a:rPr lang="ko-KR" altLang="en-US" sz="2400" dirty="0" smtClean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</a:t>
                  </a:r>
                  <a:r>
                    <a:rPr lang="ko-KR" altLang="en-US" sz="2400" dirty="0" err="1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서브트리의</a:t>
                  </a:r>
                  <a:r>
                    <a:rPr lang="ko-KR" altLang="en-US" sz="2400" dirty="0">
                      <a:solidFill>
                        <a:srgbClr val="FF0000"/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균형에 대해서는 특별히 제한하지 않음</a:t>
                  </a:r>
                </a:p>
                <a:p>
                  <a:pPr marL="1028700" lvl="1" indent="-342900">
                    <a:buFont typeface="나눔바른고딕" panose="020B0603020101020101" pitchFamily="50" charset="-127"/>
                    <a:buChar char="-"/>
                  </a:pPr>
                  <a:endParaRPr lang="en-US" altLang="ko-KR" sz="10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972000" lvl="1" indent="-342900">
                    <a:buFont typeface="Wingdings" panose="05000000000000000000" pitchFamily="2" charset="2"/>
                    <a:buChar char="§"/>
                  </a:pP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각 </a:t>
                  </a:r>
                  <a:r>
                    <a:rPr lang="ko-KR" altLang="en-US" sz="2200" dirty="0" err="1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노드가</a:t>
                  </a: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자식을 많이 갖게 하여 </a:t>
                  </a:r>
                  <a:r>
                    <a:rPr lang="ko-KR" altLang="en-US" sz="2200" dirty="0" err="1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트리의</a:t>
                  </a: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높이를 줄이고 전체적으로 균형을 </a:t>
                  </a:r>
                  <a:r>
                    <a:rPr lang="en-US" altLang="ko-KR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/>
                  </a:r>
                  <a:br>
                    <a:rPr lang="en-US" altLang="ko-KR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</a:b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유지한다면 </a:t>
                  </a: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탐색 성능을 더욱 향상할 수 </a:t>
                  </a: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있음</a:t>
                  </a:r>
                  <a:endParaRPr lang="en-US" altLang="ko-KR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972000" lvl="1" indent="-342900">
                    <a:buFont typeface="Wingdings" panose="05000000000000000000" pitchFamily="2" charset="2"/>
                    <a:buChar char="§"/>
                  </a:pPr>
                  <a:endParaRPr lang="en-US" altLang="ko-KR" sz="10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972000" lvl="1" indent="-342900">
                    <a:buFont typeface="Wingdings" panose="05000000000000000000" pitchFamily="2" charset="2"/>
                    <a:buChar char="§"/>
                  </a:pPr>
                  <a:r>
                    <a:rPr lang="ko-KR" altLang="en-US" sz="2200" dirty="0" err="1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노드의</a:t>
                  </a: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</a:t>
                  </a:r>
                  <a:r>
                    <a:rPr lang="ko-KR" altLang="en-US" sz="2200" dirty="0" err="1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서브트리가</a:t>
                  </a: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</a:t>
                  </a: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많을 </a:t>
                  </a: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수록</a:t>
                  </a:r>
                  <a:r>
                    <a:rPr lang="en-US" altLang="ko-KR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</a:t>
                  </a: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최대 탐색 길이는 </a:t>
                  </a: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짧아짐 </a:t>
                  </a:r>
                  <a:endParaRPr lang="en-US" altLang="ko-KR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1440000" lvl="2" indent="-342900">
                    <a:buFont typeface="Wingdings" panose="05000000000000000000" pitchFamily="2" charset="2"/>
                    <a:buChar char="ü"/>
                  </a:pPr>
                  <a:endParaRPr lang="en-US" altLang="ko-KR" sz="10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1440000" lvl="2" indent="-342900">
                    <a:buFont typeface="Wingdings" panose="05000000000000000000" pitchFamily="2" charset="2"/>
                    <a:buChar char="ü"/>
                  </a:pPr>
                  <a:r>
                    <a:rPr lang="ko-KR" altLang="en-US" sz="20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키가 </a:t>
                  </a:r>
                  <a:r>
                    <a:rPr lang="en-US" altLang="ko-KR" sz="20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255</a:t>
                  </a:r>
                  <a:r>
                    <a:rPr lang="ko-KR" altLang="en-US" sz="20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개인 경우 </a:t>
                  </a:r>
                  <a:r>
                    <a:rPr lang="en-US" altLang="ko-KR" sz="20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4-</a:t>
                  </a:r>
                  <a:r>
                    <a:rPr lang="ko-KR" altLang="en-US" sz="20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원 </a:t>
                  </a:r>
                  <a:r>
                    <a:rPr lang="ko-KR" altLang="en-US" sz="2000" dirty="0" err="1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트리로</a:t>
                  </a:r>
                  <a:r>
                    <a:rPr lang="ko-KR" altLang="en-US" sz="20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구성하면 최대 경로 길이가 </a:t>
                  </a:r>
                  <a:r>
                    <a:rPr lang="en-US" altLang="ko-KR" sz="20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4</a:t>
                  </a:r>
                  <a:r>
                    <a:rPr lang="ko-KR" altLang="en-US" sz="20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가 됨</a:t>
                  </a:r>
                </a:p>
                <a:p>
                  <a:pPr marL="342900" indent="-342900">
                    <a:buFont typeface="나눔바른고딕" panose="020B0603020101020101" pitchFamily="50" charset="-127"/>
                    <a:buChar char="-"/>
                  </a:pPr>
                  <a:endParaRPr lang="en-US" altLang="ko-KR" sz="10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342900" indent="-342900">
                    <a:buFont typeface="나눔바른고딕" panose="020B0603020101020101" pitchFamily="50" charset="-127"/>
                    <a:buChar char="-"/>
                  </a:pPr>
                  <a:r>
                    <a:rPr lang="ko-KR" altLang="en-US" sz="24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키 </a:t>
                  </a:r>
                  <a:r>
                    <a:rPr lang="ko-KR" altLang="en-US" sz="24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항목을 삽입</a:t>
                  </a:r>
                  <a:r>
                    <a:rPr lang="en-US" altLang="ko-KR" sz="24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/</a:t>
                  </a:r>
                  <a:r>
                    <a:rPr lang="ko-KR" altLang="en-US" sz="24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삭제하더라도 </a:t>
                  </a:r>
                  <a:r>
                    <a:rPr lang="ko-KR" altLang="en-US" sz="2400" dirty="0" err="1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트리의</a:t>
                  </a:r>
                  <a:r>
                    <a:rPr lang="ko-KR" altLang="en-US" sz="24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균형을 유지할 수 있는 알고리즘이 정의되어 있음</a:t>
                  </a:r>
                  <a:endParaRPr lang="en-US" altLang="ko-KR" sz="24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342900" indent="-342900">
                    <a:buFont typeface="나눔바른고딕" panose="020B0603020101020101" pitchFamily="50" charset="-127"/>
                    <a:buChar char="-"/>
                  </a:pPr>
                  <a:endParaRPr lang="ko-KR" altLang="en-US" sz="10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  <a:p>
                  <a:pPr marL="972000" lvl="1" indent="-342900">
                    <a:buFont typeface="Wingdings" panose="05000000000000000000" pitchFamily="2" charset="2"/>
                    <a:buChar char="§"/>
                  </a:pP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차수 </a:t>
                  </a:r>
                  <a:r>
                    <a:rPr lang="en-US" altLang="ko-KR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m</a:t>
                  </a: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인 </a:t>
                  </a:r>
                  <a:r>
                    <a:rPr lang="en-US" altLang="ko-KR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B-</a:t>
                  </a:r>
                  <a:r>
                    <a:rPr lang="ko-KR" altLang="en-US" sz="2200" dirty="0" err="1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트리의</a:t>
                  </a: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</a:t>
                  </a: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탐색 경로 길이는 같은 개수의 키를 가지는 이상적인 </a:t>
                  </a:r>
                  <a:r>
                    <a:rPr lang="en-US" altLang="ko-KR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m-</a:t>
                  </a: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원 탐색 트리</a:t>
                  </a:r>
                  <a:r>
                    <a:rPr lang="en-US" altLang="ko-KR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/>
                  </a:r>
                  <a:br>
                    <a:rPr lang="en-US" altLang="ko-KR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</a:b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보다 </a:t>
                  </a: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길 수 있지만 </a:t>
                  </a: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키 값을 </a:t>
                  </a: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삽입</a:t>
                  </a:r>
                  <a:r>
                    <a:rPr lang="en-US" altLang="ko-KR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/</a:t>
                  </a: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삭제할 때 </a:t>
                  </a:r>
                  <a:r>
                    <a:rPr lang="en-US" altLang="ko-KR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B-</a:t>
                  </a:r>
                  <a:r>
                    <a:rPr lang="ko-KR" altLang="en-US" sz="2200" dirty="0" err="1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트리를</a:t>
                  </a: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 </a:t>
                  </a:r>
                  <a:r>
                    <a:rPr lang="ko-KR" altLang="en-US" sz="2200" dirty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유지하는 것이 더 </a:t>
                  </a:r>
                  <a:r>
                    <a:rPr lang="ko-KR" altLang="en-US" sz="2200" dirty="0" smtClean="0">
                      <a:latin typeface="나눔바른고딕" panose="020B0603020101020101" pitchFamily="50" charset="-127"/>
                      <a:ea typeface="나눔바른고딕" panose="020B0603020101020101" pitchFamily="50" charset="-127"/>
                    </a:rPr>
                    <a:t>쉬움</a:t>
                  </a:r>
                  <a:endParaRPr lang="en-US" altLang="ko-KR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mc:Choice>
          <mc:Fallback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D4B87212-467B-4438-BE04-8744E9D447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7360" y="3644747"/>
                  <a:ext cx="10999364" cy="7385035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776" t="-661" r="-16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33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439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1881163" cy="523220"/>
            <a:chOff x="1577990" y="2199825"/>
            <a:chExt cx="188116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4)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134043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1661993"/>
            <a:chOff x="1454251" y="3644747"/>
            <a:chExt cx="11282473" cy="1661993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xmlns:a14="http://schemas.microsoft.com/office/drawing/2010/main" xmlns:mc="http://schemas.openxmlformats.org/markup-compatibility/2006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16619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개요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조건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3429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34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/>
              <p:cNvSpPr/>
              <p:nvPr/>
            </p:nvSpPr>
            <p:spPr>
              <a:xfrm>
                <a:off x="1816100" y="3887565"/>
                <a:ext cx="9144000" cy="372781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  <a:prstDash val="sysDash"/>
              </a:ln>
            </p:spPr>
            <p:txBody>
              <a:bodyPr>
                <a:spAutoFit/>
              </a:bodyPr>
              <a:lstStyle/>
              <a:p>
                <a:pPr marL="4005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루트와 </a:t>
                </a:r>
                <a:r>
                  <a:rPr lang="ko-KR" altLang="en-US" sz="2200" dirty="0" err="1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리프를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제외한 모든 </a:t>
                </a:r>
                <a:r>
                  <a:rPr lang="ko-KR" altLang="en-US" sz="2200" dirty="0" err="1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노드는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최소 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200" i="1" dirty="0">
                        <a:latin typeface="Cambria Math"/>
                        <a:sym typeface="Symbol"/>
                      </a:rPr>
                      <m:t> </m:t>
                    </m:r>
                  </m:oMath>
                </a14:m>
                <a:r>
                  <a:rPr lang="en-US" altLang="ko-KR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m/2</a:t>
                </a:r>
                <a14:m>
                  <m:oMath xmlns:m="http://schemas.openxmlformats.org/officeDocument/2006/math">
                    <m:r>
                      <a:rPr lang="ko-KR" altLang="en-US" sz="2200" i="1" dirty="0">
                        <a:latin typeface="Cambria Math"/>
                        <a:sym typeface="Symbol"/>
                      </a:rPr>
                      <m:t></m:t>
                    </m:r>
                  </m:oMath>
                </a14:m>
                <a:r>
                  <a:rPr lang="en-US" altLang="ko-KR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, 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최대 </a:t>
                </a:r>
                <a:r>
                  <a:rPr lang="en-US" altLang="ko-KR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m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개의 </a:t>
                </a:r>
                <a:r>
                  <a:rPr lang="ko-KR" altLang="en-US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2200" dirty="0" err="1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서브트리를</a:t>
                </a:r>
                <a:r>
                  <a:rPr lang="ko-KR" altLang="en-US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en-US" altLang="ko-KR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/>
                </a:r>
                <a:br>
                  <a:rPr lang="en-US" altLang="ko-KR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</a:br>
                <a:r>
                  <a:rPr lang="en-US" altLang="ko-KR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갖는다</a:t>
                </a:r>
                <a:r>
                  <a:rPr lang="en-US" altLang="ko-KR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.</a:t>
                </a:r>
              </a:p>
              <a:p>
                <a:pPr marL="4005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ko-KR" altLang="en-US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루트는 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최소 </a:t>
                </a:r>
                <a:r>
                  <a:rPr lang="en-US" altLang="ko-KR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개</a:t>
                </a:r>
                <a:r>
                  <a:rPr lang="en-US" altLang="ko-KR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, 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최대 </a:t>
                </a:r>
                <a:r>
                  <a:rPr lang="en-US" altLang="ko-KR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m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개의 </a:t>
                </a:r>
                <a:r>
                  <a:rPr lang="ko-KR" altLang="en-US" sz="2200" dirty="0" err="1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서브트리를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갖는다</a:t>
                </a:r>
                <a:r>
                  <a:rPr lang="en-US" altLang="ko-KR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.</a:t>
                </a:r>
              </a:p>
              <a:p>
                <a:pPr marL="4005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ko-KR" altLang="en-US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모든 </a:t>
                </a:r>
                <a:r>
                  <a:rPr lang="ko-KR" altLang="en-US" sz="2200" dirty="0" err="1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리프는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같은 레벨에 있다</a:t>
                </a:r>
                <a:r>
                  <a:rPr lang="en-US" altLang="ko-KR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.</a:t>
                </a:r>
              </a:p>
              <a:p>
                <a:pPr marL="4005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ko-KR" altLang="en-US" sz="2200" dirty="0" err="1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리프가</a:t>
                </a:r>
                <a:r>
                  <a:rPr lang="ko-KR" altLang="en-US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아닌 </a:t>
                </a:r>
                <a:r>
                  <a:rPr lang="ko-KR" altLang="en-US" sz="2200" dirty="0" err="1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노드의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키 수는 그 </a:t>
                </a:r>
                <a:r>
                  <a:rPr lang="ko-KR" altLang="en-US" sz="2200" dirty="0" err="1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노드의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2200" dirty="0" err="1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서브트리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수보다 하나 적으며</a:t>
                </a:r>
                <a:r>
                  <a:rPr lang="en-US" altLang="ko-KR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, </a:t>
                </a:r>
                <a:r>
                  <a:rPr lang="en-US" altLang="ko-KR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/>
                </a:r>
                <a:br>
                  <a:rPr lang="en-US" altLang="ko-KR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</a:br>
                <a:r>
                  <a:rPr lang="en-US" altLang="ko-KR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2200" dirty="0" err="1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리프</a:t>
                </a:r>
                <a:r>
                  <a:rPr lang="ko-KR" altLang="en-US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2200" dirty="0" err="1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노드는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최소 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200" i="1" dirty="0">
                        <a:latin typeface="Cambria Math"/>
                        <a:sym typeface="Symbol"/>
                      </a:rPr>
                      <m:t> </m:t>
                    </m:r>
                  </m:oMath>
                </a14:m>
                <a:r>
                  <a:rPr lang="en-US" altLang="ko-KR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m/2</a:t>
                </a:r>
                <a14:m>
                  <m:oMath xmlns:m="http://schemas.openxmlformats.org/officeDocument/2006/math">
                    <m:r>
                      <a:rPr lang="ko-KR" altLang="en-US" sz="2200" i="1" dirty="0">
                        <a:latin typeface="Cambria Math"/>
                        <a:sym typeface="Symbol"/>
                      </a:rPr>
                      <m:t></m:t>
                    </m:r>
                  </m:oMath>
                </a14:m>
                <a:r>
                  <a:rPr lang="en-US" altLang="ko-KR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-1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개</a:t>
                </a:r>
                <a:r>
                  <a:rPr lang="en-US" altLang="ko-KR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, 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최대 </a:t>
                </a:r>
                <a:r>
                  <a:rPr lang="en-US" altLang="ko-KR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m-1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개의 키를 저장한다</a:t>
                </a:r>
                <a:r>
                  <a:rPr lang="en-US" altLang="ko-KR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.</a:t>
                </a:r>
              </a:p>
              <a:p>
                <a:pPr marL="4005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ko-KR" altLang="en-US" sz="2200" dirty="0" smtClean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한 </a:t>
                </a:r>
                <a:r>
                  <a:rPr lang="ko-KR" altLang="en-US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노드 안의 키 값들은 오름차순으로 저장한다</a:t>
                </a:r>
                <a:r>
                  <a:rPr lang="en-US" altLang="ko-KR" sz="2200" dirty="0"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.</a:t>
                </a:r>
              </a:p>
            </p:txBody>
          </p:sp>
        </mc:Choice>
        <mc:Fallback xmlns="">
          <p:sp>
            <p:nvSpPr>
              <p:cNvPr id="2" name="직사각형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100" y="3887565"/>
                <a:ext cx="9144000" cy="3727815"/>
              </a:xfrm>
              <a:prstGeom prst="rect">
                <a:avLst/>
              </a:prstGeom>
              <a:blipFill rotWithShape="1">
                <a:blip r:embed="rId2"/>
                <a:stretch>
                  <a:fillRect l="-732" b="-1142"/>
                </a:stretch>
              </a:blipFill>
              <a:ln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150" y="7843838"/>
            <a:ext cx="5067300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742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1881163" cy="523220"/>
            <a:chOff x="1577990" y="2199825"/>
            <a:chExt cx="188116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4)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134043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1877437"/>
            <a:chOff x="1454251" y="3644747"/>
            <a:chExt cx="11282473" cy="1877437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18774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개요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lvl="2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노드의</a:t>
              </a:r>
              <a:r>
                <a:rPr lang="en-US" altLang="ko-KR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구조 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3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35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425" y="3990975"/>
            <a:ext cx="80803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5232400"/>
            <a:ext cx="6029325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3788582" y="7785185"/>
            <a:ext cx="1595309" cy="400110"/>
          </a:xfrm>
          <a:prstGeom prst="rect">
            <a:avLst/>
          </a:prstGeom>
          <a:solidFill>
            <a:srgbClr val="203864"/>
          </a:solidFill>
        </p:spPr>
        <p:txBody>
          <a:bodyPr wrap="none">
            <a:sp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3-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</a:t>
            </a:r>
            <a:r>
              <a:rPr lang="en-US" altLang="ko-KR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B-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/>
              <p:cNvSpPr/>
              <p:nvPr/>
            </p:nvSpPr>
            <p:spPr>
              <a:xfrm>
                <a:off x="6248400" y="5250647"/>
                <a:ext cx="4356100" cy="732252"/>
              </a:xfrm>
              <a:prstGeom prst="rect">
                <a:avLst/>
              </a:prstGeom>
              <a:solidFill>
                <a:srgbClr val="203864"/>
              </a:solidFill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000" dirty="0" smtClean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최소 </a:t>
                </a:r>
                <a:r>
                  <a:rPr lang="ko-KR" altLang="en-US" sz="2000" dirty="0" err="1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분기율</a:t>
                </a:r>
                <a:r>
                  <a:rPr lang="ko-KR" altLang="en-US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= 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bg1"/>
                        </a:solidFill>
                        <a:latin typeface="Cambria Math"/>
                        <a:sym typeface="Symbol"/>
                      </a:rPr>
                      <m:t> </m:t>
                    </m:r>
                  </m:oMath>
                </a14:m>
                <a:r>
                  <a:rPr lang="en-US" altLang="ko-KR" sz="2000" dirty="0" smtClean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m/2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bg1"/>
                        </a:solidFill>
                        <a:latin typeface="Cambria Math"/>
                        <a:sym typeface="Symbol"/>
                      </a:rPr>
                      <m:t></m:t>
                    </m:r>
                  </m:oMath>
                </a14:m>
                <a:r>
                  <a:rPr lang="en-US" altLang="ko-KR" sz="2000" dirty="0" smtClean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=</a:t>
                </a:r>
                <a:r>
                  <a:rPr lang="ko-KR" altLang="en-US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bg1"/>
                        </a:solidFill>
                        <a:latin typeface="Cambria Math"/>
                        <a:sym typeface="Symbol"/>
                      </a:rPr>
                      <m:t> </m:t>
                    </m:r>
                  </m:oMath>
                </a14:m>
                <a:r>
                  <a:rPr lang="en-US" altLang="ko-KR" sz="2000" dirty="0" smtClean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3/2</a:t>
                </a:r>
                <a:r>
                  <a:rPr lang="ko-KR" altLang="en-US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bg1"/>
                        </a:solidFill>
                        <a:latin typeface="Cambria Math"/>
                        <a:sym typeface="Symbol"/>
                      </a:rPr>
                      <m:t></m:t>
                    </m:r>
                  </m:oMath>
                </a14:m>
                <a:r>
                  <a:rPr lang="en-US" altLang="ko-KR" sz="2000" dirty="0" smtClean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= </a:t>
                </a:r>
                <a:r>
                  <a:rPr lang="en-US" altLang="ko-KR" sz="2000" dirty="0" smtClean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000" dirty="0" smtClean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최대 </a:t>
                </a:r>
                <a:r>
                  <a:rPr lang="ko-KR" altLang="en-US" sz="2000" dirty="0" err="1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분기율</a:t>
                </a:r>
                <a:r>
                  <a:rPr lang="ko-KR" altLang="en-US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en-US" altLang="ko-KR" sz="2000" dirty="0">
                    <a:solidFill>
                      <a:schemeClr val="bg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= 3</a:t>
                </a:r>
                <a:endParaRPr lang="ko-KR" altLang="en-US" sz="2000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3" name="직사각형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5250647"/>
                <a:ext cx="4356100" cy="732252"/>
              </a:xfrm>
              <a:prstGeom prst="rect">
                <a:avLst/>
              </a:prstGeom>
              <a:blipFill rotWithShape="1">
                <a:blip r:embed="rId4"/>
                <a:stretch>
                  <a:fillRect l="-1119" b="-14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901" y="8001000"/>
            <a:ext cx="5232400" cy="204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직사각형 15"/>
          <p:cNvSpPr/>
          <p:nvPr/>
        </p:nvSpPr>
        <p:spPr>
          <a:xfrm>
            <a:off x="9719482" y="8318585"/>
            <a:ext cx="1051891" cy="400110"/>
          </a:xfrm>
          <a:prstGeom prst="rect">
            <a:avLst/>
          </a:prstGeom>
          <a:solidFill>
            <a:srgbClr val="203864"/>
          </a:solidFill>
        </p:spPr>
        <p:txBody>
          <a:bodyPr wrap="none">
            <a:spAutoFit/>
          </a:bodyPr>
          <a:lstStyle/>
          <a:p>
            <a:r>
              <a:rPr lang="en-US" altLang="ko-KR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</a:t>
            </a:r>
            <a:r>
              <a:rPr lang="en-US" altLang="ko-KR" sz="2000" baseline="30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</a:t>
            </a:r>
            <a:r>
              <a:rPr lang="en-US" altLang="ko-KR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트리</a:t>
            </a:r>
          </a:p>
        </p:txBody>
      </p:sp>
    </p:spTree>
    <p:extLst>
      <p:ext uri="{BB962C8B-B14F-4D97-AF65-F5344CB8AC3E}">
        <p14:creationId xmlns:p14="http://schemas.microsoft.com/office/powerpoint/2010/main" val="138397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1881163" cy="523220"/>
            <a:chOff x="1577990" y="2199825"/>
            <a:chExt cx="188116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4)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134043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3477875"/>
            <a:chOff x="1454251" y="3644747"/>
            <a:chExt cx="11282473" cy="3477875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34778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연산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탐색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값에 따라 왼쪽 또는 오른쪽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서브트리로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분기함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각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노드에서의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탐색은 순차 탐색을 수행함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 전체의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순차 탐색은 </a:t>
              </a:r>
              <a:r>
                <a:rPr lang="ko-KR" altLang="en-US" sz="2200" dirty="0" err="1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중위 운행으로 수행함</a:t>
              </a:r>
              <a:endPara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36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5524500"/>
            <a:ext cx="6029325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420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1881163" cy="523220"/>
            <a:chOff x="1577990" y="2199825"/>
            <a:chExt cx="188116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4)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134043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5878532"/>
            <a:chOff x="1454251" y="3644747"/>
            <a:chExt cx="11282473" cy="5878532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58785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연산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2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예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(1) –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 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70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삽입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37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866900" y="3771796"/>
            <a:ext cx="9829800" cy="32085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 삽입할 위치를 찾기 위해 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노드의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 값을 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왼쪽에서 오른쪽으로 탐색한다</a:t>
            </a:r>
            <a:r>
              <a:rPr lang="en-US" altLang="ko-KR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br>
              <a:rPr lang="en-US" altLang="ko-KR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(B-</a:t>
            </a:r>
            <a:r>
              <a:rPr lang="ko-KR" altLang="en-US" sz="21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트리에서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 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노드는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잎노드에서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삽입이 시작됨</a:t>
            </a:r>
            <a:r>
              <a:rPr lang="en-US" altLang="ko-KR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 </a:t>
            </a:r>
          </a:p>
          <a:p>
            <a:pPr>
              <a:lnSpc>
                <a:spcPts val="2700"/>
              </a:lnSpc>
            </a:pPr>
            <a:r>
              <a:rPr lang="en-US" altLang="ko-KR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② 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노드에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빈자리가 있으면 삽입 후 종료한다</a:t>
            </a:r>
            <a:r>
              <a:rPr lang="en-US" altLang="ko-KR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ts val="2700"/>
              </a:lnSpc>
            </a:pPr>
            <a:r>
              <a:rPr lang="en-US" altLang="ko-KR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③ 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노드가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꽉 찼으면 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개로 분리하고 키와 포인터를 새 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노드에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반씩</a:t>
            </a:r>
            <a:r>
              <a:rPr lang="en-US" altLang="ko-KR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할당한다</a:t>
            </a:r>
            <a:r>
              <a:rPr lang="en-US" altLang="ko-KR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ts val="2700"/>
              </a:lnSpc>
            </a:pPr>
            <a:r>
              <a:rPr lang="en-US" altLang="ko-KR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    ③-1 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잎노드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 값과 삽입 노드 키 값 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중에서 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중간값을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선택한다</a:t>
            </a:r>
            <a:r>
              <a:rPr lang="en-US" altLang="ko-KR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>
              <a:lnSpc>
                <a:spcPts val="2700"/>
              </a:lnSpc>
            </a:pPr>
            <a:r>
              <a:rPr lang="en-US" altLang="ko-KR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    ③-2 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선택된 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중간값보다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 작은 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 값을 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갖는 것은 왼쪽 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노드에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넣고 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큰 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것은 </a:t>
            </a:r>
            <a:r>
              <a:rPr lang="en-US" altLang="ko-KR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오른쪽 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노드에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넣는다</a:t>
            </a:r>
            <a:r>
              <a:rPr lang="en-US" altLang="ko-KR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 </a:t>
            </a:r>
          </a:p>
          <a:p>
            <a:pPr>
              <a:lnSpc>
                <a:spcPts val="2700"/>
              </a:lnSpc>
            </a:pP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    ③</a:t>
            </a:r>
            <a:r>
              <a:rPr lang="en-US" altLang="ko-KR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-3 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중간값을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가지는 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노드의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 값과 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포인터 를 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부모 </a:t>
            </a:r>
            <a:r>
              <a:rPr lang="ko-KR" altLang="en-US" sz="21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노드에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삽입한다</a:t>
            </a:r>
            <a:r>
              <a:rPr lang="en-US" altLang="ko-KR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만일 부모 </a:t>
            </a:r>
            <a:r>
              <a:rPr lang="ko-KR" altLang="en-US" sz="21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노드가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루트 </a:t>
            </a:r>
            <a:r>
              <a:rPr lang="ko-KR" altLang="en-US" sz="21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노드이면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두 </a:t>
            </a:r>
            <a:r>
              <a:rPr lang="ko-KR" altLang="en-US" sz="21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가리키도록</a:t>
            </a:r>
            <a:r>
              <a:rPr lang="en-US" altLang="ko-KR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자식 </a:t>
            </a:r>
            <a:r>
              <a:rPr lang="ko-KR" altLang="en-US" sz="21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노드가</a:t>
            </a:r>
            <a:r>
              <a:rPr lang="ko-KR" altLang="en-US" sz="21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되도록</a:t>
            </a:r>
            <a:r>
              <a:rPr lang="en-US" altLang="ko-KR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수정한다</a:t>
            </a:r>
            <a:r>
              <a:rPr lang="en-US" altLang="ko-KR" sz="21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925" y="7293115"/>
            <a:ext cx="7242175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7"/>
          <p:cNvSpPr>
            <a:spLocks noChangeArrowheads="1"/>
          </p:cNvSpPr>
          <p:nvPr/>
        </p:nvSpPr>
        <p:spPr bwMode="auto">
          <a:xfrm>
            <a:off x="3797300" y="9479102"/>
            <a:ext cx="4699000" cy="707886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근노드로부터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삽입할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찾음</a:t>
            </a:r>
            <a:endParaRPr lang="en-US" altLang="ko-KR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/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②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 -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여유 공간이 있으므로 바로 삽입</a:t>
            </a:r>
          </a:p>
        </p:txBody>
      </p:sp>
      <p:sp>
        <p:nvSpPr>
          <p:cNvPr id="16" name="AutoShape 66"/>
          <p:cNvSpPr>
            <a:spLocks noChangeArrowheads="1"/>
          </p:cNvSpPr>
          <p:nvPr/>
        </p:nvSpPr>
        <p:spPr bwMode="auto">
          <a:xfrm>
            <a:off x="9137651" y="8884067"/>
            <a:ext cx="704849" cy="524218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64428" tIns="82215" rIns="164428" bIns="82215" anchor="ctr">
            <a:spAutoFit/>
          </a:bodyPr>
          <a:lstStyle/>
          <a:p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105473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3830638"/>
            <a:ext cx="7364412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1881163" cy="523220"/>
            <a:chOff x="1577990" y="2199825"/>
            <a:chExt cx="188116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4)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134043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5663089"/>
            <a:chOff x="1454251" y="3644747"/>
            <a:chExt cx="11282473" cy="5663089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56630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연산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 예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(2) – 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 </a:t>
              </a:r>
              <a:r>
                <a:rPr lang="en-US" altLang="ko-KR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56</a:t>
              </a:r>
              <a:r>
                <a:rPr lang="ko-KR" altLang="en-US" sz="22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삽입</a:t>
              </a:r>
              <a:endParaRPr lang="en-US" altLang="ko-KR" sz="22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38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6" name="직사각형 7"/>
          <p:cNvSpPr>
            <a:spLocks noChangeArrowheads="1"/>
          </p:cNvSpPr>
          <p:nvPr/>
        </p:nvSpPr>
        <p:spPr bwMode="auto">
          <a:xfrm>
            <a:off x="3797301" y="6010275"/>
            <a:ext cx="3937000" cy="40011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 삽입 위치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오버플로우</a:t>
            </a:r>
            <a:endParaRPr lang="en-US" altLang="ko-KR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429000" y="9238903"/>
            <a:ext cx="5981700" cy="707886"/>
          </a:xfrm>
          <a:prstGeom prst="rect">
            <a:avLst/>
          </a:prstGeom>
          <a:solidFill>
            <a:srgbClr val="203864"/>
          </a:solidFill>
        </p:spPr>
        <p:txBody>
          <a:bodyPr wrap="square">
            <a:spAutoFit/>
          </a:bodyPr>
          <a:lstStyle/>
          <a:p>
            <a:r>
              <a:rPr lang="ko-KR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②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 분할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새로운 노드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g'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생성하여 키를 분할 저장</a:t>
            </a:r>
          </a:p>
          <a:p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③ (50 </a:t>
            </a:r>
            <a:r>
              <a:rPr lang="en-US" altLang="ko-KR" sz="2000" b="1" u="sng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53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56) →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중간 값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= </a:t>
            </a:r>
            <a:r>
              <a:rPr lang="en-US" altLang="ko-KR" sz="2000" dirty="0">
                <a:solidFill>
                  <a:srgbClr val="FFC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53</a:t>
            </a:r>
            <a:endParaRPr lang="ko-KR" altLang="en-US" sz="2000" dirty="0">
              <a:solidFill>
                <a:srgbClr val="FFC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039" y="6632575"/>
            <a:ext cx="7408861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2528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1881163" cy="523220"/>
            <a:chOff x="1577990" y="2199825"/>
            <a:chExt cx="188116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4)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134043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5693866"/>
            <a:chOff x="1454251" y="3644747"/>
            <a:chExt cx="11282473" cy="5693866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56938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연산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삽입 예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(2) –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값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56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삽입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39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1" name="직사각형 8"/>
          <p:cNvSpPr>
            <a:spLocks noChangeArrowheads="1"/>
          </p:cNvSpPr>
          <p:nvPr/>
        </p:nvSpPr>
        <p:spPr bwMode="auto">
          <a:xfrm>
            <a:off x="2398713" y="6645275"/>
            <a:ext cx="6796087" cy="40011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④ 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부모 </a:t>
            </a:r>
            <a:r>
              <a:rPr lang="ko-KR" altLang="en-US" sz="2000" dirty="0" err="1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노드에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[53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｜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g']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삽입 → 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부모 </a:t>
            </a:r>
            <a:r>
              <a:rPr lang="ko-KR" altLang="en-US" sz="2000" dirty="0" err="1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노드의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여유 공간에 삽입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3986213"/>
            <a:ext cx="4124325" cy="249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750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1816100" y="3733696"/>
            <a:ext cx="9271000" cy="2862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endParaRPr lang="en-US" altLang="ko-KR" sz="21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2400"/>
              </a:lnSpc>
            </a:pPr>
            <a:endParaRPr lang="en-US" altLang="ko-KR" sz="2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2400"/>
              </a:lnSpc>
            </a:pPr>
            <a:endParaRPr lang="en-US" altLang="ko-KR" sz="21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2400"/>
              </a:lnSpc>
            </a:pPr>
            <a:endParaRPr lang="en-US" altLang="ko-KR" sz="2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2400"/>
              </a:lnSpc>
            </a:pPr>
            <a:endParaRPr lang="en-US" altLang="ko-KR" sz="21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2400"/>
              </a:lnSpc>
            </a:pPr>
            <a:endParaRPr lang="en-US" altLang="ko-KR" sz="2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2400"/>
              </a:lnSpc>
            </a:pPr>
            <a:endParaRPr lang="en-US" altLang="ko-KR" sz="21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2400"/>
              </a:lnSpc>
            </a:pPr>
            <a:endParaRPr lang="en-US" altLang="ko-KR" sz="2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ts val="2400"/>
              </a:lnSpc>
            </a:pPr>
            <a:endParaRPr lang="en-US" altLang="ko-KR" sz="2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1881163" cy="523220"/>
            <a:chOff x="1577990" y="2199825"/>
            <a:chExt cx="188116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4)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134043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3724096"/>
            <a:chOff x="1454251" y="3644747"/>
            <a:chExt cx="11282473" cy="3724096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37240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연산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r>
                <a:rPr lang="ko-KR" altLang="en-US" sz="24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리프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노드에서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삭제하려는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키가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리프가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아닌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노드에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존재하면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리프에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존재하는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선행키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또는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후행키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대치하고 </a:t>
              </a:r>
              <a:r>
                <a:rPr lang="ko-KR" altLang="en-US" sz="22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리프에서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리프에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남는 키의 수가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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m/2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</a:t>
              </a:r>
              <a:r>
                <a:rPr lang="en-US" altLang="ko-KR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-1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보다 작으면 </a:t>
              </a:r>
              <a:r>
                <a:rPr lang="ko-KR" altLang="en-US" sz="22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언더플로우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해결이 필요함</a:t>
              </a:r>
              <a:endParaRPr lang="en-US" altLang="ko-KR" sz="22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1" indent="-342900">
                <a:buFont typeface="Wingdings" panose="05000000000000000000" pitchFamily="2" charset="2"/>
                <a:buChar char="§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형제 </a:t>
              </a:r>
              <a:r>
                <a:rPr lang="ko-KR" altLang="en-US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노드에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여분의 키가 있는 경우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수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m/2-1) </a:t>
              </a:r>
              <a:r>
                <a:rPr lang="en-US" altLang="ko-KR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– </a:t>
              </a:r>
              <a:r>
                <a:rPr lang="ko-KR" altLang="en-US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재</a:t>
              </a:r>
              <a:r>
                <a:rPr lang="ko-KR" altLang="en-US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분배</a:t>
              </a:r>
              <a:endParaRPr lang="en-US" altLang="ko-KR" sz="20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440000" lvl="2" indent="-342900">
                <a:buFont typeface="Wingdings" panose="05000000000000000000" pitchFamily="2" charset="2"/>
                <a:buChar char="ü"/>
              </a:pP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인접 형제 </a:t>
              </a:r>
              <a:r>
                <a:rPr lang="ko-KR" altLang="en-US" sz="2000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노드에</a:t>
              </a:r>
              <a:r>
                <a:rPr lang="ko-KR" altLang="en-US" sz="20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최소 개수의 키만 남아 있는 경우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수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en-US" altLang="ko-KR" sz="200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Symbol" pitchFamily="18" charset="2"/>
                </a:rPr>
                <a:t>m/2-1) - </a:t>
              </a:r>
              <a:r>
                <a:rPr lang="ko-KR" altLang="en-US" sz="2000" dirty="0" smtClean="0">
                  <a:solidFill>
                    <a:srgbClr val="FF00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합병</a:t>
              </a:r>
              <a:endParaRPr lang="en-US" altLang="ko-KR" sz="1600" dirty="0" smtClean="0">
                <a:solidFill>
                  <a:srgbClr val="FF00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40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950" y="6692899"/>
            <a:ext cx="9061450" cy="337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직사각형 13"/>
          <p:cNvSpPr/>
          <p:nvPr/>
        </p:nvSpPr>
        <p:spPr>
          <a:xfrm>
            <a:off x="5528042" y="6845405"/>
            <a:ext cx="2024913" cy="369332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35 </a:t>
            </a:r>
            <a:r>
              <a:rPr lang="ko-KR" altLang="en-US" sz="1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삭제 시 </a:t>
            </a:r>
            <a:r>
              <a:rPr lang="en-US" altLang="ko-KR" sz="1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재분배</a:t>
            </a:r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656036" y="8640902"/>
            <a:ext cx="1819729" cy="369332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80 </a:t>
            </a:r>
            <a:r>
              <a:rPr lang="ko-KR" altLang="en-US" sz="1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삭제 시 </a:t>
            </a:r>
            <a:r>
              <a:rPr lang="en-US" altLang="ko-KR" sz="1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800" b="1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병합</a:t>
            </a:r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917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0672C57-A57E-4C40-A4C7-59EA4E2B5EF6}"/>
              </a:ext>
            </a:extLst>
          </p:cNvPr>
          <p:cNvGrpSpPr/>
          <p:nvPr/>
        </p:nvGrpSpPr>
        <p:grpSpPr>
          <a:xfrm>
            <a:off x="819959" y="2030587"/>
            <a:ext cx="1881163" cy="523220"/>
            <a:chOff x="1577990" y="2199825"/>
            <a:chExt cx="1881163" cy="420404"/>
          </a:xfrm>
        </p:grpSpPr>
        <p:sp>
          <p:nvSpPr>
            <p:cNvPr id="18" name="모서리가 둥근 직사각형 18">
              <a:extLst>
                <a:ext uri="{FF2B5EF4-FFF2-40B4-BE49-F238E27FC236}">
                  <a16:creationId xmlns:a16="http://schemas.microsoft.com/office/drawing/2014/main" xmlns="" id="{8CC754EE-44EF-4E22-AAC9-C005F09157A9}"/>
                </a:ext>
              </a:extLst>
            </p:cNvPr>
            <p:cNvSpPr/>
            <p:nvPr/>
          </p:nvSpPr>
          <p:spPr>
            <a:xfrm>
              <a:off x="1577990" y="2216957"/>
              <a:ext cx="540731" cy="38614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300" dirty="0" smtClean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4)</a:t>
              </a:r>
              <a:endParaRPr lang="ko-KR" altLang="en-US" sz="2400" b="1" spc="-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BBCD183D-8ED6-4730-8170-F38569F3D05E}"/>
                </a:ext>
              </a:extLst>
            </p:cNvPr>
            <p:cNvSpPr/>
            <p:nvPr/>
          </p:nvSpPr>
          <p:spPr>
            <a:xfrm>
              <a:off x="2118721" y="2199825"/>
              <a:ext cx="1340432" cy="4204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8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</a:t>
              </a:r>
              <a:endParaRPr lang="en-US" altLang="ko-KR" sz="2800" b="1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FB4276BC-8CC9-49C8-BF4E-25CE97B16394}"/>
              </a:ext>
            </a:extLst>
          </p:cNvPr>
          <p:cNvGrpSpPr/>
          <p:nvPr/>
        </p:nvGrpSpPr>
        <p:grpSpPr>
          <a:xfrm>
            <a:off x="1090324" y="2785495"/>
            <a:ext cx="11282473" cy="1477328"/>
            <a:chOff x="1454251" y="3644747"/>
            <a:chExt cx="11282473" cy="1477328"/>
          </a:xfrm>
        </p:grpSpPr>
        <p:sp>
          <p:nvSpPr>
            <p:cNvPr id="24" name="모서리가 둥근 직사각형 9">
              <a:extLst>
                <a:ext uri="{FF2B5EF4-FFF2-40B4-BE49-F238E27FC236}">
                  <a16:creationId xmlns:a16="http://schemas.microsoft.com/office/drawing/2014/main" xmlns="" id="{54DE5E1B-B975-48A5-BFDE-DDE1B45FB555}"/>
                </a:ext>
              </a:extLst>
            </p:cNvPr>
            <p:cNvSpPr/>
            <p:nvPr/>
          </p:nvSpPr>
          <p:spPr>
            <a:xfrm>
              <a:off x="1454251" y="3752998"/>
              <a:ext cx="283109" cy="284921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spc="-150" dirty="0">
                  <a:ln w="12700">
                    <a:noFill/>
                  </a:ln>
                  <a:solidFill>
                    <a:schemeClr val="accent5">
                      <a:lumMod val="50000"/>
                    </a:schemeClr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V</a:t>
              </a:r>
              <a:endParaRPr lang="ko-KR" altLang="en-US" sz="2400" b="1" spc="-150" dirty="0">
                <a:ln w="12700">
                  <a:noFill/>
                </a:ln>
                <a:solidFill>
                  <a:schemeClr val="accent5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D4B87212-467B-4438-BE04-8744E9D447D7}"/>
                </a:ext>
              </a:extLst>
            </p:cNvPr>
            <p:cNvSpPr/>
            <p:nvPr/>
          </p:nvSpPr>
          <p:spPr>
            <a:xfrm>
              <a:off x="1737360" y="3644747"/>
              <a:ext cx="10999364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B-</a:t>
              </a:r>
              <a:r>
                <a:rPr lang="ko-KR" altLang="en-US" sz="2400" b="1" dirty="0" err="1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트리의</a:t>
              </a:r>
              <a:r>
                <a:rPr lang="ko-KR" altLang="en-US" sz="2400" b="1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연산</a:t>
              </a:r>
              <a:endParaRPr lang="en-US" altLang="ko-KR" sz="2400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972000" lvl="2" indent="-342900">
                <a:buFont typeface="나눔바른고딕" panose="020B0603020101020101" pitchFamily="50" charset="-127"/>
                <a:buChar char="-"/>
              </a:pP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 예 </a:t>
              </a:r>
              <a:r>
                <a:rPr lang="en-US" altLang="ko-KR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22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키 </a:t>
              </a:r>
              <a:r>
                <a:rPr lang="ko-KR" altLang="en-US" sz="22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값 </a:t>
              </a:r>
              <a:r>
                <a:rPr lang="en-US" altLang="ko-KR" sz="220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58</a:t>
              </a:r>
              <a:r>
                <a:rPr lang="ko-KR" altLang="en-US" sz="220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</a:t>
              </a:r>
              <a:r>
                <a:rPr lang="ko-KR" altLang="en-US" sz="2200" dirty="0" smtClean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삭제</a:t>
              </a:r>
              <a:endParaRPr lang="en-US" altLang="ko-KR" sz="220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286200" indent="-342900">
                <a:buFont typeface="나눔바른고딕" panose="020B0603020101020101" pitchFamily="50" charset="-127"/>
                <a:buChar char="-"/>
              </a:pPr>
              <a:endParaRPr lang="en-US" altLang="ko-KR" sz="1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41</a:t>
            </a:fld>
            <a:r>
              <a:rPr lang="en-US" altLang="ko-KR" dirty="0" smtClean="0"/>
              <a:t>/37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 flipV="1">
            <a:off x="-1" y="1238048"/>
            <a:ext cx="3672000" cy="362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0005" y="647996"/>
            <a:ext cx="2904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B-</a:t>
            </a:r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트리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389" y="3943350"/>
            <a:ext cx="8367712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직사각형 7"/>
          <p:cNvSpPr>
            <a:spLocks noChangeArrowheads="1"/>
          </p:cNvSpPr>
          <p:nvPr/>
        </p:nvSpPr>
        <p:spPr bwMode="auto">
          <a:xfrm>
            <a:off x="2374900" y="8359775"/>
            <a:ext cx="8953500" cy="1631216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① 노드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</a:t>
            </a:r>
            <a:r>
              <a:rPr lang="ko-KR" altLang="en-US" sz="2000" dirty="0" err="1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리프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err="1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노드가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아님 </a:t>
            </a:r>
            <a:endParaRPr lang="en-US" altLang="ko-KR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/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-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선행 키를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찾음</a:t>
            </a:r>
            <a:endParaRPr lang="en-US" altLang="ko-KR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/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- 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왼쪽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부분트리에서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가장 우측 포인터를 따라 </a:t>
            </a:r>
            <a:r>
              <a:rPr lang="ko-KR" altLang="en-US" sz="2000" dirty="0" err="1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리프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err="1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찾아 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가장</a:t>
            </a:r>
            <a:r>
              <a:rPr lang="en-US" altLang="ko-KR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큰 키를 선택</a:t>
            </a:r>
            <a:endParaRPr lang="en-US" altLang="ko-KR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/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② 노드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53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노드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58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자리에 옮김 </a:t>
            </a:r>
            <a:endParaRPr lang="en-US" altLang="ko-KR" sz="2000" dirty="0" smtClean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eaLnBrk="1" hangingPunct="1"/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③ </a:t>
            </a:r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 </a:t>
            </a:r>
            <a:r>
              <a:rPr lang="en-US" altLang="ko-KR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</a:t>
            </a:r>
            <a:r>
              <a:rPr lang="ko-KR" altLang="en-US" sz="200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</a:t>
            </a:r>
            <a:r>
              <a:rPr lang="en-US" altLang="ko-KR" sz="200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53</a:t>
            </a:r>
            <a:r>
              <a:rPr lang="ko-KR" altLang="en-US" sz="200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</a:t>
            </a:r>
            <a:r>
              <a:rPr lang="ko-KR" altLang="en-US" sz="200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삭제</a:t>
            </a:r>
            <a:endParaRPr lang="ko-KR" altLang="en-US" sz="20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059347"/>
              </p:ext>
            </p:extLst>
          </p:nvPr>
        </p:nvGraphicFramePr>
        <p:xfrm>
          <a:off x="12139130" y="4638353"/>
          <a:ext cx="1824844" cy="117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포장기 셸 개체" showAsIcon="1" r:id="rId4" imgW="581400" imgH="513360" progId="Package">
                  <p:embed/>
                </p:oleObj>
              </mc:Choice>
              <mc:Fallback>
                <p:oleObj name="포장기 셸 개체" showAsIcon="1" r:id="rId4" imgW="581400" imgH="513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39130" y="4638353"/>
                        <a:ext cx="1824844" cy="1173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895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373433" y="2030131"/>
            <a:ext cx="109993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나눔바른고딕" panose="020B0603020101020101" pitchFamily="50" charset="-127"/>
              <a:buChar char="-"/>
            </a:pPr>
            <a:r>
              <a:rPr lang="ko-KR" altLang="en-US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힙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(heap)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완전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이진트리의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하나로서 우선순위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큐를 위하여 만들어진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자료구조이다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이러한 </a:t>
            </a:r>
            <a:r>
              <a:rPr lang="ko-KR" altLang="en-US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힙은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마지막 </a:t>
            </a:r>
            <a:r>
              <a:rPr lang="ko-KR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레벨을 제외하고 모든 레벨이 완전히 </a:t>
            </a:r>
            <a:r>
              <a:rPr lang="ko-KR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채워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지기 때문에 배열에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저장하기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적합하고 </a:t>
            </a:r>
            <a:r>
              <a:rPr lang="ko-KR" altLang="en-US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힙을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구성하는 여러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개의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노드들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가운데서 가장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큰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작은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 값을 가지는 </a:t>
            </a:r>
            <a:r>
              <a:rPr lang="ko-KR" altLang="en-US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노드를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빠른 시간 내에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찾을 수 있다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342900" indent="-342900">
              <a:buFont typeface="나눔바른고딕" panose="020B0603020101020101" pitchFamily="50" charset="-127"/>
              <a:buChar char="-"/>
            </a:pP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buFont typeface="나눔바른고딕" panose="020B0603020101020101" pitchFamily="50" charset="-127"/>
              <a:buChar char="-"/>
            </a:pP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m-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탐색 </a:t>
            </a:r>
            <a:r>
              <a:rPr lang="ko-KR" altLang="en-US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트리는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이진탐색트리의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확장된 자료구조이며 </a:t>
            </a:r>
            <a:r>
              <a:rPr lang="ko-KR" altLang="en-US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이진탐색트리보다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분기율이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높은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트리로서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트리의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노드가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이하의 가지를 가질 수 있는 탐색 </a:t>
            </a:r>
            <a:r>
              <a:rPr lang="ko-KR" altLang="en-US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트리이다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342900" indent="-342900">
              <a:buFont typeface="나눔바른고딕" panose="020B0603020101020101" pitchFamily="50" charset="-127"/>
              <a:buChar char="-"/>
            </a:pP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buFont typeface="나눔바른고딕" panose="020B0603020101020101" pitchFamily="50" charset="-127"/>
              <a:buChar char="-"/>
            </a:pP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B-</a:t>
            </a:r>
            <a:r>
              <a:rPr lang="ko-KR" altLang="en-US" sz="24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트리는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m-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 탐색 </a:t>
            </a:r>
            <a:r>
              <a:rPr lang="ko-KR" altLang="en-US" sz="2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트리를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개선한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자료 구조로서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인덱스 구조를 구현하는데 가장 일반적으로 </a:t>
            </a:r>
            <a:r>
              <a:rPr lang="ko-KR" altLang="en-US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사용된다</a:t>
            </a:r>
            <a:r>
              <a:rPr lang="en-US" altLang="ko-KR" sz="2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 flipV="1">
            <a:off x="-1" y="1238048"/>
            <a:ext cx="3461537" cy="3545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680005" y="647996"/>
            <a:ext cx="27815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학습정리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A13D3-7926-4310-AEAA-1557892109DB}" type="slidenum">
              <a:rPr lang="ko-KR" altLang="en-US" smtClean="0"/>
              <a:pPr/>
              <a:t>42</a:t>
            </a:fld>
            <a:r>
              <a:rPr lang="en-US" altLang="ko-KR" smtClean="0"/>
              <a:t>/37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633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="" xmlns:a16="http://schemas.microsoft.com/office/drawing/2014/main" id="{D4B87212-467B-4438-BE04-8744E9D447D7}"/>
              </a:ext>
            </a:extLst>
          </p:cNvPr>
          <p:cNvSpPr/>
          <p:nvPr/>
        </p:nvSpPr>
        <p:spPr>
          <a:xfrm>
            <a:off x="1373433" y="2030131"/>
            <a:ext cx="1099936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</a:pPr>
            <a:endParaRPr lang="en-US" altLang="ko-KR" sz="1000" spc="-1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indent="-342900" fontAlgn="base">
              <a:spcBef>
                <a:spcPct val="0"/>
              </a:spcBef>
              <a:buFontTx/>
              <a:buChar char="-"/>
              <a:defRPr/>
            </a:pPr>
            <a:endParaRPr lang="en-US" altLang="ko-KR" sz="1000" spc="-1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lvl="0" indent="-342900">
              <a:lnSpc>
                <a:spcPct val="200000"/>
              </a:lnSpc>
              <a:buFont typeface="나눔바른고딕" panose="020B0600000101010101" charset="-127"/>
              <a:buChar char="-"/>
            </a:pPr>
            <a:r>
              <a:rPr lang="ko-KR" altLang="en-US" sz="2400" dirty="0" smtClean="0"/>
              <a:t>본 강좌 자료는 자바로 </a:t>
            </a:r>
            <a:r>
              <a:rPr lang="ko-KR" altLang="en-US" sz="2400" dirty="0"/>
              <a:t>배우는 쉬운 </a:t>
            </a:r>
            <a:r>
              <a:rPr lang="ko-KR" altLang="en-US" sz="2400" dirty="0" smtClean="0"/>
              <a:t>자료구조</a:t>
            </a:r>
            <a:r>
              <a:rPr lang="en-US" altLang="ko-KR" sz="2400" dirty="0" smtClean="0"/>
              <a:t>(</a:t>
            </a:r>
            <a:r>
              <a:rPr lang="ko-KR" altLang="en-US" sz="2400" dirty="0" err="1" smtClean="0"/>
              <a:t>한빛아카데미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, 2009), C</a:t>
            </a:r>
            <a:r>
              <a:rPr lang="ko-KR" altLang="en-US" sz="2400" dirty="0" smtClean="0"/>
              <a:t>언어로 </a:t>
            </a:r>
            <a:r>
              <a:rPr lang="ko-KR" altLang="en-US" sz="2400" dirty="0"/>
              <a:t>쉽게 </a:t>
            </a:r>
            <a:r>
              <a:rPr lang="ko-KR" altLang="en-US" sz="2400" dirty="0" smtClean="0"/>
              <a:t>풀어 쓴 자료구조</a:t>
            </a:r>
            <a:r>
              <a:rPr lang="en-US" altLang="ko-KR" sz="2400" dirty="0" smtClean="0"/>
              <a:t>(</a:t>
            </a:r>
            <a:r>
              <a:rPr lang="ko-KR" altLang="en-US" sz="2400" dirty="0" err="1" smtClean="0"/>
              <a:t>생능출판사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, 2014), </a:t>
            </a:r>
            <a:r>
              <a:rPr lang="ko-KR" altLang="en-US" sz="2400" dirty="0" smtClean="0"/>
              <a:t>그리고 인터넷의 다양한 참조자료 등의 내용을 </a:t>
            </a:r>
            <a:r>
              <a:rPr lang="ko-KR" altLang="en-US" sz="2400" dirty="0"/>
              <a:t>출처로 작성하였음을 알리는 바입니다</a:t>
            </a:r>
            <a:r>
              <a:rPr lang="en-US" altLang="ko-KR" sz="2400" dirty="0"/>
              <a:t>.</a:t>
            </a:r>
            <a:endParaRPr lang="ko-KR" altLang="en-US" sz="2400" dirty="0"/>
          </a:p>
          <a:p>
            <a:pPr marL="342900" lvl="0" indent="-342900">
              <a:buFont typeface="나눔바른고딕" panose="020B0600000101010101" charset="-127"/>
              <a:buChar char="-"/>
            </a:pPr>
            <a:endParaRPr lang="en-US" altLang="ko-KR" sz="2400" dirty="0" smtClean="0"/>
          </a:p>
          <a:p>
            <a:pPr marL="342900" lvl="0" indent="-342900">
              <a:buFont typeface="나눔바른고딕" panose="020B0600000101010101" charset="-127"/>
              <a:buChar char="-"/>
            </a:pPr>
            <a:endParaRPr lang="en-US" altLang="ko-KR" sz="2400" dirty="0">
              <a:latin typeface="나눔바른고딕" panose="020B0600000101010101" charset="-127"/>
              <a:ea typeface="나눔바른고딕" panose="020B0600000101010101" charset="-127"/>
            </a:endParaRPr>
          </a:p>
          <a:p>
            <a:pPr marL="342900" lvl="0" indent="-342900">
              <a:buFont typeface="나눔바른고딕" panose="020B0600000101010101" charset="-127"/>
              <a:buChar char="-"/>
            </a:pPr>
            <a:endParaRPr lang="en-US" altLang="ko-KR" sz="2400" dirty="0" smtClean="0">
              <a:latin typeface="나눔바른고딕" panose="020B0600000101010101" charset="-127"/>
              <a:ea typeface="나눔바른고딕" panose="020B0600000101010101" charset="-127"/>
            </a:endParaRPr>
          </a:p>
          <a:p>
            <a:pPr marL="342900" lvl="0" indent="-342900">
              <a:buFont typeface="나눔바른고딕" panose="020B0600000101010101" charset="-127"/>
              <a:buChar char="-"/>
            </a:pPr>
            <a:endParaRPr lang="en-US" altLang="ko-KR" sz="2400" dirty="0">
              <a:latin typeface="나눔바른고딕" panose="020B0600000101010101" charset="-127"/>
              <a:ea typeface="나눔바른고딕" panose="020B0600000101010101" charset="-127"/>
            </a:endParaRPr>
          </a:p>
        </p:txBody>
      </p:sp>
      <p:sp>
        <p:nvSpPr>
          <p:cNvPr id="38" name="직사각형 37"/>
          <p:cNvSpPr/>
          <p:nvPr/>
        </p:nvSpPr>
        <p:spPr>
          <a:xfrm flipV="1">
            <a:off x="-1" y="1238048"/>
            <a:ext cx="3461537" cy="3545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680005" y="647996"/>
            <a:ext cx="27815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참고문헌</a:t>
            </a:r>
            <a:r>
              <a:rPr lang="en-US" altLang="ko-KR" sz="5400" spc="-150" dirty="0" smtClean="0">
                <a:ln w="12700">
                  <a:noFill/>
                </a:ln>
                <a:solidFill>
                  <a:schemeClr val="tx2">
                    <a:lumMod val="5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endParaRPr lang="ko-KR" altLang="en-US" sz="5400" spc="-150" dirty="0">
              <a:ln w="3175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62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8800" dirty="0" err="1" smtClean="0">
            <a:ln w="31750">
              <a:solidFill>
                <a:srgbClr val="203864"/>
              </a:solidFill>
            </a:ln>
            <a:solidFill>
              <a:schemeClr val="accent5">
                <a:lumMod val="75000"/>
              </a:schemeClr>
            </a:solidFill>
            <a:latin typeface="a고딕16" panose="02020600000000000000" pitchFamily="18" charset="-127"/>
            <a:ea typeface="a고딕16" panose="02020600000000000000" pitchFamily="18" charset="-127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45168</TotalTime>
  <Words>2783</Words>
  <Application>Microsoft Office PowerPoint</Application>
  <PresentationFormat>사용자 지정</PresentationFormat>
  <Paragraphs>802</Paragraphs>
  <Slides>43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60" baseType="lpstr">
      <vt:lpstr>굴림</vt:lpstr>
      <vt:lpstr>Arial</vt:lpstr>
      <vt:lpstr>나눔스퀘어</vt:lpstr>
      <vt:lpstr>Symbol</vt:lpstr>
      <vt:lpstr>Calibri</vt:lpstr>
      <vt:lpstr>나눔스퀘어 ExtraBold</vt:lpstr>
      <vt:lpstr>나눔바른고딕</vt:lpstr>
      <vt:lpstr>맑은 고딕</vt:lpstr>
      <vt:lpstr>HY헤드라인M</vt:lpstr>
      <vt:lpstr>Wingdings</vt:lpstr>
      <vt:lpstr>Cambria Math</vt:lpstr>
      <vt:lpstr>Calibri Light</vt:lpstr>
      <vt:lpstr>(한)견출고딕</vt:lpstr>
      <vt:lpstr>Adobe 고딕 Std B</vt:lpstr>
      <vt:lpstr>나눔스퀘어 Bold</vt:lpstr>
      <vt:lpstr>Office 테마</vt:lpstr>
      <vt:lpstr>패키지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사용자</dc:creator>
  <cp:lastModifiedBy>박인철</cp:lastModifiedBy>
  <cp:revision>1902</cp:revision>
  <cp:lastPrinted>2021-02-12T09:49:11Z</cp:lastPrinted>
  <dcterms:created xsi:type="dcterms:W3CDTF">2019-05-30T05:59:32Z</dcterms:created>
  <dcterms:modified xsi:type="dcterms:W3CDTF">2025-11-23T08:39:42Z</dcterms:modified>
</cp:coreProperties>
</file>