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347" r:id="rId3"/>
    <p:sldId id="348" r:id="rId4"/>
    <p:sldId id="349" r:id="rId5"/>
    <p:sldId id="365" r:id="rId6"/>
    <p:sldId id="366" r:id="rId7"/>
    <p:sldId id="367" r:id="rId8"/>
    <p:sldId id="356" r:id="rId9"/>
    <p:sldId id="352" r:id="rId10"/>
    <p:sldId id="353" r:id="rId11"/>
    <p:sldId id="368" r:id="rId12"/>
    <p:sldId id="372" r:id="rId13"/>
    <p:sldId id="355" r:id="rId14"/>
    <p:sldId id="370" r:id="rId15"/>
    <p:sldId id="375" r:id="rId16"/>
    <p:sldId id="357" r:id="rId17"/>
    <p:sldId id="354" r:id="rId18"/>
    <p:sldId id="373" r:id="rId19"/>
    <p:sldId id="358" r:id="rId20"/>
    <p:sldId id="363" r:id="rId21"/>
    <p:sldId id="359" r:id="rId22"/>
    <p:sldId id="360" r:id="rId23"/>
    <p:sldId id="361" r:id="rId24"/>
    <p:sldId id="379" r:id="rId25"/>
    <p:sldId id="362" r:id="rId26"/>
    <p:sldId id="377" r:id="rId27"/>
    <p:sldId id="381" r:id="rId2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CC"/>
    <a:srgbClr val="00CC00"/>
    <a:srgbClr val="BA06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7" autoAdjust="0"/>
    <p:restoredTop sz="94608" autoAdjust="0"/>
  </p:normalViewPr>
  <p:slideViewPr>
    <p:cSldViewPr>
      <p:cViewPr varScale="1">
        <p:scale>
          <a:sx n="98" d="100"/>
          <a:sy n="98" d="100"/>
        </p:scale>
        <p:origin x="-159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 b="1">
                <a:solidFill>
                  <a:srgbClr val="0000CC"/>
                </a:solidFill>
                <a:latin typeface="+mn-ea"/>
                <a:ea typeface="+mn-ea"/>
              </a:defRPr>
            </a:lvl1pPr>
            <a:lvl2pPr>
              <a:defRPr sz="1800" b="1">
                <a:solidFill>
                  <a:srgbClr val="C00000"/>
                </a:solidFill>
                <a:latin typeface="+mn-ea"/>
                <a:ea typeface="+mn-ea"/>
              </a:defRPr>
            </a:lvl2pPr>
            <a:lvl3pPr>
              <a:defRPr sz="1600" b="1">
                <a:latin typeface="+mn-ea"/>
                <a:ea typeface="+mn-ea"/>
              </a:defRPr>
            </a:lvl3pPr>
            <a:lvl4pPr>
              <a:defRPr sz="1400" b="1">
                <a:latin typeface="+mn-ea"/>
                <a:ea typeface="+mn-ea"/>
              </a:defRPr>
            </a:lvl4pPr>
            <a:lvl5pPr>
              <a:defRPr sz="1400" b="1">
                <a:latin typeface="+mn-ea"/>
                <a:ea typeface="+mn-ea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28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4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4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.blog.naver.com/chunsan89/221606846917" TargetMode="External"/><Relationship Id="rId2" Type="http://schemas.openxmlformats.org/officeDocument/2006/relationships/hyperlink" Target="https://www.blockchain.com/explorer/blocks/btc/905818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homoefficio.github.io/2017/11/19/%EB%B8%94%EB%A1%9D%EC%B2%B4%EC%9D%B8-%ED%95%9C-%EB%B2%88%EC%97%90-%EC%9D%B4%ED%95%B4%ED%95%98%EA%B8%B0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blockchain.com/explorer/charts/n-orphaned-blocks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>
                <a:latin typeface="+mn-ea"/>
                <a:ea typeface="+mn-ea"/>
              </a:rPr>
              <a:t>블록체인 기술과 응용 서비스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82026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0">
                <a:latin typeface="+mn-ea"/>
                <a:ea typeface="+mn-ea"/>
              </a:rPr>
              <a:t/>
            </a:r>
            <a:br>
              <a:rPr lang="ko-KR" altLang="en-US" b="0">
                <a:latin typeface="+mn-ea"/>
                <a:ea typeface="+mn-ea"/>
              </a:rPr>
            </a:br>
            <a:r>
              <a:rPr lang="ko-KR" altLang="en-US" b="0">
                <a:latin typeface="+mn-ea"/>
                <a:ea typeface="+mn-ea"/>
              </a:rPr>
              <a:t> </a:t>
            </a:r>
            <a:br>
              <a:rPr lang="ko-KR" altLang="en-US" b="0">
                <a:latin typeface="+mn-ea"/>
                <a:ea typeface="+mn-ea"/>
              </a:rPr>
            </a:br>
            <a:r>
              <a:rPr lang="ko-KR" altLang="en-US" b="0">
                <a:latin typeface="+mn-ea"/>
                <a:ea typeface="+mn-ea"/>
              </a:rPr>
              <a:t> </a:t>
            </a:r>
            <a:br>
              <a:rPr lang="ko-KR" altLang="en-US" b="0">
                <a:latin typeface="+mn-ea"/>
                <a:ea typeface="+mn-ea"/>
              </a:rPr>
            </a:br>
            <a:r>
              <a:rPr lang="ko-KR" altLang="en-US" smtClean="0">
                <a:latin typeface="+mn-ea"/>
                <a:ea typeface="+mn-ea"/>
              </a:rPr>
              <a:t>비트코인 블록체인의 구조와 동작원리</a:t>
            </a:r>
            <a:r>
              <a:rPr lang="ko-KR" altLang="en-US" b="0">
                <a:latin typeface="+mn-ea"/>
                <a:ea typeface="+mn-ea"/>
              </a:rPr>
              <a:t/>
            </a:r>
            <a:br>
              <a:rPr lang="ko-KR" altLang="en-US" b="0">
                <a:latin typeface="+mn-ea"/>
                <a:ea typeface="+mn-ea"/>
              </a:rPr>
            </a:br>
            <a:endParaRPr lang="ko-KR" altLang="en-US" b="0">
              <a:latin typeface="+mn-ea"/>
              <a:ea typeface="+mn-ea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>
                <a:solidFill>
                  <a:srgbClr val="C00000"/>
                </a:solidFill>
                <a:latin typeface="+mn-ea"/>
                <a:ea typeface="+mn-ea"/>
              </a:rPr>
              <a:t>블록체인 분기</a:t>
            </a:r>
            <a:r>
              <a:rPr lang="ko-KR" altLang="en-US" b="0">
                <a:latin typeface="+mn-ea"/>
                <a:ea typeface="+mn-ea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08698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학습목표</a:t>
            </a:r>
            <a:r>
              <a:rPr lang="en-US" altLang="ko-KR" smtClean="0"/>
              <a:t> 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블록체인의 분기가 발생하는 이유 및 해결되는 과정에 대하여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설명할 수 있다</a:t>
            </a:r>
            <a:r>
              <a:rPr lang="en-US" altLang="ko-KR"/>
              <a:t>.</a:t>
            </a:r>
            <a:endParaRPr lang="ko-KR" altLang="en-US" b="0"/>
          </a:p>
          <a:p>
            <a:r>
              <a:rPr lang="ko-KR" altLang="en-US" smtClean="0"/>
              <a:t>블록체인의 시연을 통하여 키쌍 생성</a:t>
            </a:r>
            <a:r>
              <a:rPr lang="en-US" altLang="ko-KR"/>
              <a:t>, </a:t>
            </a:r>
            <a:r>
              <a:rPr lang="ko-KR" altLang="en-US" smtClean="0"/>
              <a:t>트랜잭션 전자서명</a:t>
            </a:r>
            <a:r>
              <a:rPr lang="en-US" altLang="ko-KR"/>
              <a:t>, </a:t>
            </a:r>
            <a:r>
              <a:rPr lang="ko-KR" altLang="en-US" smtClean="0"/>
              <a:t>블록 해시</a:t>
            </a:r>
            <a:r>
              <a:rPr lang="en-US" altLang="ko-KR"/>
              <a:t>, </a:t>
            </a:r>
            <a:r>
              <a:rPr lang="ko-KR" altLang="en-US" smtClean="0"/>
              <a:t>블록 체인의 생성에 대하여 설명할 수 있다</a:t>
            </a:r>
            <a:r>
              <a:rPr lang="en-US" altLang="ko-KR"/>
              <a:t>.</a:t>
            </a:r>
            <a:endParaRPr lang="ko-KR" altLang="en-US" b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740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채굴</a:t>
            </a:r>
          </a:p>
          <a:p>
            <a:pPr lvl="1"/>
            <a:r>
              <a:rPr lang="ko-KR" altLang="en-US" smtClean="0">
                <a:solidFill>
                  <a:schemeClr val="tx1"/>
                </a:solidFill>
              </a:rPr>
              <a:t>작업증명</a:t>
            </a:r>
            <a:r>
              <a:rPr lang="en-US" altLang="ko-KR">
                <a:solidFill>
                  <a:schemeClr val="tx1"/>
                </a:solidFill>
              </a:rPr>
              <a:t>(PoW: Proof of Work)</a:t>
            </a:r>
            <a:r>
              <a:rPr lang="ko-KR" altLang="en-US" smtClean="0">
                <a:solidFill>
                  <a:schemeClr val="tx1"/>
                </a:solidFill>
              </a:rPr>
              <a:t>을 통해 </a:t>
            </a:r>
            <a:r>
              <a:rPr lang="ko-KR" altLang="en-US" smtClean="0"/>
              <a:t>블록을 생성한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노드</a:t>
            </a:r>
            <a:r>
              <a:rPr lang="en-US" altLang="ko-KR"/>
              <a:t>(</a:t>
            </a:r>
            <a:r>
              <a:rPr lang="ko-KR" altLang="en-US"/>
              <a:t>채굴자</a:t>
            </a:r>
            <a:r>
              <a:rPr lang="en-US" altLang="ko-KR"/>
              <a:t>)</a:t>
            </a:r>
            <a:r>
              <a:rPr lang="ko-KR" altLang="en-US" smtClean="0"/>
              <a:t>에게 </a:t>
            </a:r>
            <a:r>
              <a:rPr lang="ko-KR" altLang="en-US" smtClean="0">
                <a:solidFill>
                  <a:schemeClr val="tx1"/>
                </a:solidFill>
              </a:rPr>
              <a:t>코인과 수수료를 보상으로 지급</a:t>
            </a:r>
            <a:endParaRPr lang="en-US" altLang="ko-KR" smtClean="0">
              <a:solidFill>
                <a:schemeClr val="tx1"/>
              </a:solidFill>
            </a:endParaRPr>
          </a:p>
          <a:p>
            <a:pPr lvl="1"/>
            <a:endParaRPr lang="ko-KR" altLang="en-US">
              <a:solidFill>
                <a:schemeClr val="tx1"/>
              </a:solidFill>
            </a:endParaRPr>
          </a:p>
          <a:p>
            <a:pPr lvl="1"/>
            <a:r>
              <a:rPr lang="en-US" altLang="ko-KR" smtClean="0">
                <a:solidFill>
                  <a:schemeClr val="tx1"/>
                </a:solidFill>
              </a:rPr>
              <a:t>21</a:t>
            </a:r>
            <a:r>
              <a:rPr lang="ko-KR" altLang="en-US" smtClean="0">
                <a:solidFill>
                  <a:schemeClr val="tx1"/>
                </a:solidFill>
              </a:rPr>
              <a:t>만개의 블록이 생성되는 </a:t>
            </a:r>
            <a:r>
              <a:rPr lang="ko-KR" altLang="en-US" smtClean="0">
                <a:solidFill>
                  <a:srgbClr val="FF0000"/>
                </a:solidFill>
              </a:rPr>
              <a:t>약</a:t>
            </a:r>
            <a:r>
              <a:rPr lang="en-US" altLang="ko-KR">
                <a:solidFill>
                  <a:srgbClr val="FF0000"/>
                </a:solidFill>
              </a:rPr>
              <a:t>4</a:t>
            </a:r>
            <a:r>
              <a:rPr lang="ko-KR" altLang="en-US" smtClean="0">
                <a:solidFill>
                  <a:srgbClr val="FF0000"/>
                </a:solidFill>
              </a:rPr>
              <a:t>년 주기로 보상금이 절반으로 감소</a:t>
            </a:r>
            <a:endParaRPr lang="en-US" altLang="ko-KR" smtClean="0">
              <a:solidFill>
                <a:srgbClr val="FF0000"/>
              </a:solidFill>
            </a:endParaRPr>
          </a:p>
          <a:p>
            <a:pPr lvl="2"/>
            <a:r>
              <a:rPr lang="en-US" altLang="ko-KR" smtClean="0"/>
              <a:t>4</a:t>
            </a:r>
            <a:r>
              <a:rPr lang="ko-KR" altLang="en-US"/>
              <a:t>기</a:t>
            </a:r>
            <a:r>
              <a:rPr lang="en-US" altLang="ko-KR"/>
              <a:t>(2020~ )</a:t>
            </a:r>
            <a:r>
              <a:rPr lang="ko-KR" altLang="en-US" smtClean="0"/>
              <a:t>는 </a:t>
            </a:r>
            <a:r>
              <a:rPr lang="en-US" altLang="ko-KR" smtClean="0"/>
              <a:t>6.25</a:t>
            </a:r>
            <a:r>
              <a:rPr lang="en-US" altLang="ko-KR"/>
              <a:t>, 5</a:t>
            </a:r>
            <a:r>
              <a:rPr lang="ko-KR" altLang="en-US"/>
              <a:t>기</a:t>
            </a:r>
            <a:r>
              <a:rPr lang="en-US" altLang="ko-KR"/>
              <a:t>(2024 ~ )</a:t>
            </a:r>
            <a:r>
              <a:rPr lang="ko-KR" altLang="en-US" smtClean="0"/>
              <a:t>는 </a:t>
            </a:r>
            <a:r>
              <a:rPr lang="en-US" altLang="ko-KR" smtClean="0"/>
              <a:t>3.125BTC</a:t>
            </a:r>
            <a:endParaRPr lang="ko-KR" altLang="en-US"/>
          </a:p>
          <a:p>
            <a:pPr lvl="2"/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거래가 블록에 추가되는 순위를 결정하는데 거래 수수료가 입력값으로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smtClean="0">
                <a:solidFill>
                  <a:schemeClr val="tx1"/>
                </a:solidFill>
              </a:rPr>
              <a:t>사용됨</a:t>
            </a:r>
            <a:r>
              <a:rPr lang="en-US" altLang="ko-KR" smtClean="0">
                <a:solidFill>
                  <a:schemeClr val="tx1"/>
                </a:solidFill>
              </a:rPr>
              <a:t>(</a:t>
            </a:r>
            <a:r>
              <a:rPr lang="ko-KR" altLang="en-US"/>
              <a:t>채굴자들이 어떤 거래를 블록에 포함시킬지 결정하는 중요한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기준 중 </a:t>
            </a:r>
            <a:r>
              <a:rPr lang="ko-KR" altLang="en-US"/>
              <a:t>하나가 거래 </a:t>
            </a:r>
            <a:r>
              <a:rPr lang="ko-KR" altLang="en-US" smtClean="0"/>
              <a:t>수수료임</a:t>
            </a:r>
            <a:r>
              <a:rPr lang="en-US" altLang="ko-KR" smtClean="0"/>
              <a:t>)</a:t>
            </a:r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897" y="4653136"/>
            <a:ext cx="5724897" cy="1650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4423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블록체인에서 </a:t>
            </a:r>
            <a:r>
              <a:rPr lang="ko-KR" altLang="en-US" smtClean="0"/>
              <a:t>난이도</a:t>
            </a:r>
            <a:r>
              <a:rPr lang="en-US" altLang="ko-KR"/>
              <a:t>(Difficulty</a:t>
            </a:r>
            <a:r>
              <a:rPr lang="en-US" altLang="ko-KR" smtClean="0"/>
              <a:t>)</a:t>
            </a:r>
            <a:r>
              <a:rPr lang="ko-KR" altLang="en-US" smtClean="0"/>
              <a:t>란</a:t>
            </a:r>
            <a:endParaRPr lang="en-US" altLang="ko-KR" smtClean="0"/>
          </a:p>
          <a:p>
            <a:pPr lvl="1"/>
            <a:r>
              <a:rPr lang="ko-KR" altLang="en-US" smtClean="0"/>
              <a:t>새로운 </a:t>
            </a:r>
            <a:r>
              <a:rPr lang="ko-KR" altLang="en-US"/>
              <a:t>블록을 생성하는 </a:t>
            </a:r>
            <a:r>
              <a:rPr lang="ko-KR" altLang="en-US" u="sng">
                <a:solidFill>
                  <a:srgbClr val="00CC00"/>
                </a:solidFill>
              </a:rPr>
              <a:t>채굴</a:t>
            </a:r>
            <a:r>
              <a:rPr lang="en-US" altLang="ko-KR" u="sng">
                <a:solidFill>
                  <a:srgbClr val="00CC00"/>
                </a:solidFill>
              </a:rPr>
              <a:t>(Mining) </a:t>
            </a:r>
            <a:r>
              <a:rPr lang="ko-KR" altLang="en-US" u="sng">
                <a:solidFill>
                  <a:srgbClr val="00CC00"/>
                </a:solidFill>
              </a:rPr>
              <a:t>작업이 얼마나 어려운지를 </a:t>
            </a:r>
            <a:r>
              <a:rPr lang="en-US" altLang="ko-KR" u="sng" smtClean="0">
                <a:solidFill>
                  <a:srgbClr val="00CC00"/>
                </a:solidFill>
              </a:rPr>
              <a:t/>
            </a:r>
            <a:br>
              <a:rPr lang="en-US" altLang="ko-KR" u="sng" smtClean="0">
                <a:solidFill>
                  <a:srgbClr val="00CC00"/>
                </a:solidFill>
              </a:rPr>
            </a:br>
            <a:r>
              <a:rPr lang="ko-KR" altLang="en-US" u="sng" smtClean="0">
                <a:solidFill>
                  <a:srgbClr val="00CC00"/>
                </a:solidFill>
              </a:rPr>
              <a:t>나타내는 기준 </a:t>
            </a:r>
            <a:endParaRPr lang="en-US" altLang="ko-KR" u="sng" smtClean="0">
              <a:solidFill>
                <a:srgbClr val="00CC00"/>
              </a:solidFill>
            </a:endParaRPr>
          </a:p>
          <a:p>
            <a:pPr lvl="1"/>
            <a:endParaRPr lang="en-US" altLang="ko-KR" u="sng" smtClean="0"/>
          </a:p>
          <a:p>
            <a:pPr lvl="1"/>
            <a:r>
              <a:rPr lang="ko-KR" altLang="en-US">
                <a:solidFill>
                  <a:schemeClr val="tx1"/>
                </a:solidFill>
              </a:rPr>
              <a:t>비트코인</a:t>
            </a:r>
            <a:r>
              <a:rPr lang="en-US" altLang="ko-KR">
                <a:solidFill>
                  <a:schemeClr val="tx1"/>
                </a:solidFill>
              </a:rPr>
              <a:t>(Bitcoin)</a:t>
            </a:r>
            <a:r>
              <a:rPr lang="ko-KR" altLang="en-US">
                <a:solidFill>
                  <a:schemeClr val="tx1"/>
                </a:solidFill>
              </a:rPr>
              <a:t>을 비롯한 </a:t>
            </a:r>
            <a:r>
              <a:rPr lang="ko-KR" altLang="en-US">
                <a:solidFill>
                  <a:srgbClr val="FF0000"/>
                </a:solidFill>
              </a:rPr>
              <a:t>작업 증명</a:t>
            </a:r>
            <a:r>
              <a:rPr lang="en-US" altLang="ko-KR">
                <a:solidFill>
                  <a:srgbClr val="FF0000"/>
                </a:solidFill>
              </a:rPr>
              <a:t>(Proof-of-Work, PoW) </a:t>
            </a:r>
            <a:r>
              <a:rPr lang="ko-KR" altLang="en-US">
                <a:solidFill>
                  <a:srgbClr val="FF0000"/>
                </a:solidFill>
              </a:rPr>
              <a:t>기반 </a:t>
            </a:r>
            <a:r>
              <a:rPr lang="en-US" altLang="ko-KR">
                <a:solidFill>
                  <a:srgbClr val="FF0000"/>
                </a:solidFill>
              </a:rPr>
              <a:t/>
            </a:r>
            <a:br>
              <a:rPr lang="en-US" altLang="ko-KR">
                <a:solidFill>
                  <a:srgbClr val="FF0000"/>
                </a:solidFill>
              </a:rPr>
            </a:br>
            <a:r>
              <a:rPr lang="ko-KR" altLang="en-US">
                <a:solidFill>
                  <a:schemeClr val="tx1"/>
                </a:solidFill>
              </a:rPr>
              <a:t>블록체인에서 유효한 블록 해시가 만족해야 하는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특정 조건을 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altLang="ko-KR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나타내는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숫자</a:t>
            </a:r>
            <a:endParaRPr lang="en-US" altLang="ko-KR" smtClean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endParaRPr lang="en-US" altLang="ko-KR" smtClean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ko-KR" altLang="en-US"/>
              <a:t>새로운 블록을 생성하기 위해 계산하는 해시 값의 어려움 정도</a:t>
            </a:r>
            <a:endParaRPr lang="en-US" altLang="ko-KR"/>
          </a:p>
          <a:p>
            <a:pPr lvl="2"/>
            <a:r>
              <a:rPr lang="ko-KR" altLang="en-US"/>
              <a:t>특정 주체</a:t>
            </a:r>
            <a:r>
              <a:rPr lang="en-US" altLang="ko-KR"/>
              <a:t>(</a:t>
            </a:r>
            <a:r>
              <a:rPr lang="ko-KR" altLang="en-US"/>
              <a:t>개인</a:t>
            </a:r>
            <a:r>
              <a:rPr lang="en-US" altLang="ko-KR"/>
              <a:t>, </a:t>
            </a:r>
            <a:r>
              <a:rPr lang="ko-KR" altLang="en-US"/>
              <a:t>기관</a:t>
            </a:r>
            <a:r>
              <a:rPr lang="en-US" altLang="ko-KR"/>
              <a:t>)</a:t>
            </a:r>
            <a:r>
              <a:rPr lang="ko-KR" altLang="en-US"/>
              <a:t>가 직접 조절하는 것이 아니라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블록체인 프로토콜에 의해 </a:t>
            </a:r>
            <a:r>
              <a:rPr lang="ko-KR" altLang="en-US">
                <a:solidFill>
                  <a:srgbClr val="006600"/>
                </a:solidFill>
              </a:rPr>
              <a:t>자동으로 조절</a:t>
            </a:r>
          </a:p>
          <a:p>
            <a:pPr lvl="2"/>
            <a:r>
              <a:rPr lang="en-US" altLang="ko-KR"/>
              <a:t>2,016</a:t>
            </a:r>
            <a:r>
              <a:rPr lang="ko-KR" altLang="en-US"/>
              <a:t>개 블록의 생성주기로 블록의 평균 생성시간이 </a:t>
            </a:r>
            <a:r>
              <a:rPr lang="en-US" altLang="ko-KR">
                <a:solidFill>
                  <a:srgbClr val="006600"/>
                </a:solidFill>
              </a:rPr>
              <a:t>10</a:t>
            </a:r>
            <a:r>
              <a:rPr lang="ko-KR" altLang="en-US">
                <a:solidFill>
                  <a:srgbClr val="006600"/>
                </a:solidFill>
              </a:rPr>
              <a:t>분 보다 오래 걸리면 </a:t>
            </a:r>
            <a:r>
              <a:rPr lang="en-US" altLang="ko-KR">
                <a:solidFill>
                  <a:srgbClr val="006600"/>
                </a:solidFill>
              </a:rPr>
              <a:t/>
            </a:r>
            <a:br>
              <a:rPr lang="en-US" altLang="ko-KR">
                <a:solidFill>
                  <a:srgbClr val="006600"/>
                </a:solidFill>
              </a:rPr>
            </a:br>
            <a:r>
              <a:rPr lang="ko-KR" altLang="en-US">
                <a:solidFill>
                  <a:srgbClr val="006600"/>
                </a:solidFill>
              </a:rPr>
              <a:t>낮추고 적게 걸리면 난이도를 높임</a:t>
            </a:r>
          </a:p>
          <a:p>
            <a:pPr lvl="2"/>
            <a:r>
              <a:rPr lang="ko-KR" altLang="en-US" smtClean="0"/>
              <a:t>쉽게 </a:t>
            </a:r>
            <a:r>
              <a:rPr lang="ko-KR" altLang="en-US"/>
              <a:t>말해</a:t>
            </a:r>
            <a:r>
              <a:rPr lang="en-US" altLang="ko-KR"/>
              <a:t>, </a:t>
            </a:r>
            <a:r>
              <a:rPr lang="ko-KR" altLang="en-US"/>
              <a:t>블록체인 네트워크가 </a:t>
            </a:r>
            <a:r>
              <a:rPr lang="ko-KR" altLang="en-US">
                <a:solidFill>
                  <a:srgbClr val="006600"/>
                </a:solidFill>
              </a:rPr>
              <a:t>블록 생성 속도를 조절하기 위해 </a:t>
            </a:r>
            <a:r>
              <a:rPr lang="en-US" altLang="ko-KR" smtClean="0">
                <a:solidFill>
                  <a:srgbClr val="006600"/>
                </a:solidFill>
              </a:rPr>
              <a:t/>
            </a:r>
            <a:br>
              <a:rPr lang="en-US" altLang="ko-KR" smtClean="0">
                <a:solidFill>
                  <a:srgbClr val="006600"/>
                </a:solidFill>
              </a:rPr>
            </a:br>
            <a:r>
              <a:rPr lang="ko-KR" altLang="en-US" smtClean="0">
                <a:solidFill>
                  <a:srgbClr val="006600"/>
                </a:solidFill>
              </a:rPr>
              <a:t>사용하는 </a:t>
            </a:r>
            <a:r>
              <a:rPr lang="ko-KR" altLang="en-US">
                <a:solidFill>
                  <a:srgbClr val="FF0000"/>
                </a:solidFill>
              </a:rPr>
              <a:t>자율 조절 장치라고 </a:t>
            </a:r>
            <a:r>
              <a:rPr lang="ko-KR" altLang="en-US"/>
              <a:t>생각할 수 </a:t>
            </a:r>
            <a:r>
              <a:rPr lang="ko-KR" altLang="en-US" smtClean="0"/>
              <a:t>있음</a:t>
            </a:r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329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난이도의 </a:t>
            </a:r>
            <a:r>
              <a:rPr lang="ko-KR" altLang="en-US"/>
              <a:t>작동 원리 및 목적</a:t>
            </a:r>
          </a:p>
          <a:p>
            <a:pPr lvl="1"/>
            <a:r>
              <a:rPr lang="ko-KR" altLang="en-US"/>
              <a:t>목표 </a:t>
            </a:r>
            <a:r>
              <a:rPr lang="en-US" altLang="ko-KR" smtClean="0">
                <a:sym typeface="Wingdings" panose="05000000000000000000" pitchFamily="2" charset="2"/>
              </a:rPr>
              <a:t></a:t>
            </a:r>
            <a:r>
              <a:rPr lang="en-US" altLang="ko-KR" smtClean="0"/>
              <a:t> </a:t>
            </a:r>
            <a:r>
              <a:rPr lang="ko-KR" altLang="en-US"/>
              <a:t>일정한 블록 생성 속도 </a:t>
            </a:r>
            <a:r>
              <a:rPr lang="ko-KR" altLang="en-US" smtClean="0"/>
              <a:t>유지</a:t>
            </a:r>
            <a:endParaRPr lang="en-US" altLang="ko-KR" smtClean="0"/>
          </a:p>
          <a:p>
            <a:pPr lvl="1"/>
            <a:endParaRPr lang="ko-KR" altLang="en-US"/>
          </a:p>
          <a:p>
            <a:pPr lvl="2"/>
            <a:r>
              <a:rPr lang="ko-KR" altLang="en-US"/>
              <a:t>블록체인</a:t>
            </a:r>
            <a:r>
              <a:rPr lang="en-US" altLang="ko-KR"/>
              <a:t>(</a:t>
            </a:r>
            <a:r>
              <a:rPr lang="ko-KR" altLang="en-US"/>
              <a:t>특히 비트코인 같은 </a:t>
            </a:r>
            <a:r>
              <a:rPr lang="ko-KR" altLang="en-US" u="sng">
                <a:solidFill>
                  <a:srgbClr val="006600"/>
                </a:solidFill>
              </a:rPr>
              <a:t>작업증명</a:t>
            </a:r>
            <a:r>
              <a:rPr lang="en-US" altLang="ko-KR" u="sng">
                <a:solidFill>
                  <a:srgbClr val="006600"/>
                </a:solidFill>
              </a:rPr>
              <a:t>(PoW) </a:t>
            </a:r>
            <a:r>
              <a:rPr lang="ko-KR" altLang="en-US" u="sng">
                <a:solidFill>
                  <a:srgbClr val="006600"/>
                </a:solidFill>
              </a:rPr>
              <a:t>방식</a:t>
            </a:r>
            <a:r>
              <a:rPr lang="en-US" altLang="ko-KR"/>
              <a:t>)</a:t>
            </a:r>
            <a:r>
              <a:rPr lang="ko-KR" altLang="en-US"/>
              <a:t>은 새로운 블록이 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일정한 시간 간격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ko-KR" altLang="en-US"/>
              <a:t>비트코인은 약 </a:t>
            </a:r>
            <a:r>
              <a:rPr lang="en-US" altLang="ko-KR"/>
              <a:t>10</a:t>
            </a:r>
            <a:r>
              <a:rPr lang="ko-KR" altLang="en-US"/>
              <a:t>분</a:t>
            </a:r>
            <a:r>
              <a:rPr lang="en-US" altLang="ko-KR"/>
              <a:t>)</a:t>
            </a:r>
            <a:r>
              <a:rPr lang="ko-KR" altLang="en-US"/>
              <a:t>마다 생성되도록 설계되어 있음</a:t>
            </a:r>
            <a:endParaRPr lang="en-US" altLang="ko-KR"/>
          </a:p>
          <a:p>
            <a:pPr lvl="2"/>
            <a:endParaRPr lang="en-US" altLang="ko-KR" smtClean="0">
              <a:solidFill>
                <a:srgbClr val="006600"/>
              </a:solidFill>
            </a:endParaRPr>
          </a:p>
          <a:p>
            <a:pPr lvl="2"/>
            <a:r>
              <a:rPr lang="ko-KR" altLang="en-US" smtClean="0">
                <a:solidFill>
                  <a:srgbClr val="006600"/>
                </a:solidFill>
              </a:rPr>
              <a:t>컴퓨터 </a:t>
            </a:r>
            <a:r>
              <a:rPr lang="ko-KR" altLang="en-US">
                <a:solidFill>
                  <a:srgbClr val="006600"/>
                </a:solidFill>
              </a:rPr>
              <a:t>파워 증가</a:t>
            </a:r>
            <a:r>
              <a:rPr lang="ko-KR" altLang="en-US"/>
              <a:t> </a:t>
            </a:r>
            <a:r>
              <a:rPr lang="en-US" altLang="ko-KR" smtClean="0">
                <a:sym typeface="Wingdings" panose="05000000000000000000" pitchFamily="2" charset="2"/>
              </a:rPr>
              <a:t></a:t>
            </a:r>
            <a:r>
              <a:rPr lang="ko-KR" altLang="en-US" smtClean="0"/>
              <a:t> </a:t>
            </a:r>
            <a:r>
              <a:rPr lang="ko-KR" altLang="en-US"/>
              <a:t>채굴에 참여하는 사람이나 장비</a:t>
            </a:r>
            <a:r>
              <a:rPr lang="en-US" altLang="ko-KR"/>
              <a:t>(</a:t>
            </a:r>
            <a:r>
              <a:rPr lang="ko-KR" altLang="en-US"/>
              <a:t>채굴기</a:t>
            </a:r>
            <a:r>
              <a:rPr lang="en-US" altLang="ko-KR"/>
              <a:t>)</a:t>
            </a:r>
            <a:r>
              <a:rPr lang="ko-KR" altLang="en-US"/>
              <a:t>가 늘어나면 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전체 네트워크의 </a:t>
            </a:r>
            <a:r>
              <a:rPr lang="ko-KR" altLang="en-US">
                <a:solidFill>
                  <a:srgbClr val="FF0000"/>
                </a:solidFill>
              </a:rPr>
              <a:t>처리 능력</a:t>
            </a:r>
            <a:r>
              <a:rPr lang="en-US" altLang="ko-KR">
                <a:solidFill>
                  <a:srgbClr val="FF0000"/>
                </a:solidFill>
              </a:rPr>
              <a:t>(</a:t>
            </a:r>
            <a:r>
              <a:rPr lang="ko-KR" altLang="en-US">
                <a:solidFill>
                  <a:srgbClr val="FF0000"/>
                </a:solidFill>
              </a:rPr>
              <a:t>해시 파워</a:t>
            </a:r>
            <a:r>
              <a:rPr lang="en-US" altLang="ko-KR">
                <a:solidFill>
                  <a:srgbClr val="FF0000"/>
                </a:solidFill>
              </a:rPr>
              <a:t>)</a:t>
            </a:r>
            <a:r>
              <a:rPr lang="ko-KR" altLang="en-US">
                <a:solidFill>
                  <a:srgbClr val="FF0000"/>
                </a:solidFill>
              </a:rPr>
              <a:t>이 빨라짐</a:t>
            </a:r>
            <a:endParaRPr lang="en-US" altLang="ko-KR">
              <a:solidFill>
                <a:srgbClr val="FF0000"/>
              </a:solidFill>
            </a:endParaRPr>
          </a:p>
          <a:p>
            <a:pPr lvl="2"/>
            <a:endParaRPr lang="en-US" altLang="ko-KR" smtClean="0">
              <a:solidFill>
                <a:srgbClr val="006600"/>
              </a:solidFill>
            </a:endParaRPr>
          </a:p>
          <a:p>
            <a:pPr lvl="2"/>
            <a:r>
              <a:rPr lang="ko-KR" altLang="en-US" smtClean="0">
                <a:solidFill>
                  <a:srgbClr val="006600"/>
                </a:solidFill>
              </a:rPr>
              <a:t>난이도 </a:t>
            </a:r>
            <a:r>
              <a:rPr lang="ko-KR" altLang="en-US">
                <a:solidFill>
                  <a:srgbClr val="006600"/>
                </a:solidFill>
              </a:rPr>
              <a:t>조절 </a:t>
            </a:r>
            <a:endParaRPr lang="en-US" altLang="ko-KR" smtClean="0">
              <a:solidFill>
                <a:srgbClr val="006600"/>
              </a:solidFill>
            </a:endParaRPr>
          </a:p>
          <a:p>
            <a:pPr lvl="3"/>
            <a:r>
              <a:rPr lang="ko-KR" altLang="en-US" smtClean="0"/>
              <a:t>해시 </a:t>
            </a:r>
            <a:r>
              <a:rPr lang="ko-KR" altLang="en-US"/>
              <a:t>파워가 빨라지면 블록이 </a:t>
            </a:r>
            <a:r>
              <a:rPr lang="en-US" altLang="ko-KR"/>
              <a:t>10</a:t>
            </a:r>
            <a:r>
              <a:rPr lang="ko-KR" altLang="en-US"/>
              <a:t>분보다 더 빨리 생성될 수 </a:t>
            </a:r>
            <a:r>
              <a:rPr lang="ko-KR" altLang="en-US" smtClean="0"/>
              <a:t>있음 </a:t>
            </a:r>
            <a:r>
              <a:rPr lang="en-US" altLang="ko-KR">
                <a:sym typeface="Wingdings" panose="05000000000000000000" pitchFamily="2" charset="2"/>
              </a:rPr>
              <a:t></a:t>
            </a:r>
            <a:r>
              <a:rPr lang="en-US" altLang="ko-KR"/>
              <a:t> </a:t>
            </a:r>
            <a:r>
              <a:rPr lang="ko-KR" altLang="en-US"/>
              <a:t>이때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블록체인 </a:t>
            </a:r>
            <a:r>
              <a:rPr lang="ko-KR" altLang="en-US">
                <a:solidFill>
                  <a:srgbClr val="FF0000"/>
                </a:solidFill>
              </a:rPr>
              <a:t>시스템은 난이도를 높여서 채굴자가 정답을 찾기 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어렵게 만듬</a:t>
            </a:r>
            <a:r>
              <a:rPr lang="en-US" altLang="ko-KR"/>
              <a:t>(</a:t>
            </a:r>
            <a:r>
              <a:rPr lang="ko-KR" altLang="en-US"/>
              <a:t>반대로 해시 파워가 줄어들면 난이도를 낮춤</a:t>
            </a:r>
            <a:r>
              <a:rPr lang="en-US" altLang="ko-KR"/>
              <a:t>)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253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난이도의 </a:t>
            </a:r>
            <a:r>
              <a:rPr lang="ko-KR" altLang="en-US"/>
              <a:t>작동 원리 및 목적</a:t>
            </a:r>
          </a:p>
          <a:p>
            <a:pPr lvl="1"/>
            <a:r>
              <a:rPr lang="ko-KR" altLang="en-US" smtClean="0"/>
              <a:t>채굴과의 관계 </a:t>
            </a:r>
            <a:r>
              <a:rPr lang="en-US" altLang="ko-KR" smtClean="0">
                <a:sym typeface="Wingdings" panose="05000000000000000000" pitchFamily="2" charset="2"/>
              </a:rPr>
              <a:t></a:t>
            </a:r>
            <a:r>
              <a:rPr lang="en-US" altLang="ko-KR" smtClean="0"/>
              <a:t> </a:t>
            </a:r>
            <a:r>
              <a:rPr lang="ko-KR" altLang="en-US"/>
              <a:t>정답 찾기</a:t>
            </a:r>
          </a:p>
          <a:p>
            <a:pPr lvl="2"/>
            <a:r>
              <a:rPr lang="ko-KR" altLang="en-US"/>
              <a:t>채굴은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특정 조건을 만족하는 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"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해시 값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(Hash Value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)"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을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찾는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과정</a:t>
            </a:r>
            <a:endParaRPr lang="en-US" altLang="ko-KR" smtClean="0">
              <a:solidFill>
                <a:schemeClr val="accent6">
                  <a:lumMod val="75000"/>
                </a:schemeClr>
              </a:solidFill>
            </a:endParaRPr>
          </a:p>
          <a:p>
            <a:pPr lvl="3"/>
            <a:r>
              <a:rPr lang="ko-KR" altLang="en-US" smtClean="0"/>
              <a:t>이 </a:t>
            </a:r>
            <a:r>
              <a:rPr lang="ko-KR" altLang="en-US"/>
              <a:t>조건은 보통 </a:t>
            </a:r>
            <a:r>
              <a:rPr lang="en-US" altLang="ko-KR" smtClean="0"/>
              <a:t>'</a:t>
            </a:r>
            <a:r>
              <a:rPr lang="ko-KR" altLang="en-US"/>
              <a:t>결과 해시 값이 </a:t>
            </a:r>
            <a:r>
              <a:rPr lang="ko-KR" altLang="en-US">
                <a:solidFill>
                  <a:srgbClr val="FF0000"/>
                </a:solidFill>
              </a:rPr>
              <a:t>특정 숫자</a:t>
            </a:r>
            <a:r>
              <a:rPr lang="en-US" altLang="ko-KR">
                <a:solidFill>
                  <a:srgbClr val="FF0000"/>
                </a:solidFill>
              </a:rPr>
              <a:t>(</a:t>
            </a:r>
            <a:r>
              <a:rPr lang="ko-KR" altLang="en-US">
                <a:solidFill>
                  <a:srgbClr val="FF0000"/>
                </a:solidFill>
              </a:rPr>
              <a:t>난이도 목표 값</a:t>
            </a:r>
            <a:r>
              <a:rPr lang="en-US" altLang="ko-KR">
                <a:solidFill>
                  <a:srgbClr val="FF0000"/>
                </a:solidFill>
              </a:rPr>
              <a:t>)</a:t>
            </a:r>
            <a:r>
              <a:rPr lang="ko-KR" altLang="en-US">
                <a:solidFill>
                  <a:srgbClr val="FF0000"/>
                </a:solidFill>
              </a:rPr>
              <a:t>보다 </a:t>
            </a:r>
            <a:r>
              <a:rPr lang="en-US" altLang="ko-KR" smtClean="0">
                <a:solidFill>
                  <a:srgbClr val="FF0000"/>
                </a:solidFill>
              </a:rPr>
              <a:t/>
            </a:r>
            <a:br>
              <a:rPr lang="en-US" altLang="ko-KR" smtClean="0">
                <a:solidFill>
                  <a:srgbClr val="FF0000"/>
                </a:solidFill>
              </a:rPr>
            </a:br>
            <a:r>
              <a:rPr lang="ko-KR" altLang="en-US" smtClean="0">
                <a:solidFill>
                  <a:srgbClr val="FF0000"/>
                </a:solidFill>
              </a:rPr>
              <a:t>작아야 </a:t>
            </a:r>
            <a:r>
              <a:rPr lang="ko-KR" altLang="en-US">
                <a:solidFill>
                  <a:srgbClr val="FF0000"/>
                </a:solidFill>
              </a:rPr>
              <a:t>한다</a:t>
            </a:r>
            <a:r>
              <a:rPr lang="en-US" altLang="ko-KR" smtClean="0">
                <a:solidFill>
                  <a:srgbClr val="FF0000"/>
                </a:solidFill>
              </a:rPr>
              <a:t>'</a:t>
            </a:r>
            <a:r>
              <a:rPr lang="ko-KR" altLang="en-US" smtClean="0">
                <a:solidFill>
                  <a:srgbClr val="FF0000"/>
                </a:solidFill>
              </a:rPr>
              <a:t>는</a:t>
            </a:r>
            <a:r>
              <a:rPr lang="ko-KR" altLang="en-US" smtClean="0"/>
              <a:t> </a:t>
            </a:r>
            <a:r>
              <a:rPr lang="ko-KR" altLang="en-US"/>
              <a:t>형태로 </a:t>
            </a:r>
            <a:r>
              <a:rPr lang="ko-KR" altLang="en-US" smtClean="0"/>
              <a:t>주어짐</a:t>
            </a:r>
            <a:endParaRPr lang="en-US" altLang="ko-KR" smtClean="0"/>
          </a:p>
          <a:p>
            <a:pPr lvl="2"/>
            <a:endParaRPr lang="en-US" altLang="ko-KR" sz="1400" smtClean="0"/>
          </a:p>
          <a:p>
            <a:pPr lvl="4"/>
            <a:r>
              <a:rPr lang="ko-KR" altLang="en-US" smtClean="0"/>
              <a:t>난이도가 </a:t>
            </a:r>
            <a:r>
              <a:rPr lang="ko-KR" altLang="en-US"/>
              <a:t>낮을 </a:t>
            </a:r>
            <a:r>
              <a:rPr lang="ko-KR" altLang="en-US" smtClean="0"/>
              <a:t>때 </a:t>
            </a:r>
            <a:r>
              <a:rPr lang="en-US" altLang="ko-KR" smtClean="0">
                <a:sym typeface="Wingdings" panose="05000000000000000000" pitchFamily="2" charset="2"/>
              </a:rPr>
              <a:t></a:t>
            </a:r>
            <a:r>
              <a:rPr lang="ko-KR" altLang="en-US" smtClean="0"/>
              <a:t> </a:t>
            </a:r>
            <a:r>
              <a:rPr lang="ko-KR" altLang="en-US">
                <a:solidFill>
                  <a:srgbClr val="006600"/>
                </a:solidFill>
              </a:rPr>
              <a:t>목표 숫자가 크기 때문에 </a:t>
            </a:r>
            <a:r>
              <a:rPr lang="ko-KR" altLang="en-US"/>
              <a:t>조건을 만족하는 해시 값을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비교적 </a:t>
            </a:r>
            <a:r>
              <a:rPr lang="ko-KR" altLang="en-US"/>
              <a:t>쉽게 찾을 수 </a:t>
            </a:r>
            <a:r>
              <a:rPr lang="ko-KR" altLang="en-US" smtClean="0"/>
              <a:t>있음</a:t>
            </a:r>
            <a:endParaRPr lang="en-US" altLang="ko-KR" smtClean="0"/>
          </a:p>
          <a:p>
            <a:pPr lvl="4"/>
            <a:r>
              <a:rPr lang="ko-KR" altLang="en-US" smtClean="0"/>
              <a:t>난이도가 </a:t>
            </a:r>
            <a:r>
              <a:rPr lang="ko-KR" altLang="en-US"/>
              <a:t>높을 </a:t>
            </a:r>
            <a:r>
              <a:rPr lang="ko-KR" altLang="en-US" smtClean="0"/>
              <a:t>때 </a:t>
            </a:r>
            <a:r>
              <a:rPr lang="en-US" altLang="ko-KR" smtClean="0">
                <a:sym typeface="Wingdings" panose="05000000000000000000" pitchFamily="2" charset="2"/>
              </a:rPr>
              <a:t></a:t>
            </a:r>
            <a:r>
              <a:rPr lang="ko-KR" altLang="en-US" smtClean="0"/>
              <a:t> </a:t>
            </a:r>
            <a:r>
              <a:rPr lang="ko-KR" altLang="en-US">
                <a:solidFill>
                  <a:srgbClr val="006600"/>
                </a:solidFill>
              </a:rPr>
              <a:t>목표 숫자가 작기 때문에 </a:t>
            </a:r>
            <a:r>
              <a:rPr lang="ko-KR" altLang="en-US"/>
              <a:t>조건을 만족하는 해시 값을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찾으려면 </a:t>
            </a:r>
            <a:r>
              <a:rPr lang="ko-KR" altLang="en-US"/>
              <a:t>더 많은 계산과 시간이 필요하며</a:t>
            </a:r>
            <a:r>
              <a:rPr lang="en-US" altLang="ko-KR"/>
              <a:t>, </a:t>
            </a:r>
            <a:r>
              <a:rPr lang="ko-KR" altLang="en-US"/>
              <a:t>작업이 </a:t>
            </a:r>
            <a:r>
              <a:rPr lang="ko-KR" altLang="en-US" smtClean="0"/>
              <a:t>어려워짐</a:t>
            </a:r>
            <a:endParaRPr lang="ko-KR" altLang="en-US"/>
          </a:p>
          <a:p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547672"/>
            <a:ext cx="4824536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2869" y="5157192"/>
            <a:ext cx="3859750" cy="1441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592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난이도 목표</a:t>
            </a:r>
            <a:r>
              <a:rPr lang="en-US" altLang="ko-KR"/>
              <a:t>(Difficulty Target</a:t>
            </a:r>
            <a:r>
              <a:rPr lang="en-US" altLang="ko-KR" smtClean="0"/>
              <a:t>)</a:t>
            </a:r>
            <a:r>
              <a:rPr lang="ko-KR" altLang="en-US" smtClean="0"/>
              <a:t>란</a:t>
            </a:r>
            <a:endParaRPr lang="en-US" altLang="ko-KR" smtClean="0"/>
          </a:p>
          <a:p>
            <a:pPr lvl="1"/>
            <a:r>
              <a:rPr lang="ko-KR" altLang="en-US" smtClean="0">
                <a:solidFill>
                  <a:schemeClr val="tx1"/>
                </a:solidFill>
              </a:rPr>
              <a:t>난이도는 </a:t>
            </a:r>
            <a:r>
              <a:rPr lang="ko-KR" altLang="en-US">
                <a:solidFill>
                  <a:schemeClr val="tx1"/>
                </a:solidFill>
              </a:rPr>
              <a:t>비트코인 </a:t>
            </a:r>
            <a:r>
              <a:rPr lang="ko-KR" altLang="en-US" u="sng">
                <a:solidFill>
                  <a:srgbClr val="006600"/>
                </a:solidFill>
              </a:rPr>
              <a:t>첫 번째 블록인 </a:t>
            </a:r>
            <a:r>
              <a:rPr lang="en-US" altLang="ko-KR" u="sng">
                <a:solidFill>
                  <a:srgbClr val="006600"/>
                </a:solidFill>
              </a:rPr>
              <a:t>Genesis Block</a:t>
            </a:r>
            <a:r>
              <a:rPr lang="ko-KR" altLang="en-US" u="sng">
                <a:solidFill>
                  <a:srgbClr val="006600"/>
                </a:solidFill>
              </a:rPr>
              <a:t>을 만들었을 때보다 </a:t>
            </a:r>
            <a:r>
              <a:rPr lang="en-US" altLang="ko-KR" u="sng" smtClean="0">
                <a:solidFill>
                  <a:srgbClr val="006600"/>
                </a:solidFill>
              </a:rPr>
              <a:t/>
            </a:r>
            <a:br>
              <a:rPr lang="en-US" altLang="ko-KR" u="sng" smtClean="0">
                <a:solidFill>
                  <a:srgbClr val="006600"/>
                </a:solidFill>
              </a:rPr>
            </a:br>
            <a:r>
              <a:rPr lang="ko-KR" altLang="en-US" u="sng" smtClean="0">
                <a:solidFill>
                  <a:srgbClr val="006600"/>
                </a:solidFill>
              </a:rPr>
              <a:t>지금 </a:t>
            </a:r>
            <a:r>
              <a:rPr lang="ko-KR" altLang="en-US" u="sng">
                <a:solidFill>
                  <a:srgbClr val="006600"/>
                </a:solidFill>
              </a:rPr>
              <a:t>블록을 만들 때의 난이도가 얼마나 더 </a:t>
            </a:r>
            <a:r>
              <a:rPr lang="ko-KR" altLang="en-US" u="sng" smtClean="0">
                <a:solidFill>
                  <a:srgbClr val="006600"/>
                </a:solidFill>
              </a:rPr>
              <a:t>어려운가를 나타냄</a:t>
            </a:r>
            <a:endParaRPr lang="en-US" altLang="ko-KR" u="sng" smtClean="0">
              <a:solidFill>
                <a:srgbClr val="006600"/>
              </a:solidFill>
            </a:endParaRPr>
          </a:p>
          <a:p>
            <a:pPr lvl="2"/>
            <a:r>
              <a:rPr lang="en-US" altLang="ko-KR">
                <a:solidFill>
                  <a:schemeClr val="tx1"/>
                </a:solidFill>
                <a:hlinkClick r:id="rId2"/>
              </a:rPr>
              <a:t>https://www.blockchain.com/explorer/blocks/btc/905818</a:t>
            </a:r>
            <a:endParaRPr lang="en-US" altLang="ko-KR">
              <a:solidFill>
                <a:schemeClr val="tx1"/>
              </a:solidFill>
            </a:endParaRPr>
          </a:p>
          <a:p>
            <a:pPr lvl="1"/>
            <a:endParaRPr lang="ko-KR" altLang="en-US" u="sng">
              <a:solidFill>
                <a:srgbClr val="006600"/>
              </a:solidFill>
            </a:endParaRPr>
          </a:p>
        </p:txBody>
      </p:sp>
      <p:pic>
        <p:nvPicPr>
          <p:cNvPr id="34818" name="Picture 2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996952"/>
            <a:ext cx="5616624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3" y="3470227"/>
            <a:ext cx="5544616" cy="13629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2771800" y="2996952"/>
            <a:ext cx="59046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</a:rPr>
              <a:t>채굴 난이도</a:t>
            </a:r>
            <a:r>
              <a:rPr lang="en-US" altLang="ko-KR" sz="1200" b="1">
                <a:solidFill>
                  <a:srgbClr val="FF0000"/>
                </a:solidFill>
              </a:rPr>
              <a:t>:</a:t>
            </a:r>
            <a:r>
              <a:rPr lang="ko-KR" altLang="en-US" sz="1200" b="1">
                <a:solidFill>
                  <a:srgbClr val="FF0000"/>
                </a:solidFill>
              </a:rPr>
              <a:t> 블록 </a:t>
            </a:r>
            <a:r>
              <a:rPr lang="en-US" altLang="ko-KR" sz="1200" b="1" smtClean="0">
                <a:solidFill>
                  <a:srgbClr val="FF0000"/>
                </a:solidFill>
              </a:rPr>
              <a:t>905814</a:t>
            </a:r>
            <a:r>
              <a:rPr lang="ko-KR" altLang="en-US" sz="1200" b="1" smtClean="0">
                <a:solidFill>
                  <a:srgbClr val="FF0000"/>
                </a:solidFill>
              </a:rPr>
              <a:t>의 </a:t>
            </a:r>
            <a:r>
              <a:rPr lang="ko-KR" altLang="en-US" sz="1200" b="1">
                <a:solidFill>
                  <a:srgbClr val="FF0000"/>
                </a:solidFill>
              </a:rPr>
              <a:t>난이도 값은 제네시스 블록</a:t>
            </a:r>
            <a:r>
              <a:rPr lang="en-US" altLang="ko-KR" sz="1200" b="1">
                <a:solidFill>
                  <a:srgbClr val="FF0000"/>
                </a:solidFill>
              </a:rPr>
              <a:t>(</a:t>
            </a:r>
            <a:r>
              <a:rPr lang="ko-KR" altLang="en-US" sz="1200" b="1">
                <a:solidFill>
                  <a:srgbClr val="FF0000"/>
                </a:solidFill>
              </a:rPr>
              <a:t>난이도 </a:t>
            </a:r>
            <a:r>
              <a:rPr lang="en-US" altLang="ko-KR" sz="1200" b="1">
                <a:solidFill>
                  <a:srgbClr val="FF0000"/>
                </a:solidFill>
              </a:rPr>
              <a:t>1) </a:t>
            </a:r>
            <a:r>
              <a:rPr lang="ko-KR" altLang="en-US" sz="1200" b="1">
                <a:solidFill>
                  <a:srgbClr val="FF0000"/>
                </a:solidFill>
              </a:rPr>
              <a:t>대비 </a:t>
            </a:r>
            <a:r>
              <a:rPr lang="en-US" altLang="ko-KR" sz="1200" b="1" smtClean="0">
                <a:solidFill>
                  <a:srgbClr val="FF0000"/>
                </a:solidFill>
              </a:rPr>
              <a:t/>
            </a:r>
            <a:br>
              <a:rPr lang="en-US" altLang="ko-KR" sz="1200" b="1" smtClean="0">
                <a:solidFill>
                  <a:srgbClr val="FF0000"/>
                </a:solidFill>
              </a:rPr>
            </a:br>
            <a:r>
              <a:rPr lang="ko-KR" altLang="en-US" sz="1200" b="1" smtClean="0">
                <a:solidFill>
                  <a:srgbClr val="FF0000"/>
                </a:solidFill>
              </a:rPr>
              <a:t>이 </a:t>
            </a:r>
            <a:r>
              <a:rPr lang="ko-KR" altLang="en-US" sz="1200" b="1">
                <a:solidFill>
                  <a:srgbClr val="FF0000"/>
                </a:solidFill>
              </a:rPr>
              <a:t>블록을 채굴하기 위해 평균적으로 몇 배 더 많은 해시 계산이 필요했는지를 숫자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131840" y="4941168"/>
            <a:ext cx="2520280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20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난이도 목표</a:t>
            </a:r>
            <a:r>
              <a:rPr lang="en-US" altLang="ko-KR"/>
              <a:t>(Difficulty Target) </a:t>
            </a:r>
          </a:p>
          <a:p>
            <a:pPr lvl="1"/>
            <a:r>
              <a:rPr lang="ko-KR" altLang="en-US" smtClean="0"/>
              <a:t>난이도 목표와 난이도의 관계</a:t>
            </a:r>
            <a:endParaRPr lang="en-US" altLang="ko-KR" smtClean="0"/>
          </a:p>
          <a:p>
            <a:pPr lvl="1"/>
            <a:endParaRPr lang="ko-KR" altLang="en-US"/>
          </a:p>
          <a:p>
            <a:pPr lvl="2"/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난이도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Difficulty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altLang="ko-KR" smtClean="0"/>
              <a:t> </a:t>
            </a:r>
          </a:p>
          <a:p>
            <a:pPr lvl="3"/>
            <a:r>
              <a:rPr lang="ko-KR" altLang="en-US" smtClean="0"/>
              <a:t>인간이 </a:t>
            </a:r>
            <a:r>
              <a:rPr lang="ko-KR" altLang="en-US"/>
              <a:t>이해하기 쉽도록 </a:t>
            </a:r>
            <a:r>
              <a:rPr lang="ko-KR" altLang="en-US" u="sng">
                <a:solidFill>
                  <a:srgbClr val="FF0000"/>
                </a:solidFill>
              </a:rPr>
              <a:t>상대적인 숫자로 표현한 </a:t>
            </a:r>
            <a:r>
              <a:rPr lang="ko-KR" altLang="en-US" u="sng" smtClean="0">
                <a:solidFill>
                  <a:srgbClr val="FF0000"/>
                </a:solidFill>
              </a:rPr>
              <a:t>것</a:t>
            </a:r>
            <a:endParaRPr lang="en-US" altLang="ko-KR" u="sng" smtClean="0">
              <a:solidFill>
                <a:srgbClr val="FF0000"/>
              </a:solidFill>
            </a:endParaRPr>
          </a:p>
          <a:p>
            <a:pPr lvl="3"/>
            <a:r>
              <a:rPr lang="ko-KR" altLang="en-US"/>
              <a:t>새로운 블록을 생성하는 채굴</a:t>
            </a:r>
            <a:r>
              <a:rPr lang="en-US" altLang="ko-KR"/>
              <a:t>(Mining) </a:t>
            </a:r>
            <a:r>
              <a:rPr lang="ko-KR" altLang="en-US"/>
              <a:t>작업이 얼마나 어려운지를 나타내는 </a:t>
            </a:r>
            <a:r>
              <a:rPr lang="ko-KR" altLang="en-US" smtClean="0"/>
              <a:t>기준</a:t>
            </a:r>
            <a:endParaRPr lang="en-US" altLang="ko-KR" smtClean="0"/>
          </a:p>
          <a:p>
            <a:pPr lvl="3"/>
            <a:endParaRPr lang="en-US" altLang="ko-KR"/>
          </a:p>
          <a:p>
            <a:pPr lvl="2"/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난이도 목표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Difficulty Target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altLang="ko-KR" smtClean="0"/>
              <a:t> </a:t>
            </a:r>
          </a:p>
          <a:p>
            <a:pPr lvl="3"/>
            <a:r>
              <a:rPr lang="ko-KR" altLang="en-US" smtClean="0"/>
              <a:t>채굴 </a:t>
            </a:r>
            <a:r>
              <a:rPr lang="ko-KR" altLang="en-US"/>
              <a:t>소프트웨어가 실제로 사용하는 </a:t>
            </a:r>
            <a:r>
              <a:rPr lang="ko-KR" altLang="en-US" smtClean="0"/>
              <a:t>매우 </a:t>
            </a:r>
            <a:r>
              <a:rPr lang="ko-KR" altLang="en-US"/>
              <a:t>큰 </a:t>
            </a:r>
            <a:r>
              <a:rPr lang="ko-KR" altLang="en-US" smtClean="0"/>
              <a:t>숫자</a:t>
            </a:r>
            <a:endParaRPr lang="en-US" altLang="ko-KR" smtClean="0"/>
          </a:p>
          <a:p>
            <a:pPr lvl="4"/>
            <a:r>
              <a:rPr lang="ko-KR" altLang="en-US" u="sng" smtClean="0">
                <a:solidFill>
                  <a:srgbClr val="006600"/>
                </a:solidFill>
              </a:rPr>
              <a:t>채굴된 </a:t>
            </a:r>
            <a:r>
              <a:rPr lang="ko-KR" altLang="en-US" u="sng">
                <a:solidFill>
                  <a:srgbClr val="006600"/>
                </a:solidFill>
              </a:rPr>
              <a:t>블록의 해시 값은 이 </a:t>
            </a:r>
            <a:r>
              <a:rPr lang="en-US" altLang="ko-KR" u="sng">
                <a:solidFill>
                  <a:srgbClr val="006600"/>
                </a:solidFill>
              </a:rPr>
              <a:t>'</a:t>
            </a:r>
            <a:r>
              <a:rPr lang="ko-KR" altLang="en-US" u="sng">
                <a:solidFill>
                  <a:srgbClr val="006600"/>
                </a:solidFill>
              </a:rPr>
              <a:t>난이도 목표</a:t>
            </a:r>
            <a:r>
              <a:rPr lang="en-US" altLang="ko-KR" u="sng">
                <a:solidFill>
                  <a:srgbClr val="006600"/>
                </a:solidFill>
              </a:rPr>
              <a:t>'</a:t>
            </a:r>
            <a:r>
              <a:rPr lang="ko-KR" altLang="en-US" u="sng">
                <a:solidFill>
                  <a:srgbClr val="006600"/>
                </a:solidFill>
              </a:rPr>
              <a:t>보다 작거나 같아야 </a:t>
            </a:r>
            <a:r>
              <a:rPr lang="en-US" altLang="ko-KR" u="sng" smtClean="0">
                <a:solidFill>
                  <a:srgbClr val="006600"/>
                </a:solidFill>
              </a:rPr>
              <a:t/>
            </a:r>
            <a:br>
              <a:rPr lang="en-US" altLang="ko-KR" u="sng" smtClean="0">
                <a:solidFill>
                  <a:srgbClr val="006600"/>
                </a:solidFill>
              </a:rPr>
            </a:br>
            <a:r>
              <a:rPr lang="ko-KR" altLang="en-US" u="sng" smtClean="0">
                <a:solidFill>
                  <a:srgbClr val="006600"/>
                </a:solidFill>
              </a:rPr>
              <a:t>유효한 </a:t>
            </a:r>
            <a:r>
              <a:rPr lang="ko-KR" altLang="en-US" u="sng">
                <a:solidFill>
                  <a:srgbClr val="006600"/>
                </a:solidFill>
              </a:rPr>
              <a:t>블록으로 </a:t>
            </a:r>
            <a:r>
              <a:rPr lang="ko-KR" altLang="en-US" u="sng" smtClean="0">
                <a:solidFill>
                  <a:srgbClr val="006600"/>
                </a:solidFill>
              </a:rPr>
              <a:t>인정</a:t>
            </a:r>
            <a:endParaRPr lang="en-US" altLang="ko-KR" u="sng" smtClean="0">
              <a:solidFill>
                <a:srgbClr val="006600"/>
              </a:solidFill>
            </a:endParaRPr>
          </a:p>
          <a:p>
            <a:pPr lvl="4"/>
            <a:endParaRPr lang="en-US" altLang="ko-KR" u="sng" smtClean="0">
              <a:solidFill>
                <a:srgbClr val="006600"/>
              </a:solidFill>
            </a:endParaRPr>
          </a:p>
          <a:p>
            <a:pPr lvl="4"/>
            <a:r>
              <a:rPr lang="ko-KR" altLang="en-US" smtClean="0">
                <a:solidFill>
                  <a:srgbClr val="FF0000"/>
                </a:solidFill>
              </a:rPr>
              <a:t>난이도가 </a:t>
            </a:r>
            <a:r>
              <a:rPr lang="ko-KR" altLang="en-US">
                <a:solidFill>
                  <a:srgbClr val="FF0000"/>
                </a:solidFill>
              </a:rPr>
              <a:t>높아지면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난이도 목표는 </a:t>
            </a:r>
            <a:r>
              <a:rPr lang="ko-KR" altLang="en-US" smtClean="0">
                <a:solidFill>
                  <a:srgbClr val="FF0000"/>
                </a:solidFill>
              </a:rPr>
              <a:t>작아짐</a:t>
            </a:r>
            <a:endParaRPr lang="en-US" altLang="ko-KR" smtClean="0">
              <a:solidFill>
                <a:srgbClr val="FF0000"/>
              </a:solidFill>
            </a:endParaRPr>
          </a:p>
          <a:p>
            <a:pPr lvl="5"/>
            <a:r>
              <a:rPr lang="ko-KR" altLang="en-US" sz="1400" b="1" smtClean="0"/>
              <a:t>더 </a:t>
            </a:r>
            <a:r>
              <a:rPr lang="ko-KR" altLang="en-US" sz="1400" b="1"/>
              <a:t>작은 해시 값을 찾아야 하므로 </a:t>
            </a:r>
            <a:r>
              <a:rPr lang="ko-KR" altLang="en-US" sz="1400" b="1" smtClean="0"/>
              <a:t>어려워짐</a:t>
            </a:r>
            <a:endParaRPr lang="en-US" altLang="ko-KR" sz="1400" b="1" smtClean="0"/>
          </a:p>
          <a:p>
            <a:pPr lvl="4"/>
            <a:r>
              <a:rPr lang="ko-KR" altLang="en-US" smtClean="0">
                <a:solidFill>
                  <a:srgbClr val="FF0000"/>
                </a:solidFill>
              </a:rPr>
              <a:t>난이도가 </a:t>
            </a:r>
            <a:r>
              <a:rPr lang="ko-KR" altLang="en-US">
                <a:solidFill>
                  <a:srgbClr val="FF0000"/>
                </a:solidFill>
              </a:rPr>
              <a:t>낮아지면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난이도 목표는 </a:t>
            </a:r>
            <a:r>
              <a:rPr lang="ko-KR" altLang="en-US" smtClean="0">
                <a:solidFill>
                  <a:srgbClr val="FF0000"/>
                </a:solidFill>
              </a:rPr>
              <a:t>커짐</a:t>
            </a:r>
            <a:endParaRPr lang="en-US" altLang="ko-KR" smtClean="0">
              <a:solidFill>
                <a:srgbClr val="FF0000"/>
              </a:solidFill>
            </a:endParaRPr>
          </a:p>
          <a:p>
            <a:pPr lvl="5"/>
            <a:r>
              <a:rPr lang="ko-KR" altLang="en-US" sz="1400" b="1" smtClean="0"/>
              <a:t>더 </a:t>
            </a:r>
            <a:r>
              <a:rPr lang="ko-KR" altLang="en-US" sz="1400" b="1"/>
              <a:t>큰 해시 값도 허용되므로 </a:t>
            </a:r>
            <a:r>
              <a:rPr lang="ko-KR" altLang="en-US" sz="1400" b="1" smtClean="0"/>
              <a:t>쉬워짐</a:t>
            </a:r>
            <a:endParaRPr lang="en-US" altLang="ko-KR" sz="1400" b="1"/>
          </a:p>
          <a:p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919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난이도 목표</a:t>
            </a:r>
            <a:r>
              <a:rPr lang="en-US" altLang="ko-KR"/>
              <a:t>(Difficulty Target</a:t>
            </a:r>
            <a:r>
              <a:rPr lang="en-US" altLang="ko-KR" smtClean="0"/>
              <a:t>)</a:t>
            </a:r>
            <a:r>
              <a:rPr lang="ko-KR" altLang="en-US" smtClean="0"/>
              <a:t>를 나타내는 </a:t>
            </a:r>
            <a:r>
              <a:rPr lang="en-US" altLang="ko-KR" smtClean="0"/>
              <a:t>Bits </a:t>
            </a:r>
            <a:r>
              <a:rPr lang="ko-KR" altLang="en-US" smtClean="0"/>
              <a:t>필드</a:t>
            </a:r>
            <a:endParaRPr lang="en-US" altLang="ko-KR" smtClean="0"/>
          </a:p>
          <a:p>
            <a:pPr lvl="1"/>
            <a:r>
              <a:rPr lang="ko-KR" altLang="en-US" smtClean="0"/>
              <a:t>현재의 난이도 목표값</a:t>
            </a:r>
            <a:r>
              <a:rPr lang="en-US" altLang="ko-KR"/>
              <a:t>(CURRENT_TARGET</a:t>
            </a:r>
            <a:r>
              <a:rPr lang="en-US" altLang="ko-KR" smtClean="0"/>
              <a:t>)</a:t>
            </a:r>
          </a:p>
          <a:p>
            <a:pPr lvl="1"/>
            <a:endParaRPr lang="en-US" altLang="ko-KR" smtClean="0"/>
          </a:p>
          <a:p>
            <a:pPr lvl="2"/>
            <a:r>
              <a:rPr lang="ko-KR" altLang="en-US"/>
              <a:t>블록 헤더에는 </a:t>
            </a:r>
            <a:r>
              <a:rPr lang="en-US" altLang="ko-KR"/>
              <a:t>'bits'</a:t>
            </a:r>
            <a:r>
              <a:rPr lang="ko-KR" altLang="en-US"/>
              <a:t>라는 필드가 </a:t>
            </a:r>
            <a:r>
              <a:rPr lang="ko-KR" altLang="en-US" smtClean="0"/>
              <a:t>있음 </a:t>
            </a:r>
            <a:r>
              <a:rPr lang="en-US" altLang="ko-KR" smtClean="0">
                <a:sym typeface="Wingdings" panose="05000000000000000000" pitchFamily="2" charset="2"/>
              </a:rPr>
              <a:t></a:t>
            </a:r>
            <a:r>
              <a:rPr lang="en-US" altLang="ko-KR" smtClean="0"/>
              <a:t> </a:t>
            </a:r>
            <a:r>
              <a:rPr lang="ko-KR" altLang="en-US"/>
              <a:t>이 </a:t>
            </a:r>
            <a:r>
              <a:rPr lang="en-US" altLang="ko-KR"/>
              <a:t>'bits' </a:t>
            </a:r>
            <a:r>
              <a:rPr lang="ko-KR" altLang="en-US"/>
              <a:t>필드가 바로 </a:t>
            </a:r>
            <a:r>
              <a:rPr lang="ko-KR" altLang="en-US" u="sng">
                <a:solidFill>
                  <a:srgbClr val="006600"/>
                </a:solidFill>
              </a:rPr>
              <a:t>난이도 </a:t>
            </a:r>
            <a:r>
              <a:rPr lang="en-US" altLang="ko-KR" u="sng" smtClean="0">
                <a:solidFill>
                  <a:srgbClr val="006600"/>
                </a:solidFill>
              </a:rPr>
              <a:t/>
            </a:r>
            <a:br>
              <a:rPr lang="en-US" altLang="ko-KR" u="sng" smtClean="0">
                <a:solidFill>
                  <a:srgbClr val="006600"/>
                </a:solidFill>
              </a:rPr>
            </a:br>
            <a:r>
              <a:rPr lang="ko-KR" altLang="en-US" u="sng" smtClean="0">
                <a:solidFill>
                  <a:srgbClr val="006600"/>
                </a:solidFill>
              </a:rPr>
              <a:t>목표를 </a:t>
            </a:r>
            <a:r>
              <a:rPr lang="ko-KR" altLang="en-US" u="sng">
                <a:solidFill>
                  <a:srgbClr val="006600"/>
                </a:solidFill>
              </a:rPr>
              <a:t>압축하여 표현한 </a:t>
            </a:r>
            <a:r>
              <a:rPr lang="ko-KR" altLang="en-US" u="sng" smtClean="0">
                <a:solidFill>
                  <a:srgbClr val="006600"/>
                </a:solidFill>
              </a:rPr>
              <a:t>값</a:t>
            </a:r>
            <a:endParaRPr lang="en-US" altLang="ko-KR" u="sng" smtClean="0">
              <a:solidFill>
                <a:srgbClr val="0066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356992"/>
            <a:ext cx="4824536" cy="332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2123728" y="5661248"/>
            <a:ext cx="4608512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75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r>
              <a:rPr lang="ko-KR" altLang="en-US"/>
              <a:t>난이도 목표</a:t>
            </a:r>
            <a:r>
              <a:rPr lang="en-US" altLang="ko-KR"/>
              <a:t>(Difficulty Target</a:t>
            </a:r>
            <a:r>
              <a:rPr lang="en-US" altLang="ko-KR" smtClean="0"/>
              <a:t>)</a:t>
            </a:r>
            <a:r>
              <a:rPr lang="ko-KR" altLang="en-US" smtClean="0"/>
              <a:t>를 나타내는 </a:t>
            </a:r>
            <a:r>
              <a:rPr lang="en-US" altLang="ko-KR" smtClean="0"/>
              <a:t>Bits </a:t>
            </a:r>
            <a:r>
              <a:rPr lang="ko-KR" altLang="en-US" smtClean="0"/>
              <a:t>필드</a:t>
            </a:r>
            <a:endParaRPr lang="en-US" altLang="ko-KR" smtClean="0"/>
          </a:p>
          <a:p>
            <a:pPr lvl="1"/>
            <a:r>
              <a:rPr lang="ko-KR" altLang="en-US" smtClean="0"/>
              <a:t>현재의 난이도 목표값</a:t>
            </a:r>
            <a:r>
              <a:rPr lang="en-US" altLang="ko-KR"/>
              <a:t>(CURRENT_TARGET</a:t>
            </a:r>
            <a:r>
              <a:rPr lang="en-US" altLang="ko-KR" smtClean="0"/>
              <a:t>)</a:t>
            </a:r>
          </a:p>
          <a:p>
            <a:pPr lvl="1"/>
            <a:endParaRPr lang="en-US" altLang="ko-KR" smtClean="0"/>
          </a:p>
          <a:p>
            <a:pPr lvl="2"/>
            <a:r>
              <a:rPr lang="en-US" altLang="ko-KR" smtClean="0">
                <a:solidFill>
                  <a:srgbClr val="FF0000"/>
                </a:solidFill>
              </a:rPr>
              <a:t>256-bit </a:t>
            </a:r>
            <a:r>
              <a:rPr lang="ko-KR" altLang="en-US">
                <a:solidFill>
                  <a:srgbClr val="FF0000"/>
                </a:solidFill>
              </a:rPr>
              <a:t>길이의 전체 난이도 목표</a:t>
            </a:r>
            <a:r>
              <a:rPr lang="en-US" altLang="ko-KR">
                <a:solidFill>
                  <a:srgbClr val="FF0000"/>
                </a:solidFill>
              </a:rPr>
              <a:t>(Target)</a:t>
            </a:r>
            <a:r>
              <a:rPr lang="ko-KR" altLang="en-US">
                <a:solidFill>
                  <a:srgbClr val="FF0000"/>
                </a:solidFill>
              </a:rPr>
              <a:t> 값이 </a:t>
            </a:r>
            <a:r>
              <a:rPr lang="ko-KR" altLang="en-US"/>
              <a:t>그대로 저장되지 않고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>
                <a:solidFill>
                  <a:srgbClr val="006600"/>
                </a:solidFill>
              </a:rPr>
              <a:t>효율성을 </a:t>
            </a:r>
            <a:r>
              <a:rPr lang="ko-KR" altLang="en-US">
                <a:solidFill>
                  <a:srgbClr val="006600"/>
                </a:solidFill>
              </a:rPr>
              <a:t>위해 </a:t>
            </a:r>
            <a:r>
              <a:rPr lang="en-US" altLang="ko-KR" u="sng" smtClean="0">
                <a:solidFill>
                  <a:srgbClr val="006600"/>
                </a:solidFill>
              </a:rPr>
              <a:t>4-byte(32-bit)</a:t>
            </a:r>
            <a:r>
              <a:rPr lang="ko-KR" altLang="en-US" u="sng" smtClean="0">
                <a:solidFill>
                  <a:srgbClr val="006600"/>
                </a:solidFill>
              </a:rPr>
              <a:t>의 </a:t>
            </a:r>
            <a:r>
              <a:rPr lang="ko-KR" altLang="en-US" u="sng">
                <a:solidFill>
                  <a:srgbClr val="006600"/>
                </a:solidFill>
              </a:rPr>
              <a:t>압축된 형식으로 </a:t>
            </a:r>
            <a:r>
              <a:rPr lang="ko-KR" altLang="en-US" u="sng" smtClean="0">
                <a:solidFill>
                  <a:srgbClr val="006600"/>
                </a:solidFill>
              </a:rPr>
              <a:t>저장 </a:t>
            </a:r>
            <a:r>
              <a:rPr lang="en-US" altLang="ko-KR" smtClean="0">
                <a:sym typeface="Wingdings" panose="05000000000000000000" pitchFamily="2" charset="2"/>
              </a:rPr>
              <a:t> </a:t>
            </a:r>
            <a:r>
              <a:rPr lang="ko-KR" altLang="en-US" smtClean="0"/>
              <a:t>이를 </a:t>
            </a:r>
            <a:r>
              <a:rPr lang="en-US" altLang="ko-KR"/>
              <a:t>Packed Bits Format</a:t>
            </a:r>
            <a:r>
              <a:rPr lang="ko-KR" altLang="en-US"/>
              <a:t> 또는 단순히 </a:t>
            </a:r>
            <a:r>
              <a:rPr lang="en-US" altLang="ko-KR" smtClean="0"/>
              <a:t>nBits</a:t>
            </a:r>
            <a:r>
              <a:rPr lang="ko-KR" altLang="en-US" smtClean="0"/>
              <a:t>라고 부름</a:t>
            </a:r>
            <a:endParaRPr lang="en-US" altLang="ko-KR" smtClean="0"/>
          </a:p>
          <a:p>
            <a:pPr lvl="2"/>
            <a:endParaRPr lang="ko-KR" altLang="en-US"/>
          </a:p>
          <a:p>
            <a:pPr lvl="3"/>
            <a:r>
              <a:rPr lang="ko-KR" altLang="en-US" smtClean="0"/>
              <a:t>부동 </a:t>
            </a:r>
            <a:r>
              <a:rPr lang="ko-KR" altLang="en-US"/>
              <a:t>소수점 표기법</a:t>
            </a:r>
            <a:r>
              <a:rPr lang="en-US" altLang="ko-KR"/>
              <a:t>(Floating-point representation</a:t>
            </a:r>
            <a:r>
              <a:rPr lang="en-US" altLang="ko-KR" smtClean="0"/>
              <a:t>)</a:t>
            </a:r>
            <a:r>
              <a:rPr lang="ko-KR" altLang="en-US" smtClean="0"/>
              <a:t>과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유사한 </a:t>
            </a:r>
            <a:r>
              <a:rPr lang="ko-KR" altLang="en-US"/>
              <a:t>방식으로 </a:t>
            </a:r>
            <a:r>
              <a:rPr lang="ko-KR" altLang="en-US" smtClean="0"/>
              <a:t>인코딩됨</a:t>
            </a:r>
            <a:r>
              <a:rPr lang="en-US" altLang="ko-KR" smtClean="0"/>
              <a:t>(</a:t>
            </a:r>
            <a:r>
              <a:rPr lang="ko-KR" altLang="en-US" smtClean="0"/>
              <a:t>즉</a:t>
            </a:r>
            <a:r>
              <a:rPr lang="en-US" altLang="ko-KR"/>
              <a:t>, </a:t>
            </a:r>
            <a:r>
              <a:rPr lang="ko-KR" altLang="en-US" u="sng"/>
              <a:t>지수와 계수</a:t>
            </a:r>
            <a:r>
              <a:rPr lang="en-US" altLang="ko-KR" u="sng"/>
              <a:t>(mantissa) </a:t>
            </a:r>
            <a:r>
              <a:rPr lang="ko-KR" altLang="en-US" u="sng"/>
              <a:t>또는 계수와 길이의 </a:t>
            </a:r>
            <a:r>
              <a:rPr lang="en-US" altLang="ko-KR" u="sng" smtClean="0"/>
              <a:t/>
            </a:r>
            <a:br>
              <a:rPr lang="en-US" altLang="ko-KR" u="sng" smtClean="0"/>
            </a:br>
            <a:r>
              <a:rPr lang="ko-KR" altLang="en-US" u="sng" smtClean="0"/>
              <a:t>조합으로 표현</a:t>
            </a:r>
            <a:r>
              <a:rPr lang="en-US" altLang="ko-KR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4141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r>
              <a:rPr lang="ko-KR" altLang="en-US"/>
              <a:t>난이도 목표</a:t>
            </a:r>
            <a:r>
              <a:rPr lang="en-US" altLang="ko-KR"/>
              <a:t>(Difficulty Target</a:t>
            </a:r>
            <a:r>
              <a:rPr lang="en-US" altLang="ko-KR" smtClean="0"/>
              <a:t>)</a:t>
            </a:r>
            <a:r>
              <a:rPr lang="ko-KR" altLang="en-US" smtClean="0"/>
              <a:t>를 나타내는 </a:t>
            </a:r>
            <a:r>
              <a:rPr lang="en-US" altLang="ko-KR" smtClean="0"/>
              <a:t>Bits </a:t>
            </a:r>
            <a:r>
              <a:rPr lang="ko-KR" altLang="en-US" smtClean="0"/>
              <a:t>필드</a:t>
            </a:r>
            <a:endParaRPr lang="en-US" altLang="ko-KR" smtClean="0"/>
          </a:p>
          <a:p>
            <a:pPr lvl="1"/>
            <a:r>
              <a:rPr lang="ko-KR" altLang="en-US" smtClean="0"/>
              <a:t>현재의 난이도 목표값</a:t>
            </a:r>
            <a:r>
              <a:rPr lang="en-US" altLang="ko-KR"/>
              <a:t>(CURRENT_TARGET</a:t>
            </a:r>
            <a:r>
              <a:rPr lang="en-US" altLang="ko-KR" smtClean="0"/>
              <a:t>)</a:t>
            </a:r>
          </a:p>
          <a:p>
            <a:pPr lvl="1"/>
            <a:endParaRPr lang="en-US" altLang="ko-KR" smtClean="0"/>
          </a:p>
          <a:p>
            <a:pPr lvl="2"/>
            <a:r>
              <a:rPr lang="ko-KR" altLang="en-US" smtClean="0"/>
              <a:t>인코딩 방식</a:t>
            </a:r>
            <a:r>
              <a:rPr lang="en-US" altLang="ko-KR" smtClean="0"/>
              <a:t>(</a:t>
            </a:r>
            <a:r>
              <a:rPr lang="en-US" altLang="ko-KR"/>
              <a:t>Packed Bits Format</a:t>
            </a:r>
            <a:r>
              <a:rPr lang="en-US" altLang="ko-KR" smtClean="0"/>
              <a:t>)</a:t>
            </a:r>
          </a:p>
          <a:p>
            <a:pPr lvl="3"/>
            <a:r>
              <a:rPr lang="en-US" altLang="ko-KR" smtClean="0"/>
              <a:t>'bits</a:t>
            </a:r>
            <a:r>
              <a:rPr lang="en-US" altLang="ko-KR"/>
              <a:t>' </a:t>
            </a:r>
            <a:r>
              <a:rPr lang="ko-KR" altLang="en-US"/>
              <a:t>필드는 </a:t>
            </a:r>
            <a:r>
              <a:rPr lang="en-US" altLang="ko-KR">
                <a:solidFill>
                  <a:srgbClr val="FF0000"/>
                </a:solidFill>
              </a:rPr>
              <a:t>4</a:t>
            </a:r>
            <a:r>
              <a:rPr lang="ko-KR" altLang="en-US">
                <a:solidFill>
                  <a:srgbClr val="FF0000"/>
                </a:solidFill>
              </a:rPr>
              <a:t>바이트</a:t>
            </a:r>
            <a:r>
              <a:rPr lang="en-US" altLang="ko-KR">
                <a:solidFill>
                  <a:srgbClr val="FF0000"/>
                </a:solidFill>
              </a:rPr>
              <a:t>(32</a:t>
            </a:r>
            <a:r>
              <a:rPr lang="ko-KR" altLang="en-US">
                <a:solidFill>
                  <a:srgbClr val="FF0000"/>
                </a:solidFill>
              </a:rPr>
              <a:t>비트</a:t>
            </a:r>
            <a:r>
              <a:rPr lang="en-US" altLang="ko-KR">
                <a:solidFill>
                  <a:srgbClr val="FF0000"/>
                </a:solidFill>
              </a:rPr>
              <a:t>) </a:t>
            </a:r>
            <a:r>
              <a:rPr lang="ko-KR" altLang="en-US" smtClean="0">
                <a:solidFill>
                  <a:srgbClr val="FF0000"/>
                </a:solidFill>
              </a:rPr>
              <a:t>정수</a:t>
            </a:r>
            <a:r>
              <a:rPr lang="en-US" altLang="ko-KR" smtClean="0">
                <a:solidFill>
                  <a:srgbClr val="FF0000"/>
                </a:solidFill>
              </a:rPr>
              <a:t>, </a:t>
            </a:r>
            <a:r>
              <a:rPr lang="en-US" altLang="ko-KR">
                <a:solidFill>
                  <a:srgbClr val="FF0000"/>
                </a:solidFill>
              </a:rPr>
              <a:t>0xExxxxxxx</a:t>
            </a:r>
            <a:r>
              <a:rPr lang="ko-KR" altLang="en-US">
                <a:solidFill>
                  <a:srgbClr val="FF0000"/>
                </a:solidFill>
              </a:rPr>
              <a:t>와 같은 </a:t>
            </a:r>
            <a:r>
              <a:rPr lang="en-US" altLang="ko-KR">
                <a:solidFill>
                  <a:srgbClr val="FF0000"/>
                </a:solidFill>
              </a:rPr>
              <a:t>16</a:t>
            </a:r>
            <a:r>
              <a:rPr lang="ko-KR" altLang="en-US">
                <a:solidFill>
                  <a:srgbClr val="FF0000"/>
                </a:solidFill>
              </a:rPr>
              <a:t>진수 형태로 </a:t>
            </a:r>
            <a:r>
              <a:rPr lang="ko-KR" altLang="en-US" smtClean="0"/>
              <a:t>나타냄</a:t>
            </a:r>
            <a:endParaRPr lang="en-US" altLang="ko-KR" smtClean="0"/>
          </a:p>
          <a:p>
            <a:pPr lvl="3"/>
            <a:r>
              <a:rPr lang="ko-KR" altLang="en-US" smtClean="0">
                <a:solidFill>
                  <a:srgbClr val="006600"/>
                </a:solidFill>
              </a:rPr>
              <a:t>첫 </a:t>
            </a:r>
            <a:r>
              <a:rPr lang="ko-KR" altLang="en-US">
                <a:solidFill>
                  <a:srgbClr val="006600"/>
                </a:solidFill>
              </a:rPr>
              <a:t>번째 </a:t>
            </a:r>
            <a:r>
              <a:rPr lang="ko-KR" altLang="en-US" smtClean="0">
                <a:solidFill>
                  <a:srgbClr val="006600"/>
                </a:solidFill>
              </a:rPr>
              <a:t>바이트</a:t>
            </a:r>
            <a:r>
              <a:rPr lang="en-US" altLang="ko-KR" smtClean="0">
                <a:solidFill>
                  <a:srgbClr val="006600"/>
                </a:solidFill>
              </a:rPr>
              <a:t>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en-US" altLang="ko-KR"/>
              <a:t>'</a:t>
            </a:r>
            <a:r>
              <a:rPr lang="ko-KR" altLang="en-US"/>
              <a:t>지수</a:t>
            </a:r>
            <a:r>
              <a:rPr lang="en-US" altLang="ko-KR"/>
              <a:t>' </a:t>
            </a:r>
            <a:r>
              <a:rPr lang="ko-KR" altLang="en-US"/>
              <a:t>또는 </a:t>
            </a:r>
            <a:r>
              <a:rPr lang="en-US" altLang="ko-KR"/>
              <a:t>'</a:t>
            </a:r>
            <a:r>
              <a:rPr lang="ko-KR" altLang="en-US"/>
              <a:t>길이</a:t>
            </a:r>
            <a:r>
              <a:rPr lang="en-US" altLang="ko-KR"/>
              <a:t>'</a:t>
            </a:r>
            <a:r>
              <a:rPr lang="ko-KR" altLang="en-US"/>
              <a:t>를 </a:t>
            </a:r>
            <a:r>
              <a:rPr lang="ko-KR" altLang="en-US" smtClean="0"/>
              <a:t>나타냄</a:t>
            </a:r>
            <a:endParaRPr lang="en-US" altLang="ko-KR" smtClean="0"/>
          </a:p>
          <a:p>
            <a:pPr lvl="3"/>
            <a:r>
              <a:rPr lang="ko-KR" altLang="en-US" smtClean="0">
                <a:solidFill>
                  <a:srgbClr val="006600"/>
                </a:solidFill>
              </a:rPr>
              <a:t>나머지 </a:t>
            </a:r>
            <a:r>
              <a:rPr lang="ko-KR" altLang="en-US">
                <a:solidFill>
                  <a:srgbClr val="006600"/>
                </a:solidFill>
              </a:rPr>
              <a:t>세 </a:t>
            </a:r>
            <a:r>
              <a:rPr lang="ko-KR" altLang="en-US" smtClean="0">
                <a:solidFill>
                  <a:srgbClr val="006600"/>
                </a:solidFill>
              </a:rPr>
              <a:t>바이트</a:t>
            </a:r>
            <a:r>
              <a:rPr lang="en-US" altLang="ko-KR" smtClean="0">
                <a:solidFill>
                  <a:srgbClr val="006600"/>
                </a:solidFill>
              </a:rPr>
              <a:t>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en-US" altLang="ko-KR"/>
              <a:t>'</a:t>
            </a:r>
            <a:r>
              <a:rPr lang="ko-KR" altLang="en-US"/>
              <a:t>계수</a:t>
            </a:r>
            <a:r>
              <a:rPr lang="en-US" altLang="ko-KR"/>
              <a:t>' </a:t>
            </a:r>
            <a:r>
              <a:rPr lang="ko-KR" altLang="en-US"/>
              <a:t>또는 </a:t>
            </a:r>
            <a:r>
              <a:rPr lang="en-US" altLang="ko-KR"/>
              <a:t>'</a:t>
            </a:r>
            <a:r>
              <a:rPr lang="ko-KR" altLang="en-US"/>
              <a:t>유효 숫자</a:t>
            </a:r>
            <a:r>
              <a:rPr lang="en-US" altLang="ko-KR"/>
              <a:t>'</a:t>
            </a:r>
            <a:r>
              <a:rPr lang="ko-KR" altLang="en-US"/>
              <a:t>를 </a:t>
            </a:r>
            <a:r>
              <a:rPr lang="ko-KR" altLang="en-US" smtClean="0"/>
              <a:t>나타냄</a:t>
            </a:r>
            <a:endParaRPr lang="en-US" altLang="ko-KR" smtClean="0"/>
          </a:p>
          <a:p>
            <a:pPr lvl="4"/>
            <a:r>
              <a:rPr lang="ko-KR" altLang="en-US" b="1" smtClean="0"/>
              <a:t>이 </a:t>
            </a:r>
            <a:r>
              <a:rPr lang="ko-KR" altLang="en-US" b="1"/>
              <a:t>세 바이트가 실제 난이도 목표 값의 가장 큰 </a:t>
            </a:r>
            <a:r>
              <a:rPr lang="en-US" altLang="ko-KR" b="1"/>
              <a:t>3</a:t>
            </a:r>
            <a:r>
              <a:rPr lang="ko-KR" altLang="en-US" b="1"/>
              <a:t>바이트를 </a:t>
            </a:r>
            <a:r>
              <a:rPr lang="ko-KR" altLang="en-US" b="1" smtClean="0"/>
              <a:t>나타냄</a:t>
            </a:r>
            <a:endParaRPr lang="en-US" altLang="ko-KR" b="1" smtClean="0"/>
          </a:p>
          <a:p>
            <a:pPr lvl="4"/>
            <a:endParaRPr lang="en-US" altLang="ko-KR" b="1" smtClean="0"/>
          </a:p>
          <a:p>
            <a:pPr lvl="2"/>
            <a:r>
              <a:rPr lang="ko-KR" altLang="en-US" smtClean="0"/>
              <a:t>예</a:t>
            </a:r>
            <a:r>
              <a:rPr lang="en-US" altLang="ko-KR" smtClean="0"/>
              <a:t>) nBits </a:t>
            </a:r>
            <a:r>
              <a:rPr lang="ko-KR" altLang="en-US"/>
              <a:t>값이 </a:t>
            </a:r>
            <a:r>
              <a:rPr lang="en-US" altLang="ko-KR"/>
              <a:t>16</a:t>
            </a:r>
            <a:r>
              <a:rPr lang="ko-KR" altLang="en-US"/>
              <a:t>진수로 </a:t>
            </a:r>
            <a:r>
              <a:rPr lang="en-US" altLang="ko-KR" smtClean="0">
                <a:solidFill>
                  <a:srgbClr val="0000CC"/>
                </a:solidFill>
              </a:rPr>
              <a:t>0x</a:t>
            </a:r>
            <a:r>
              <a:rPr lang="en-US" altLang="ko-KR" smtClean="0">
                <a:solidFill>
                  <a:srgbClr val="FF0000"/>
                </a:solidFill>
              </a:rPr>
              <a:t>1b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0404c</a:t>
            </a:r>
            <a:r>
              <a:rPr lang="en-US" altLang="ko-KR" smtClean="0"/>
              <a:t>b</a:t>
            </a:r>
            <a:r>
              <a:rPr lang="ko-KR" altLang="en-US" smtClean="0"/>
              <a:t>라고 가정</a:t>
            </a:r>
            <a:endParaRPr lang="en-US" altLang="ko-KR" smtClean="0"/>
          </a:p>
          <a:p>
            <a:pPr lvl="3"/>
            <a:r>
              <a:rPr lang="ko-KR" altLang="en-US" smtClean="0"/>
              <a:t>비트코인 </a:t>
            </a:r>
            <a:r>
              <a:rPr lang="ko-KR" altLang="en-US"/>
              <a:t>블록 헤더에는 </a:t>
            </a:r>
            <a:r>
              <a:rPr lang="en-US" altLang="ko-KR"/>
              <a:t>Little Endian </a:t>
            </a:r>
            <a:r>
              <a:rPr lang="ko-KR" altLang="en-US"/>
              <a:t>형식으로 </a:t>
            </a:r>
            <a:r>
              <a:rPr lang="ko-KR" altLang="en-US" smtClean="0"/>
              <a:t>저장</a:t>
            </a:r>
            <a:r>
              <a:rPr lang="en-US" altLang="ko-KR" smtClean="0"/>
              <a:t>(</a:t>
            </a:r>
            <a:r>
              <a:rPr lang="ko-KR" altLang="en-US" smtClean="0"/>
              <a:t>계산을 </a:t>
            </a:r>
            <a:r>
              <a:rPr lang="ko-KR" altLang="en-US"/>
              <a:t>위해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Big </a:t>
            </a:r>
            <a:r>
              <a:rPr lang="en-US" altLang="ko-KR"/>
              <a:t>Endian </a:t>
            </a:r>
            <a:r>
              <a:rPr lang="ko-KR" altLang="en-US"/>
              <a:t>순서로 </a:t>
            </a:r>
            <a:r>
              <a:rPr lang="ko-KR" altLang="en-US" smtClean="0"/>
              <a:t>설명</a:t>
            </a:r>
            <a:r>
              <a:rPr lang="en-US" altLang="ko-KR" smtClean="0"/>
              <a:t>)</a:t>
            </a:r>
            <a:endParaRPr lang="en-US" altLang="ko-KR"/>
          </a:p>
          <a:p>
            <a:pPr lvl="4"/>
            <a:r>
              <a:rPr lang="ko-KR" altLang="en-US" smtClean="0">
                <a:solidFill>
                  <a:srgbClr val="006600"/>
                </a:solidFill>
              </a:rPr>
              <a:t>지수</a:t>
            </a:r>
            <a:r>
              <a:rPr lang="en-US" altLang="ko-KR" smtClean="0">
                <a:solidFill>
                  <a:srgbClr val="006600"/>
                </a:solidFill>
              </a:rPr>
              <a:t>(</a:t>
            </a:r>
            <a:r>
              <a:rPr lang="en-US" altLang="ko-KR">
                <a:solidFill>
                  <a:srgbClr val="006600"/>
                </a:solidFill>
              </a:rPr>
              <a:t>Exponent</a:t>
            </a:r>
            <a:r>
              <a:rPr lang="en-US" altLang="ko-KR" smtClean="0">
                <a:solidFill>
                  <a:srgbClr val="006600"/>
                </a:solidFill>
              </a:rPr>
              <a:t>) :</a:t>
            </a:r>
            <a:r>
              <a:rPr lang="ko-KR" altLang="en-US" smtClean="0">
                <a:solidFill>
                  <a:srgbClr val="006600"/>
                </a:solidFill>
              </a:rPr>
              <a:t> </a:t>
            </a:r>
            <a:r>
              <a:rPr lang="en-US" altLang="ko-KR">
                <a:solidFill>
                  <a:srgbClr val="006600"/>
                </a:solidFill>
              </a:rPr>
              <a:t>0x1b (</a:t>
            </a:r>
            <a:r>
              <a:rPr lang="ko-KR" altLang="en-US">
                <a:solidFill>
                  <a:srgbClr val="006600"/>
                </a:solidFill>
              </a:rPr>
              <a:t>십진수 </a:t>
            </a:r>
            <a:r>
              <a:rPr lang="en-US" altLang="ko-KR">
                <a:solidFill>
                  <a:srgbClr val="006600"/>
                </a:solidFill>
              </a:rPr>
              <a:t>27)</a:t>
            </a:r>
          </a:p>
          <a:p>
            <a:pPr lvl="4"/>
            <a:r>
              <a:rPr lang="ko-KR" altLang="en-US" smtClean="0">
                <a:solidFill>
                  <a:srgbClr val="006600"/>
                </a:solidFill>
              </a:rPr>
              <a:t>계수</a:t>
            </a:r>
            <a:r>
              <a:rPr lang="en-US" altLang="ko-KR" smtClean="0">
                <a:solidFill>
                  <a:srgbClr val="006600"/>
                </a:solidFill>
              </a:rPr>
              <a:t>(</a:t>
            </a:r>
            <a:r>
              <a:rPr lang="en-US" altLang="ko-KR">
                <a:solidFill>
                  <a:srgbClr val="006600"/>
                </a:solidFill>
              </a:rPr>
              <a:t>Coefficient</a:t>
            </a:r>
            <a:r>
              <a:rPr lang="en-US" altLang="ko-KR" smtClean="0">
                <a:solidFill>
                  <a:srgbClr val="006600"/>
                </a:solidFill>
              </a:rPr>
              <a:t>) :</a:t>
            </a:r>
            <a:r>
              <a:rPr lang="ko-KR" altLang="en-US" smtClean="0">
                <a:solidFill>
                  <a:srgbClr val="006600"/>
                </a:solidFill>
              </a:rPr>
              <a:t> </a:t>
            </a:r>
            <a:r>
              <a:rPr lang="en-US" altLang="ko-KR">
                <a:solidFill>
                  <a:srgbClr val="006600"/>
                </a:solidFill>
              </a:rPr>
              <a:t>0x0404cb (</a:t>
            </a:r>
            <a:r>
              <a:rPr lang="ko-KR" altLang="en-US">
                <a:solidFill>
                  <a:srgbClr val="006600"/>
                </a:solidFill>
              </a:rPr>
              <a:t>십진수 </a:t>
            </a:r>
            <a:r>
              <a:rPr lang="en-US" altLang="ko-KR">
                <a:solidFill>
                  <a:srgbClr val="006600"/>
                </a:solidFill>
              </a:rPr>
              <a:t>263755)</a:t>
            </a:r>
          </a:p>
          <a:p>
            <a:pPr lvl="4"/>
            <a:endParaRPr lang="ko-KR" altLang="en-US" b="1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443" y="5589240"/>
            <a:ext cx="633670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6611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난이도 목표</a:t>
            </a:r>
            <a:r>
              <a:rPr lang="en-US" altLang="ko-KR"/>
              <a:t>(Difficulty Target) </a:t>
            </a:r>
          </a:p>
          <a:p>
            <a:pPr lvl="1"/>
            <a:r>
              <a:rPr lang="ko-KR" altLang="en-US" smtClean="0"/>
              <a:t>비트코인에서 </a:t>
            </a:r>
            <a:r>
              <a:rPr lang="en-US" altLang="ko-KR" smtClean="0"/>
              <a:t>'bits</a:t>
            </a:r>
            <a:r>
              <a:rPr lang="en-US" altLang="ko-KR"/>
              <a:t>' </a:t>
            </a:r>
            <a:r>
              <a:rPr lang="ko-KR" altLang="en-US" smtClean="0"/>
              <a:t>값 </a:t>
            </a:r>
            <a:r>
              <a:rPr lang="en-US" altLang="ko-KR"/>
              <a:t>0x</a:t>
            </a:r>
            <a:r>
              <a:rPr lang="en-US" altLang="ko-KR">
                <a:solidFill>
                  <a:srgbClr val="00CC00"/>
                </a:solidFill>
              </a:rPr>
              <a:t>1d</a:t>
            </a:r>
            <a:r>
              <a:rPr lang="en-US" altLang="ko-KR">
                <a:solidFill>
                  <a:srgbClr val="7030A0"/>
                </a:solidFill>
              </a:rPr>
              <a:t>00ffff</a:t>
            </a:r>
            <a:r>
              <a:rPr lang="en-US" altLang="ko-KR"/>
              <a:t> </a:t>
            </a:r>
            <a:r>
              <a:rPr lang="ko-KR" altLang="en-US" smtClean="0"/>
              <a:t>의미</a:t>
            </a:r>
            <a:endParaRPr lang="en-US" altLang="ko-KR" smtClean="0"/>
          </a:p>
          <a:p>
            <a:pPr lvl="2"/>
            <a:r>
              <a:rPr lang="en-US" altLang="ko-KR" smtClean="0"/>
              <a:t>0x1d(10</a:t>
            </a:r>
            <a:r>
              <a:rPr lang="ko-KR" altLang="en-US"/>
              <a:t>진수로 </a:t>
            </a:r>
            <a:r>
              <a:rPr lang="en-US" altLang="ko-KR"/>
              <a:t>29</a:t>
            </a:r>
            <a:r>
              <a:rPr lang="en-US" altLang="ko-KR" smtClean="0"/>
              <a:t>) - </a:t>
            </a:r>
            <a:r>
              <a:rPr lang="ko-KR" altLang="en-US"/>
              <a:t>계수 부분이 </a:t>
            </a:r>
            <a:r>
              <a:rPr lang="en-US" altLang="ko-KR" u="sng"/>
              <a:t>29</a:t>
            </a:r>
            <a:r>
              <a:rPr lang="ko-KR" altLang="en-US" u="sng"/>
              <a:t>바이트</a:t>
            </a:r>
            <a:r>
              <a:rPr lang="en-US" altLang="ko-KR" u="sng"/>
              <a:t>(29 * 8 = 232</a:t>
            </a:r>
            <a:r>
              <a:rPr lang="ko-KR" altLang="en-US" u="sng"/>
              <a:t>비트</a:t>
            </a:r>
            <a:r>
              <a:rPr lang="en-US" altLang="ko-KR" u="sng"/>
              <a:t>)</a:t>
            </a:r>
            <a:r>
              <a:rPr lang="ko-KR" altLang="en-US"/>
              <a:t>로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확장됨을 의미</a:t>
            </a:r>
            <a:endParaRPr lang="en-US" altLang="ko-KR" smtClean="0"/>
          </a:p>
          <a:p>
            <a:pPr lvl="2"/>
            <a:endParaRPr lang="en-US" altLang="ko-KR" smtClean="0"/>
          </a:p>
          <a:p>
            <a:pPr lvl="2"/>
            <a:r>
              <a:rPr lang="en-US" altLang="ko-KR" smtClean="0"/>
              <a:t>0x00ffff - </a:t>
            </a:r>
            <a:r>
              <a:rPr lang="ko-KR" altLang="en-US"/>
              <a:t>계수 부분의 </a:t>
            </a:r>
            <a:r>
              <a:rPr lang="ko-KR" altLang="en-US" smtClean="0"/>
              <a:t>값</a:t>
            </a:r>
            <a:endParaRPr lang="en-US" altLang="ko-KR" smtClean="0"/>
          </a:p>
          <a:p>
            <a:pPr lvl="3"/>
            <a:r>
              <a:rPr lang="en-US" altLang="ko-KR" smtClean="0"/>
              <a:t>0x1d00ffff</a:t>
            </a:r>
            <a:r>
              <a:rPr lang="ko-KR" altLang="en-US"/>
              <a:t>를 실제 </a:t>
            </a:r>
            <a:r>
              <a:rPr lang="en-US" altLang="ko-KR"/>
              <a:t>256</a:t>
            </a:r>
            <a:r>
              <a:rPr lang="ko-KR" altLang="en-US"/>
              <a:t>비트 난이도 목표 숫자로 변환하면 다음과 </a:t>
            </a:r>
            <a:r>
              <a:rPr lang="ko-KR" altLang="en-US" smtClean="0"/>
              <a:t>같음</a:t>
            </a:r>
            <a:endParaRPr lang="en-US" altLang="ko-KR" smtClean="0"/>
          </a:p>
          <a:p>
            <a:pPr lvl="4"/>
            <a:r>
              <a:rPr lang="en-US" altLang="ko-KR" smtClean="0"/>
              <a:t>0x00FFFF </a:t>
            </a:r>
            <a:r>
              <a:rPr lang="en-US" altLang="ko-KR"/>
              <a:t>* 2^(8 * (0x1d - 3</a:t>
            </a:r>
            <a:r>
              <a:rPr lang="en-US" altLang="ko-KR" smtClean="0"/>
              <a:t>))(</a:t>
            </a:r>
            <a:r>
              <a:rPr lang="ko-KR" altLang="en-US" smtClean="0"/>
              <a:t>실제 </a:t>
            </a:r>
            <a:r>
              <a:rPr lang="ko-KR" altLang="en-US"/>
              <a:t>비트 시프트 연산과 다를 수 </a:t>
            </a:r>
            <a:r>
              <a:rPr lang="ko-KR" altLang="en-US" smtClean="0"/>
              <a:t>있음</a:t>
            </a:r>
            <a:r>
              <a:rPr lang="en-US" altLang="ko-KR" smtClean="0"/>
              <a:t>)</a:t>
            </a:r>
          </a:p>
          <a:p>
            <a:pPr lvl="3"/>
            <a:r>
              <a:rPr lang="ko-KR" altLang="en-US" smtClean="0"/>
              <a:t>결과적으로</a:t>
            </a:r>
            <a:r>
              <a:rPr lang="en-US" altLang="ko-KR" smtClean="0"/>
              <a:t>0x</a:t>
            </a:r>
            <a:r>
              <a:rPr lang="en-US" altLang="ko-KR" smtClean="0">
                <a:solidFill>
                  <a:srgbClr val="FF0000"/>
                </a:solidFill>
              </a:rPr>
              <a:t>000000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00FFFF0000000000000000000000000000000000000000000000000000</a:t>
            </a:r>
            <a:r>
              <a:rPr lang="ko-KR" altLang="en-US" smtClean="0"/>
              <a:t>과 </a:t>
            </a:r>
            <a:r>
              <a:rPr lang="ko-KR" altLang="en-US"/>
              <a:t>같은 </a:t>
            </a:r>
            <a:r>
              <a:rPr lang="en-US" altLang="ko-KR"/>
              <a:t>256</a:t>
            </a:r>
            <a:r>
              <a:rPr lang="ko-KR" altLang="en-US"/>
              <a:t>비트의 매우 큰 숫자가 난이도 목표가 </a:t>
            </a:r>
            <a:r>
              <a:rPr lang="ko-KR" altLang="en-US" smtClean="0"/>
              <a:t>됨</a:t>
            </a:r>
            <a:endParaRPr lang="en-US" altLang="ko-KR" smtClean="0"/>
          </a:p>
          <a:p>
            <a:pPr lvl="3"/>
            <a:endParaRPr lang="en-US" altLang="ko-KR" smtClean="0"/>
          </a:p>
          <a:p>
            <a:pPr lvl="3"/>
            <a:r>
              <a:rPr lang="ko-KR" altLang="en-US" smtClean="0"/>
              <a:t>이 </a:t>
            </a:r>
            <a:r>
              <a:rPr lang="ko-KR" altLang="en-US"/>
              <a:t>숫자의 의미는 </a:t>
            </a:r>
            <a:r>
              <a:rPr lang="ko-KR" altLang="en-US" smtClean="0">
                <a:solidFill>
                  <a:srgbClr val="FF0000"/>
                </a:solidFill>
              </a:rPr>
              <a:t>채굴된 </a:t>
            </a:r>
            <a:r>
              <a:rPr lang="ko-KR" altLang="en-US">
                <a:solidFill>
                  <a:srgbClr val="FF0000"/>
                </a:solidFill>
              </a:rPr>
              <a:t>블록의 해시 값은 반드시 이 숫자보다 작거나 같아야 </a:t>
            </a:r>
            <a:r>
              <a:rPr lang="en-US" altLang="ko-KR" smtClean="0">
                <a:solidFill>
                  <a:srgbClr val="FF0000"/>
                </a:solidFill>
              </a:rPr>
              <a:t/>
            </a:r>
            <a:br>
              <a:rPr lang="en-US" altLang="ko-KR" smtClean="0">
                <a:solidFill>
                  <a:srgbClr val="FF0000"/>
                </a:solidFill>
              </a:rPr>
            </a:br>
            <a:r>
              <a:rPr lang="ko-KR" altLang="en-US" smtClean="0">
                <a:solidFill>
                  <a:srgbClr val="FF0000"/>
                </a:solidFill>
              </a:rPr>
              <a:t>한다는 것임</a:t>
            </a:r>
            <a:endParaRPr lang="en-US" altLang="ko-KR" smtClean="0">
              <a:solidFill>
                <a:srgbClr val="FF0000"/>
              </a:solidFill>
            </a:endParaRPr>
          </a:p>
          <a:p>
            <a:pPr lvl="3"/>
            <a:endParaRPr lang="en-US" altLang="ko-KR" smtClean="0"/>
          </a:p>
          <a:p>
            <a:pPr lvl="3"/>
            <a:r>
              <a:rPr lang="ko-KR" altLang="en-US" smtClean="0"/>
              <a:t>해시 </a:t>
            </a:r>
            <a:r>
              <a:rPr lang="ko-KR" altLang="en-US"/>
              <a:t>값은 </a:t>
            </a:r>
            <a:r>
              <a:rPr lang="en-US" altLang="ko-KR"/>
              <a:t>256</a:t>
            </a:r>
            <a:r>
              <a:rPr lang="ko-KR" altLang="en-US"/>
              <a:t>비트 숫자이므로</a:t>
            </a:r>
            <a:r>
              <a:rPr lang="en-US" altLang="ko-KR"/>
              <a:t>, </a:t>
            </a:r>
            <a:r>
              <a:rPr lang="ko-KR" altLang="en-US">
                <a:solidFill>
                  <a:srgbClr val="FF0000"/>
                </a:solidFill>
              </a:rPr>
              <a:t>앞에 </a:t>
            </a:r>
            <a:r>
              <a:rPr lang="en-US" altLang="ko-KR">
                <a:solidFill>
                  <a:srgbClr val="FF0000"/>
                </a:solidFill>
              </a:rPr>
              <a:t>0</a:t>
            </a:r>
            <a:r>
              <a:rPr lang="ko-KR" altLang="en-US">
                <a:solidFill>
                  <a:srgbClr val="FF0000"/>
                </a:solidFill>
              </a:rPr>
              <a:t>이 많이 붙을수록 그 숫자는 </a:t>
            </a:r>
            <a:r>
              <a:rPr lang="ko-KR" altLang="en-US" smtClean="0">
                <a:solidFill>
                  <a:srgbClr val="FF0000"/>
                </a:solidFill>
              </a:rPr>
              <a:t>작아짐 </a:t>
            </a:r>
            <a:r>
              <a:rPr lang="en-US" altLang="ko-KR" smtClean="0">
                <a:sym typeface="Wingdings" panose="05000000000000000000" pitchFamily="2" charset="2"/>
              </a:rPr>
              <a:t> </a:t>
            </a:r>
            <a:r>
              <a:rPr lang="ko-KR" altLang="en-US" smtClean="0"/>
              <a:t>즉</a:t>
            </a:r>
            <a:r>
              <a:rPr lang="en-US" altLang="ko-KR"/>
              <a:t>, </a:t>
            </a:r>
            <a:r>
              <a:rPr lang="ko-KR" altLang="en-US"/>
              <a:t>난이도 목표가 작아질수록 블록 해시 앞에 더 많은 </a:t>
            </a:r>
            <a:r>
              <a:rPr lang="en-US" altLang="ko-KR"/>
              <a:t>0</a:t>
            </a:r>
            <a:r>
              <a:rPr lang="ko-KR" altLang="en-US"/>
              <a:t>이 붙어야 하므로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더 </a:t>
            </a:r>
            <a:r>
              <a:rPr lang="ko-KR" altLang="en-US"/>
              <a:t>많은 </a:t>
            </a:r>
            <a:r>
              <a:rPr lang="ko-KR" altLang="en-US" smtClean="0"/>
              <a:t>계산</a:t>
            </a:r>
            <a:r>
              <a:rPr lang="en-US" altLang="ko-KR"/>
              <a:t>(</a:t>
            </a:r>
            <a:r>
              <a:rPr lang="ko-KR" altLang="en-US"/>
              <a:t>더 많은 논스 값 시도</a:t>
            </a:r>
            <a:r>
              <a:rPr lang="en-US" altLang="ko-KR"/>
              <a:t>)</a:t>
            </a:r>
            <a:r>
              <a:rPr lang="ko-KR" altLang="en-US"/>
              <a:t>이 필요해지고 채굴이 </a:t>
            </a:r>
            <a:r>
              <a:rPr lang="ko-KR" altLang="en-US" smtClean="0"/>
              <a:t>어려워짐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0755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r>
              <a:rPr lang="ko-KR" altLang="en-US"/>
              <a:t>난이도 목표</a:t>
            </a:r>
            <a:r>
              <a:rPr lang="en-US" altLang="ko-KR"/>
              <a:t>(Difficulty Target</a:t>
            </a:r>
            <a:r>
              <a:rPr lang="en-US" altLang="ko-KR" smtClean="0"/>
              <a:t>)</a:t>
            </a:r>
            <a:r>
              <a:rPr lang="ko-KR" altLang="en-US" smtClean="0"/>
              <a:t>를 나타내는 </a:t>
            </a:r>
            <a:r>
              <a:rPr lang="en-US" altLang="ko-KR" smtClean="0"/>
              <a:t>Bits </a:t>
            </a:r>
            <a:r>
              <a:rPr lang="ko-KR" altLang="en-US" smtClean="0"/>
              <a:t>필드</a:t>
            </a:r>
            <a:endParaRPr lang="en-US" altLang="ko-KR" smtClean="0"/>
          </a:p>
          <a:p>
            <a:pPr lvl="1"/>
            <a:r>
              <a:rPr lang="ko-KR" altLang="en-US" smtClean="0"/>
              <a:t>현재의 난이도 목표값</a:t>
            </a:r>
            <a:r>
              <a:rPr lang="en-US" altLang="ko-KR"/>
              <a:t>(CURRENT_TARGET</a:t>
            </a:r>
            <a:r>
              <a:rPr lang="en-US" altLang="ko-KR" smtClean="0"/>
              <a:t>)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924944"/>
            <a:ext cx="3930883" cy="2132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9" y="2502024"/>
            <a:ext cx="4860032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1540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r>
              <a:rPr lang="ko-KR" altLang="en-US"/>
              <a:t>난이도 목표</a:t>
            </a:r>
            <a:r>
              <a:rPr lang="en-US" altLang="ko-KR"/>
              <a:t>(Difficulty Target</a:t>
            </a:r>
            <a:r>
              <a:rPr lang="en-US" altLang="ko-KR" smtClean="0"/>
              <a:t>)</a:t>
            </a:r>
            <a:r>
              <a:rPr lang="ko-KR" altLang="en-US" smtClean="0"/>
              <a:t>를 나타내는 </a:t>
            </a:r>
            <a:r>
              <a:rPr lang="en-US" altLang="ko-KR" smtClean="0"/>
              <a:t>Bits </a:t>
            </a:r>
            <a:r>
              <a:rPr lang="ko-KR" altLang="en-US" smtClean="0"/>
              <a:t>필드</a:t>
            </a:r>
            <a:endParaRPr lang="en-US" altLang="ko-KR" smtClean="0"/>
          </a:p>
          <a:p>
            <a:pPr lvl="1"/>
            <a:r>
              <a:rPr lang="ko-KR" altLang="en-US" smtClean="0"/>
              <a:t>현재의 난이도 목표값</a:t>
            </a:r>
            <a:r>
              <a:rPr lang="en-US" altLang="ko-KR"/>
              <a:t>(CURRENT_TARGET</a:t>
            </a:r>
            <a:r>
              <a:rPr lang="en-US" altLang="ko-KR" smtClean="0"/>
              <a:t>)</a:t>
            </a:r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36602"/>
              </p:ext>
            </p:extLst>
          </p:nvPr>
        </p:nvGraphicFramePr>
        <p:xfrm>
          <a:off x="3275856" y="3068960"/>
          <a:ext cx="19812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포장기 셸 개체" showAsIcon="1" r:id="rId3" imgW="1222408" imgH="510139" progId="Package">
                  <p:embed/>
                </p:oleObj>
              </mc:Choice>
              <mc:Fallback>
                <p:oleObj name="포장기 셸 개체" showAsIcon="1" r:id="rId3" imgW="1222408" imgH="510139" progId="Package">
                  <p:embed/>
                  <p:pic>
                    <p:nvPicPr>
                      <p:cNvPr id="0" name="개체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3068960"/>
                        <a:ext cx="1981200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141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임시값</a:t>
            </a:r>
            <a:r>
              <a:rPr lang="en-US" altLang="ko-KR"/>
              <a:t>(</a:t>
            </a:r>
            <a:r>
              <a:rPr lang="ko-KR" altLang="en-US" smtClean="0"/>
              <a:t>논스</a:t>
            </a:r>
            <a:r>
              <a:rPr lang="en-US" altLang="ko-KR" smtClean="0"/>
              <a:t>, Nonce)</a:t>
            </a:r>
          </a:p>
          <a:p>
            <a:pPr lvl="1"/>
            <a:r>
              <a:rPr lang="ko-KR" altLang="en-US" smtClean="0"/>
              <a:t>블록해시의 생성 조건을 맞추기 위해 사용하는 임시 값</a:t>
            </a:r>
            <a:endParaRPr lang="en-US" altLang="ko-KR" smtClean="0"/>
          </a:p>
          <a:p>
            <a:pPr lvl="1"/>
            <a:endParaRPr lang="ko-KR" altLang="en-US" b="0"/>
          </a:p>
          <a:p>
            <a:pPr lvl="2"/>
            <a:r>
              <a:rPr lang="ko-KR" altLang="en-US" smtClean="0"/>
              <a:t>① 논스를 적용하여 블록해시 계산</a:t>
            </a:r>
            <a:endParaRPr lang="ko-KR" altLang="en-US" b="0"/>
          </a:p>
          <a:p>
            <a:pPr lvl="2"/>
            <a:r>
              <a:rPr lang="ko-KR" altLang="en-US" smtClean="0"/>
              <a:t>② 블록해시가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난이도 목표 값 이하면 작업증명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채굴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완료</a:t>
            </a:r>
            <a:endParaRPr lang="ko-KR" altLang="en-US" b="0">
              <a:solidFill>
                <a:schemeClr val="accent6">
                  <a:lumMod val="75000"/>
                </a:schemeClr>
              </a:solidFill>
            </a:endParaRPr>
          </a:p>
          <a:p>
            <a:pPr lvl="2"/>
            <a:r>
              <a:rPr lang="ko-KR" altLang="en-US" smtClean="0"/>
              <a:t>③ 난이도 목표 값 이상이면 </a:t>
            </a:r>
            <a:r>
              <a:rPr lang="ko-KR" altLang="en-US" smtClean="0">
                <a:solidFill>
                  <a:srgbClr val="006600"/>
                </a:solidFill>
              </a:rPr>
              <a:t>논스를 </a:t>
            </a:r>
            <a:r>
              <a:rPr lang="en-US" altLang="ko-KR" smtClean="0">
                <a:solidFill>
                  <a:srgbClr val="006600"/>
                </a:solidFill>
              </a:rPr>
              <a:t>1 </a:t>
            </a:r>
            <a:r>
              <a:rPr lang="ko-KR" altLang="en-US">
                <a:solidFill>
                  <a:srgbClr val="006600"/>
                </a:solidFill>
              </a:rPr>
              <a:t>증가후</a:t>
            </a:r>
            <a:r>
              <a:rPr lang="en-US" altLang="ko-KR" smtClean="0">
                <a:solidFill>
                  <a:srgbClr val="006600"/>
                </a:solidFill>
              </a:rPr>
              <a:t>, 1</a:t>
            </a:r>
            <a:r>
              <a:rPr lang="ko-KR" altLang="en-US" smtClean="0">
                <a:solidFill>
                  <a:srgbClr val="006600"/>
                </a:solidFill>
              </a:rPr>
              <a:t>번 작업으로 분기</a:t>
            </a:r>
            <a:endParaRPr lang="ko-KR" altLang="en-US" b="0">
              <a:solidFill>
                <a:srgbClr val="006600"/>
              </a:solidFill>
            </a:endParaRPr>
          </a:p>
          <a:p>
            <a:endParaRPr lang="en-US" altLang="ko-KR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789040"/>
            <a:ext cx="6183610" cy="2693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296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임시값</a:t>
            </a:r>
            <a:r>
              <a:rPr lang="en-US" altLang="ko-KR"/>
              <a:t>(</a:t>
            </a:r>
            <a:r>
              <a:rPr lang="ko-KR" altLang="en-US"/>
              <a:t>논스</a:t>
            </a:r>
            <a:r>
              <a:rPr lang="en-US" altLang="ko-KR"/>
              <a:t>, Nonce)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52224"/>
            <a:ext cx="7560840" cy="3653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95536" y="6021288"/>
            <a:ext cx="82809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b="1" smtClean="0">
                <a:solidFill>
                  <a:srgbClr val="C00000"/>
                </a:solidFill>
                <a:latin typeface="+mn-ea"/>
              </a:rPr>
              <a:t>결국 </a:t>
            </a:r>
            <a:r>
              <a:rPr lang="ko-KR" altLang="en-US" sz="1600" b="1">
                <a:solidFill>
                  <a:srgbClr val="C00000"/>
                </a:solidFill>
                <a:latin typeface="+mn-ea"/>
              </a:rPr>
              <a:t>블록을 만드는 방법은 목표값보다 작은 해시값이 나오도록 하는 논스를 찾는 </a:t>
            </a:r>
            <a:r>
              <a:rPr lang="ko-KR" altLang="en-US" sz="1600" b="1" smtClean="0">
                <a:solidFill>
                  <a:srgbClr val="C00000"/>
                </a:solidFill>
                <a:latin typeface="+mn-ea"/>
              </a:rPr>
              <a:t>것임</a:t>
            </a:r>
            <a:r>
              <a:rPr lang="en-US" altLang="ko-KR" sz="1600" b="1" smtClean="0">
                <a:solidFill>
                  <a:srgbClr val="C00000"/>
                </a:solidFill>
                <a:latin typeface="+mn-ea"/>
              </a:rPr>
              <a:t>!!!</a:t>
            </a:r>
            <a:endParaRPr lang="ko-KR" altLang="en-US" sz="16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88255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임시값</a:t>
            </a:r>
            <a:r>
              <a:rPr lang="en-US" altLang="ko-KR"/>
              <a:t>(</a:t>
            </a:r>
            <a:r>
              <a:rPr lang="ko-KR" altLang="en-US"/>
              <a:t>논스</a:t>
            </a:r>
            <a:r>
              <a:rPr lang="en-US" altLang="ko-KR"/>
              <a:t>, Nonce)</a:t>
            </a:r>
          </a:p>
        </p:txBody>
      </p: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879639"/>
              </p:ext>
            </p:extLst>
          </p:nvPr>
        </p:nvGraphicFramePr>
        <p:xfrm>
          <a:off x="2771800" y="2996952"/>
          <a:ext cx="3361330" cy="833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포장기 셸 개체" showAsIcon="1" r:id="rId3" imgW="2067840" imgH="513360" progId="Package">
                  <p:embed/>
                </p:oleObj>
              </mc:Choice>
              <mc:Fallback>
                <p:oleObj name="포장기 셸 개체" showAsIcon="1" r:id="rId3" imgW="206784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1800" y="2996952"/>
                        <a:ext cx="3361330" cy="8332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2291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블록체인의 분기 </a:t>
            </a:r>
            <a:r>
              <a:rPr lang="en-US" altLang="ko-KR" smtClean="0"/>
              <a:t>=</a:t>
            </a:r>
            <a:r>
              <a:rPr lang="en-US" altLang="ko-KR"/>
              <a:t> Fork(</a:t>
            </a:r>
            <a:r>
              <a:rPr lang="ko-KR" altLang="en-US"/>
              <a:t>포크</a:t>
            </a:r>
            <a:r>
              <a:rPr lang="en-US" altLang="ko-KR"/>
              <a:t>)</a:t>
            </a:r>
            <a:endParaRPr lang="en-US" altLang="ko-KR" smtClean="0"/>
          </a:p>
          <a:p>
            <a:pPr lvl="1"/>
            <a:r>
              <a:rPr lang="ko-KR" altLang="en-US" smtClean="0">
                <a:solidFill>
                  <a:schemeClr val="tx1"/>
                </a:solidFill>
              </a:rPr>
              <a:t>블록체인 </a:t>
            </a:r>
            <a:r>
              <a:rPr lang="ko-KR" altLang="en-US">
                <a:solidFill>
                  <a:schemeClr val="tx1"/>
                </a:solidFill>
              </a:rPr>
              <a:t>네트워크에서 블록체인의 기록이 </a:t>
            </a:r>
            <a:r>
              <a:rPr lang="ko-KR" altLang="en-US"/>
              <a:t>두 개 이상의 독립적인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경로로 </a:t>
            </a:r>
            <a:r>
              <a:rPr lang="ko-KR" altLang="en-US"/>
              <a:t>나뉘는 </a:t>
            </a:r>
            <a:r>
              <a:rPr lang="ko-KR" altLang="en-US" smtClean="0"/>
              <a:t>현상</a:t>
            </a:r>
            <a:r>
              <a:rPr lang="ko-KR" altLang="en-US" smtClean="0">
                <a:solidFill>
                  <a:schemeClr val="tx1"/>
                </a:solidFill>
              </a:rPr>
              <a:t> </a:t>
            </a:r>
            <a:r>
              <a:rPr lang="en-US" altLang="ko-KR" smtClean="0">
                <a:solidFill>
                  <a:schemeClr val="tx1"/>
                </a:solidFill>
                <a:sym typeface="Wingdings" panose="05000000000000000000" pitchFamily="2" charset="2"/>
              </a:rPr>
              <a:t> </a:t>
            </a:r>
            <a:r>
              <a:rPr lang="ko-KR" altLang="en-US" smtClean="0">
                <a:solidFill>
                  <a:schemeClr val="tx1"/>
                </a:solidFill>
              </a:rPr>
              <a:t>포크는 </a:t>
            </a:r>
            <a:r>
              <a:rPr lang="ko-KR" altLang="en-US" u="sng">
                <a:solidFill>
                  <a:srgbClr val="006600"/>
                </a:solidFill>
              </a:rPr>
              <a:t>다양한 이유로 발생할 수 있으며</a:t>
            </a:r>
            <a:r>
              <a:rPr lang="en-US" altLang="ko-KR" u="sng">
                <a:solidFill>
                  <a:srgbClr val="006600"/>
                </a:solidFill>
              </a:rPr>
              <a:t>, </a:t>
            </a:r>
            <a:r>
              <a:rPr lang="en-US" altLang="ko-KR" u="sng" smtClean="0">
                <a:solidFill>
                  <a:srgbClr val="006600"/>
                </a:solidFill>
              </a:rPr>
              <a:t/>
            </a:r>
            <a:br>
              <a:rPr lang="en-US" altLang="ko-KR" u="sng" smtClean="0">
                <a:solidFill>
                  <a:srgbClr val="006600"/>
                </a:solidFill>
              </a:rPr>
            </a:br>
            <a:r>
              <a:rPr lang="ko-KR" altLang="en-US" u="sng" smtClean="0">
                <a:solidFill>
                  <a:srgbClr val="006600"/>
                </a:solidFill>
              </a:rPr>
              <a:t>그 </a:t>
            </a:r>
            <a:r>
              <a:rPr lang="ko-KR" altLang="en-US" u="sng">
                <a:solidFill>
                  <a:srgbClr val="006600"/>
                </a:solidFill>
              </a:rPr>
              <a:t>영향도 </a:t>
            </a:r>
            <a:r>
              <a:rPr lang="ko-KR" altLang="en-US" u="sng" smtClean="0">
                <a:solidFill>
                  <a:srgbClr val="006600"/>
                </a:solidFill>
              </a:rPr>
              <a:t>다름</a:t>
            </a:r>
            <a:endParaRPr lang="en-US" altLang="ko-KR" u="sng" smtClean="0">
              <a:solidFill>
                <a:srgbClr val="006600"/>
              </a:solidFill>
            </a:endParaRPr>
          </a:p>
          <a:p>
            <a:pPr lvl="1"/>
            <a:endParaRPr lang="en-US" altLang="ko-KR" u="sng" smtClean="0">
              <a:solidFill>
                <a:schemeClr val="tx1"/>
              </a:solidFill>
            </a:endParaRPr>
          </a:p>
          <a:p>
            <a:pPr lvl="1"/>
            <a:r>
              <a:rPr lang="ko-KR" altLang="en-US">
                <a:solidFill>
                  <a:schemeClr val="tx1"/>
                </a:solidFill>
              </a:rPr>
              <a:t>포크</a:t>
            </a:r>
            <a:r>
              <a:rPr lang="en-US" altLang="ko-KR">
                <a:solidFill>
                  <a:schemeClr val="tx1"/>
                </a:solidFill>
              </a:rPr>
              <a:t>(Fork)</a:t>
            </a:r>
            <a:r>
              <a:rPr lang="ko-KR" altLang="en-US">
                <a:solidFill>
                  <a:schemeClr val="tx1"/>
                </a:solidFill>
              </a:rPr>
              <a:t>의 발생 원인</a:t>
            </a:r>
          </a:p>
          <a:p>
            <a:pPr lvl="2"/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자연적인 포크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Temporary/Accidental Fork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pPr lvl="3"/>
            <a:r>
              <a:rPr lang="ko-KR" altLang="en-US" smtClean="0"/>
              <a:t>원인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/>
              <a:t>네트워크 지연</a:t>
            </a:r>
            <a:r>
              <a:rPr lang="en-US" altLang="ko-KR"/>
              <a:t>, </a:t>
            </a:r>
            <a:r>
              <a:rPr lang="ko-KR" altLang="en-US"/>
              <a:t>채굴 경쟁 등으로 인해 두 개 이상의 채굴자가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u="sng" smtClean="0">
                <a:solidFill>
                  <a:srgbClr val="006600"/>
                </a:solidFill>
              </a:rPr>
              <a:t>거의 동시에 </a:t>
            </a:r>
            <a:r>
              <a:rPr lang="ko-KR" altLang="en-US" u="sng">
                <a:solidFill>
                  <a:srgbClr val="006600"/>
                </a:solidFill>
              </a:rPr>
              <a:t>유효한 블록을 채굴하여 네트워크에 전파할 때 </a:t>
            </a:r>
            <a:r>
              <a:rPr lang="ko-KR" altLang="en-US" u="sng" smtClean="0">
                <a:solidFill>
                  <a:srgbClr val="006600"/>
                </a:solidFill>
              </a:rPr>
              <a:t>발생</a:t>
            </a:r>
            <a:endParaRPr lang="en-US" altLang="ko-KR" u="sng" smtClean="0">
              <a:solidFill>
                <a:srgbClr val="006600"/>
              </a:solidFill>
            </a:endParaRPr>
          </a:p>
          <a:p>
            <a:pPr lvl="3"/>
            <a:r>
              <a:rPr lang="ko-KR" altLang="en-US" smtClean="0"/>
              <a:t>결과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>
                <a:solidFill>
                  <a:srgbClr val="BA068B"/>
                </a:solidFill>
              </a:rPr>
              <a:t>일시적으로 두 갈래의 </a:t>
            </a:r>
            <a:r>
              <a:rPr lang="ko-KR" altLang="en-US"/>
              <a:t>체인이 생겨날 수 </a:t>
            </a:r>
            <a:r>
              <a:rPr lang="ko-KR" altLang="en-US" smtClean="0"/>
              <a:t>있음</a:t>
            </a:r>
            <a:endParaRPr lang="en-US" altLang="ko-KR" smtClean="0"/>
          </a:p>
          <a:p>
            <a:pPr lvl="4"/>
            <a:r>
              <a:rPr lang="ko-KR" altLang="en-US" smtClean="0"/>
              <a:t>비트코인과 </a:t>
            </a:r>
            <a:r>
              <a:rPr lang="ko-KR" altLang="en-US"/>
              <a:t>같은 작업 증명</a:t>
            </a:r>
            <a:r>
              <a:rPr lang="en-US" altLang="ko-KR"/>
              <a:t>(PoW) </a:t>
            </a:r>
            <a:r>
              <a:rPr lang="ko-KR" altLang="en-US"/>
              <a:t>기반 블록체인에서는 </a:t>
            </a:r>
            <a:r>
              <a:rPr lang="en-US" altLang="ko-KR">
                <a:solidFill>
                  <a:srgbClr val="FF0000"/>
                </a:solidFill>
              </a:rPr>
              <a:t>"</a:t>
            </a:r>
            <a:r>
              <a:rPr lang="ko-KR" altLang="en-US">
                <a:solidFill>
                  <a:srgbClr val="FF0000"/>
                </a:solidFill>
              </a:rPr>
              <a:t>가장 긴 체인이 </a:t>
            </a:r>
            <a:r>
              <a:rPr lang="en-US" altLang="ko-KR" smtClean="0">
                <a:solidFill>
                  <a:srgbClr val="FF0000"/>
                </a:solidFill>
              </a:rPr>
              <a:t/>
            </a:r>
            <a:br>
              <a:rPr lang="en-US" altLang="ko-KR" smtClean="0">
                <a:solidFill>
                  <a:srgbClr val="FF0000"/>
                </a:solidFill>
              </a:rPr>
            </a:br>
            <a:r>
              <a:rPr lang="ko-KR" altLang="en-US" smtClean="0">
                <a:solidFill>
                  <a:srgbClr val="FF0000"/>
                </a:solidFill>
              </a:rPr>
              <a:t>유효한 </a:t>
            </a:r>
            <a:r>
              <a:rPr lang="ko-KR" altLang="en-US">
                <a:solidFill>
                  <a:srgbClr val="FF0000"/>
                </a:solidFill>
              </a:rPr>
              <a:t>체인</a:t>
            </a:r>
            <a:r>
              <a:rPr lang="en-US" altLang="ko-KR">
                <a:solidFill>
                  <a:srgbClr val="FF0000"/>
                </a:solidFill>
              </a:rPr>
              <a:t>"</a:t>
            </a:r>
            <a:r>
              <a:rPr lang="ko-KR" altLang="en-US"/>
              <a:t>이라는 규칙</a:t>
            </a:r>
            <a:r>
              <a:rPr lang="en-US" altLang="ko-KR"/>
              <a:t>(Longest Chain Rule)</a:t>
            </a:r>
            <a:r>
              <a:rPr lang="ko-KR" altLang="en-US"/>
              <a:t>에 따라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곧 </a:t>
            </a:r>
            <a:r>
              <a:rPr lang="ko-KR" altLang="en-US"/>
              <a:t>하나의 체인으로 </a:t>
            </a:r>
            <a:r>
              <a:rPr lang="ko-KR" altLang="en-US" smtClean="0"/>
              <a:t>수렴됨</a:t>
            </a:r>
            <a:r>
              <a:rPr lang="en-US" altLang="ko-KR" smtClean="0"/>
              <a:t>(</a:t>
            </a:r>
            <a:r>
              <a:rPr lang="ko-KR" altLang="en-US"/>
              <a:t>짧은 체인은 </a:t>
            </a:r>
            <a:r>
              <a:rPr lang="ko-KR" altLang="en-US" smtClean="0"/>
              <a:t>폐기</a:t>
            </a:r>
            <a:r>
              <a:rPr lang="en-US" altLang="ko-KR" smtClean="0"/>
              <a:t>)</a:t>
            </a:r>
          </a:p>
          <a:p>
            <a:pPr lvl="2"/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의도적인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포크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Deliberate Fork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pPr lvl="3"/>
            <a:r>
              <a:rPr lang="ko-KR" altLang="en-US" smtClean="0"/>
              <a:t>원인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/>
              <a:t>블록체인 </a:t>
            </a:r>
            <a:r>
              <a:rPr lang="ko-KR" altLang="en-US" u="sng">
                <a:solidFill>
                  <a:srgbClr val="BA068B"/>
                </a:solidFill>
              </a:rPr>
              <a:t>프로토콜의 규칙을 변경하거나 새로운 기능을 추가하기 위해</a:t>
            </a:r>
            <a:r>
              <a:rPr lang="en-US" altLang="ko-KR" u="sng">
                <a:solidFill>
                  <a:srgbClr val="BA068B"/>
                </a:solidFill>
              </a:rPr>
              <a:t>, </a:t>
            </a:r>
            <a:r>
              <a:rPr lang="en-US" altLang="ko-KR" u="sng" smtClean="0">
                <a:solidFill>
                  <a:srgbClr val="BA068B"/>
                </a:solidFill>
              </a:rPr>
              <a:t/>
            </a:r>
            <a:br>
              <a:rPr lang="en-US" altLang="ko-KR" u="sng" smtClean="0">
                <a:solidFill>
                  <a:srgbClr val="BA068B"/>
                </a:solidFill>
              </a:rPr>
            </a:br>
            <a:r>
              <a:rPr lang="ko-KR" altLang="en-US" u="sng" smtClean="0">
                <a:solidFill>
                  <a:srgbClr val="BA068B"/>
                </a:solidFill>
              </a:rPr>
              <a:t>개발자나 </a:t>
            </a:r>
            <a:r>
              <a:rPr lang="ko-KR" altLang="en-US" u="sng">
                <a:solidFill>
                  <a:srgbClr val="BA068B"/>
                </a:solidFill>
              </a:rPr>
              <a:t>커뮤니티의 합의에 의해 의도적으로 </a:t>
            </a:r>
            <a:r>
              <a:rPr lang="ko-KR" altLang="en-US" u="sng" smtClean="0">
                <a:solidFill>
                  <a:srgbClr val="BA068B"/>
                </a:solidFill>
              </a:rPr>
              <a:t>발생시킴</a:t>
            </a:r>
            <a:endParaRPr lang="en-US" altLang="ko-KR" u="sng" smtClean="0">
              <a:solidFill>
                <a:srgbClr val="BA068B"/>
              </a:solidFill>
            </a:endParaRPr>
          </a:p>
          <a:p>
            <a:pPr lvl="3"/>
            <a:r>
              <a:rPr lang="ko-KR" altLang="en-US" smtClean="0"/>
              <a:t>결과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/>
              <a:t>이 의도적인 포크는 다시 </a:t>
            </a:r>
            <a:r>
              <a:rPr lang="ko-KR" altLang="en-US" smtClean="0">
                <a:solidFill>
                  <a:srgbClr val="FF0000"/>
                </a:solidFill>
              </a:rPr>
              <a:t>소프트 </a:t>
            </a:r>
            <a:r>
              <a:rPr lang="ko-KR" altLang="en-US">
                <a:solidFill>
                  <a:srgbClr val="FF0000"/>
                </a:solidFill>
              </a:rPr>
              <a:t>포크</a:t>
            </a:r>
            <a:r>
              <a:rPr lang="en-US" altLang="ko-KR">
                <a:solidFill>
                  <a:srgbClr val="FF0000"/>
                </a:solidFill>
              </a:rPr>
              <a:t>(Soft Fork</a:t>
            </a:r>
            <a:r>
              <a:rPr lang="en-US" altLang="ko-KR" smtClean="0">
                <a:solidFill>
                  <a:srgbClr val="FF0000"/>
                </a:solidFill>
              </a:rPr>
              <a:t>)</a:t>
            </a:r>
            <a:r>
              <a:rPr lang="ko-KR" altLang="en-US" smtClean="0">
                <a:solidFill>
                  <a:srgbClr val="FF0000"/>
                </a:solidFill>
              </a:rPr>
              <a:t>와 </a:t>
            </a:r>
            <a:r>
              <a:rPr lang="en-US" altLang="ko-KR" smtClean="0">
                <a:solidFill>
                  <a:srgbClr val="FF0000"/>
                </a:solidFill>
              </a:rPr>
              <a:t/>
            </a:r>
            <a:br>
              <a:rPr lang="en-US" altLang="ko-KR" smtClean="0">
                <a:solidFill>
                  <a:srgbClr val="FF0000"/>
                </a:solidFill>
              </a:rPr>
            </a:br>
            <a:r>
              <a:rPr lang="ko-KR" altLang="en-US" smtClean="0">
                <a:solidFill>
                  <a:srgbClr val="FF0000"/>
                </a:solidFill>
              </a:rPr>
              <a:t>하드 </a:t>
            </a:r>
            <a:r>
              <a:rPr lang="ko-KR" altLang="en-US">
                <a:solidFill>
                  <a:srgbClr val="FF0000"/>
                </a:solidFill>
              </a:rPr>
              <a:t>포크</a:t>
            </a:r>
            <a:r>
              <a:rPr lang="en-US" altLang="ko-KR">
                <a:solidFill>
                  <a:srgbClr val="FF0000"/>
                </a:solidFill>
              </a:rPr>
              <a:t>(Hard Fork</a:t>
            </a:r>
            <a:r>
              <a:rPr lang="en-US" altLang="ko-KR" smtClean="0">
                <a:solidFill>
                  <a:srgbClr val="FF0000"/>
                </a:solidFill>
              </a:rPr>
              <a:t>)</a:t>
            </a:r>
            <a:r>
              <a:rPr lang="ko-KR" altLang="en-US" smtClean="0">
                <a:solidFill>
                  <a:srgbClr val="FF0000"/>
                </a:solidFill>
              </a:rPr>
              <a:t>로</a:t>
            </a:r>
            <a:r>
              <a:rPr lang="ko-KR" altLang="en-US" smtClean="0"/>
              <a:t> 나뉨</a:t>
            </a:r>
            <a:endParaRPr lang="en-US" altLang="ko-KR"/>
          </a:p>
          <a:p>
            <a:pPr lvl="4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948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블록체인의 분기</a:t>
            </a:r>
            <a:endParaRPr lang="en-US" altLang="ko-KR"/>
          </a:p>
          <a:p>
            <a:pPr lvl="1"/>
            <a:r>
              <a:rPr lang="ko-KR" altLang="en-US" smtClean="0"/>
              <a:t>블록의 생성 및 전파</a:t>
            </a:r>
            <a:endParaRPr lang="en-US" altLang="ko-KR" smtClean="0"/>
          </a:p>
          <a:p>
            <a:pPr lvl="2"/>
            <a:r>
              <a:rPr lang="ko-KR" altLang="en-US" smtClean="0"/>
              <a:t>거래정보가 </a:t>
            </a:r>
            <a:r>
              <a:rPr lang="ko-KR" altLang="en-US" smtClean="0"/>
              <a:t>채워지면 각 노드는 블록을 생성</a:t>
            </a:r>
            <a:endParaRPr lang="en-US" altLang="ko-KR" smtClean="0"/>
          </a:p>
          <a:p>
            <a:pPr lvl="2"/>
            <a:r>
              <a:rPr lang="ko-KR" altLang="en-US" smtClean="0"/>
              <a:t>캐나다 노드와 호주노드는 멀리 떨어져있으므로</a:t>
            </a:r>
            <a:r>
              <a:rPr lang="en-US" altLang="ko-KR"/>
              <a:t>, </a:t>
            </a:r>
            <a:r>
              <a:rPr lang="ko-KR" altLang="en-US" smtClean="0">
                <a:solidFill>
                  <a:srgbClr val="FF0000"/>
                </a:solidFill>
              </a:rPr>
              <a:t>각 블록에 담겨있는 </a:t>
            </a:r>
            <a:r>
              <a:rPr lang="en-US" altLang="ko-KR" smtClean="0">
                <a:solidFill>
                  <a:srgbClr val="FF0000"/>
                </a:solidFill>
              </a:rPr>
              <a:t/>
            </a:r>
            <a:br>
              <a:rPr lang="en-US" altLang="ko-KR" smtClean="0">
                <a:solidFill>
                  <a:srgbClr val="FF0000"/>
                </a:solidFill>
              </a:rPr>
            </a:br>
            <a:r>
              <a:rPr lang="ko-KR" altLang="en-US" smtClean="0">
                <a:solidFill>
                  <a:srgbClr val="FF0000"/>
                </a:solidFill>
              </a:rPr>
              <a:t>거래의 내용과 순서는 서로 다를 수 </a:t>
            </a:r>
            <a:r>
              <a:rPr lang="ko-KR" altLang="en-US" smtClean="0">
                <a:solidFill>
                  <a:srgbClr val="FF0000"/>
                </a:solidFill>
              </a:rPr>
              <a:t>있음</a:t>
            </a:r>
            <a:endParaRPr lang="en-US" altLang="ko-KR" smtClean="0">
              <a:solidFill>
                <a:srgbClr val="FF0000"/>
              </a:solidFill>
            </a:endParaRPr>
          </a:p>
          <a:p>
            <a:pPr lvl="3"/>
            <a:r>
              <a:rPr lang="ko-KR" altLang="en-US">
                <a:solidFill>
                  <a:srgbClr val="00CC00"/>
                </a:solidFill>
              </a:rPr>
              <a:t>각 블록에 담겨있는 거래의 내용과 순서는 일시적으로 다를 수 있지만</a:t>
            </a:r>
            <a:r>
              <a:rPr lang="en-US" altLang="ko-KR">
                <a:solidFill>
                  <a:srgbClr val="00CC00"/>
                </a:solidFill>
              </a:rPr>
              <a:t>, </a:t>
            </a:r>
            <a:r>
              <a:rPr lang="en-US" altLang="ko-KR" smtClean="0">
                <a:solidFill>
                  <a:srgbClr val="00CC00"/>
                </a:solidFill>
              </a:rPr>
              <a:t/>
            </a:r>
            <a:br>
              <a:rPr lang="en-US" altLang="ko-KR" smtClean="0">
                <a:solidFill>
                  <a:srgbClr val="00CC00"/>
                </a:solidFill>
              </a:rPr>
            </a:br>
            <a:r>
              <a:rPr lang="ko-KR" altLang="en-US" smtClean="0">
                <a:solidFill>
                  <a:srgbClr val="00CC00"/>
                </a:solidFill>
              </a:rPr>
              <a:t>결국 </a:t>
            </a:r>
            <a:r>
              <a:rPr lang="ko-KR" altLang="en-US">
                <a:solidFill>
                  <a:srgbClr val="00CC00"/>
                </a:solidFill>
              </a:rPr>
              <a:t>모든 노드들은 하나의 최종적인 블록 순서</a:t>
            </a:r>
            <a:r>
              <a:rPr lang="en-US" altLang="ko-KR">
                <a:solidFill>
                  <a:srgbClr val="00CC00"/>
                </a:solidFill>
              </a:rPr>
              <a:t>(</a:t>
            </a:r>
            <a:r>
              <a:rPr lang="ko-KR" altLang="en-US">
                <a:solidFill>
                  <a:srgbClr val="00CC00"/>
                </a:solidFill>
              </a:rPr>
              <a:t>체인</a:t>
            </a:r>
            <a:r>
              <a:rPr lang="en-US" altLang="ko-KR">
                <a:solidFill>
                  <a:srgbClr val="00CC00"/>
                </a:solidFill>
              </a:rPr>
              <a:t>)</a:t>
            </a:r>
            <a:r>
              <a:rPr lang="ko-KR" altLang="en-US">
                <a:solidFill>
                  <a:srgbClr val="00CC00"/>
                </a:solidFill>
              </a:rPr>
              <a:t>에 대해 </a:t>
            </a:r>
            <a:r>
              <a:rPr lang="ko-KR" altLang="en-US">
                <a:solidFill>
                  <a:srgbClr val="00CC00"/>
                </a:solidFill>
              </a:rPr>
              <a:t>일치하게 </a:t>
            </a:r>
            <a:r>
              <a:rPr lang="ko-KR" altLang="en-US" smtClean="0">
                <a:solidFill>
                  <a:srgbClr val="00CC00"/>
                </a:solidFill>
              </a:rPr>
              <a:t>됨</a:t>
            </a:r>
            <a:r>
              <a:rPr lang="en-US" altLang="ko-KR" smtClean="0">
                <a:solidFill>
                  <a:srgbClr val="00CC00"/>
                </a:solidFill>
              </a:rPr>
              <a:t>!!!</a:t>
            </a:r>
            <a:endParaRPr lang="ko-KR" altLang="en-US">
              <a:solidFill>
                <a:srgbClr val="00CC00"/>
              </a:solidFill>
            </a:endParaRPr>
          </a:p>
        </p:txBody>
      </p:sp>
      <p:pic>
        <p:nvPicPr>
          <p:cNvPr id="37890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861048"/>
            <a:ext cx="6430491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타원 3"/>
          <p:cNvSpPr/>
          <p:nvPr/>
        </p:nvSpPr>
        <p:spPr>
          <a:xfrm>
            <a:off x="3563888" y="4153661"/>
            <a:ext cx="360040" cy="21602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6660232" y="5445224"/>
            <a:ext cx="360040" cy="21602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882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블록체인의 분기</a:t>
            </a:r>
            <a:endParaRPr lang="en-US" altLang="ko-KR"/>
          </a:p>
          <a:p>
            <a:pPr lvl="1"/>
            <a:r>
              <a:rPr lang="ko-KR" altLang="en-US" smtClean="0"/>
              <a:t>블록의 생성 및 전파</a:t>
            </a:r>
            <a:endParaRPr lang="en-US" altLang="ko-KR" smtClean="0"/>
          </a:p>
          <a:p>
            <a:pPr lvl="2"/>
            <a:r>
              <a:rPr lang="ko-KR" altLang="en-US" smtClean="0"/>
              <a:t>마지막 파랑 블록 다음에 </a:t>
            </a:r>
            <a:r>
              <a:rPr lang="ko-KR" altLang="en-US" u="sng" smtClean="0"/>
              <a:t>캐나다와 호주 지역의 노드가 </a:t>
            </a:r>
            <a:r>
              <a:rPr lang="ko-KR" altLang="en-US" u="sng" smtClean="0">
                <a:solidFill>
                  <a:srgbClr val="FF0000"/>
                </a:solidFill>
              </a:rPr>
              <a:t>동시에 </a:t>
            </a:r>
            <a:r>
              <a:rPr lang="en-US" altLang="ko-KR" u="sng" smtClean="0">
                <a:solidFill>
                  <a:srgbClr val="FF0000"/>
                </a:solidFill>
              </a:rPr>
              <a:t>nonce </a:t>
            </a:r>
            <a:r>
              <a:rPr lang="ko-KR" altLang="en-US" u="sng" smtClean="0">
                <a:solidFill>
                  <a:srgbClr val="FF0000"/>
                </a:solidFill>
              </a:rPr>
              <a:t>값을</a:t>
            </a:r>
            <a:r>
              <a:rPr lang="en-US" altLang="ko-KR" u="sng" smtClean="0"/>
              <a:t/>
            </a:r>
            <a:br>
              <a:rPr lang="en-US" altLang="ko-KR" u="sng" smtClean="0"/>
            </a:br>
            <a:r>
              <a:rPr lang="ko-KR" altLang="en-US" u="sng" smtClean="0"/>
              <a:t>찾아서 </a:t>
            </a:r>
            <a:r>
              <a:rPr lang="ko-KR" altLang="en-US" u="sng" smtClean="0">
                <a:solidFill>
                  <a:srgbClr val="0000CC"/>
                </a:solidFill>
              </a:rPr>
              <a:t>새로운 블록을 생성 후 전파</a:t>
            </a:r>
            <a:endParaRPr lang="en-US" altLang="ko-KR" u="sng" smtClean="0">
              <a:solidFill>
                <a:srgbClr val="0000CC"/>
              </a:solidFill>
            </a:endParaRPr>
          </a:p>
          <a:p>
            <a:pPr lvl="2"/>
            <a:r>
              <a:rPr lang="ko-KR" altLang="en-US" smtClean="0"/>
              <a:t>인접노드들은 검증 후 블록 추가</a:t>
            </a:r>
            <a:endParaRPr lang="ko-KR" altLang="en-US" b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212976"/>
            <a:ext cx="6689576" cy="3377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/>
          <p:cNvSpPr/>
          <p:nvPr/>
        </p:nvSpPr>
        <p:spPr>
          <a:xfrm>
            <a:off x="3225415" y="4401108"/>
            <a:ext cx="360040" cy="21602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7164288" y="5661248"/>
            <a:ext cx="360040" cy="21602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48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블록체인의 분기</a:t>
            </a:r>
            <a:endParaRPr lang="en-US" altLang="ko-KR"/>
          </a:p>
          <a:p>
            <a:pPr lvl="1"/>
            <a:r>
              <a:rPr lang="ko-KR" altLang="en-US" smtClean="0"/>
              <a:t>블록의 생성 및 전파</a:t>
            </a:r>
            <a:endParaRPr lang="en-US" altLang="ko-KR" smtClean="0"/>
          </a:p>
          <a:p>
            <a:pPr lvl="2"/>
            <a:r>
              <a:rPr lang="ko-KR" altLang="en-US" smtClean="0"/>
              <a:t>포르투갈의 노드에 </a:t>
            </a:r>
            <a:r>
              <a:rPr lang="ko-KR" altLang="en-US" smtClean="0">
                <a:solidFill>
                  <a:srgbClr val="BA068B"/>
                </a:solidFill>
              </a:rPr>
              <a:t>빨강 블록이 먼저 전파된 후에 </a:t>
            </a:r>
            <a:r>
              <a:rPr lang="en-US" altLang="ko-KR" smtClean="0">
                <a:solidFill>
                  <a:srgbClr val="BA068B"/>
                </a:solidFill>
              </a:rPr>
              <a:t/>
            </a:r>
            <a:br>
              <a:rPr lang="en-US" altLang="ko-KR" smtClean="0">
                <a:solidFill>
                  <a:srgbClr val="BA068B"/>
                </a:solidFill>
              </a:rPr>
            </a:br>
            <a:r>
              <a:rPr lang="ko-KR" altLang="en-US" smtClean="0">
                <a:solidFill>
                  <a:srgbClr val="BA068B"/>
                </a:solidFill>
              </a:rPr>
              <a:t>초록 블록 전파</a:t>
            </a:r>
            <a:r>
              <a:rPr lang="ko-KR" altLang="en-US" smtClean="0"/>
              <a:t> → 늦게 도착한 초록 블록 무시</a:t>
            </a:r>
            <a:endParaRPr lang="en-US" altLang="ko-KR" smtClean="0"/>
          </a:p>
          <a:p>
            <a:pPr lvl="2"/>
            <a:r>
              <a:rPr lang="ko-KR" altLang="en-US" smtClean="0"/>
              <a:t>러시아 지역의 노드는 빨강 블록이 늦게 도착하여 초록블록 채택 →  새로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생성한 분홍 블록을 초록블록 다음에 추가하여 다른 노드들에게 전파</a:t>
            </a:r>
            <a:endParaRPr lang="ko-KR" altLang="en-US" b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494922"/>
            <a:ext cx="6385198" cy="3363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/>
          <p:cNvSpPr/>
          <p:nvPr/>
        </p:nvSpPr>
        <p:spPr>
          <a:xfrm>
            <a:off x="3131840" y="4797152"/>
            <a:ext cx="360040" cy="21602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7164288" y="6021288"/>
            <a:ext cx="360040" cy="21602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5292080" y="4581128"/>
            <a:ext cx="360040" cy="21602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6793698" y="4293096"/>
            <a:ext cx="360040" cy="21602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175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블록체인의 분기</a:t>
            </a:r>
            <a:endParaRPr lang="en-US" altLang="ko-KR"/>
          </a:p>
          <a:p>
            <a:pPr lvl="1"/>
            <a:r>
              <a:rPr lang="ko-KR" altLang="en-US" smtClean="0"/>
              <a:t>블록의 생성 및 전파</a:t>
            </a:r>
            <a:endParaRPr lang="en-US" altLang="ko-KR" smtClean="0"/>
          </a:p>
          <a:p>
            <a:pPr lvl="2"/>
            <a:r>
              <a:rPr lang="ko-KR" altLang="en-US" smtClean="0"/>
              <a:t>빨강 블록을 선택한 포르투갈 노드는 파랑</a:t>
            </a:r>
            <a:r>
              <a:rPr lang="en-US" altLang="ko-KR"/>
              <a:t>, </a:t>
            </a:r>
            <a:r>
              <a:rPr lang="ko-KR" altLang="en-US"/>
              <a:t>초록</a:t>
            </a:r>
            <a:r>
              <a:rPr lang="en-US" altLang="ko-KR"/>
              <a:t>, </a:t>
            </a:r>
            <a:r>
              <a:rPr lang="ko-KR" altLang="en-US" smtClean="0"/>
              <a:t>분홍으로 이어진 블록을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받아 블록체인의 분기 발생 → </a:t>
            </a:r>
            <a:r>
              <a:rPr lang="ko-KR" altLang="en-US" u="sng" smtClean="0">
                <a:solidFill>
                  <a:srgbClr val="0000CC"/>
                </a:solidFill>
              </a:rPr>
              <a:t>동기화를 위하여 길이가 긴 체인 선택</a:t>
            </a:r>
            <a:endParaRPr lang="ko-KR" altLang="en-US" u="sng">
              <a:solidFill>
                <a:srgbClr val="0000CC"/>
              </a:solidFill>
            </a:endParaRPr>
          </a:p>
          <a:p>
            <a:pPr lvl="2"/>
            <a:r>
              <a:rPr lang="ko-KR" altLang="en-US" smtClean="0">
                <a:solidFill>
                  <a:srgbClr val="FF0000"/>
                </a:solidFill>
              </a:rPr>
              <a:t>고아가 된 빨강 블록 안의 거래 </a:t>
            </a:r>
            <a:r>
              <a:rPr lang="en-US" altLang="ko-KR" smtClean="0">
                <a:solidFill>
                  <a:srgbClr val="FF0000"/>
                </a:solidFill>
              </a:rPr>
              <a:t>T</a:t>
            </a:r>
            <a:r>
              <a:rPr lang="ko-KR" altLang="en-US" smtClean="0">
                <a:solidFill>
                  <a:srgbClr val="FF0000"/>
                </a:solidFill>
              </a:rPr>
              <a:t>는 소멸되나요</a:t>
            </a:r>
            <a:r>
              <a:rPr lang="en-US" altLang="ko-KR" smtClean="0">
                <a:solidFill>
                  <a:srgbClr val="FF0000"/>
                </a:solidFill>
              </a:rPr>
              <a:t>?</a:t>
            </a:r>
          </a:p>
          <a:p>
            <a:pPr lvl="3"/>
            <a:r>
              <a:rPr lang="ko-KR" altLang="en-US" smtClean="0">
                <a:solidFill>
                  <a:srgbClr val="BA068B"/>
                </a:solidFill>
              </a:rPr>
              <a:t>블록체인에 포함되지 않은 다른 거래처럼 취급되어 초록 블록에 없더라도</a:t>
            </a:r>
            <a:r>
              <a:rPr lang="en-US" altLang="ko-KR" smtClean="0">
                <a:solidFill>
                  <a:srgbClr val="BA068B"/>
                </a:solidFill>
              </a:rPr>
              <a:t/>
            </a:r>
            <a:br>
              <a:rPr lang="en-US" altLang="ko-KR" smtClean="0">
                <a:solidFill>
                  <a:srgbClr val="BA068B"/>
                </a:solidFill>
              </a:rPr>
            </a:br>
            <a:r>
              <a:rPr lang="ko-KR" altLang="en-US" smtClean="0">
                <a:solidFill>
                  <a:srgbClr val="BA068B"/>
                </a:solidFill>
              </a:rPr>
              <a:t>분홍 또는 이후의 블록에 결국 포함됨</a:t>
            </a:r>
            <a:endParaRPr lang="en-US" altLang="ko-KR" smtClean="0">
              <a:solidFill>
                <a:srgbClr val="BA068B"/>
              </a:solidFill>
            </a:endParaRPr>
          </a:p>
          <a:p>
            <a:pPr lvl="3"/>
            <a:endParaRPr lang="ko-KR" altLang="en-US">
              <a:solidFill>
                <a:srgbClr val="BA068B"/>
              </a:solidFill>
            </a:endParaRP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861048"/>
            <a:ext cx="5013080" cy="2700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6134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블록체인의 </a:t>
            </a:r>
            <a:r>
              <a:rPr lang="ko-KR" altLang="en-US" smtClean="0"/>
              <a:t>분기</a:t>
            </a:r>
            <a:endParaRPr lang="en-US" altLang="ko-KR" smtClean="0"/>
          </a:p>
          <a:p>
            <a:pPr marL="800100" lvl="3" indent="-342900"/>
            <a:r>
              <a:rPr lang="ko-KR" altLang="en-US" sz="1800">
                <a:solidFill>
                  <a:srgbClr val="FF0000"/>
                </a:solidFill>
              </a:rPr>
              <a:t>순서 일치의 중요성 </a:t>
            </a:r>
            <a:r>
              <a:rPr lang="ko-KR" altLang="en-US" sz="1800">
                <a:solidFill>
                  <a:srgbClr val="FF0000"/>
                </a:solidFill>
              </a:rPr>
              <a:t>및 </a:t>
            </a:r>
            <a:r>
              <a:rPr lang="ko-KR" altLang="en-US" sz="1800" smtClean="0">
                <a:solidFill>
                  <a:srgbClr val="FF0000"/>
                </a:solidFill>
              </a:rPr>
              <a:t>원리</a:t>
            </a:r>
            <a:endParaRPr lang="en-US" altLang="ko-KR" sz="1800" smtClean="0">
              <a:solidFill>
                <a:srgbClr val="FF0000"/>
              </a:solidFill>
            </a:endParaRPr>
          </a:p>
          <a:p>
            <a:pPr marL="1257300" lvl="4" indent="-342900"/>
            <a:r>
              <a:rPr lang="ko-KR" altLang="en-US" smtClean="0"/>
              <a:t>블록체인 </a:t>
            </a:r>
            <a:r>
              <a:rPr lang="ko-KR" altLang="en-US"/>
              <a:t>노드들의 최종 확정된 블록에 있는 트랜잭션의 순서는 모두 일치해야 함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/>
              <a:t>이러한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일관성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(Consistency)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은 블록체인 시스템의 가장 중요한 목표 중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하나임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!!!</a:t>
            </a:r>
          </a:p>
          <a:p>
            <a:pPr marL="1257300" lvl="4" indent="-342900"/>
            <a:endParaRPr lang="en-US" altLang="ko-KR">
              <a:solidFill>
                <a:schemeClr val="accent6">
                  <a:lumMod val="75000"/>
                </a:schemeClr>
              </a:solidFill>
            </a:endParaRPr>
          </a:p>
          <a:p>
            <a:pPr lvl="3"/>
            <a:r>
              <a:rPr lang="ko-KR" altLang="en-US">
                <a:solidFill>
                  <a:srgbClr val="C00000"/>
                </a:solidFill>
              </a:rPr>
              <a:t>블록 내 트랜잭션 순서의 중요성</a:t>
            </a:r>
          </a:p>
          <a:p>
            <a:pPr lvl="4"/>
            <a:r>
              <a:rPr lang="ko-KR" altLang="en-US"/>
              <a:t>트랜잭션의 순서는 </a:t>
            </a:r>
            <a:r>
              <a:rPr lang="ko-KR" altLang="en-US"/>
              <a:t>블록체인의 </a:t>
            </a:r>
            <a:r>
              <a:rPr lang="ko-KR" altLang="en-US" smtClean="0"/>
              <a:t>상태</a:t>
            </a:r>
            <a:r>
              <a:rPr lang="en-US" altLang="ko-KR"/>
              <a:t>(</a:t>
            </a:r>
            <a:r>
              <a:rPr lang="ko-KR" altLang="en-US"/>
              <a:t>계정 잔고 </a:t>
            </a:r>
            <a:r>
              <a:rPr lang="ko-KR" altLang="en-US"/>
              <a:t>등</a:t>
            </a:r>
            <a:r>
              <a:rPr lang="en-US" altLang="ko-KR" smtClean="0"/>
              <a:t>)</a:t>
            </a:r>
            <a:r>
              <a:rPr lang="ko-KR" altLang="en-US" smtClean="0"/>
              <a:t>를 </a:t>
            </a:r>
            <a:r>
              <a:rPr lang="ko-KR" altLang="en-US"/>
              <a:t>결정하는 </a:t>
            </a:r>
            <a:r>
              <a:rPr lang="ko-KR" altLang="en-US"/>
              <a:t>데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매우 중요</a:t>
            </a:r>
            <a:endParaRPr lang="en-US" altLang="ko-KR"/>
          </a:p>
          <a:p>
            <a:pPr lvl="3"/>
            <a:r>
              <a:rPr lang="ko-KR" altLang="en-US">
                <a:solidFill>
                  <a:srgbClr val="C00000"/>
                </a:solidFill>
              </a:rPr>
              <a:t>합의 프로토콜 </a:t>
            </a:r>
            <a:r>
              <a:rPr lang="en-US" altLang="ko-KR">
                <a:solidFill>
                  <a:srgbClr val="C00000"/>
                </a:solidFill>
              </a:rPr>
              <a:t>(Consensus Protocol)</a:t>
            </a:r>
            <a:r>
              <a:rPr lang="ko-KR" altLang="en-US">
                <a:solidFill>
                  <a:srgbClr val="C00000"/>
                </a:solidFill>
              </a:rPr>
              <a:t>의 역할</a:t>
            </a:r>
          </a:p>
          <a:p>
            <a:pPr lvl="4"/>
            <a:r>
              <a:rPr lang="ko-KR" altLang="en-US"/>
              <a:t>트랜잭션 순서의 </a:t>
            </a:r>
            <a:r>
              <a:rPr lang="ko-KR" altLang="en-US"/>
              <a:t>일관성은 </a:t>
            </a:r>
            <a:r>
              <a:rPr lang="ko-KR" altLang="en-US" smtClean="0"/>
              <a:t>합의 </a:t>
            </a:r>
            <a:r>
              <a:rPr lang="ko-KR" altLang="en-US"/>
              <a:t>프로토콜</a:t>
            </a:r>
            <a:r>
              <a:rPr lang="en-US" altLang="ko-KR"/>
              <a:t>(PoW, PoS </a:t>
            </a:r>
            <a:r>
              <a:rPr lang="ko-KR" altLang="en-US"/>
              <a:t>등</a:t>
            </a:r>
            <a:r>
              <a:rPr lang="en-US" altLang="ko-KR" smtClean="0"/>
              <a:t>)</a:t>
            </a:r>
            <a:r>
              <a:rPr lang="ko-KR" altLang="en-US" smtClean="0"/>
              <a:t>에 </a:t>
            </a:r>
            <a:r>
              <a:rPr lang="ko-KR" altLang="en-US"/>
              <a:t>의해 </a:t>
            </a:r>
            <a:r>
              <a:rPr lang="ko-KR" altLang="en-US" smtClean="0"/>
              <a:t>보장됨</a:t>
            </a:r>
            <a:endParaRPr lang="en-US" altLang="ko-KR">
              <a:solidFill>
                <a:schemeClr val="accent6">
                  <a:lumMod val="75000"/>
                </a:schemeClr>
              </a:solidFill>
            </a:endParaRPr>
          </a:p>
          <a:p>
            <a:pPr lvl="3"/>
            <a:r>
              <a:rPr lang="ko-KR" altLang="en-US">
                <a:solidFill>
                  <a:srgbClr val="C00000"/>
                </a:solidFill>
              </a:rPr>
              <a:t>일시적인 불일치 </a:t>
            </a:r>
            <a:r>
              <a:rPr lang="en-US" altLang="ko-KR">
                <a:solidFill>
                  <a:srgbClr val="C00000"/>
                </a:solidFill>
              </a:rPr>
              <a:t>(Temporary Inconsistency)</a:t>
            </a:r>
          </a:p>
          <a:p>
            <a:pPr lvl="4"/>
            <a:r>
              <a:rPr lang="ko-KR" altLang="en-US"/>
              <a:t>네트워크 지연이나 아주 드문 경우</a:t>
            </a:r>
            <a:r>
              <a:rPr lang="en-US" altLang="ko-KR"/>
              <a:t>, </a:t>
            </a:r>
            <a:r>
              <a:rPr lang="ko-KR" altLang="en-US"/>
              <a:t>두 개의 노드가 거의 동시에 </a:t>
            </a:r>
            <a:r>
              <a:rPr lang="ko-KR" altLang="en-US"/>
              <a:t>유효한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블록을 </a:t>
            </a:r>
            <a:r>
              <a:rPr lang="ko-KR" altLang="en-US"/>
              <a:t>생성하여 </a:t>
            </a:r>
            <a:r>
              <a:rPr lang="ko-KR" altLang="en-US" smtClean="0"/>
              <a:t>일시적인 </a:t>
            </a:r>
            <a:r>
              <a:rPr lang="ko-KR" altLang="en-US"/>
              <a:t>포크</a:t>
            </a:r>
            <a:r>
              <a:rPr lang="en-US" altLang="ko-KR"/>
              <a:t>(</a:t>
            </a:r>
            <a:r>
              <a:rPr lang="en-US" altLang="ko-KR"/>
              <a:t>Fork</a:t>
            </a:r>
            <a:r>
              <a:rPr lang="en-US" altLang="ko-KR" smtClean="0"/>
              <a:t>)</a:t>
            </a:r>
            <a:r>
              <a:rPr lang="ko-KR" altLang="en-US" smtClean="0"/>
              <a:t>가 </a:t>
            </a:r>
            <a:r>
              <a:rPr lang="ko-KR" altLang="en-US"/>
              <a:t>발생할 </a:t>
            </a:r>
            <a:r>
              <a:rPr lang="ko-KR" altLang="en-US"/>
              <a:t>수 </a:t>
            </a:r>
            <a:r>
              <a:rPr lang="ko-KR" altLang="en-US" smtClean="0"/>
              <a:t>있음 </a:t>
            </a:r>
            <a:r>
              <a:rPr lang="en-US" altLang="ko-KR" smtClean="0">
                <a:sym typeface="Wingdings" panose="05000000000000000000" pitchFamily="2" charset="2"/>
              </a:rPr>
              <a:t> </a:t>
            </a:r>
            <a:r>
              <a:rPr lang="ko-KR" altLang="en-US">
                <a:solidFill>
                  <a:srgbClr val="0000CC"/>
                </a:solidFill>
              </a:rPr>
              <a:t>최종적으로 </a:t>
            </a:r>
            <a:r>
              <a:rPr lang="en-US" altLang="ko-KR" smtClean="0">
                <a:solidFill>
                  <a:srgbClr val="0000CC"/>
                </a:solidFill>
              </a:rPr>
              <a:t/>
            </a:r>
            <a:br>
              <a:rPr lang="en-US" altLang="ko-KR" smtClean="0">
                <a:solidFill>
                  <a:srgbClr val="0000CC"/>
                </a:solidFill>
              </a:rPr>
            </a:br>
            <a:r>
              <a:rPr lang="ko-KR" altLang="en-US" smtClean="0">
                <a:solidFill>
                  <a:srgbClr val="0000CC"/>
                </a:solidFill>
              </a:rPr>
              <a:t>가장 </a:t>
            </a:r>
            <a:r>
              <a:rPr lang="ko-KR" altLang="en-US">
                <a:solidFill>
                  <a:srgbClr val="0000CC"/>
                </a:solidFill>
              </a:rPr>
              <a:t>긴</a:t>
            </a:r>
            <a:r>
              <a:rPr lang="en-US" altLang="ko-KR">
                <a:solidFill>
                  <a:srgbClr val="0000CC"/>
                </a:solidFill>
              </a:rPr>
              <a:t>(</a:t>
            </a:r>
            <a:r>
              <a:rPr lang="ko-KR" altLang="en-US">
                <a:solidFill>
                  <a:srgbClr val="0000CC"/>
                </a:solidFill>
              </a:rPr>
              <a:t>혹은 가장 많은 지지를 받은</a:t>
            </a:r>
            <a:r>
              <a:rPr lang="en-US" altLang="ko-KR">
                <a:solidFill>
                  <a:srgbClr val="0000CC"/>
                </a:solidFill>
              </a:rPr>
              <a:t>) </a:t>
            </a:r>
            <a:r>
              <a:rPr lang="ko-KR" altLang="en-US">
                <a:solidFill>
                  <a:srgbClr val="0000CC"/>
                </a:solidFill>
              </a:rPr>
              <a:t>체인에 포함된 블록의 </a:t>
            </a:r>
            <a:r>
              <a:rPr lang="ko-KR" altLang="en-US">
                <a:solidFill>
                  <a:srgbClr val="0000CC"/>
                </a:solidFill>
              </a:rPr>
              <a:t>트랜잭션 </a:t>
            </a:r>
            <a:r>
              <a:rPr lang="en-US" altLang="ko-KR" smtClean="0">
                <a:solidFill>
                  <a:srgbClr val="0000CC"/>
                </a:solidFill>
              </a:rPr>
              <a:t/>
            </a:r>
            <a:br>
              <a:rPr lang="en-US" altLang="ko-KR" smtClean="0">
                <a:solidFill>
                  <a:srgbClr val="0000CC"/>
                </a:solidFill>
              </a:rPr>
            </a:br>
            <a:r>
              <a:rPr lang="ko-KR" altLang="en-US" smtClean="0">
                <a:solidFill>
                  <a:srgbClr val="0000CC"/>
                </a:solidFill>
              </a:rPr>
              <a:t>순서만 </a:t>
            </a:r>
            <a:r>
              <a:rPr lang="ko-KR" altLang="en-US">
                <a:solidFill>
                  <a:srgbClr val="0000CC"/>
                </a:solidFill>
              </a:rPr>
              <a:t>유효한 것으로 인정되고</a:t>
            </a:r>
            <a:r>
              <a:rPr lang="en-US" altLang="ko-KR">
                <a:solidFill>
                  <a:srgbClr val="0000CC"/>
                </a:solidFill>
              </a:rPr>
              <a:t>, </a:t>
            </a:r>
            <a:r>
              <a:rPr lang="ko-KR" altLang="en-US">
                <a:solidFill>
                  <a:srgbClr val="0000CC"/>
                </a:solidFill>
              </a:rPr>
              <a:t>다른 노드들은 해당 </a:t>
            </a:r>
            <a:r>
              <a:rPr lang="ko-KR" altLang="en-US">
                <a:solidFill>
                  <a:srgbClr val="0000CC"/>
                </a:solidFill>
              </a:rPr>
              <a:t>체인으로 </a:t>
            </a:r>
            <a:r>
              <a:rPr lang="ko-KR" altLang="en-US" smtClean="0">
                <a:solidFill>
                  <a:srgbClr val="0000CC"/>
                </a:solidFill>
              </a:rPr>
              <a:t>동기화</a:t>
            </a:r>
            <a:r>
              <a:rPr lang="en-US" altLang="ko-KR">
                <a:solidFill>
                  <a:srgbClr val="0000CC"/>
                </a:solidFill>
              </a:rPr>
              <a:t>(</a:t>
            </a:r>
            <a:r>
              <a:rPr lang="en-US" altLang="ko-KR">
                <a:solidFill>
                  <a:srgbClr val="0000CC"/>
                </a:solidFill>
              </a:rPr>
              <a:t>Sync</a:t>
            </a:r>
            <a:r>
              <a:rPr lang="en-US" altLang="ko-KR" smtClean="0">
                <a:solidFill>
                  <a:srgbClr val="0000CC"/>
                </a:solidFill>
              </a:rPr>
              <a:t>)</a:t>
            </a:r>
            <a:r>
              <a:rPr lang="ko-KR" altLang="en-US" smtClean="0">
                <a:solidFill>
                  <a:srgbClr val="0000CC"/>
                </a:solidFill>
              </a:rPr>
              <a:t>하여 </a:t>
            </a:r>
            <a:r>
              <a:rPr lang="ko-KR" altLang="en-US">
                <a:solidFill>
                  <a:srgbClr val="0000CC"/>
                </a:solidFill>
              </a:rPr>
              <a:t>일관성을 회복</a:t>
            </a:r>
            <a:endParaRPr lang="en-US" altLang="ko-KR">
              <a:solidFill>
                <a:srgbClr val="0000CC"/>
              </a:solidFill>
            </a:endParaRP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868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고아 블록의 수</a:t>
            </a:r>
            <a:endParaRPr lang="ko-KR" altLang="en-US"/>
          </a:p>
          <a:p>
            <a:pPr lvl="1"/>
            <a:r>
              <a:rPr lang="ko-KR" altLang="en-US"/>
              <a:t>고아 </a:t>
            </a:r>
            <a:r>
              <a:rPr lang="ko-KR" altLang="en-US" smtClean="0"/>
              <a:t>블록이란</a:t>
            </a:r>
            <a:endParaRPr lang="en-US" altLang="ko-KR" smtClean="0"/>
          </a:p>
          <a:p>
            <a:pPr lvl="2"/>
            <a:r>
              <a:rPr lang="ko-KR" altLang="en-US" smtClean="0"/>
              <a:t>네트워크에서 </a:t>
            </a:r>
            <a:r>
              <a:rPr lang="ko-KR" altLang="en-US"/>
              <a:t>수신되었지만</a:t>
            </a:r>
            <a:r>
              <a:rPr lang="en-US" altLang="ko-KR">
                <a:solidFill>
                  <a:srgbClr val="006600"/>
                </a:solidFill>
              </a:rPr>
              <a:t>, </a:t>
            </a:r>
            <a:r>
              <a:rPr lang="ko-KR" altLang="en-US">
                <a:solidFill>
                  <a:srgbClr val="006600"/>
                </a:solidFill>
              </a:rPr>
              <a:t>그 블록의 부모</a:t>
            </a:r>
            <a:r>
              <a:rPr lang="en-US" altLang="ko-KR">
                <a:solidFill>
                  <a:srgbClr val="006600"/>
                </a:solidFill>
              </a:rPr>
              <a:t>(Parent) </a:t>
            </a:r>
            <a:r>
              <a:rPr lang="ko-KR" altLang="en-US">
                <a:solidFill>
                  <a:srgbClr val="006600"/>
                </a:solidFill>
              </a:rPr>
              <a:t>블록이 아직 수신되지 않아 </a:t>
            </a:r>
            <a:r>
              <a:rPr lang="ko-KR" altLang="en-US"/>
              <a:t>현재 메인 체인에 연결될 수 없는 </a:t>
            </a:r>
            <a:r>
              <a:rPr lang="ko-KR" altLang="en-US"/>
              <a:t>블록을 </a:t>
            </a:r>
            <a:r>
              <a:rPr lang="ko-KR" altLang="en-US" smtClean="0"/>
              <a:t>의미</a:t>
            </a:r>
            <a:endParaRPr lang="en-US" altLang="ko-KR"/>
          </a:p>
          <a:p>
            <a:pPr lvl="1"/>
            <a:r>
              <a:rPr lang="ko-KR" altLang="en-US" smtClean="0">
                <a:hlinkClick r:id="rId2"/>
              </a:rPr>
              <a:t>블록체인에 </a:t>
            </a:r>
            <a:r>
              <a:rPr lang="ko-KR" altLang="en-US" smtClean="0">
                <a:hlinkClick r:id="rId2"/>
              </a:rPr>
              <a:t>의해 고아</a:t>
            </a:r>
            <a:r>
              <a:rPr lang="en-US" altLang="ko-KR">
                <a:hlinkClick r:id="rId2"/>
              </a:rPr>
              <a:t>(Orphand)</a:t>
            </a:r>
            <a:r>
              <a:rPr lang="ko-KR" altLang="en-US" smtClean="0">
                <a:hlinkClick r:id="rId2"/>
              </a:rPr>
              <a:t>가 되는 블록의 수는 </a:t>
            </a:r>
            <a:r>
              <a:rPr lang="en-US" altLang="ko-KR" smtClean="0"/>
              <a:t>2017</a:t>
            </a:r>
            <a:r>
              <a:rPr lang="ko-KR" altLang="en-US" smtClean="0"/>
              <a:t>년 이후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발생하지 않음</a:t>
            </a:r>
            <a:endParaRPr lang="ko-KR" altLang="en-US"/>
          </a:p>
          <a:p>
            <a:pPr lvl="1"/>
            <a:r>
              <a:rPr lang="en-US" altLang="ko-KR" smtClean="0"/>
              <a:t>2~7</a:t>
            </a:r>
            <a:r>
              <a:rPr lang="ko-KR" altLang="en-US" smtClean="0"/>
              <a:t>개의 블록이 추가되는 </a:t>
            </a:r>
            <a:r>
              <a:rPr lang="ko-KR" altLang="en-US" u="sng" smtClean="0"/>
              <a:t>과정에서 일시적으로 발생한 분기 상태가</a:t>
            </a:r>
            <a:r>
              <a:rPr lang="en-US" altLang="ko-KR" u="sng" smtClean="0"/>
              <a:t/>
            </a:r>
            <a:br>
              <a:rPr lang="en-US" altLang="ko-KR" u="sng" smtClean="0"/>
            </a:br>
            <a:r>
              <a:rPr lang="ko-KR" altLang="en-US" u="sng" smtClean="0"/>
              <a:t>해소되고 결국 하나의 블록체인만 남음</a:t>
            </a:r>
            <a:endParaRPr lang="ko-KR" altLang="en-US" u="sng"/>
          </a:p>
          <a:p>
            <a:pPr lvl="2"/>
            <a:r>
              <a:rPr lang="ko-KR" altLang="en-US" smtClean="0"/>
              <a:t>블록생성은 평균</a:t>
            </a:r>
            <a:r>
              <a:rPr lang="en-US" altLang="ko-KR"/>
              <a:t>10</a:t>
            </a:r>
            <a:r>
              <a:rPr lang="ko-KR" altLang="en-US" smtClean="0"/>
              <a:t>분이 소요되는 연산량이 큰 작업 → </a:t>
            </a:r>
            <a:r>
              <a:rPr lang="ko-KR" altLang="en-US" u="sng" smtClean="0">
                <a:solidFill>
                  <a:srgbClr val="BA068B"/>
                </a:solidFill>
              </a:rPr>
              <a:t>동시에 다른 블록이</a:t>
            </a:r>
            <a:r>
              <a:rPr lang="en-US" altLang="ko-KR" u="sng" smtClean="0">
                <a:solidFill>
                  <a:srgbClr val="BA068B"/>
                </a:solidFill>
              </a:rPr>
              <a:t/>
            </a:r>
            <a:br>
              <a:rPr lang="en-US" altLang="ko-KR" u="sng" smtClean="0">
                <a:solidFill>
                  <a:srgbClr val="BA068B"/>
                </a:solidFill>
              </a:rPr>
            </a:br>
            <a:r>
              <a:rPr lang="ko-KR" altLang="en-US" u="sng" smtClean="0">
                <a:solidFill>
                  <a:srgbClr val="BA068B"/>
                </a:solidFill>
              </a:rPr>
              <a:t>생성되어 분기될 가능성은 아주 적음</a:t>
            </a:r>
            <a:endParaRPr lang="ko-KR" altLang="en-US" u="sng">
              <a:solidFill>
                <a:srgbClr val="BA068B"/>
              </a:solidFill>
            </a:endParaRPr>
          </a:p>
        </p:txBody>
      </p:sp>
      <p:pic>
        <p:nvPicPr>
          <p:cNvPr id="4198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653136"/>
            <a:ext cx="6245895" cy="2040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410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/>
              <a:t>고아 블록</a:t>
            </a:r>
            <a:r>
              <a:rPr lang="en-US" altLang="ko-KR"/>
              <a:t>(Orphaned Block) </a:t>
            </a:r>
            <a:r>
              <a:rPr lang="ko-KR" altLang="en-US"/>
              <a:t>또는 고아 트랜잭션</a:t>
            </a:r>
            <a:r>
              <a:rPr lang="en-US" altLang="ko-KR"/>
              <a:t>(Orphaned Transaction)</a:t>
            </a:r>
            <a:r>
              <a:rPr lang="ko-KR" altLang="en-US"/>
              <a:t>이 발생하는 주된 </a:t>
            </a:r>
            <a:r>
              <a:rPr lang="ko-KR" altLang="en-US" smtClean="0"/>
              <a:t>이유</a:t>
            </a:r>
            <a:endParaRPr lang="en-US" altLang="ko-KR" smtClean="0"/>
          </a:p>
          <a:p>
            <a:pPr lvl="1"/>
            <a:r>
              <a:rPr lang="ko-KR" altLang="en-US" smtClean="0"/>
              <a:t>분산된 </a:t>
            </a:r>
            <a:r>
              <a:rPr lang="ko-KR" altLang="en-US"/>
              <a:t>네트워크의 특성과 통신 지연 </a:t>
            </a:r>
            <a:r>
              <a:rPr lang="ko-KR" altLang="en-US" smtClean="0"/>
              <a:t>때문임</a:t>
            </a:r>
            <a:endParaRPr lang="en-US" altLang="ko-KR"/>
          </a:p>
          <a:p>
            <a:pPr lvl="2"/>
            <a:r>
              <a:rPr lang="ko-KR" altLang="en-US" smtClean="0"/>
              <a:t>두 </a:t>
            </a:r>
            <a:r>
              <a:rPr lang="ko-KR" altLang="en-US"/>
              <a:t>명 이상의 채굴자가 거의 동시에 유효한 블록</a:t>
            </a:r>
            <a:r>
              <a:rPr lang="en-US" altLang="ko-KR"/>
              <a:t>(</a:t>
            </a:r>
            <a:r>
              <a:rPr lang="ko-KR" altLang="en-US"/>
              <a:t>또는 유효한 거래</a:t>
            </a:r>
            <a:r>
              <a:rPr lang="en-US" altLang="ko-KR"/>
              <a:t>)</a:t>
            </a:r>
            <a:r>
              <a:rPr lang="ko-KR" altLang="en-US"/>
              <a:t>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발견하고 </a:t>
            </a:r>
            <a:r>
              <a:rPr lang="ko-KR" altLang="en-US"/>
              <a:t>네트워크에 전파할 때 </a:t>
            </a:r>
            <a:r>
              <a:rPr lang="ko-KR" altLang="en-US" smtClean="0"/>
              <a:t>발생함</a:t>
            </a:r>
            <a:endParaRPr lang="en-US" altLang="ko-KR" smtClean="0"/>
          </a:p>
          <a:p>
            <a:pPr lvl="3"/>
            <a:r>
              <a:rPr lang="ko-KR" altLang="en-US">
                <a:solidFill>
                  <a:srgbClr val="BA068B"/>
                </a:solidFill>
              </a:rPr>
              <a:t>동시성 </a:t>
            </a:r>
            <a:r>
              <a:rPr lang="en-US" altLang="ko-KR">
                <a:solidFill>
                  <a:srgbClr val="BA068B"/>
                </a:solidFill>
              </a:rPr>
              <a:t>(Simultaneous Mining)</a:t>
            </a:r>
          </a:p>
          <a:p>
            <a:pPr lvl="4"/>
            <a:r>
              <a:rPr lang="ko-KR" altLang="en-US" smtClean="0"/>
              <a:t>동시 채굴 </a:t>
            </a:r>
            <a:r>
              <a:rPr lang="en-US" altLang="ko-KR" smtClean="0">
                <a:sym typeface="Wingdings" panose="05000000000000000000" pitchFamily="2" charset="2"/>
              </a:rPr>
              <a:t></a:t>
            </a:r>
            <a:r>
              <a:rPr lang="ko-KR" altLang="en-US" smtClean="0"/>
              <a:t> </a:t>
            </a:r>
            <a:r>
              <a:rPr lang="ko-KR" altLang="en-US"/>
              <a:t>전 세계의 채굴자들은 항상 가장 긴 체인에 새로운 블록을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추가하려고 경쟁함</a:t>
            </a:r>
            <a:r>
              <a:rPr lang="en-US" altLang="ko-KR" smtClean="0"/>
              <a:t>, </a:t>
            </a:r>
            <a:r>
              <a:rPr lang="ko-KR" altLang="en-US" smtClean="0"/>
              <a:t>두 </a:t>
            </a:r>
            <a:r>
              <a:rPr lang="ko-KR" altLang="en-US"/>
              <a:t>명 이상의 채굴자가 거의 동시에 유효한 작업 증명</a:t>
            </a:r>
            <a:r>
              <a:rPr lang="en-US" altLang="ko-KR"/>
              <a:t>(PoW) </a:t>
            </a:r>
            <a:r>
              <a:rPr lang="ko-KR" altLang="en-US"/>
              <a:t>해답을 찾아 새로운 블록을 생성하고 네트워크에 전파할 수 </a:t>
            </a:r>
            <a:r>
              <a:rPr lang="ko-KR" altLang="en-US" smtClean="0"/>
              <a:t>있음</a:t>
            </a:r>
            <a:endParaRPr lang="en-US" altLang="ko-KR"/>
          </a:p>
          <a:p>
            <a:pPr lvl="4"/>
            <a:r>
              <a:rPr lang="ko-KR" altLang="en-US"/>
              <a:t>충돌 </a:t>
            </a:r>
            <a:r>
              <a:rPr lang="ko-KR" altLang="en-US" smtClean="0"/>
              <a:t>발생 </a:t>
            </a:r>
            <a:r>
              <a:rPr lang="en-US" altLang="ko-KR" smtClean="0">
                <a:sym typeface="Wingdings" panose="05000000000000000000" pitchFamily="2" charset="2"/>
              </a:rPr>
              <a:t></a:t>
            </a:r>
            <a:r>
              <a:rPr lang="ko-KR" altLang="en-US" smtClean="0"/>
              <a:t> </a:t>
            </a:r>
            <a:r>
              <a:rPr lang="ko-KR" altLang="en-US"/>
              <a:t>이 두 블록은 모두 유효하며</a:t>
            </a:r>
            <a:r>
              <a:rPr lang="en-US" altLang="ko-KR"/>
              <a:t>, </a:t>
            </a:r>
            <a:r>
              <a:rPr lang="ko-KR" altLang="en-US"/>
              <a:t>서로 다른 마이너가 서로 다른 노드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그룹에 </a:t>
            </a:r>
            <a:r>
              <a:rPr lang="ko-KR" altLang="en-US"/>
              <a:t>거의 동시에 </a:t>
            </a:r>
            <a:r>
              <a:rPr lang="ko-KR" altLang="en-US" smtClean="0"/>
              <a:t>전파함</a:t>
            </a:r>
            <a:r>
              <a:rPr lang="en-US" altLang="ko-KR" smtClean="0"/>
              <a:t>, </a:t>
            </a:r>
            <a:r>
              <a:rPr lang="ko-KR" altLang="en-US"/>
              <a:t>이로 인해 일시적으로 블록체인이 두 갈래로 나뉘는 포크</a:t>
            </a:r>
            <a:r>
              <a:rPr lang="en-US" altLang="ko-KR"/>
              <a:t>(Fork)</a:t>
            </a:r>
            <a:r>
              <a:rPr lang="ko-KR" altLang="en-US"/>
              <a:t> 현상이 </a:t>
            </a:r>
            <a:r>
              <a:rPr lang="ko-KR" altLang="en-US" smtClean="0"/>
              <a:t>발생함</a:t>
            </a:r>
            <a:endParaRPr lang="en-US" altLang="ko-KR" smtClean="0"/>
          </a:p>
          <a:p>
            <a:pPr lvl="3"/>
            <a:r>
              <a:rPr lang="ko-KR" altLang="en-US" smtClean="0">
                <a:solidFill>
                  <a:srgbClr val="BA068B"/>
                </a:solidFill>
              </a:rPr>
              <a:t>통신 </a:t>
            </a:r>
            <a:r>
              <a:rPr lang="ko-KR" altLang="en-US">
                <a:solidFill>
                  <a:srgbClr val="BA068B"/>
                </a:solidFill>
              </a:rPr>
              <a:t>지연 </a:t>
            </a:r>
            <a:r>
              <a:rPr lang="en-US" altLang="ko-KR">
                <a:solidFill>
                  <a:srgbClr val="BA068B"/>
                </a:solidFill>
              </a:rPr>
              <a:t>(Network Latency)</a:t>
            </a:r>
          </a:p>
          <a:p>
            <a:pPr lvl="4"/>
            <a:r>
              <a:rPr lang="ko-KR" altLang="en-US"/>
              <a:t>전파 속도 </a:t>
            </a:r>
            <a:r>
              <a:rPr lang="ko-KR" altLang="en-US" smtClean="0"/>
              <a:t>차이 </a:t>
            </a:r>
            <a:r>
              <a:rPr lang="en-US" altLang="ko-KR" smtClean="0">
                <a:sym typeface="Wingdings" panose="05000000000000000000" pitchFamily="2" charset="2"/>
              </a:rPr>
              <a:t></a:t>
            </a:r>
            <a:r>
              <a:rPr lang="ko-KR" altLang="en-US" smtClean="0"/>
              <a:t> </a:t>
            </a:r>
            <a:r>
              <a:rPr lang="ko-KR" altLang="en-US"/>
              <a:t>네트워크의 모든 노드에 정보가 도달하는 데는 시간이 </a:t>
            </a:r>
            <a:r>
              <a:rPr lang="ko-KR" altLang="en-US" smtClean="0"/>
              <a:t>걸림</a:t>
            </a:r>
            <a:r>
              <a:rPr lang="en-US" altLang="ko-KR" smtClean="0"/>
              <a:t>, </a:t>
            </a:r>
            <a:r>
              <a:rPr lang="ko-KR" altLang="en-US"/>
              <a:t>노드 </a:t>
            </a:r>
            <a:r>
              <a:rPr lang="en-US" altLang="ko-KR"/>
              <a:t>A</a:t>
            </a:r>
            <a:r>
              <a:rPr lang="ko-KR" altLang="en-US"/>
              <a:t>가 블록 </a:t>
            </a:r>
            <a:r>
              <a:rPr lang="en-US" altLang="ko-KR" smtClean="0"/>
              <a:t>X</a:t>
            </a:r>
            <a:r>
              <a:rPr lang="ko-KR" altLang="en-US" smtClean="0"/>
              <a:t>를 </a:t>
            </a:r>
            <a:r>
              <a:rPr lang="ko-KR" altLang="en-US"/>
              <a:t>먼저 수신하고 채굴 작업을 시작하는 동안</a:t>
            </a:r>
            <a:r>
              <a:rPr lang="en-US" altLang="ko-KR"/>
              <a:t>, </a:t>
            </a:r>
            <a:r>
              <a:rPr lang="ko-KR" altLang="en-US"/>
              <a:t>노드 </a:t>
            </a:r>
            <a:r>
              <a:rPr lang="en-US" altLang="ko-KR"/>
              <a:t>B</a:t>
            </a:r>
            <a:r>
              <a:rPr lang="ko-KR" altLang="en-US"/>
              <a:t>는 통신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지연으로 </a:t>
            </a:r>
            <a:r>
              <a:rPr lang="ko-KR" altLang="en-US"/>
              <a:t>인해 아직 </a:t>
            </a:r>
            <a:r>
              <a:rPr lang="en-US" altLang="ko-KR" smtClean="0"/>
              <a:t>X</a:t>
            </a:r>
            <a:r>
              <a:rPr lang="ko-KR" altLang="en-US" smtClean="0"/>
              <a:t>를 </a:t>
            </a:r>
            <a:r>
              <a:rPr lang="ko-KR" altLang="en-US"/>
              <a:t>받지 못하고 있다가 블록 </a:t>
            </a:r>
            <a:r>
              <a:rPr lang="en-US" altLang="ko-KR" smtClean="0"/>
              <a:t>Y</a:t>
            </a:r>
            <a:r>
              <a:rPr lang="ko-KR" altLang="en-US" smtClean="0"/>
              <a:t>를 </a:t>
            </a:r>
            <a:r>
              <a:rPr lang="ko-KR" altLang="en-US"/>
              <a:t>먼저 수신할 수 </a:t>
            </a:r>
            <a:r>
              <a:rPr lang="ko-KR" altLang="en-US" smtClean="0"/>
              <a:t>있음</a:t>
            </a:r>
            <a:endParaRPr lang="en-US" altLang="ko-KR"/>
          </a:p>
          <a:p>
            <a:pPr lvl="4"/>
            <a:r>
              <a:rPr lang="ko-KR" altLang="en-US"/>
              <a:t>일시적인 </a:t>
            </a:r>
            <a:r>
              <a:rPr lang="ko-KR" altLang="en-US" smtClean="0"/>
              <a:t>불일치 </a:t>
            </a:r>
            <a:r>
              <a:rPr lang="en-US" altLang="ko-KR" smtClean="0">
                <a:sym typeface="Wingdings" panose="05000000000000000000" pitchFamily="2" charset="2"/>
              </a:rPr>
              <a:t></a:t>
            </a:r>
            <a:r>
              <a:rPr lang="ko-KR" altLang="en-US" smtClean="0"/>
              <a:t> </a:t>
            </a:r>
            <a:r>
              <a:rPr lang="ko-KR" altLang="en-US"/>
              <a:t>이 경우</a:t>
            </a:r>
            <a:r>
              <a:rPr lang="en-US" altLang="ko-KR"/>
              <a:t>, </a:t>
            </a:r>
            <a:r>
              <a:rPr lang="ko-KR" altLang="en-US"/>
              <a:t>노드 </a:t>
            </a:r>
            <a:r>
              <a:rPr lang="en-US" altLang="ko-KR"/>
              <a:t>A </a:t>
            </a:r>
            <a:r>
              <a:rPr lang="ko-KR" altLang="en-US"/>
              <a:t>주변의 노드들은 블록 </a:t>
            </a:r>
            <a:r>
              <a:rPr lang="en-US" altLang="ko-KR" smtClean="0"/>
              <a:t>X</a:t>
            </a:r>
            <a:r>
              <a:rPr lang="ko-KR" altLang="en-US" smtClean="0"/>
              <a:t>를 </a:t>
            </a:r>
            <a:r>
              <a:rPr lang="ko-KR" altLang="en-US"/>
              <a:t>메인 체인으로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간주하고</a:t>
            </a:r>
            <a:r>
              <a:rPr lang="en-US" altLang="ko-KR"/>
              <a:t>, </a:t>
            </a:r>
            <a:r>
              <a:rPr lang="ko-KR" altLang="en-US"/>
              <a:t>노드 </a:t>
            </a:r>
            <a:r>
              <a:rPr lang="en-US" altLang="ko-KR"/>
              <a:t>B </a:t>
            </a:r>
            <a:r>
              <a:rPr lang="ko-KR" altLang="en-US"/>
              <a:t>주변의 노드들은 블록 </a:t>
            </a:r>
            <a:r>
              <a:rPr lang="en-US" altLang="ko-KR" smtClean="0"/>
              <a:t>Y</a:t>
            </a:r>
            <a:r>
              <a:rPr lang="ko-KR" altLang="en-US" smtClean="0"/>
              <a:t>를 </a:t>
            </a:r>
            <a:r>
              <a:rPr lang="ko-KR" altLang="en-US"/>
              <a:t>메인 체인으로 간주하며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다음 </a:t>
            </a:r>
            <a:r>
              <a:rPr lang="ko-KR" altLang="en-US"/>
              <a:t>블록을 채굴하기 </a:t>
            </a:r>
            <a:r>
              <a:rPr lang="ko-KR" altLang="en-US" smtClean="0"/>
              <a:t>시작함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024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분기</a:t>
            </a:r>
            <a:r>
              <a:rPr lang="ko-KR" altLang="en-US" b="0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고아 블록</a:t>
            </a:r>
            <a:r>
              <a:rPr lang="en-US" altLang="ko-KR"/>
              <a:t>(Orphan Block)</a:t>
            </a:r>
            <a:r>
              <a:rPr lang="ko-KR" altLang="en-US"/>
              <a:t>의 처리</a:t>
            </a:r>
          </a:p>
          <a:p>
            <a:pPr lvl="1"/>
            <a:r>
              <a:rPr lang="ko-KR" altLang="en-US" smtClean="0"/>
              <a:t>잠정적 보관</a:t>
            </a:r>
            <a:endParaRPr lang="en-US" altLang="ko-KR" smtClean="0"/>
          </a:p>
          <a:p>
            <a:pPr lvl="2"/>
            <a:r>
              <a:rPr lang="ko-KR" altLang="en-US" smtClean="0"/>
              <a:t>노드는 </a:t>
            </a:r>
            <a:r>
              <a:rPr lang="ko-KR" altLang="en-US"/>
              <a:t>고아 블록을 일시적으로 별도의 </a:t>
            </a:r>
            <a:r>
              <a:rPr lang="ko-KR" altLang="en-US"/>
              <a:t>공간에 </a:t>
            </a:r>
            <a:r>
              <a:rPr lang="ko-KR" altLang="en-US" smtClean="0"/>
              <a:t>보관</a:t>
            </a:r>
            <a:endParaRPr lang="en-US" altLang="ko-KR"/>
          </a:p>
          <a:p>
            <a:pPr lvl="1"/>
            <a:r>
              <a:rPr lang="ko-KR" altLang="en-US"/>
              <a:t>부모 </a:t>
            </a:r>
            <a:r>
              <a:rPr lang="ko-KR" altLang="en-US"/>
              <a:t>블록 </a:t>
            </a:r>
            <a:r>
              <a:rPr lang="ko-KR" altLang="en-US" smtClean="0"/>
              <a:t>대기</a:t>
            </a:r>
            <a:endParaRPr lang="en-US" altLang="ko-KR" smtClean="0"/>
          </a:p>
          <a:p>
            <a:pPr lvl="2"/>
            <a:r>
              <a:rPr lang="ko-KR" altLang="en-US" smtClean="0"/>
              <a:t>노드는 </a:t>
            </a:r>
            <a:r>
              <a:rPr lang="ko-KR" altLang="en-US"/>
              <a:t>곧이어 해당 고아 블록의 부모 블록</a:t>
            </a:r>
            <a:r>
              <a:rPr lang="en-US" altLang="ko-KR"/>
              <a:t>(</a:t>
            </a:r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그 고아 블록이 </a:t>
            </a:r>
            <a:r>
              <a:rPr lang="ko-KR" altLang="en-US"/>
              <a:t>참조하는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이전 </a:t>
            </a:r>
            <a:r>
              <a:rPr lang="ko-KR" altLang="en-US"/>
              <a:t>블록</a:t>
            </a:r>
            <a:r>
              <a:rPr lang="en-US" altLang="ko-KR"/>
              <a:t>)</a:t>
            </a:r>
            <a:r>
              <a:rPr lang="ko-KR" altLang="en-US"/>
              <a:t>이 네트워크를 통해 </a:t>
            </a:r>
            <a:r>
              <a:rPr lang="ko-KR" altLang="en-US"/>
              <a:t>전송되기를 </a:t>
            </a:r>
            <a:r>
              <a:rPr lang="ko-KR" altLang="en-US" smtClean="0"/>
              <a:t>기다림</a:t>
            </a:r>
            <a:endParaRPr lang="en-US" altLang="ko-KR"/>
          </a:p>
          <a:p>
            <a:pPr lvl="1"/>
            <a:r>
              <a:rPr lang="ko-KR" altLang="en-US"/>
              <a:t>체인 </a:t>
            </a:r>
            <a:r>
              <a:rPr lang="ko-KR" altLang="en-US" smtClean="0"/>
              <a:t>연결</a:t>
            </a:r>
            <a:endParaRPr lang="en-US" altLang="ko-KR" smtClean="0"/>
          </a:p>
          <a:p>
            <a:pPr lvl="2"/>
            <a:r>
              <a:rPr lang="ko-KR" altLang="en-US" smtClean="0"/>
              <a:t>부모 </a:t>
            </a:r>
            <a:r>
              <a:rPr lang="ko-KR" altLang="en-US"/>
              <a:t>블록이 도착하면</a:t>
            </a:r>
            <a:r>
              <a:rPr lang="en-US" altLang="ko-KR"/>
              <a:t>, </a:t>
            </a:r>
            <a:r>
              <a:rPr lang="ko-KR" altLang="en-US"/>
              <a:t>노드는 고아 블록을 유효한 다음 블록으로 인식하고 이를 메인 체인에 연결하여 </a:t>
            </a:r>
            <a:r>
              <a:rPr lang="ko-KR" altLang="en-US"/>
              <a:t>블록체인을 </a:t>
            </a:r>
            <a:r>
              <a:rPr lang="ko-KR" altLang="en-US" smtClean="0"/>
              <a:t>확장함</a:t>
            </a:r>
            <a:endParaRPr lang="en-US" altLang="ko-KR"/>
          </a:p>
          <a:p>
            <a:pPr lvl="2"/>
            <a:r>
              <a:rPr lang="ko-KR" altLang="en-US" smtClean="0"/>
              <a:t> </a:t>
            </a:r>
            <a:r>
              <a:rPr lang="en-US" altLang="ko-KR"/>
              <a:t>'</a:t>
            </a:r>
            <a:r>
              <a:rPr lang="ko-KR" altLang="en-US"/>
              <a:t>고아</a:t>
            </a:r>
            <a:r>
              <a:rPr lang="en-US" altLang="ko-KR"/>
              <a:t>'</a:t>
            </a:r>
            <a:r>
              <a:rPr lang="ko-KR" altLang="en-US"/>
              <a:t>라는 이름은 일시적인 상태를 나타내는 것이며</a:t>
            </a:r>
            <a:r>
              <a:rPr lang="en-US" altLang="ko-KR"/>
              <a:t>, </a:t>
            </a:r>
            <a:r>
              <a:rPr lang="ko-KR" altLang="en-US"/>
              <a:t>일단 부모 </a:t>
            </a:r>
            <a:r>
              <a:rPr lang="ko-KR" altLang="en-US"/>
              <a:t>블록을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찾으면 </a:t>
            </a:r>
            <a:r>
              <a:rPr lang="ko-KR" altLang="en-US"/>
              <a:t>해당 블록은 체인의 정식 </a:t>
            </a:r>
            <a:r>
              <a:rPr lang="ko-KR" altLang="en-US"/>
              <a:t>일부분이 </a:t>
            </a:r>
            <a:r>
              <a:rPr lang="ko-KR" altLang="en-US" smtClean="0"/>
              <a:t>됨</a:t>
            </a:r>
            <a:endParaRPr lang="en-US" altLang="ko-KR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869160"/>
            <a:ext cx="663892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8543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10158</TotalTime>
  <Words>779</Words>
  <Application>Microsoft Office PowerPoint</Application>
  <PresentationFormat>화면 슬라이드 쇼(4:3)</PresentationFormat>
  <Paragraphs>190</Paragraphs>
  <Slides>27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29" baseType="lpstr">
      <vt:lpstr>Office 테마</vt:lpstr>
      <vt:lpstr>포장기 셸 개체</vt:lpstr>
      <vt:lpstr>블록체인 기술과 응용 서비스</vt:lpstr>
      <vt:lpstr>     비트코인 블록체인의 구조와 동작원리 </vt:lpstr>
      <vt:lpstr>학습목표 </vt:lpstr>
      <vt:lpstr>블록체인 분기 </vt:lpstr>
      <vt:lpstr>블록체인 분기 </vt:lpstr>
      <vt:lpstr>블록체인 분기 </vt:lpstr>
      <vt:lpstr>블록체인 분기 </vt:lpstr>
      <vt:lpstr>블록체인 분기</vt:lpstr>
      <vt:lpstr>블록체인 분기 </vt:lpstr>
      <vt:lpstr>블록체인 분기 </vt:lpstr>
      <vt:lpstr>블록체인 분기 </vt:lpstr>
      <vt:lpstr>블록체인 분기 </vt:lpstr>
      <vt:lpstr>블록체인 분기 </vt:lpstr>
      <vt:lpstr>블록체인 분기 </vt:lpstr>
      <vt:lpstr>블록체인 분기 </vt:lpstr>
      <vt:lpstr>블록체인 분기 </vt:lpstr>
      <vt:lpstr>블록체인 분기 </vt:lpstr>
      <vt:lpstr>블록체인 분기 </vt:lpstr>
      <vt:lpstr>블록체인 분기 </vt:lpstr>
      <vt:lpstr>블록체인 분기 </vt:lpstr>
      <vt:lpstr>블록체인 분기 </vt:lpstr>
      <vt:lpstr>블록체인 분기 </vt:lpstr>
      <vt:lpstr>블록체인 분기 </vt:lpstr>
      <vt:lpstr>블록체인 분기 </vt:lpstr>
      <vt:lpstr>블록체인 분기 </vt:lpstr>
      <vt:lpstr>블록체인 분기 </vt:lpstr>
      <vt:lpstr>블록체인 분기 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블록체인의 개요</dc:title>
  <dc:creator>Microsoft Corporation</dc:creator>
  <cp:lastModifiedBy>박인철</cp:lastModifiedBy>
  <cp:revision>433</cp:revision>
  <dcterms:created xsi:type="dcterms:W3CDTF">2006-10-05T04:04:58Z</dcterms:created>
  <dcterms:modified xsi:type="dcterms:W3CDTF">2025-11-10T11:58:51Z</dcterms:modified>
</cp:coreProperties>
</file>