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4" r:id="rId3"/>
    <p:sldId id="275" r:id="rId4"/>
    <p:sldId id="276" r:id="rId5"/>
    <p:sldId id="277" r:id="rId6"/>
    <p:sldId id="257" r:id="rId7"/>
    <p:sldId id="267" r:id="rId8"/>
    <p:sldId id="268" r:id="rId9"/>
    <p:sldId id="269" r:id="rId10"/>
    <p:sldId id="270" r:id="rId11"/>
    <p:sldId id="271" r:id="rId12"/>
    <p:sldId id="278" r:id="rId13"/>
    <p:sldId id="272" r:id="rId14"/>
    <p:sldId id="273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068B"/>
    <a:srgbClr val="006600"/>
    <a:srgbClr val="0000CC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159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="1">
                <a:solidFill>
                  <a:srgbClr val="0000CC"/>
                </a:solidFill>
                <a:latin typeface="+mn-ea"/>
                <a:ea typeface="+mn-ea"/>
              </a:defRPr>
            </a:lvl1pPr>
            <a:lvl2pPr>
              <a:defRPr sz="1800" b="1">
                <a:solidFill>
                  <a:srgbClr val="C00000"/>
                </a:solidFill>
                <a:latin typeface="+mn-ea"/>
                <a:ea typeface="+mn-ea"/>
              </a:defRPr>
            </a:lvl2pPr>
            <a:lvl3pPr>
              <a:defRPr sz="1600" b="1">
                <a:latin typeface="+mn-ea"/>
                <a:ea typeface="+mn-ea"/>
              </a:defRPr>
            </a:lvl3pPr>
            <a:lvl4pPr>
              <a:defRPr sz="1400" b="1">
                <a:latin typeface="+mn-ea"/>
                <a:ea typeface="+mn-ea"/>
              </a:defRPr>
            </a:lvl4pPr>
            <a:lvl5pPr>
              <a:defRPr sz="1400" b="1">
                <a:latin typeface="+mn-ea"/>
                <a:ea typeface="+mn-ea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28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4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400" b="1" kern="1200">
          <a:solidFill>
            <a:schemeClr val="tx1"/>
          </a:solidFill>
          <a:latin typeface="HY그래픽" panose="02030600000101010101" pitchFamily="18" charset="-127"/>
          <a:ea typeface="HY그래픽" panose="02030600000101010101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ndersbrownworth.com/blockchain/public-private-keys/blockchain" TargetMode="External"/><Relationship Id="rId2" Type="http://schemas.openxmlformats.org/officeDocument/2006/relationships/hyperlink" Target="https://andersbrownworth.com/blockchain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0">
                <a:latin typeface="+mn-ea"/>
                <a:ea typeface="+mn-ea"/>
              </a:rPr>
              <a:t/>
            </a:r>
            <a:br>
              <a:rPr lang="ko-KR" altLang="en-US" b="0">
                <a:latin typeface="+mn-ea"/>
                <a:ea typeface="+mn-ea"/>
              </a:rPr>
            </a:br>
            <a:r>
              <a:rPr lang="ko-KR" altLang="en-US" b="0">
                <a:latin typeface="+mn-ea"/>
                <a:ea typeface="+mn-ea"/>
              </a:rPr>
              <a:t> </a:t>
            </a:r>
            <a:r>
              <a:rPr lang="en-US" altLang="ko-KR">
                <a:latin typeface="+mn-ea"/>
                <a:ea typeface="+mn-ea"/>
              </a:rPr>
              <a:t>Anders </a:t>
            </a:r>
            <a:r>
              <a:rPr lang="en-US" altLang="ko-KR" smtClean="0">
                <a:latin typeface="+mn-ea"/>
                <a:ea typeface="+mn-ea"/>
              </a:rPr>
              <a:t>Brownsorth </a:t>
            </a:r>
            <a:r>
              <a:rPr lang="ko-KR" altLang="en-US" smtClean="0">
                <a:latin typeface="+mn-ea"/>
                <a:ea typeface="+mn-ea"/>
              </a:rPr>
              <a:t>홈페이지를 </a:t>
            </a:r>
            <a:r>
              <a:rPr lang="en-US" altLang="ko-KR" smtClean="0">
                <a:latin typeface="+mn-ea"/>
                <a:ea typeface="+mn-ea"/>
              </a:rPr>
              <a:t/>
            </a:r>
            <a:br>
              <a:rPr lang="en-US" altLang="ko-KR" smtClean="0">
                <a:latin typeface="+mn-ea"/>
                <a:ea typeface="+mn-ea"/>
              </a:rPr>
            </a:br>
            <a:r>
              <a:rPr lang="ko-KR" altLang="en-US" smtClean="0">
                <a:latin typeface="+mn-ea"/>
                <a:ea typeface="+mn-ea"/>
              </a:rPr>
              <a:t>이용한 블록체인 시연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202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블록체인에서 </a:t>
            </a:r>
            <a:r>
              <a:rPr lang="ko-KR" altLang="en-US">
                <a:solidFill>
                  <a:srgbClr val="FF0000"/>
                </a:solidFill>
              </a:rPr>
              <a:t>거래 내역이 수집되는 과정 </a:t>
            </a:r>
            <a:r>
              <a:rPr lang="ko-KR" altLang="en-US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ko-KR" altLang="en-US" smtClean="0"/>
              <a:t>분산 </a:t>
            </a:r>
            <a:r>
              <a:rPr lang="ko-KR" altLang="en-US"/>
              <a:t>시스템의 특성과 암호화 기술</a:t>
            </a:r>
            <a:r>
              <a:rPr lang="en-US" altLang="ko-KR"/>
              <a:t>, </a:t>
            </a:r>
            <a:r>
              <a:rPr lang="ko-KR" altLang="en-US"/>
              <a:t>그리고 합의 알고리즘이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복합적으로 </a:t>
            </a:r>
            <a:r>
              <a:rPr lang="ko-KR" altLang="en-US"/>
              <a:t>작용하여 </a:t>
            </a:r>
            <a:r>
              <a:rPr lang="ko-KR" altLang="en-US" smtClean="0"/>
              <a:t>이루어짐</a:t>
            </a:r>
            <a:endParaRPr lang="en-US" altLang="ko-KR" smtClean="0"/>
          </a:p>
          <a:p>
            <a:endParaRPr lang="en-US" altLang="ko-KR" smtClean="0"/>
          </a:p>
          <a:p>
            <a:pPr lvl="1"/>
            <a:r>
              <a:rPr lang="en-US" altLang="ko-KR" smtClean="0"/>
              <a:t>(1) </a:t>
            </a:r>
            <a:r>
              <a:rPr lang="ko-KR" altLang="en-US" smtClean="0"/>
              <a:t>트랜잭션 </a:t>
            </a:r>
            <a:r>
              <a:rPr lang="ko-KR" altLang="en-US"/>
              <a:t>생성 및 서명</a:t>
            </a:r>
          </a:p>
          <a:p>
            <a:pPr lvl="2"/>
            <a:r>
              <a:rPr lang="ko-KR" altLang="en-US">
                <a:solidFill>
                  <a:srgbClr val="FF0000"/>
                </a:solidFill>
              </a:rPr>
              <a:t>사용자 </a:t>
            </a:r>
            <a:r>
              <a:rPr lang="ko-KR" altLang="en-US" smtClean="0">
                <a:solidFill>
                  <a:srgbClr val="FF0000"/>
                </a:solidFill>
              </a:rPr>
              <a:t>시작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사용자가 암호화폐 지갑</a:t>
            </a:r>
            <a:r>
              <a:rPr lang="en-US" altLang="ko-KR"/>
              <a:t>(Wallet)</a:t>
            </a:r>
            <a:r>
              <a:rPr lang="ko-KR" altLang="en-US"/>
              <a:t>이나 블록체인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애플리케이션</a:t>
            </a:r>
            <a:r>
              <a:rPr lang="en-US" altLang="ko-KR"/>
              <a:t>(DApp)</a:t>
            </a:r>
            <a:r>
              <a:rPr lang="ko-KR" altLang="en-US"/>
              <a:t>을 통해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거래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트랜잭션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를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생성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예를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들어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, 'A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가 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에게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비트코인을 보낸다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는 내용의 트랜잭션을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만듬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en-US" altLang="ko-KR">
              <a:solidFill>
                <a:schemeClr val="accent6">
                  <a:lumMod val="75000"/>
                </a:schemeClr>
              </a:solidFill>
            </a:endParaRPr>
          </a:p>
          <a:p>
            <a:pPr lvl="3"/>
            <a:r>
              <a:rPr lang="ko-KR" altLang="en-US" smtClean="0"/>
              <a:t>트랜잭션에는 </a:t>
            </a:r>
            <a:r>
              <a:rPr lang="ko-KR" altLang="en-US"/>
              <a:t>다음과 같은 정보가 </a:t>
            </a:r>
            <a:r>
              <a:rPr lang="ko-KR" altLang="en-US" smtClean="0"/>
              <a:t>포함</a:t>
            </a:r>
            <a:endParaRPr lang="en-US" altLang="ko-KR"/>
          </a:p>
          <a:p>
            <a:pPr lvl="4"/>
            <a:r>
              <a:rPr lang="ko-KR" altLang="en-US"/>
              <a:t>보내는 사람의 </a:t>
            </a:r>
            <a:r>
              <a:rPr lang="ko-KR" altLang="en-US" smtClean="0"/>
              <a:t>주소</a:t>
            </a:r>
            <a:r>
              <a:rPr lang="en-US" altLang="ko-KR" smtClean="0"/>
              <a:t>(</a:t>
            </a:r>
            <a:r>
              <a:rPr lang="en-US" altLang="ko-KR"/>
              <a:t>Public Key</a:t>
            </a:r>
            <a:r>
              <a:rPr lang="ko-KR" altLang="en-US"/>
              <a:t>에서 파생</a:t>
            </a:r>
            <a:r>
              <a:rPr lang="en-US" altLang="ko-KR"/>
              <a:t>)</a:t>
            </a:r>
          </a:p>
          <a:p>
            <a:pPr lvl="4"/>
            <a:r>
              <a:rPr lang="ko-KR" altLang="en-US"/>
              <a:t>받는 사람의 주소</a:t>
            </a:r>
          </a:p>
          <a:p>
            <a:pPr lvl="4"/>
            <a:r>
              <a:rPr lang="ko-KR" altLang="en-US"/>
              <a:t>거래 </a:t>
            </a:r>
            <a:r>
              <a:rPr lang="ko-KR" altLang="en-US" smtClean="0"/>
              <a:t>금액</a:t>
            </a:r>
            <a:r>
              <a:rPr lang="en-US" altLang="ko-KR" smtClean="0"/>
              <a:t>(</a:t>
            </a:r>
            <a:r>
              <a:rPr lang="ko-KR" altLang="en-US"/>
              <a:t>또는 데이터</a:t>
            </a:r>
            <a:r>
              <a:rPr lang="en-US" altLang="ko-KR"/>
              <a:t>)</a:t>
            </a:r>
          </a:p>
          <a:p>
            <a:pPr lvl="4"/>
            <a:r>
              <a:rPr lang="ko-KR" altLang="en-US"/>
              <a:t>거래 수수료 </a:t>
            </a:r>
            <a:r>
              <a:rPr lang="en-US" altLang="ko-KR"/>
              <a:t>(Fee</a:t>
            </a:r>
            <a:r>
              <a:rPr lang="en-US" altLang="ko-KR" smtClean="0"/>
              <a:t>) - </a:t>
            </a:r>
            <a:r>
              <a:rPr lang="ko-KR" altLang="en-US"/>
              <a:t>마이너</a:t>
            </a:r>
            <a:r>
              <a:rPr lang="en-US" altLang="ko-KR"/>
              <a:t>(</a:t>
            </a:r>
            <a:r>
              <a:rPr lang="ko-KR" altLang="en-US"/>
              <a:t>채굴자</a:t>
            </a:r>
            <a:r>
              <a:rPr lang="en-US" altLang="ko-KR"/>
              <a:t>)</a:t>
            </a:r>
            <a:r>
              <a:rPr lang="ko-KR" altLang="en-US"/>
              <a:t>나 검증자</a:t>
            </a:r>
            <a:r>
              <a:rPr lang="en-US" altLang="ko-KR"/>
              <a:t>(Validator)</a:t>
            </a:r>
            <a:r>
              <a:rPr lang="ko-KR" altLang="en-US"/>
              <a:t>가 트랜잭션을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블록에 </a:t>
            </a:r>
            <a:r>
              <a:rPr lang="ko-KR" altLang="en-US"/>
              <a:t>포함시키는 동기를 </a:t>
            </a:r>
            <a:r>
              <a:rPr lang="ko-KR" altLang="en-US" smtClean="0"/>
              <a:t>부여</a:t>
            </a:r>
            <a:endParaRPr lang="en-US" altLang="ko-KR" smtClean="0"/>
          </a:p>
          <a:p>
            <a:pPr lvl="4"/>
            <a:endParaRPr lang="en-US" altLang="ko-KR"/>
          </a:p>
          <a:p>
            <a:pPr lvl="2"/>
            <a:r>
              <a:rPr lang="ko-KR" altLang="en-US">
                <a:solidFill>
                  <a:srgbClr val="FF0000"/>
                </a:solidFill>
              </a:rPr>
              <a:t>디지털 </a:t>
            </a:r>
            <a:r>
              <a:rPr lang="ko-KR" altLang="en-US" smtClean="0">
                <a:solidFill>
                  <a:srgbClr val="FF0000"/>
                </a:solidFill>
              </a:rPr>
              <a:t>서명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보내는 사람은 자신의 </a:t>
            </a:r>
            <a:r>
              <a:rPr lang="ko-KR" altLang="en-US" smtClean="0"/>
              <a:t>개인키</a:t>
            </a:r>
            <a:r>
              <a:rPr lang="en-US" altLang="ko-KR"/>
              <a:t>(Private Key</a:t>
            </a:r>
            <a:r>
              <a:rPr lang="en-US" altLang="ko-KR" smtClean="0"/>
              <a:t>)</a:t>
            </a:r>
            <a:r>
              <a:rPr lang="ko-KR" altLang="en-US" smtClean="0"/>
              <a:t>를 </a:t>
            </a:r>
            <a:r>
              <a:rPr lang="ko-KR" altLang="en-US"/>
              <a:t>사용하여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트랜잭션에 디지털 서명을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함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서명은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보내는 사람이 해당 자산의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소유자임을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증명하고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트랜잭션의 무결성을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보장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en-US" altLang="ko-KR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72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블록체인에서 거래 내역이 수집되는 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분산 시스템의 특성과 암호화 기술</a:t>
            </a:r>
            <a:r>
              <a:rPr lang="en-US" altLang="ko-KR"/>
              <a:t>, </a:t>
            </a:r>
            <a:r>
              <a:rPr lang="ko-KR" altLang="en-US"/>
              <a:t>그리고 합의 알고리즘이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복합적으로 </a:t>
            </a:r>
            <a:r>
              <a:rPr lang="ko-KR" altLang="en-US"/>
              <a:t>작용하여 </a:t>
            </a:r>
            <a:r>
              <a:rPr lang="ko-KR" altLang="en-US" smtClean="0"/>
              <a:t>이루어짐</a:t>
            </a:r>
            <a:endParaRPr lang="en-US" altLang="ko-KR" smtClean="0"/>
          </a:p>
          <a:p>
            <a:endParaRPr lang="en-US" altLang="ko-KR"/>
          </a:p>
          <a:p>
            <a:pPr lvl="1"/>
            <a:r>
              <a:rPr lang="en-US" altLang="ko-KR" smtClean="0"/>
              <a:t>(2) </a:t>
            </a:r>
            <a:r>
              <a:rPr lang="ko-KR" altLang="en-US" smtClean="0"/>
              <a:t>트랜잭션 </a:t>
            </a:r>
            <a:r>
              <a:rPr lang="ko-KR" altLang="en-US"/>
              <a:t>전파 </a:t>
            </a:r>
            <a:r>
              <a:rPr lang="en-US" altLang="ko-KR"/>
              <a:t>(Broadcasting)</a:t>
            </a:r>
          </a:p>
          <a:p>
            <a:pPr lvl="2"/>
            <a:r>
              <a:rPr lang="ko-KR" altLang="en-US">
                <a:solidFill>
                  <a:srgbClr val="FF0000"/>
                </a:solidFill>
              </a:rPr>
              <a:t>네트워크 </a:t>
            </a:r>
            <a:r>
              <a:rPr lang="ko-KR" altLang="en-US" smtClean="0">
                <a:solidFill>
                  <a:srgbClr val="FF0000"/>
                </a:solidFill>
              </a:rPr>
              <a:t>전송 </a:t>
            </a:r>
            <a:r>
              <a:rPr lang="en-US" altLang="ko-KR" smtClean="0"/>
              <a:t>- </a:t>
            </a:r>
            <a:r>
              <a:rPr lang="ko-KR" altLang="en-US" smtClean="0"/>
              <a:t> </a:t>
            </a:r>
            <a:r>
              <a:rPr lang="ko-KR" altLang="en-US"/>
              <a:t>서명된 트랜잭션은 사용자의 지갑 또는 노드</a:t>
            </a:r>
            <a:r>
              <a:rPr lang="en-US" altLang="ko-KR"/>
              <a:t>(Node)</a:t>
            </a:r>
            <a:r>
              <a:rPr lang="ko-KR" altLang="en-US"/>
              <a:t>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통해 블록체인 </a:t>
            </a:r>
            <a:r>
              <a:rPr lang="ko-KR" altLang="en-US"/>
              <a:t>네트워크 전체로 </a:t>
            </a:r>
            <a:r>
              <a:rPr lang="ko-KR" altLang="en-US" smtClean="0"/>
              <a:t>브로드캐스트</a:t>
            </a:r>
            <a:r>
              <a:rPr lang="en-US" altLang="ko-KR"/>
              <a:t>(broadcast</a:t>
            </a:r>
            <a:r>
              <a:rPr lang="en-US" altLang="ko-KR" smtClean="0"/>
              <a:t>)</a:t>
            </a:r>
            <a:r>
              <a:rPr lang="ko-KR" altLang="en-US" smtClean="0"/>
              <a:t>됨</a:t>
            </a:r>
            <a:endParaRPr lang="en-US" altLang="ko-KR" smtClean="0"/>
          </a:p>
          <a:p>
            <a:pPr lvl="2"/>
            <a:endParaRPr lang="en-US" altLang="ko-KR"/>
          </a:p>
          <a:p>
            <a:pPr lvl="2"/>
            <a:r>
              <a:rPr lang="ko-KR" altLang="en-US" smtClean="0">
                <a:solidFill>
                  <a:srgbClr val="FF0000"/>
                </a:solidFill>
              </a:rPr>
              <a:t>유효성 검증</a:t>
            </a:r>
            <a:r>
              <a:rPr lang="ko-KR" altLang="en-US" smtClean="0"/>
              <a:t>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유효하다고 판단된 트랜잭션은 각 노드의 메모리 풀</a:t>
            </a:r>
            <a:r>
              <a:rPr lang="en-US" altLang="ko-KR"/>
              <a:t>(Mempool)</a:t>
            </a:r>
            <a:r>
              <a:rPr lang="ko-KR" altLang="en-US"/>
              <a:t> 또는 </a:t>
            </a:r>
            <a:r>
              <a:rPr lang="ko-KR" altLang="en-US" smtClean="0"/>
              <a:t>트랜잭션 </a:t>
            </a:r>
            <a:r>
              <a:rPr lang="ko-KR" altLang="en-US"/>
              <a:t>풀</a:t>
            </a:r>
            <a:r>
              <a:rPr lang="en-US" altLang="ko-KR"/>
              <a:t>(Transaction Pool</a:t>
            </a:r>
            <a:r>
              <a:rPr lang="en-US" altLang="ko-KR" smtClean="0"/>
              <a:t>)</a:t>
            </a:r>
            <a:r>
              <a:rPr lang="ko-KR" altLang="en-US" smtClean="0"/>
              <a:t>이라는 </a:t>
            </a:r>
            <a:r>
              <a:rPr lang="ko-KR" altLang="en-US"/>
              <a:t>임시 저장 공간에 </a:t>
            </a:r>
            <a:r>
              <a:rPr lang="ko-KR" altLang="en-US" smtClean="0"/>
              <a:t>대기</a:t>
            </a:r>
            <a:r>
              <a:rPr lang="en-US" altLang="ko-KR" smtClean="0"/>
              <a:t>(</a:t>
            </a:r>
            <a:r>
              <a:rPr lang="ko-KR" altLang="en-US" smtClean="0"/>
              <a:t>아직 </a:t>
            </a:r>
            <a:r>
              <a:rPr lang="ko-KR" altLang="en-US"/>
              <a:t>블록에 포함되지 않은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미확인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(unconfirmed)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트랜잭션들의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대기실과 같음</a:t>
            </a:r>
            <a:r>
              <a:rPr lang="en-US" altLang="ko-KR" smtClean="0"/>
              <a:t>)</a:t>
            </a:r>
          </a:p>
          <a:p>
            <a:pPr lvl="3"/>
            <a:r>
              <a:rPr lang="ko-KR" altLang="en-US" smtClean="0"/>
              <a:t>네트워크에 </a:t>
            </a:r>
            <a:r>
              <a:rPr lang="ko-KR" altLang="en-US"/>
              <a:t>연결된 모든 노드는 이 트랜잭션을 </a:t>
            </a:r>
            <a:r>
              <a:rPr lang="ko-KR" altLang="en-US" smtClean="0"/>
              <a:t>수신하고</a:t>
            </a:r>
            <a:r>
              <a:rPr lang="en-US" altLang="ko-KR"/>
              <a:t>, </a:t>
            </a:r>
            <a:r>
              <a:rPr lang="ko-KR" altLang="en-US"/>
              <a:t>즉시 유효성을 검증</a:t>
            </a:r>
            <a:endParaRPr lang="en-US" altLang="ko-KR"/>
          </a:p>
          <a:p>
            <a:pPr lvl="4"/>
            <a:r>
              <a:rPr lang="ko-KR" altLang="en-US"/>
              <a:t>보내는 사람이 충분한 잔액을 가지고 있는지</a:t>
            </a:r>
          </a:p>
          <a:p>
            <a:pPr lvl="4"/>
            <a:r>
              <a:rPr lang="ko-KR" altLang="en-US"/>
              <a:t>트랜잭션 형식이 올바른지</a:t>
            </a:r>
          </a:p>
          <a:p>
            <a:pPr lvl="4"/>
            <a:r>
              <a:rPr lang="ko-KR" altLang="en-US"/>
              <a:t>디지털 서명이 유효한지</a:t>
            </a:r>
          </a:p>
          <a:p>
            <a:pPr lvl="4"/>
            <a:r>
              <a:rPr lang="ko-KR" altLang="en-US"/>
              <a:t>이중 지불</a:t>
            </a:r>
            <a:r>
              <a:rPr lang="en-US" altLang="ko-KR"/>
              <a:t>(Double Spending) </a:t>
            </a:r>
            <a:r>
              <a:rPr lang="ko-KR" altLang="en-US"/>
              <a:t>시도는 아닌지 등</a:t>
            </a:r>
          </a:p>
          <a:p>
            <a:pPr lvl="2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419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블록체인에서 거래 내역이 수집되는 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ko-KR" altLang="en-US"/>
              <a:t>분산 시스템의 특성과 암호화 기술</a:t>
            </a:r>
            <a:r>
              <a:rPr lang="en-US" altLang="ko-KR"/>
              <a:t>, </a:t>
            </a:r>
            <a:r>
              <a:rPr lang="ko-KR" altLang="en-US"/>
              <a:t>그리고 합의 알고리즘이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복합적으로 </a:t>
            </a:r>
            <a:r>
              <a:rPr lang="ko-KR" altLang="en-US"/>
              <a:t>작용하여 </a:t>
            </a:r>
            <a:r>
              <a:rPr lang="ko-KR" altLang="en-US" smtClean="0"/>
              <a:t>이루어짐</a:t>
            </a:r>
            <a:endParaRPr lang="en-US" altLang="ko-KR" smtClean="0"/>
          </a:p>
          <a:p>
            <a:endParaRPr lang="en-US" altLang="ko-KR"/>
          </a:p>
          <a:p>
            <a:pPr lvl="1"/>
            <a:r>
              <a:rPr lang="en-US" altLang="ko-KR" smtClean="0"/>
              <a:t>(3) </a:t>
            </a:r>
            <a:r>
              <a:rPr lang="ko-KR" altLang="en-US" smtClean="0"/>
              <a:t>블록 </a:t>
            </a:r>
            <a:r>
              <a:rPr lang="ko-KR" altLang="en-US"/>
              <a:t>생성 및 트랜잭션 </a:t>
            </a:r>
            <a:r>
              <a:rPr lang="ko-KR" altLang="en-US" smtClean="0"/>
              <a:t>포함</a:t>
            </a:r>
            <a:r>
              <a:rPr lang="en-US" altLang="ko-KR" smtClean="0"/>
              <a:t>(</a:t>
            </a:r>
            <a:r>
              <a:rPr lang="ko-KR" altLang="en-US"/>
              <a:t>채굴</a:t>
            </a:r>
            <a:r>
              <a:rPr lang="en-US" altLang="ko-KR"/>
              <a:t>/</a:t>
            </a:r>
            <a:r>
              <a:rPr lang="ko-KR" altLang="en-US"/>
              <a:t>검증</a:t>
            </a:r>
            <a:r>
              <a:rPr lang="en-US" altLang="ko-KR"/>
              <a:t>)</a:t>
            </a:r>
          </a:p>
          <a:p>
            <a:pPr lvl="2"/>
            <a:r>
              <a:rPr lang="ko-KR" altLang="en-US">
                <a:solidFill>
                  <a:srgbClr val="FF0000"/>
                </a:solidFill>
              </a:rPr>
              <a:t>마이너</a:t>
            </a:r>
            <a:r>
              <a:rPr lang="en-US" altLang="ko-KR">
                <a:solidFill>
                  <a:srgbClr val="FF0000"/>
                </a:solidFill>
              </a:rPr>
              <a:t>/</a:t>
            </a:r>
            <a:r>
              <a:rPr lang="ko-KR" altLang="en-US">
                <a:solidFill>
                  <a:srgbClr val="FF0000"/>
                </a:solidFill>
              </a:rPr>
              <a:t>검증자 </a:t>
            </a:r>
            <a:r>
              <a:rPr lang="ko-KR" altLang="en-US" smtClean="0">
                <a:solidFill>
                  <a:srgbClr val="FF0000"/>
                </a:solidFill>
              </a:rPr>
              <a:t>역할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블록체인 네트워크에는 </a:t>
            </a:r>
            <a:r>
              <a:rPr lang="en-US" altLang="ko-KR"/>
              <a:t>'</a:t>
            </a:r>
            <a:r>
              <a:rPr lang="ko-KR" altLang="en-US"/>
              <a:t>마이너</a:t>
            </a:r>
            <a:r>
              <a:rPr lang="en-US" altLang="ko-KR"/>
              <a:t>(Miner)' (</a:t>
            </a:r>
            <a:r>
              <a:rPr lang="ko-KR" altLang="en-US"/>
              <a:t>작업 증명 </a:t>
            </a:r>
            <a:r>
              <a:rPr lang="en-US" altLang="ko-KR"/>
              <a:t>PoW </a:t>
            </a:r>
            <a:r>
              <a:rPr lang="ko-KR" altLang="en-US"/>
              <a:t>방식</a:t>
            </a:r>
            <a:r>
              <a:rPr lang="en-US" altLang="ko-KR"/>
              <a:t>) </a:t>
            </a:r>
            <a:r>
              <a:rPr lang="ko-KR" altLang="en-US"/>
              <a:t>또는 </a:t>
            </a:r>
            <a:r>
              <a:rPr lang="en-US" altLang="ko-KR"/>
              <a:t>'</a:t>
            </a:r>
            <a:r>
              <a:rPr lang="ko-KR" altLang="en-US"/>
              <a:t>검증자</a:t>
            </a:r>
            <a:r>
              <a:rPr lang="en-US" altLang="ko-KR"/>
              <a:t>(Validator)' (</a:t>
            </a:r>
            <a:r>
              <a:rPr lang="ko-KR" altLang="en-US"/>
              <a:t>지분 증명 </a:t>
            </a:r>
            <a:r>
              <a:rPr lang="en-US" altLang="ko-KR"/>
              <a:t>PoS </a:t>
            </a:r>
            <a:r>
              <a:rPr lang="ko-KR" altLang="en-US"/>
              <a:t>방식</a:t>
            </a:r>
            <a:r>
              <a:rPr lang="en-US" altLang="ko-KR"/>
              <a:t>)</a:t>
            </a:r>
            <a:r>
              <a:rPr lang="ko-KR" altLang="en-US"/>
              <a:t>라는 특별한 노드들이 </a:t>
            </a:r>
            <a:r>
              <a:rPr lang="ko-KR" altLang="en-US" smtClean="0"/>
              <a:t>있음</a:t>
            </a:r>
            <a:r>
              <a:rPr lang="en-US" altLang="ko-KR" smtClean="0"/>
              <a:t>(</a:t>
            </a:r>
            <a:r>
              <a:rPr lang="ko-KR" altLang="en-US" smtClean="0"/>
              <a:t>이들은 </a:t>
            </a:r>
            <a:r>
              <a:rPr lang="ko-KR" altLang="en-US"/>
              <a:t>새로운 블록을 생성하고 블록체인에 추가하는 역할을 </a:t>
            </a:r>
            <a:r>
              <a:rPr lang="ko-KR" altLang="en-US" smtClean="0"/>
              <a:t>함</a:t>
            </a:r>
            <a:r>
              <a:rPr lang="en-US" altLang="ko-KR" smtClean="0"/>
              <a:t>)</a:t>
            </a:r>
          </a:p>
          <a:p>
            <a:pPr lvl="3"/>
            <a:r>
              <a:rPr lang="ko-KR" altLang="en-US" smtClean="0">
                <a:solidFill>
                  <a:srgbClr val="FF0000"/>
                </a:solidFill>
              </a:rPr>
              <a:t>트랜잭션 수집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마이너</a:t>
            </a:r>
            <a:r>
              <a:rPr lang="en-US" altLang="ko-KR"/>
              <a:t>/</a:t>
            </a:r>
            <a:r>
              <a:rPr lang="ko-KR" altLang="en-US"/>
              <a:t>검증자는 자신의 메모리 풀에 있는 유효한 트랜잭션들을 수집하여 새로운 블록을 </a:t>
            </a:r>
            <a:r>
              <a:rPr lang="ko-KR" altLang="en-US" smtClean="0"/>
              <a:t>구성</a:t>
            </a:r>
            <a:r>
              <a:rPr lang="en-US" altLang="ko-KR" smtClean="0"/>
              <a:t>(</a:t>
            </a:r>
            <a:r>
              <a:rPr lang="ko-KR" altLang="en-US" smtClean="0"/>
              <a:t>이때 </a:t>
            </a:r>
            <a:r>
              <a:rPr lang="ko-KR" altLang="en-US"/>
              <a:t>일반적으로 수수료가 높은 트랜잭션을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우선적으로 </a:t>
            </a:r>
            <a:r>
              <a:rPr lang="ko-KR" altLang="en-US"/>
              <a:t>선택하는 경향이 </a:t>
            </a:r>
            <a:r>
              <a:rPr lang="ko-KR" altLang="en-US" smtClean="0"/>
              <a:t>있음</a:t>
            </a:r>
            <a:r>
              <a:rPr lang="en-US" altLang="ko-KR" smtClean="0"/>
              <a:t>)</a:t>
            </a:r>
          </a:p>
          <a:p>
            <a:pPr lvl="3"/>
            <a:r>
              <a:rPr lang="ko-KR" altLang="en-US" smtClean="0">
                <a:solidFill>
                  <a:srgbClr val="FF0000"/>
                </a:solidFill>
              </a:rPr>
              <a:t>블록 생성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수집된 트랜잭션과 함께 이전 블록의 해시 값</a:t>
            </a:r>
            <a:r>
              <a:rPr lang="en-US" altLang="ko-KR"/>
              <a:t>, </a:t>
            </a:r>
            <a:r>
              <a:rPr lang="ko-KR" altLang="en-US"/>
              <a:t>타임스탬프</a:t>
            </a:r>
            <a:r>
              <a:rPr lang="en-US" altLang="ko-KR"/>
              <a:t>, </a:t>
            </a:r>
            <a:r>
              <a:rPr lang="ko-KR" altLang="en-US"/>
              <a:t>그리고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합의 </a:t>
            </a:r>
            <a:r>
              <a:rPr lang="ko-KR" altLang="en-US"/>
              <a:t>알고리즘에 필요한 추가 정보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비트코인의 경우 </a:t>
            </a:r>
            <a:r>
              <a:rPr lang="en-US" altLang="ko-KR"/>
              <a:t>Nonce </a:t>
            </a:r>
            <a:r>
              <a:rPr lang="ko-KR" altLang="en-US"/>
              <a:t>값</a:t>
            </a:r>
            <a:r>
              <a:rPr lang="en-US" altLang="ko-KR"/>
              <a:t>)</a:t>
            </a:r>
            <a:r>
              <a:rPr lang="ko-KR" altLang="en-US"/>
              <a:t>를 포함하는 새로운 블록을 </a:t>
            </a:r>
            <a:r>
              <a:rPr lang="ko-KR" altLang="en-US" smtClean="0"/>
              <a:t>생성</a:t>
            </a:r>
            <a:endParaRPr lang="en-US" altLang="ko-KR" smtClean="0"/>
          </a:p>
          <a:p>
            <a:pPr lvl="3"/>
            <a:r>
              <a:rPr lang="ko-KR" altLang="en-US" smtClean="0">
                <a:solidFill>
                  <a:srgbClr val="FF0000"/>
                </a:solidFill>
              </a:rPr>
              <a:t>합의 </a:t>
            </a:r>
            <a:r>
              <a:rPr lang="ko-KR" altLang="en-US">
                <a:solidFill>
                  <a:srgbClr val="FF0000"/>
                </a:solidFill>
              </a:rPr>
              <a:t>알고리즘 </a:t>
            </a:r>
            <a:r>
              <a:rPr lang="ko-KR" altLang="en-US" smtClean="0">
                <a:solidFill>
                  <a:srgbClr val="FF0000"/>
                </a:solidFill>
              </a:rPr>
              <a:t>수행</a:t>
            </a:r>
            <a:endParaRPr lang="en-US" altLang="ko-KR" smtClean="0">
              <a:solidFill>
                <a:srgbClr val="FF0000"/>
              </a:solidFill>
            </a:endParaRPr>
          </a:p>
          <a:p>
            <a:pPr lvl="4"/>
            <a:r>
              <a:rPr lang="ko-KR" altLang="en-US" smtClean="0"/>
              <a:t>작업 </a:t>
            </a:r>
            <a:r>
              <a:rPr lang="ko-KR" altLang="en-US"/>
              <a:t>증명</a:t>
            </a:r>
            <a:r>
              <a:rPr lang="en-US" altLang="ko-KR"/>
              <a:t>(PoW</a:t>
            </a:r>
            <a:r>
              <a:rPr lang="en-US" altLang="ko-KR" smtClean="0"/>
              <a:t>) -</a:t>
            </a:r>
            <a:r>
              <a:rPr lang="ko-KR" altLang="en-US" smtClean="0"/>
              <a:t> </a:t>
            </a:r>
            <a:r>
              <a:rPr lang="ko-KR" altLang="en-US"/>
              <a:t>마이너는 새로운 블록의 해시 값을 계산하기 위해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복잡한 </a:t>
            </a:r>
            <a:r>
              <a:rPr lang="ko-KR" altLang="en-US"/>
              <a:t>수학적 퍼즐</a:t>
            </a:r>
            <a:r>
              <a:rPr lang="en-US" altLang="ko-KR"/>
              <a:t>(nonce </a:t>
            </a:r>
            <a:r>
              <a:rPr lang="ko-KR" altLang="en-US"/>
              <a:t>값을 찾는 과정</a:t>
            </a:r>
            <a:r>
              <a:rPr lang="en-US" altLang="ko-KR"/>
              <a:t>)</a:t>
            </a:r>
            <a:r>
              <a:rPr lang="ko-KR" altLang="en-US"/>
              <a:t>을 </a:t>
            </a:r>
            <a:r>
              <a:rPr lang="ko-KR" altLang="en-US" smtClean="0"/>
              <a:t>품</a:t>
            </a:r>
            <a:r>
              <a:rPr lang="en-US" altLang="ko-KR" smtClean="0"/>
              <a:t>(</a:t>
            </a:r>
            <a:r>
              <a:rPr lang="ko-KR" altLang="en-US" smtClean="0"/>
              <a:t>이 </a:t>
            </a:r>
            <a:r>
              <a:rPr lang="ko-KR" altLang="en-US"/>
              <a:t>과정을 </a:t>
            </a:r>
            <a:r>
              <a:rPr lang="ko-KR" altLang="en-US" smtClean="0"/>
              <a:t>채굴</a:t>
            </a:r>
            <a:r>
              <a:rPr lang="en-US" altLang="ko-KR"/>
              <a:t>(Mining</a:t>
            </a:r>
            <a:r>
              <a:rPr lang="en-US" altLang="ko-KR" smtClean="0"/>
              <a:t>)</a:t>
            </a:r>
            <a:r>
              <a:rPr lang="ko-KR" altLang="en-US" smtClean="0"/>
              <a:t>이라고 하며</a:t>
            </a:r>
            <a:r>
              <a:rPr lang="en-US" altLang="ko-KR" smtClean="0"/>
              <a:t> </a:t>
            </a:r>
            <a:r>
              <a:rPr lang="ko-KR" altLang="en-US"/>
              <a:t>가장 먼저 퍼즐을 푼 마이너가 블록을 만들 권한을 </a:t>
            </a:r>
            <a:r>
              <a:rPr lang="ko-KR" altLang="en-US" smtClean="0"/>
              <a:t>얻음</a:t>
            </a:r>
            <a:r>
              <a:rPr lang="en-US" altLang="ko-KR" smtClean="0"/>
              <a:t>)</a:t>
            </a:r>
          </a:p>
          <a:p>
            <a:pPr lvl="4"/>
            <a:r>
              <a:rPr lang="ko-KR" altLang="en-US" smtClean="0"/>
              <a:t>지분 </a:t>
            </a:r>
            <a:r>
              <a:rPr lang="ko-KR" altLang="en-US"/>
              <a:t>증명</a:t>
            </a:r>
            <a:r>
              <a:rPr lang="en-US" altLang="ko-KR"/>
              <a:t>(PoS</a:t>
            </a:r>
            <a:r>
              <a:rPr lang="en-US" altLang="ko-KR" smtClean="0"/>
              <a:t>) -</a:t>
            </a:r>
            <a:r>
              <a:rPr lang="ko-KR" altLang="en-US" smtClean="0"/>
              <a:t> </a:t>
            </a:r>
            <a:r>
              <a:rPr lang="ko-KR" altLang="en-US"/>
              <a:t>검증자는 자신이 스테이킹</a:t>
            </a:r>
            <a:r>
              <a:rPr lang="en-US" altLang="ko-KR"/>
              <a:t>(</a:t>
            </a:r>
            <a:r>
              <a:rPr lang="ko-KR" altLang="en-US"/>
              <a:t>예치</a:t>
            </a:r>
            <a:r>
              <a:rPr lang="en-US" altLang="ko-KR"/>
              <a:t>)</a:t>
            </a:r>
            <a:r>
              <a:rPr lang="ko-KR" altLang="en-US"/>
              <a:t>한 코인의 양에 따라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블록을 </a:t>
            </a:r>
            <a:r>
              <a:rPr lang="ko-KR" altLang="en-US"/>
              <a:t>생성하거나 검증할 권한을 </a:t>
            </a:r>
            <a:r>
              <a:rPr lang="ko-KR" altLang="en-US" smtClean="0"/>
              <a:t>얻음</a:t>
            </a:r>
            <a:r>
              <a:rPr lang="en-US" altLang="ko-KR" smtClean="0"/>
              <a:t>(</a:t>
            </a:r>
            <a:r>
              <a:rPr lang="ko-KR" altLang="en-US" smtClean="0"/>
              <a:t>무작위로 </a:t>
            </a:r>
            <a:r>
              <a:rPr lang="ko-KR" altLang="en-US"/>
              <a:t>선택되거나</a:t>
            </a:r>
            <a:r>
              <a:rPr lang="en-US" altLang="ko-KR"/>
              <a:t>, </a:t>
            </a:r>
            <a:r>
              <a:rPr lang="ko-KR" altLang="en-US"/>
              <a:t>지분량에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비례하여 </a:t>
            </a:r>
            <a:r>
              <a:rPr lang="ko-KR" altLang="en-US"/>
              <a:t>기회가 </a:t>
            </a:r>
            <a:r>
              <a:rPr lang="ko-KR" altLang="en-US" smtClean="0"/>
              <a:t>주어짐</a:t>
            </a:r>
            <a:r>
              <a:rPr lang="en-US" altLang="ko-KR" smtClean="0"/>
              <a:t>)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7882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블록체인에서 거래 내역이 수집되는 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r>
              <a:rPr lang="ko-KR" altLang="en-US"/>
              <a:t>분산 시스템의 특성과 암호화 기술</a:t>
            </a:r>
            <a:r>
              <a:rPr lang="en-US" altLang="ko-KR"/>
              <a:t>, </a:t>
            </a:r>
            <a:r>
              <a:rPr lang="ko-KR" altLang="en-US"/>
              <a:t>그리고 합의 알고리즘이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복합적으로 </a:t>
            </a:r>
            <a:r>
              <a:rPr lang="ko-KR" altLang="en-US"/>
              <a:t>작용하여 </a:t>
            </a:r>
            <a:r>
              <a:rPr lang="ko-KR" altLang="en-US" smtClean="0"/>
              <a:t>이루어짐</a:t>
            </a:r>
            <a:endParaRPr lang="en-US" altLang="ko-KR" smtClean="0"/>
          </a:p>
          <a:p>
            <a:endParaRPr lang="en-US" altLang="ko-KR"/>
          </a:p>
          <a:p>
            <a:pPr lvl="1"/>
            <a:r>
              <a:rPr lang="en-US" altLang="ko-KR" smtClean="0"/>
              <a:t>(4) </a:t>
            </a:r>
            <a:r>
              <a:rPr lang="ko-KR" altLang="en-US" smtClean="0"/>
              <a:t>블록 </a:t>
            </a:r>
            <a:r>
              <a:rPr lang="ko-KR" altLang="en-US"/>
              <a:t>전파 및 </a:t>
            </a:r>
            <a:r>
              <a:rPr lang="ko-KR" altLang="en-US" smtClean="0"/>
              <a:t>검증</a:t>
            </a:r>
            <a:r>
              <a:rPr lang="en-US" altLang="ko-KR" smtClean="0"/>
              <a:t>(</a:t>
            </a:r>
            <a:r>
              <a:rPr lang="ko-KR" altLang="en-US"/>
              <a:t>체인 연결</a:t>
            </a:r>
            <a:r>
              <a:rPr lang="en-US" altLang="ko-KR"/>
              <a:t>)</a:t>
            </a:r>
          </a:p>
          <a:p>
            <a:pPr lvl="2"/>
            <a:r>
              <a:rPr lang="ko-KR" altLang="en-US">
                <a:solidFill>
                  <a:srgbClr val="FF0000"/>
                </a:solidFill>
              </a:rPr>
              <a:t>블록 </a:t>
            </a:r>
            <a:r>
              <a:rPr lang="ko-KR" altLang="en-US" smtClean="0">
                <a:solidFill>
                  <a:srgbClr val="FF0000"/>
                </a:solidFill>
              </a:rPr>
              <a:t>브로드캐스트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새로운 블록을 성공적으로 생성한 마이너</a:t>
            </a:r>
            <a:r>
              <a:rPr lang="en-US" altLang="ko-KR"/>
              <a:t>/</a:t>
            </a:r>
            <a:r>
              <a:rPr lang="ko-KR" altLang="en-US"/>
              <a:t>검증자는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해당 블록을 </a:t>
            </a:r>
            <a:r>
              <a:rPr lang="ko-KR" altLang="en-US"/>
              <a:t>네트워크의 다른 모든 노드로 </a:t>
            </a:r>
            <a:r>
              <a:rPr lang="ko-KR" altLang="en-US" smtClean="0"/>
              <a:t>브로드캐스트</a:t>
            </a:r>
            <a:endParaRPr lang="en-US" altLang="ko-KR" smtClean="0"/>
          </a:p>
          <a:p>
            <a:pPr lvl="2"/>
            <a:r>
              <a:rPr lang="ko-KR" altLang="en-US" smtClean="0">
                <a:solidFill>
                  <a:srgbClr val="FF0000"/>
                </a:solidFill>
              </a:rPr>
              <a:t>노드 검증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다른 노드들은 브로드캐스트된 블록을 수신하고</a:t>
            </a:r>
            <a:r>
              <a:rPr lang="en-US" altLang="ko-KR"/>
              <a:t>, </a:t>
            </a:r>
            <a:r>
              <a:rPr lang="ko-KR" altLang="en-US"/>
              <a:t>블록 내의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모든 트랜잭션과 </a:t>
            </a:r>
            <a:r>
              <a:rPr lang="ko-KR" altLang="en-US"/>
              <a:t>블록 자체의 유효성을 다시 한번 </a:t>
            </a:r>
            <a:r>
              <a:rPr lang="ko-KR" altLang="en-US" smtClean="0"/>
              <a:t>검증</a:t>
            </a:r>
            <a:endParaRPr lang="en-US" altLang="ko-KR" smtClean="0"/>
          </a:p>
          <a:p>
            <a:pPr lvl="3"/>
            <a:r>
              <a:rPr lang="ko-KR" altLang="en-US" smtClean="0"/>
              <a:t>블록에 </a:t>
            </a:r>
            <a:r>
              <a:rPr lang="ko-KR" altLang="en-US"/>
              <a:t>포함된 모든 트랜잭션이 유효한가</a:t>
            </a:r>
            <a:r>
              <a:rPr lang="en-US" altLang="ko-KR"/>
              <a:t>?</a:t>
            </a:r>
          </a:p>
          <a:p>
            <a:pPr lvl="3"/>
            <a:r>
              <a:rPr lang="ko-KR" altLang="en-US"/>
              <a:t>이전 블록의 해시가 올바르게 참조되었는가</a:t>
            </a:r>
            <a:r>
              <a:rPr lang="en-US" altLang="ko-KR"/>
              <a:t>?</a:t>
            </a:r>
          </a:p>
          <a:p>
            <a:pPr lvl="3"/>
            <a:r>
              <a:rPr lang="en-US" altLang="ko-KR"/>
              <a:t>(PoW</a:t>
            </a:r>
            <a:r>
              <a:rPr lang="ko-KR" altLang="en-US"/>
              <a:t>의 경우</a:t>
            </a:r>
            <a:r>
              <a:rPr lang="en-US" altLang="ko-KR"/>
              <a:t>) </a:t>
            </a:r>
            <a:r>
              <a:rPr lang="ko-KR" altLang="en-US"/>
              <a:t>퍼즐이 올바르게 풀렸는가</a:t>
            </a:r>
            <a:r>
              <a:rPr lang="en-US" altLang="ko-KR"/>
              <a:t>? </a:t>
            </a:r>
            <a:r>
              <a:rPr lang="ko-KR" altLang="en-US"/>
              <a:t>등</a:t>
            </a:r>
          </a:p>
          <a:p>
            <a:pPr lvl="2"/>
            <a:r>
              <a:rPr lang="ko-KR" altLang="en-US">
                <a:solidFill>
                  <a:srgbClr val="FF0000"/>
                </a:solidFill>
              </a:rPr>
              <a:t>체인 </a:t>
            </a:r>
            <a:r>
              <a:rPr lang="ko-KR" altLang="en-US" smtClean="0">
                <a:solidFill>
                  <a:srgbClr val="FF0000"/>
                </a:solidFill>
              </a:rPr>
              <a:t>추가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모든 노드가 해당 블록이 유효하다고 합의하면</a:t>
            </a:r>
            <a:r>
              <a:rPr lang="en-US" altLang="ko-KR"/>
              <a:t>, </a:t>
            </a:r>
            <a:r>
              <a:rPr lang="ko-KR" altLang="en-US"/>
              <a:t>각 노드는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자신의 </a:t>
            </a:r>
            <a:r>
              <a:rPr lang="ko-KR" altLang="en-US"/>
              <a:t>블록체인 사본에 이 새로운 블록을 </a:t>
            </a:r>
            <a:r>
              <a:rPr lang="ko-KR" altLang="en-US" smtClean="0"/>
              <a:t>추가</a:t>
            </a:r>
            <a:r>
              <a:rPr lang="en-US" altLang="ko-KR" smtClean="0"/>
              <a:t>(</a:t>
            </a:r>
            <a:r>
              <a:rPr lang="ko-KR" altLang="en-US" smtClean="0"/>
              <a:t>이렇게 </a:t>
            </a:r>
            <a:r>
              <a:rPr lang="ko-KR" altLang="en-US"/>
              <a:t>블록들이 서로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연결되어 블록체인을 형성</a:t>
            </a:r>
            <a:r>
              <a:rPr lang="en-US" altLang="ko-KR" smtClean="0"/>
              <a:t>)</a:t>
            </a:r>
          </a:p>
          <a:p>
            <a:pPr lvl="2"/>
            <a:r>
              <a:rPr lang="ko-KR" altLang="en-US" smtClean="0">
                <a:solidFill>
                  <a:srgbClr val="FF0000"/>
                </a:solidFill>
              </a:rPr>
              <a:t>트랜잭션 확정</a:t>
            </a:r>
            <a:r>
              <a:rPr lang="en-US" altLang="ko-KR" smtClean="0">
                <a:solidFill>
                  <a:srgbClr val="FF0000"/>
                </a:solidFill>
              </a:rPr>
              <a:t>(</a:t>
            </a:r>
            <a:r>
              <a:rPr lang="en-US" altLang="ko-KR">
                <a:solidFill>
                  <a:srgbClr val="FF0000"/>
                </a:solidFill>
              </a:rPr>
              <a:t>Confirmation</a:t>
            </a:r>
            <a:r>
              <a:rPr lang="en-US" altLang="ko-KR" smtClean="0">
                <a:solidFill>
                  <a:srgbClr val="FF0000"/>
                </a:solidFill>
              </a:rPr>
              <a:t>) </a:t>
            </a:r>
            <a:r>
              <a:rPr lang="en-US" altLang="ko-KR" smtClean="0"/>
              <a:t>-</a:t>
            </a:r>
            <a:r>
              <a:rPr lang="ko-KR" altLang="en-US" smtClean="0"/>
              <a:t> </a:t>
            </a:r>
            <a:r>
              <a:rPr lang="ko-KR" altLang="en-US"/>
              <a:t>트랜잭션이 블록에 포함되고 블록체인에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추가되면</a:t>
            </a:r>
            <a:r>
              <a:rPr lang="en-US" altLang="ko-KR"/>
              <a:t>, </a:t>
            </a:r>
            <a:r>
              <a:rPr lang="ko-KR" altLang="en-US"/>
              <a:t>해당 트랜잭션은 </a:t>
            </a:r>
            <a:r>
              <a:rPr lang="en-US" altLang="ko-KR"/>
              <a:t>'</a:t>
            </a:r>
            <a:r>
              <a:rPr lang="ko-KR" altLang="en-US"/>
              <a:t>확정</a:t>
            </a:r>
            <a:r>
              <a:rPr lang="en-US" altLang="ko-KR"/>
              <a:t>(Confirmed)'</a:t>
            </a:r>
            <a:r>
              <a:rPr lang="ko-KR" altLang="en-US"/>
              <a:t>된 것으로 </a:t>
            </a:r>
            <a:r>
              <a:rPr lang="ko-KR" altLang="en-US" smtClean="0"/>
              <a:t>간주됨</a:t>
            </a:r>
            <a:r>
              <a:rPr lang="en-US" altLang="ko-KR" smtClean="0"/>
              <a:t>(</a:t>
            </a:r>
            <a:r>
              <a:rPr lang="ko-KR" altLang="en-US" smtClean="0"/>
              <a:t>대부분의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블록체인에서는 </a:t>
            </a:r>
            <a:r>
              <a:rPr lang="ko-KR" altLang="en-US"/>
              <a:t>하나의 블록이 추가되는 것만으로는 완전한 확정으로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보지 </a:t>
            </a:r>
            <a:r>
              <a:rPr lang="ko-KR" altLang="en-US"/>
              <a:t>않고</a:t>
            </a:r>
            <a:r>
              <a:rPr lang="en-US" altLang="ko-KR"/>
              <a:t>, </a:t>
            </a:r>
            <a:r>
              <a:rPr lang="ko-KR" altLang="en-US" u="sng"/>
              <a:t>그 위에 몇 개의 블록이 더 쌓여야</a:t>
            </a:r>
            <a:r>
              <a:rPr lang="en-US" altLang="ko-KR" u="sng"/>
              <a:t>(</a:t>
            </a:r>
            <a:r>
              <a:rPr lang="ko-KR" altLang="en-US" u="sng"/>
              <a:t>예</a:t>
            </a:r>
            <a:r>
              <a:rPr lang="en-US" altLang="ko-KR" u="sng"/>
              <a:t>: </a:t>
            </a:r>
            <a:r>
              <a:rPr lang="ko-KR" altLang="en-US" u="sng"/>
              <a:t>비트코인은 </a:t>
            </a:r>
            <a:r>
              <a:rPr lang="en-US" altLang="ko-KR" u="sng"/>
              <a:t>6</a:t>
            </a:r>
            <a:r>
              <a:rPr lang="ko-KR" altLang="en-US" u="sng"/>
              <a:t>블록</a:t>
            </a:r>
            <a:r>
              <a:rPr lang="en-US" altLang="ko-KR" u="sng"/>
              <a:t>) 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최종 </a:t>
            </a:r>
            <a:r>
              <a:rPr lang="ko-KR" altLang="en-US" u="sng"/>
              <a:t>확정으로 </a:t>
            </a:r>
            <a:r>
              <a:rPr lang="ko-KR" altLang="en-US" u="sng" smtClean="0"/>
              <a:t>간주하여 </a:t>
            </a:r>
            <a:r>
              <a:rPr lang="ko-KR" altLang="en-US" u="sng"/>
              <a:t>이중 지불 공격을 </a:t>
            </a:r>
            <a:r>
              <a:rPr lang="ko-KR" altLang="en-US" u="sng" smtClean="0"/>
              <a:t>방지함</a:t>
            </a:r>
            <a:r>
              <a:rPr lang="en-US" altLang="ko-KR" u="sng" smtClean="0"/>
              <a:t>)</a:t>
            </a:r>
            <a:endParaRPr lang="en-US" altLang="ko-KR" u="sng"/>
          </a:p>
        </p:txBody>
      </p:sp>
    </p:spTree>
    <p:extLst>
      <p:ext uri="{BB962C8B-B14F-4D97-AF65-F5344CB8AC3E}">
        <p14:creationId xmlns:p14="http://schemas.microsoft.com/office/powerpoint/2010/main" val="318535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Anders </a:t>
            </a:r>
            <a:r>
              <a:rPr lang="en-US" altLang="ko-KR" smtClean="0"/>
              <a:t>Brownsorth </a:t>
            </a:r>
            <a:r>
              <a:rPr lang="ko-KR" altLang="en-US" smtClean="0"/>
              <a:t>홈페이지를 이용한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블록체인 시연</a:t>
            </a:r>
            <a:r>
              <a:rPr lang="ko-KR" altLang="en-US"/>
              <a:t>	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블록체인 시연</a:t>
            </a:r>
            <a:endParaRPr lang="en-US" altLang="ko-KR" smtClean="0"/>
          </a:p>
          <a:p>
            <a:pPr lvl="1"/>
            <a:r>
              <a:rPr lang="en-US" altLang="ko-KR" smtClean="0"/>
              <a:t>Andersbrown </a:t>
            </a:r>
            <a:r>
              <a:rPr lang="ko-KR" altLang="en-US" smtClean="0"/>
              <a:t>홈페이지를 이용한 블록체인 </a:t>
            </a:r>
            <a:r>
              <a:rPr lang="ko-KR" altLang="en-US" smtClean="0"/>
              <a:t>데모</a:t>
            </a:r>
            <a:endParaRPr lang="en-US" altLang="ko-KR" smtClean="0"/>
          </a:p>
          <a:p>
            <a:pPr lvl="1"/>
            <a:endParaRPr lang="en-US" altLang="ko-KR" smtClean="0"/>
          </a:p>
          <a:p>
            <a:pPr lvl="2"/>
            <a:r>
              <a:rPr lang="ko-KR" altLang="en-US" smtClean="0"/>
              <a:t>메인페이지에는 블록체인의 데모를 유튜브 영상을 통해 보여줌</a:t>
            </a:r>
            <a:endParaRPr lang="en-US" altLang="ko-KR" smtClean="0"/>
          </a:p>
          <a:p>
            <a:pPr lvl="2"/>
            <a:r>
              <a:rPr lang="en-US" altLang="ko-KR">
                <a:hlinkClick r:id="rId2"/>
              </a:rPr>
              <a:t>https://andersbrownworth.com/blockchain</a:t>
            </a:r>
            <a:r>
              <a:rPr lang="en-US" altLang="ko-KR" smtClean="0">
                <a:hlinkClick r:id="rId2"/>
              </a:rPr>
              <a:t>/</a:t>
            </a:r>
            <a:endParaRPr lang="en-US" altLang="ko-KR" smtClean="0"/>
          </a:p>
          <a:p>
            <a:pPr lvl="2"/>
            <a:r>
              <a:rPr lang="ko-KR" altLang="en-US" smtClean="0"/>
              <a:t>상단에 </a:t>
            </a:r>
            <a:r>
              <a:rPr lang="en-US" altLang="ko-KR" smtClean="0"/>
              <a:t>Keys</a:t>
            </a:r>
            <a:r>
              <a:rPr lang="en-US" altLang="ko-KR"/>
              <a:t>, Signatures, Transaction, Blockchain</a:t>
            </a:r>
            <a:r>
              <a:rPr lang="ko-KR" altLang="en-US" smtClean="0"/>
              <a:t>탭이 존재함</a:t>
            </a:r>
            <a:endParaRPr lang="ko-KR" altLang="en-US"/>
          </a:p>
          <a:p>
            <a:pPr lvl="3"/>
            <a:r>
              <a:rPr lang="en-US" altLang="ko-KR" smtClean="0">
                <a:hlinkClick r:id="rId3"/>
              </a:rPr>
              <a:t>https</a:t>
            </a:r>
            <a:r>
              <a:rPr lang="en-US" altLang="ko-KR">
                <a:hlinkClick r:id="rId3"/>
              </a:rPr>
              <a:t>://</a:t>
            </a:r>
            <a:r>
              <a:rPr lang="en-US" altLang="ko-KR" smtClean="0">
                <a:hlinkClick r:id="rId3"/>
              </a:rPr>
              <a:t>andersbrownworth.com/blockchain/public-private-keys/blockchain</a:t>
            </a:r>
            <a:endParaRPr lang="en-US" altLang="ko-KR" smtClean="0"/>
          </a:p>
          <a:p>
            <a:pPr lvl="2"/>
            <a:endParaRPr lang="en-US" altLang="ko-KR"/>
          </a:p>
          <a:p>
            <a:pPr lvl="2"/>
            <a:endParaRPr lang="en-US" altLang="ko-KR" smtClean="0"/>
          </a:p>
          <a:p>
            <a:pPr lvl="2"/>
            <a:endParaRPr lang="en-US" altLang="ko-KR"/>
          </a:p>
          <a:p>
            <a:pPr lvl="2"/>
            <a:r>
              <a:rPr lang="ko-KR" altLang="en-US" smtClean="0"/>
              <a:t>상단에 해시</a:t>
            </a:r>
            <a:r>
              <a:rPr lang="en-US" altLang="ko-KR"/>
              <a:t>, </a:t>
            </a:r>
            <a:r>
              <a:rPr lang="ko-KR" altLang="en-US"/>
              <a:t>블록</a:t>
            </a:r>
            <a:r>
              <a:rPr lang="en-US" altLang="ko-KR"/>
              <a:t>, </a:t>
            </a:r>
            <a:r>
              <a:rPr lang="ko-KR" altLang="en-US"/>
              <a:t>블록체인</a:t>
            </a:r>
            <a:r>
              <a:rPr lang="en-US" altLang="ko-KR"/>
              <a:t>, </a:t>
            </a:r>
            <a:r>
              <a:rPr lang="ko-KR" altLang="en-US"/>
              <a:t>분산</a:t>
            </a:r>
            <a:r>
              <a:rPr lang="en-US" altLang="ko-KR"/>
              <a:t>, </a:t>
            </a:r>
            <a:r>
              <a:rPr lang="ko-KR" altLang="en-US"/>
              <a:t>토큰</a:t>
            </a:r>
            <a:r>
              <a:rPr lang="en-US" altLang="ko-KR"/>
              <a:t>, </a:t>
            </a:r>
            <a:r>
              <a:rPr lang="ko-KR" altLang="en-US" smtClean="0"/>
              <a:t>코인 베이스의 탭이 존재함</a:t>
            </a:r>
            <a:endParaRPr lang="en-US" altLang="ko-KR" smtClean="0"/>
          </a:p>
          <a:p>
            <a:pPr lvl="3"/>
            <a:r>
              <a:rPr lang="en-US" altLang="ko-KR" b="1" smtClean="0">
                <a:latin typeface="HY그래픽" panose="02030600000101010101" pitchFamily="18" charset="-127"/>
                <a:ea typeface="HY그래픽" panose="02030600000101010101" pitchFamily="18" charset="-127"/>
                <a:hlinkClick r:id="rId2"/>
              </a:rPr>
              <a:t>https</a:t>
            </a:r>
            <a:r>
              <a:rPr lang="en-US" altLang="ko-KR" b="1">
                <a:latin typeface="HY그래픽" panose="02030600000101010101" pitchFamily="18" charset="-127"/>
                <a:ea typeface="HY그래픽" panose="02030600000101010101" pitchFamily="18" charset="-127"/>
                <a:hlinkClick r:id="rId2"/>
              </a:rPr>
              <a:t>://andersbrownworth.com/blockchain/</a:t>
            </a:r>
            <a:endParaRPr lang="ko-KR" altLang="en-US" b="1">
              <a:latin typeface="HY그래픽" panose="02030600000101010101" pitchFamily="18" charset="-127"/>
              <a:ea typeface="HY그래픽" panose="02030600000101010101" pitchFamily="18" charset="-127"/>
            </a:endParaRPr>
          </a:p>
          <a:p>
            <a:endParaRPr lang="ko-KR" altLang="en-US" sz="12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1" y="3933056"/>
            <a:ext cx="72008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743" y="5301208"/>
            <a:ext cx="7200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6804248" y="5301208"/>
            <a:ext cx="2096295" cy="3600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732240" y="3995923"/>
            <a:ext cx="2096295" cy="3600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496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Anders Brownsorth </a:t>
            </a:r>
            <a:r>
              <a:rPr lang="ko-KR" altLang="en-US"/>
              <a:t>홈페이지를 이용한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블록체인 시연	</a:t>
            </a:r>
            <a:endParaRPr lang="ko-KR" altLang="en-US" b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개인키</a:t>
            </a:r>
            <a:r>
              <a:rPr lang="en-US" altLang="ko-KR"/>
              <a:t>, </a:t>
            </a:r>
            <a:r>
              <a:rPr lang="ko-KR" altLang="en-US" smtClean="0"/>
              <a:t>공개키생성</a:t>
            </a:r>
            <a:endParaRPr lang="en-US" altLang="ko-KR" smtClean="0"/>
          </a:p>
          <a:p>
            <a:pPr lvl="1"/>
            <a:r>
              <a:rPr lang="ko-KR" altLang="en-US">
                <a:solidFill>
                  <a:schemeClr val="tx1"/>
                </a:solidFill>
              </a:rPr>
              <a:t>개인키</a:t>
            </a:r>
            <a:r>
              <a:rPr lang="en-US" altLang="ko-KR">
                <a:solidFill>
                  <a:schemeClr val="tx1"/>
                </a:solidFill>
              </a:rPr>
              <a:t>(Private Key)</a:t>
            </a:r>
            <a:r>
              <a:rPr lang="ko-KR" altLang="en-US">
                <a:solidFill>
                  <a:schemeClr val="tx1"/>
                </a:solidFill>
              </a:rPr>
              <a:t>와 공개키</a:t>
            </a:r>
            <a:r>
              <a:rPr lang="en-US" altLang="ko-KR">
                <a:solidFill>
                  <a:schemeClr val="tx1"/>
                </a:solidFill>
              </a:rPr>
              <a:t>(Public Key)</a:t>
            </a:r>
            <a:r>
              <a:rPr lang="ko-KR" altLang="en-US">
                <a:solidFill>
                  <a:schemeClr val="tx1"/>
                </a:solidFill>
              </a:rPr>
              <a:t>는 암호화 방식 중 하나인 </a:t>
            </a:r>
            <a:r>
              <a:rPr lang="en-US" altLang="ko-KR" smtClean="0">
                <a:solidFill>
                  <a:schemeClr val="tx1"/>
                </a:solidFill>
              </a:rPr>
              <a:t/>
            </a:r>
            <a:br>
              <a:rPr lang="en-US" altLang="ko-KR" smtClean="0">
                <a:solidFill>
                  <a:schemeClr val="tx1"/>
                </a:solidFill>
              </a:rPr>
            </a:br>
            <a:r>
              <a:rPr lang="ko-KR" altLang="en-US" smtClean="0"/>
              <a:t>공개키 </a:t>
            </a:r>
            <a:r>
              <a:rPr lang="ko-KR" altLang="en-US"/>
              <a:t>암호화</a:t>
            </a:r>
            <a:r>
              <a:rPr lang="en-US" altLang="ko-KR"/>
              <a:t>(Public-key cryptography)</a:t>
            </a:r>
            <a:r>
              <a:rPr lang="ko-KR" altLang="en-US"/>
              <a:t> 또는 </a:t>
            </a:r>
            <a:r>
              <a:rPr lang="ko-KR" altLang="en-US" smtClean="0"/>
              <a:t>비대칭 </a:t>
            </a:r>
            <a:r>
              <a:rPr lang="ko-KR" altLang="en-US"/>
              <a:t>키 암호화</a:t>
            </a:r>
            <a:r>
              <a:rPr lang="en-US" altLang="ko-KR"/>
              <a:t>(Asymmetric-key cryptography</a:t>
            </a:r>
            <a:r>
              <a:rPr lang="en-US" altLang="ko-KR" smtClean="0"/>
              <a:t>)</a:t>
            </a:r>
            <a:r>
              <a:rPr lang="ko-KR" altLang="en-US" smtClean="0"/>
              <a:t>에서 </a:t>
            </a:r>
            <a:r>
              <a:rPr lang="ko-KR" altLang="en-US"/>
              <a:t>사용되는 한 쌍의 키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924944"/>
            <a:ext cx="740484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7092280" y="2957995"/>
            <a:ext cx="432048" cy="43204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43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Anders Brownsorth </a:t>
            </a:r>
            <a:r>
              <a:rPr lang="ko-KR" altLang="en-US"/>
              <a:t>홈페이지를 이용한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블록체인 시연	</a:t>
            </a:r>
            <a:endParaRPr lang="ko-KR" altLang="en-US" b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전자서명</a:t>
            </a:r>
            <a:r>
              <a:rPr lang="en-US" altLang="ko-KR"/>
              <a:t>(Digital Signature</a:t>
            </a:r>
            <a:r>
              <a:rPr lang="en-US" altLang="ko-KR" smtClean="0"/>
              <a:t>)</a:t>
            </a:r>
          </a:p>
          <a:p>
            <a:pPr lvl="1"/>
            <a:r>
              <a:rPr lang="ko-KR" altLang="en-US" smtClean="0">
                <a:solidFill>
                  <a:schemeClr val="tx1"/>
                </a:solidFill>
              </a:rPr>
              <a:t>디지털 </a:t>
            </a:r>
            <a:r>
              <a:rPr lang="ko-KR" altLang="en-US">
                <a:solidFill>
                  <a:schemeClr val="tx1"/>
                </a:solidFill>
              </a:rPr>
              <a:t>문서나 메시지의 </a:t>
            </a:r>
            <a:r>
              <a:rPr lang="ko-KR" altLang="en-US"/>
              <a:t>무결성</a:t>
            </a:r>
            <a:r>
              <a:rPr lang="en-US" altLang="ko-KR"/>
              <a:t>(Integrity), </a:t>
            </a:r>
            <a:r>
              <a:rPr lang="ko-KR" altLang="en-US"/>
              <a:t>인증</a:t>
            </a:r>
            <a:r>
              <a:rPr lang="en-US" altLang="ko-KR"/>
              <a:t>(Authentication),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그리고 부인 </a:t>
            </a:r>
            <a:r>
              <a:rPr lang="ko-KR" altLang="en-US"/>
              <a:t>방지</a:t>
            </a:r>
            <a:r>
              <a:rPr lang="en-US" altLang="ko-KR"/>
              <a:t>(Non-repudiation</a:t>
            </a:r>
            <a:r>
              <a:rPr lang="en-US" altLang="ko-KR" smtClean="0"/>
              <a:t>)</a:t>
            </a:r>
            <a:r>
              <a:rPr lang="ko-KR" altLang="en-US" smtClean="0">
                <a:solidFill>
                  <a:schemeClr val="tx1"/>
                </a:solidFill>
              </a:rPr>
              <a:t>를 </a:t>
            </a:r>
            <a:r>
              <a:rPr lang="ko-KR" altLang="en-US">
                <a:solidFill>
                  <a:schemeClr val="tx1"/>
                </a:solidFill>
              </a:rPr>
              <a:t>보장하는 데 사용되는 전자적인 </a:t>
            </a:r>
            <a:r>
              <a:rPr lang="en-US" altLang="ko-KR">
                <a:solidFill>
                  <a:schemeClr val="tx1"/>
                </a:solidFill>
              </a:rPr>
              <a:t>"</a:t>
            </a:r>
            <a:r>
              <a:rPr lang="ko-KR" altLang="en-US">
                <a:solidFill>
                  <a:schemeClr val="tx1"/>
                </a:solidFill>
              </a:rPr>
              <a:t>지문</a:t>
            </a:r>
            <a:r>
              <a:rPr lang="en-US" altLang="ko-KR">
                <a:solidFill>
                  <a:schemeClr val="tx1"/>
                </a:solidFill>
              </a:rPr>
              <a:t>"</a:t>
            </a:r>
            <a:r>
              <a:rPr lang="ko-KR" altLang="en-US">
                <a:solidFill>
                  <a:schemeClr val="tx1"/>
                </a:solidFill>
              </a:rPr>
              <a:t>과 같은 </a:t>
            </a:r>
            <a:r>
              <a:rPr lang="ko-KR" altLang="en-US" smtClean="0">
                <a:solidFill>
                  <a:schemeClr val="tx1"/>
                </a:solidFill>
              </a:rPr>
              <a:t>기술</a:t>
            </a:r>
            <a:endParaRPr lang="en-US" altLang="ko-KR" smtClean="0">
              <a:solidFill>
                <a:schemeClr val="tx1"/>
              </a:solidFill>
            </a:endParaRPr>
          </a:p>
          <a:p>
            <a:pPr lvl="2"/>
            <a:r>
              <a:rPr lang="ko-KR" altLang="en-US" smtClean="0"/>
              <a:t>이는 </a:t>
            </a:r>
            <a:r>
              <a:rPr lang="ko-KR" altLang="en-US"/>
              <a:t>오프라인에서의 </a:t>
            </a:r>
            <a:r>
              <a:rPr lang="ko-KR" altLang="en-US">
                <a:solidFill>
                  <a:srgbClr val="006600"/>
                </a:solidFill>
              </a:rPr>
              <a:t>수기 서명이나 도장과 유사한 역할을</a:t>
            </a:r>
            <a:r>
              <a:rPr lang="ko-KR" altLang="en-US"/>
              <a:t> 하지만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디지털 </a:t>
            </a:r>
            <a:r>
              <a:rPr lang="ko-KR" altLang="en-US"/>
              <a:t>환경의 특성을 살려 훨씬 강력한 보안 기능을 제공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478169"/>
            <a:ext cx="7128792" cy="327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069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Anders Brownsorth </a:t>
            </a:r>
            <a:r>
              <a:rPr lang="ko-KR" altLang="en-US"/>
              <a:t>홈페이지를 이용한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블록체인 시연	</a:t>
            </a:r>
            <a:endParaRPr lang="ko-KR" altLang="en-US" b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트랜잭션과 전자서명</a:t>
            </a:r>
            <a:endParaRPr lang="en-US" altLang="ko-KR" smtClean="0"/>
          </a:p>
          <a:p>
            <a:pPr lvl="1"/>
            <a:r>
              <a:rPr lang="ko-KR" altLang="en-US" smtClean="0"/>
              <a:t>트랜잭션</a:t>
            </a:r>
            <a:r>
              <a:rPr lang="en-US" altLang="ko-KR"/>
              <a:t>(Transaction</a:t>
            </a:r>
            <a:r>
              <a:rPr lang="en-US" altLang="ko-KR" smtClean="0"/>
              <a:t>)</a:t>
            </a:r>
          </a:p>
          <a:p>
            <a:pPr lvl="2"/>
            <a:r>
              <a:rPr lang="ko-KR" altLang="en-US" smtClean="0"/>
              <a:t>데이터베이스 </a:t>
            </a:r>
            <a:r>
              <a:rPr lang="ko-KR" altLang="en-US"/>
              <a:t>시스템 또는 분산 시스템에서 </a:t>
            </a:r>
            <a:r>
              <a:rPr lang="ko-KR" altLang="en-US">
                <a:solidFill>
                  <a:srgbClr val="006600"/>
                </a:solidFill>
              </a:rPr>
              <a:t>하나의 논리적인 작업 단위를 </a:t>
            </a:r>
            <a:r>
              <a:rPr lang="en-US" altLang="ko-KR" smtClean="0">
                <a:solidFill>
                  <a:srgbClr val="006600"/>
                </a:solidFill>
              </a:rPr>
              <a:t/>
            </a:r>
            <a:br>
              <a:rPr lang="en-US" altLang="ko-KR" smtClean="0">
                <a:solidFill>
                  <a:srgbClr val="006600"/>
                </a:solidFill>
              </a:rPr>
            </a:br>
            <a:r>
              <a:rPr lang="ko-KR" altLang="en-US" smtClean="0">
                <a:solidFill>
                  <a:srgbClr val="006600"/>
                </a:solidFill>
              </a:rPr>
              <a:t>의미</a:t>
            </a:r>
            <a:endParaRPr lang="en-US" altLang="ko-KR" smtClean="0">
              <a:solidFill>
                <a:srgbClr val="006600"/>
              </a:solidFill>
            </a:endParaRPr>
          </a:p>
          <a:p>
            <a:pPr lvl="3"/>
            <a:r>
              <a:rPr lang="ko-KR" altLang="en-US" smtClean="0"/>
              <a:t>이 </a:t>
            </a:r>
            <a:r>
              <a:rPr lang="ko-KR" altLang="en-US"/>
              <a:t>작업 단위는 여러 개의 독립적인 연산</a:t>
            </a:r>
            <a:r>
              <a:rPr lang="en-US" altLang="ko-KR"/>
              <a:t>(operation)</a:t>
            </a:r>
            <a:r>
              <a:rPr lang="ko-KR" altLang="en-US"/>
              <a:t>으로 구성될 수 있지만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시스템 </a:t>
            </a:r>
            <a:r>
              <a:rPr lang="ko-KR" altLang="en-US"/>
              <a:t>입장에서는 이 모든 연산들이 분할 불가능한</a:t>
            </a:r>
            <a:r>
              <a:rPr lang="en-US" altLang="ko-KR"/>
              <a:t>(atomic)</a:t>
            </a:r>
            <a:r>
              <a:rPr lang="ko-KR" altLang="en-US"/>
              <a:t> 하나의 단위로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처리되어야 함</a:t>
            </a:r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573016"/>
            <a:ext cx="7232254" cy="328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313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Anders Brownsorth </a:t>
            </a:r>
            <a:r>
              <a:rPr lang="ko-KR" altLang="en-US"/>
              <a:t>홈페이지를 이용한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블록체인 시연	</a:t>
            </a:r>
            <a:endParaRPr lang="ko-KR" altLang="en-US" b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해시값 계산과 블록의 체인연결</a:t>
            </a:r>
            <a:endParaRPr lang="ko-KR" altLang="en-US"/>
          </a:p>
          <a:p>
            <a:pPr lvl="1"/>
            <a:r>
              <a:rPr lang="ko-KR" altLang="en-US" smtClean="0"/>
              <a:t>구성하고 해시값을 이용하여 블록을 체인처럼 연결</a:t>
            </a:r>
            <a:endParaRPr lang="en-US" altLang="ko-KR" smtClean="0"/>
          </a:p>
          <a:p>
            <a:pPr lvl="2"/>
            <a:r>
              <a:rPr lang="ko-KR" altLang="en-US" smtClean="0"/>
              <a:t>자료가 변할경우 해시값이 변하고 채굴 실행 시 영향을 받아 난스값도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바뀌게됨</a:t>
            </a:r>
            <a:endParaRPr lang="en-US" altLang="ko-KR" smtClean="0"/>
          </a:p>
          <a:p>
            <a:pPr lvl="2"/>
            <a:r>
              <a:rPr lang="ko-KR" altLang="en-US" smtClean="0">
                <a:solidFill>
                  <a:srgbClr val="BA068B"/>
                </a:solidFill>
              </a:rPr>
              <a:t>핑크색 블록은 미채굴된 블록</a:t>
            </a:r>
            <a:r>
              <a:rPr lang="en-US" altLang="ko-KR">
                <a:solidFill>
                  <a:srgbClr val="BA068B"/>
                </a:solidFill>
              </a:rPr>
              <a:t>, </a:t>
            </a:r>
            <a:r>
              <a:rPr lang="ko-KR" altLang="en-US" smtClean="0">
                <a:solidFill>
                  <a:srgbClr val="BA068B"/>
                </a:solidFill>
              </a:rPr>
              <a:t>초록색 블록은 채굴이 끝난 블록을 의미함</a:t>
            </a:r>
            <a:endParaRPr lang="ko-KR" altLang="en-US">
              <a:solidFill>
                <a:srgbClr val="BA068B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360" y="3212976"/>
            <a:ext cx="7103104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464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Anders Brownsorth </a:t>
            </a:r>
            <a:r>
              <a:rPr lang="ko-KR" altLang="en-US"/>
              <a:t>홈페이지를 이용한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블록체인 시연	</a:t>
            </a:r>
            <a:endParaRPr lang="ko-KR" altLang="en-US" b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토큰의 거래 및 코인 베이스 </a:t>
            </a:r>
            <a:r>
              <a:rPr lang="ko-KR" altLang="en-US" smtClean="0"/>
              <a:t>트랜잭션</a:t>
            </a:r>
            <a:endParaRPr lang="en-US" altLang="ko-KR" smtClean="0"/>
          </a:p>
          <a:p>
            <a:endParaRPr lang="ko-KR" altLang="en-US"/>
          </a:p>
          <a:p>
            <a:pPr lvl="1"/>
            <a:r>
              <a:rPr lang="ko-KR" altLang="en-US"/>
              <a:t>비트코인 블록체인의 </a:t>
            </a:r>
            <a:r>
              <a:rPr lang="en-US" altLang="ko-KR"/>
              <a:t>'Coinbase Transaction' </a:t>
            </a:r>
            <a:endParaRPr lang="en-US" altLang="ko-KR" smtClean="0"/>
          </a:p>
          <a:p>
            <a:pPr lvl="2"/>
            <a:r>
              <a:rPr lang="ko-KR" altLang="en-US"/>
              <a:t>비트코인 블록체인에서 새로운 코인을 생성하고</a:t>
            </a:r>
            <a:r>
              <a:rPr lang="en-US" altLang="ko-KR"/>
              <a:t>, </a:t>
            </a:r>
            <a:r>
              <a:rPr lang="ko-KR" altLang="en-US"/>
              <a:t>해당 블록을 성공적으로 채굴한 </a:t>
            </a:r>
            <a:r>
              <a:rPr lang="ko-KR" altLang="en-US" smtClean="0"/>
              <a:t>채굴자에게 </a:t>
            </a:r>
            <a:r>
              <a:rPr lang="ko-KR" altLang="en-US"/>
              <a:t>보상</a:t>
            </a:r>
            <a:r>
              <a:rPr lang="en-US" altLang="ko-KR"/>
              <a:t>(</a:t>
            </a:r>
            <a:r>
              <a:rPr lang="ko-KR" altLang="en-US"/>
              <a:t>블록 보상</a:t>
            </a:r>
            <a:r>
              <a:rPr lang="en-US" altLang="ko-KR" smtClean="0"/>
              <a:t>)</a:t>
            </a:r>
            <a:r>
              <a:rPr lang="ko-KR" altLang="en-US" smtClean="0"/>
              <a:t>을 </a:t>
            </a:r>
            <a:r>
              <a:rPr lang="ko-KR" altLang="en-US"/>
              <a:t>지급하는 특별한 형태의 거래 </a:t>
            </a:r>
            <a:r>
              <a:rPr lang="ko-KR" altLang="en-US" smtClean="0"/>
              <a:t>기록</a:t>
            </a:r>
            <a:endParaRPr lang="en-US" altLang="ko-KR" smtClean="0"/>
          </a:p>
          <a:p>
            <a:pPr lvl="2"/>
            <a:endParaRPr lang="en-US" altLang="ko-KR" smtClean="0"/>
          </a:p>
          <a:p>
            <a:pPr lvl="3"/>
            <a:r>
              <a:rPr lang="ko-KR" altLang="en-US"/>
              <a:t>블록체인 네트워크를 유지하고 채굴자에게 동기를 부여하는 핵심 메커니즘이며</a:t>
            </a:r>
            <a:r>
              <a:rPr lang="en-US" altLang="ko-KR"/>
              <a:t>, </a:t>
            </a:r>
            <a:r>
              <a:rPr lang="ko-KR" altLang="en-US"/>
              <a:t>새로운 암호화폐를 발행하는 유일한 수단 </a:t>
            </a:r>
            <a:endParaRPr lang="en-US" altLang="ko-KR" smtClean="0"/>
          </a:p>
          <a:p>
            <a:pPr lvl="3"/>
            <a:r>
              <a:rPr lang="ko-KR" altLang="en-US" smtClean="0"/>
              <a:t>암호화폐 </a:t>
            </a:r>
            <a:r>
              <a:rPr lang="ko-KR" altLang="en-US"/>
              <a:t>거래소 </a:t>
            </a:r>
            <a:r>
              <a:rPr lang="en-US" altLang="ko-KR"/>
              <a:t>'Coinbase'</a:t>
            </a:r>
            <a:r>
              <a:rPr lang="ko-KR" altLang="en-US"/>
              <a:t>와는 별개의</a:t>
            </a:r>
            <a:r>
              <a:rPr lang="en-US" altLang="ko-KR"/>
              <a:t>, </a:t>
            </a:r>
            <a:r>
              <a:rPr lang="ko-KR" altLang="en-US" u="sng">
                <a:solidFill>
                  <a:schemeClr val="accent6">
                    <a:lumMod val="75000"/>
                  </a:schemeClr>
                </a:solidFill>
              </a:rPr>
              <a:t>블록체인 기술 자체에 존재하는 </a:t>
            </a:r>
            <a:r>
              <a:rPr lang="en-US" altLang="ko-KR" u="sng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u="sng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특수한 </a:t>
            </a:r>
            <a:r>
              <a:rPr lang="ko-KR" altLang="en-US" u="sng">
                <a:solidFill>
                  <a:schemeClr val="accent6">
                    <a:lumMod val="75000"/>
                  </a:schemeClr>
                </a:solidFill>
              </a:rPr>
              <a:t>유형의 </a:t>
            </a: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트랜잭션</a:t>
            </a:r>
            <a:r>
              <a:rPr lang="ko-KR" altLang="en-US" smtClean="0"/>
              <a:t>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r>
              <a:rPr lang="ko-KR" altLang="en-US" smtClean="0"/>
              <a:t>특히 </a:t>
            </a:r>
            <a:r>
              <a:rPr lang="ko-KR" altLang="en-US"/>
              <a:t>비트코인 블록체인에서 중요한 개념</a:t>
            </a:r>
          </a:p>
          <a:p>
            <a:pPr lvl="3"/>
            <a:r>
              <a:rPr lang="ko-KR" altLang="en-US" smtClean="0"/>
              <a:t>토큰의 거래를 확인할 </a:t>
            </a:r>
            <a:r>
              <a:rPr lang="ko-KR" altLang="en-US" smtClean="0">
                <a:solidFill>
                  <a:schemeClr val="tx1"/>
                </a:solidFill>
              </a:rPr>
              <a:t>수 있으며 송금액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 smtClean="0">
                <a:solidFill>
                  <a:schemeClr val="tx1"/>
                </a:solidFill>
              </a:rPr>
              <a:t>보낸이 그리고 받는 이에 </a:t>
            </a:r>
            <a:r>
              <a:rPr lang="en-US" altLang="ko-KR" smtClean="0">
                <a:solidFill>
                  <a:schemeClr val="tx1"/>
                </a:solidFill>
              </a:rPr>
              <a:t/>
            </a:r>
            <a:br>
              <a:rPr lang="en-US" altLang="ko-KR" smtClean="0">
                <a:solidFill>
                  <a:schemeClr val="tx1"/>
                </a:solidFill>
              </a:rPr>
            </a:br>
            <a:r>
              <a:rPr lang="ko-KR" altLang="en-US" smtClean="0">
                <a:solidFill>
                  <a:schemeClr val="tx1"/>
                </a:solidFill>
              </a:rPr>
              <a:t>따라 </a:t>
            </a:r>
            <a:r>
              <a:rPr lang="ko-KR" altLang="en-US" smtClean="0"/>
              <a:t>해시값에 변동을 주게됨</a:t>
            </a:r>
            <a:endParaRPr lang="en-US" altLang="ko-KR" smtClean="0"/>
          </a:p>
          <a:p>
            <a:pPr lvl="3"/>
            <a:r>
              <a:rPr lang="ko-KR" altLang="en-US" smtClean="0">
                <a:solidFill>
                  <a:schemeClr val="tx1"/>
                </a:solidFill>
              </a:rPr>
              <a:t>블록은 </a:t>
            </a:r>
            <a:r>
              <a:rPr lang="ko-KR" altLang="en-US" smtClean="0"/>
              <a:t>하나 이상의 트랜잭션을 포함해야하며 </a:t>
            </a:r>
            <a:r>
              <a:rPr lang="ko-KR" altLang="en-US" smtClean="0">
                <a:solidFill>
                  <a:schemeClr val="tx1"/>
                </a:solidFill>
              </a:rPr>
              <a:t>블록의 </a:t>
            </a:r>
            <a:r>
              <a:rPr lang="ko-KR" altLang="en-US" smtClean="0"/>
              <a:t>첫 트랜잭션을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코인 베이스 트랜잭션</a:t>
            </a:r>
            <a:r>
              <a:rPr lang="ko-KR" altLang="en-US" smtClean="0">
                <a:solidFill>
                  <a:schemeClr val="tx1"/>
                </a:solidFill>
              </a:rPr>
              <a:t>이라고함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05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Anders Brownsorth </a:t>
            </a:r>
            <a:r>
              <a:rPr lang="ko-KR" altLang="en-US"/>
              <a:t>홈페이지를 이용한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블록체인 시연	</a:t>
            </a:r>
            <a:endParaRPr lang="ko-KR" altLang="en-US" b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토큰의 거래 및 코인 베이스 트랜잭션</a:t>
            </a:r>
            <a:endParaRPr lang="ko-KR" altLang="en-US"/>
          </a:p>
          <a:p>
            <a:pPr lvl="1"/>
            <a:r>
              <a:rPr lang="ko-KR" altLang="en-US"/>
              <a:t>코인베이스 트랜잭션 </a:t>
            </a:r>
            <a:r>
              <a:rPr lang="en-US" altLang="ko-KR"/>
              <a:t>(Coinbase Transaction)</a:t>
            </a:r>
          </a:p>
          <a:p>
            <a:pPr lvl="2"/>
            <a:r>
              <a:rPr lang="ko-KR" altLang="en-US" smtClean="0"/>
              <a:t>중앙은행이 </a:t>
            </a:r>
            <a:r>
              <a:rPr lang="en-US" altLang="ko-KR"/>
              <a:t>'</a:t>
            </a:r>
            <a:r>
              <a:rPr lang="ko-KR" altLang="en-US"/>
              <a:t>새로운 지폐</a:t>
            </a:r>
            <a:r>
              <a:rPr lang="en-US" altLang="ko-KR"/>
              <a:t>'</a:t>
            </a:r>
            <a:r>
              <a:rPr lang="ko-KR" altLang="en-US"/>
              <a:t>를 찍어내서 최초로 시장에 공급하는 것과 </a:t>
            </a:r>
            <a:r>
              <a:rPr lang="ko-KR" altLang="en-US" smtClean="0"/>
              <a:t>비슷</a:t>
            </a:r>
            <a:endParaRPr lang="en-US" altLang="ko-KR"/>
          </a:p>
          <a:p>
            <a:pPr lvl="3"/>
            <a:r>
              <a:rPr lang="ko-KR" altLang="en-US" smtClean="0"/>
              <a:t>상황 </a:t>
            </a:r>
            <a:r>
              <a:rPr lang="en-US" altLang="ko-KR" smtClean="0"/>
              <a:t>:</a:t>
            </a:r>
            <a:r>
              <a:rPr lang="ko-KR" altLang="en-US" smtClean="0"/>
              <a:t> </a:t>
            </a:r>
            <a:r>
              <a:rPr lang="ko-KR" altLang="en-US"/>
              <a:t>비트코인 네트워크에서 채굴자가 복잡한 수학 문제</a:t>
            </a:r>
            <a:r>
              <a:rPr lang="en-US" altLang="ko-KR"/>
              <a:t>(</a:t>
            </a:r>
            <a:r>
              <a:rPr lang="ko-KR" altLang="en-US"/>
              <a:t>난이도 목표</a:t>
            </a:r>
            <a:r>
              <a:rPr lang="en-US" altLang="ko-KR"/>
              <a:t>)</a:t>
            </a:r>
            <a:r>
              <a:rPr lang="ko-KR" altLang="en-US"/>
              <a:t>를 풀고 </a:t>
            </a:r>
            <a:r>
              <a:rPr lang="ko-KR" altLang="en-US" smtClean="0"/>
              <a:t>새로운 </a:t>
            </a:r>
            <a:r>
              <a:rPr lang="ko-KR" altLang="en-US"/>
              <a:t>장부 페이지</a:t>
            </a:r>
            <a:r>
              <a:rPr lang="en-US" altLang="ko-KR"/>
              <a:t>(</a:t>
            </a:r>
            <a:r>
              <a:rPr lang="ko-KR" altLang="en-US"/>
              <a:t>블록</a:t>
            </a:r>
            <a:r>
              <a:rPr lang="en-US" altLang="ko-KR" smtClean="0"/>
              <a:t>)</a:t>
            </a:r>
            <a:r>
              <a:rPr lang="ko-KR" altLang="en-US" smtClean="0"/>
              <a:t>를 완성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en-US" altLang="ko-KR" smtClean="0"/>
              <a:t> </a:t>
            </a:r>
            <a:r>
              <a:rPr lang="ko-KR" altLang="en-US"/>
              <a:t>이들은 이 작업에 대한 보상을 받아야 </a:t>
            </a:r>
            <a:r>
              <a:rPr lang="ko-KR" altLang="en-US" smtClean="0"/>
              <a:t>함</a:t>
            </a:r>
            <a:endParaRPr lang="en-US" altLang="ko-KR"/>
          </a:p>
          <a:p>
            <a:pPr lvl="3"/>
            <a:r>
              <a:rPr lang="ko-KR" altLang="en-US"/>
              <a:t>작동 </a:t>
            </a:r>
            <a:r>
              <a:rPr lang="ko-KR" altLang="en-US" smtClean="0"/>
              <a:t>방식</a:t>
            </a:r>
            <a:endParaRPr lang="ko-KR" altLang="en-US"/>
          </a:p>
          <a:p>
            <a:pPr lvl="4"/>
            <a:r>
              <a:rPr lang="ko-KR" altLang="en-US"/>
              <a:t>입력 </a:t>
            </a:r>
            <a:r>
              <a:rPr lang="ko-KR" altLang="en-US" smtClean="0"/>
              <a:t>없음</a:t>
            </a:r>
            <a:r>
              <a:rPr lang="en-US" altLang="ko-KR" smtClean="0"/>
              <a:t>(</a:t>
            </a:r>
            <a:r>
              <a:rPr lang="ko-KR" altLang="en-US"/>
              <a:t>새 돈 창조</a:t>
            </a:r>
            <a:r>
              <a:rPr lang="en-US" altLang="ko-KR" smtClean="0"/>
              <a:t>) :</a:t>
            </a:r>
            <a:r>
              <a:rPr lang="ko-KR" altLang="en-US" smtClean="0"/>
              <a:t> </a:t>
            </a:r>
            <a:r>
              <a:rPr lang="ko-KR" altLang="en-US"/>
              <a:t>채굴자는 친구에게 돈을 받을 필요 없이</a:t>
            </a:r>
            <a:r>
              <a:rPr lang="en-US" altLang="ko-KR"/>
              <a:t>, </a:t>
            </a:r>
            <a:r>
              <a:rPr lang="ko-KR" altLang="en-US"/>
              <a:t>자신의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장부 </a:t>
            </a:r>
            <a:r>
              <a:rPr lang="ko-KR" altLang="en-US"/>
              <a:t>페이지 맨 위에 </a:t>
            </a:r>
            <a:r>
              <a:rPr lang="en-US" altLang="ko-KR"/>
              <a:t>"</a:t>
            </a:r>
            <a:r>
              <a:rPr lang="ko-KR" altLang="en-US"/>
              <a:t>이 블록을 만든 보상으로</a:t>
            </a:r>
            <a:r>
              <a:rPr lang="en-US" altLang="ko-KR"/>
              <a:t>, </a:t>
            </a:r>
            <a:r>
              <a:rPr lang="ko-KR" altLang="en-US"/>
              <a:t>나</a:t>
            </a:r>
            <a:r>
              <a:rPr lang="en-US" altLang="ko-KR"/>
              <a:t>(</a:t>
            </a:r>
            <a:r>
              <a:rPr lang="ko-KR" altLang="en-US"/>
              <a:t>채굴자</a:t>
            </a:r>
            <a:r>
              <a:rPr lang="en-US" altLang="ko-KR"/>
              <a:t>)</a:t>
            </a:r>
            <a:r>
              <a:rPr lang="ko-KR" altLang="en-US"/>
              <a:t>의 계좌에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새로운 </a:t>
            </a:r>
            <a:r>
              <a:rPr lang="ko-KR" altLang="en-US"/>
              <a:t>비트코인 </a:t>
            </a:r>
            <a:r>
              <a:rPr lang="en-US" altLang="ko-KR"/>
              <a:t>3.125 </a:t>
            </a:r>
            <a:r>
              <a:rPr lang="en-US" altLang="ko-KR" smtClean="0"/>
              <a:t>BTC</a:t>
            </a:r>
            <a:r>
              <a:rPr lang="ko-KR" altLang="en-US" smtClean="0"/>
              <a:t>와 </a:t>
            </a:r>
            <a:r>
              <a:rPr lang="ko-KR" altLang="en-US"/>
              <a:t>거래 수수료를 지급한다</a:t>
            </a:r>
            <a:r>
              <a:rPr lang="en-US" altLang="ko-KR"/>
              <a:t>"</a:t>
            </a:r>
            <a:r>
              <a:rPr lang="ko-KR" altLang="en-US"/>
              <a:t>는 특수 거래를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직접 기록함</a:t>
            </a:r>
            <a:endParaRPr lang="en-US" altLang="ko-KR"/>
          </a:p>
          <a:p>
            <a:pPr lvl="4"/>
            <a:r>
              <a:rPr lang="ko-KR" altLang="en-US" smtClean="0"/>
              <a:t>출력</a:t>
            </a:r>
            <a:r>
              <a:rPr lang="en-US" altLang="ko-KR" smtClean="0"/>
              <a:t>(</a:t>
            </a:r>
            <a:r>
              <a:rPr lang="ko-KR" altLang="en-US"/>
              <a:t>최초 입금</a:t>
            </a:r>
            <a:r>
              <a:rPr lang="en-US" altLang="ko-KR" smtClean="0"/>
              <a:t>) :</a:t>
            </a:r>
            <a:r>
              <a:rPr lang="ko-KR" altLang="en-US" smtClean="0"/>
              <a:t> </a:t>
            </a:r>
            <a:r>
              <a:rPr lang="ko-KR" altLang="en-US"/>
              <a:t>이 거래는 오직 </a:t>
            </a:r>
            <a:r>
              <a:rPr lang="ko-KR" altLang="en-US" smtClean="0"/>
              <a:t>출력</a:t>
            </a:r>
            <a:r>
              <a:rPr lang="en-US" altLang="ko-KR"/>
              <a:t>(</a:t>
            </a:r>
            <a:r>
              <a:rPr lang="ko-KR" altLang="en-US"/>
              <a:t>채굴자의 지갑 주소</a:t>
            </a:r>
            <a:r>
              <a:rPr lang="en-US" altLang="ko-KR" smtClean="0"/>
              <a:t>)</a:t>
            </a:r>
            <a:r>
              <a:rPr lang="ko-KR" altLang="en-US" smtClean="0"/>
              <a:t>만 있음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en-US" altLang="ko-KR" smtClean="0"/>
              <a:t> </a:t>
            </a:r>
            <a:br>
              <a:rPr lang="en-US" altLang="ko-KR" smtClean="0"/>
            </a:br>
            <a:r>
              <a:rPr lang="ko-KR" altLang="en-US" smtClean="0"/>
              <a:t>아무것도 </a:t>
            </a:r>
            <a:r>
              <a:rPr lang="ko-KR" altLang="en-US"/>
              <a:t>소비하지 않고 새로운 코인을 만들어내 채굴자에게 </a:t>
            </a:r>
            <a:r>
              <a:rPr lang="ko-KR" altLang="en-US" smtClean="0"/>
              <a:t>지급함</a:t>
            </a:r>
            <a:endParaRPr lang="en-US" altLang="ko-K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725144"/>
            <a:ext cx="6984776" cy="200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230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Anders Brownsorth </a:t>
            </a:r>
            <a:r>
              <a:rPr lang="ko-KR" altLang="en-US"/>
              <a:t>홈페이지를 이용한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블록체인 시연	</a:t>
            </a:r>
            <a:endParaRPr lang="ko-KR" altLang="en-US" b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토큰의 거래 및 코인 베이스 트랜잭션</a:t>
            </a:r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2060848"/>
            <a:ext cx="7776864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845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Anders Brownsorth </a:t>
            </a:r>
            <a:r>
              <a:rPr lang="ko-KR" altLang="en-US"/>
              <a:t>홈페이지를 이용한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블록체인 시연	</a:t>
            </a:r>
            <a:endParaRPr lang="ko-KR" altLang="en-US" b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토큰의 거래 및 코인 베이스 트랜잭션</a:t>
            </a:r>
            <a:endParaRPr lang="ko-KR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060082"/>
            <a:ext cx="7848872" cy="4181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864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4173</TotalTime>
  <Words>354</Words>
  <Application>Microsoft Office PowerPoint</Application>
  <PresentationFormat>화면 슬라이드 쇼(4:3)</PresentationFormat>
  <Paragraphs>98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  Anders Brownsorth 홈페이지를  이용한 블록체인 시연</vt:lpstr>
      <vt:lpstr>블록체인에서 거래 내역이 수집되는 과정  </vt:lpstr>
      <vt:lpstr>블록체인에서 거래 내역이 수집되는 과정</vt:lpstr>
      <vt:lpstr>블록체인에서 거래 내역이 수집되는 과정</vt:lpstr>
      <vt:lpstr>블록체인에서 거래 내역이 수집되는 과정</vt:lpstr>
      <vt:lpstr>Anders Brownsorth 홈페이지를 이용한 블록체인 시연 </vt:lpstr>
      <vt:lpstr>Anders Brownsorth 홈페이지를 이용한 블록체인 시연 </vt:lpstr>
      <vt:lpstr>Anders Brownsorth 홈페이지를 이용한 블록체인 시연 </vt:lpstr>
      <vt:lpstr>Anders Brownsorth 홈페이지를 이용한 블록체인 시연 </vt:lpstr>
      <vt:lpstr>Anders Brownsorth 홈페이지를 이용한 블록체인 시연 </vt:lpstr>
      <vt:lpstr>Anders Brownsorth 홈페이지를 이용한 블록체인 시연 </vt:lpstr>
      <vt:lpstr>Anders Brownsorth 홈페이지를 이용한 블록체인 시연 </vt:lpstr>
      <vt:lpstr>Anders Brownsorth 홈페이지를 이용한 블록체인 시연 </vt:lpstr>
      <vt:lpstr>Anders Brownsorth 홈페이지를 이용한 블록체인 시연 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블록체인의 개요</dc:title>
  <dc:creator>Microsoft Corporation</dc:creator>
  <cp:lastModifiedBy>박인철</cp:lastModifiedBy>
  <cp:revision>241</cp:revision>
  <dcterms:created xsi:type="dcterms:W3CDTF">2006-10-05T04:04:58Z</dcterms:created>
  <dcterms:modified xsi:type="dcterms:W3CDTF">2025-11-08T06:17:16Z</dcterms:modified>
</cp:coreProperties>
</file>