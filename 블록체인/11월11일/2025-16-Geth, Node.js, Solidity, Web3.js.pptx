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0" r:id="rId4"/>
    <p:sldId id="258" r:id="rId5"/>
    <p:sldId id="291" r:id="rId6"/>
    <p:sldId id="260" r:id="rId7"/>
    <p:sldId id="276" r:id="rId8"/>
    <p:sldId id="259" r:id="rId9"/>
    <p:sldId id="287" r:id="rId10"/>
    <p:sldId id="261" r:id="rId11"/>
    <p:sldId id="262" r:id="rId12"/>
    <p:sldId id="289" r:id="rId13"/>
    <p:sldId id="267" r:id="rId14"/>
    <p:sldId id="293" r:id="rId15"/>
    <p:sldId id="282" r:id="rId16"/>
    <p:sldId id="294" r:id="rId17"/>
    <p:sldId id="295" r:id="rId18"/>
    <p:sldId id="277" r:id="rId19"/>
    <p:sldId id="278" r:id="rId20"/>
    <p:sldId id="279" r:id="rId21"/>
    <p:sldId id="280" r:id="rId22"/>
    <p:sldId id="281" r:id="rId23"/>
    <p:sldId id="285" r:id="rId24"/>
    <p:sldId id="296" r:id="rId25"/>
    <p:sldId id="264" r:id="rId26"/>
    <p:sldId id="263" r:id="rId27"/>
    <p:sldId id="265" r:id="rId28"/>
    <p:sldId id="284" r:id="rId29"/>
    <p:sldId id="266" r:id="rId30"/>
    <p:sldId id="286" r:id="rId31"/>
    <p:sldId id="268" r:id="rId32"/>
    <p:sldId id="283" r:id="rId33"/>
    <p:sldId id="299" r:id="rId34"/>
    <p:sldId id="298" r:id="rId35"/>
    <p:sldId id="300" r:id="rId36"/>
    <p:sldId id="303" r:id="rId37"/>
    <p:sldId id="302" r:id="rId38"/>
    <p:sldId id="304" r:id="rId39"/>
    <p:sldId id="305" r:id="rId40"/>
    <p:sldId id="301" r:id="rId4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15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latin typeface="+mn-ea"/>
                <a:ea typeface="+mn-ea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="1">
                <a:solidFill>
                  <a:srgbClr val="0000FF"/>
                </a:solidFill>
                <a:latin typeface="+mn-ea"/>
                <a:ea typeface="+mn-ea"/>
              </a:defRPr>
            </a:lvl1pPr>
            <a:lvl2pPr>
              <a:defRPr sz="1800" b="1">
                <a:solidFill>
                  <a:srgbClr val="C00000"/>
                </a:solidFill>
                <a:latin typeface="+mn-ea"/>
                <a:ea typeface="+mn-ea"/>
              </a:defRPr>
            </a:lvl2pPr>
            <a:lvl3pPr>
              <a:defRPr sz="1600" b="1">
                <a:latin typeface="+mn-ea"/>
                <a:ea typeface="+mn-ea"/>
              </a:defRPr>
            </a:lvl3pPr>
            <a:lvl4pPr>
              <a:defRPr sz="1400" b="1">
                <a:latin typeface="+mn-ea"/>
                <a:ea typeface="+mn-ea"/>
              </a:defRPr>
            </a:lvl4pPr>
            <a:lvl5pPr>
              <a:defRPr sz="1400" b="1">
                <a:latin typeface="+mn-ea"/>
                <a:ea typeface="+mn-ea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eth.ethereum.org/docs/getting-started/installing-geth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eth.ethereum.org/download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eth.ethereum.org/download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eth.ethereum.org/download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download/release/v14.16.0/" TargetMode="External"/><Relationship Id="rId2" Type="http://schemas.openxmlformats.org/officeDocument/2006/relationships/hyperlink" Target="https://nodejs.org/ko/download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ycoding.tistory.com/entry/nodejs-%EC%84%A4%EC%B9%98-%ED%9B%84-%EC%9C%88%EB%8F%84%EC%9A%B0-powershell-%EC%97%90%EC%84%9C-npm-%EC%9D%B4-%EC%95%88%EB%90%98%EB%8A%94-%EB%AC%B8%EC%A0%9C#google_vignette" TargetMode="External"/><Relationship Id="rId5" Type="http://schemas.openxmlformats.org/officeDocument/2006/relationships/hyperlink" Target="https://stylish-minyoung.tistory.com/195" TargetMode="Externa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github.com/argotorg/solidity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github.com/argotorg/solidity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github.com/argotorg/solidity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github.com/argotorg/solidity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remix.ethereum.org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mtClean="0">
                <a:latin typeface="+mn-ea"/>
                <a:ea typeface="+mn-ea"/>
              </a:rPr>
              <a:t>Geth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en-US" altLang="ko-KR" smtClean="0"/>
              <a:t>Node.js, </a:t>
            </a:r>
            <a:r>
              <a:rPr lang="en-US" altLang="ko-KR" smtClean="0">
                <a:latin typeface="+mn-ea"/>
                <a:ea typeface="+mn-ea"/>
              </a:rPr>
              <a:t>Solidity,</a:t>
            </a:r>
            <a:r>
              <a:rPr lang="en-US" altLang="ko-KR"/>
              <a:t> </a:t>
            </a:r>
            <a:r>
              <a:rPr lang="en-US" altLang="ko-KR" smtClean="0"/>
              <a:t>Web3.js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171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smtClean="0">
                <a:solidFill>
                  <a:srgbClr val="C00000"/>
                </a:solidFill>
              </a:rPr>
              <a:t>Geth(Go Ethereum)</a:t>
            </a:r>
            <a:r>
              <a:rPr lang="ko-KR" altLang="en-US" b="1" smtClean="0">
                <a:solidFill>
                  <a:srgbClr val="C00000"/>
                </a:solidFill>
              </a:rPr>
              <a:t>란</a:t>
            </a:r>
            <a:endParaRPr lang="en-US" altLang="ko-KR" b="1" smtClean="0">
              <a:solidFill>
                <a:srgbClr val="C00000"/>
              </a:solidFill>
            </a:endParaRPr>
          </a:p>
          <a:p>
            <a:pPr lvl="1"/>
            <a:r>
              <a:rPr lang="ko-KR" altLang="en-US" b="1">
                <a:solidFill>
                  <a:srgbClr val="0000FF"/>
                </a:solidFill>
              </a:rPr>
              <a:t>이더리움 블록체인 네트워크와 상호작용할 수 있게 해주는 </a:t>
            </a:r>
            <a:r>
              <a:rPr lang="ko-KR" altLang="en-US" b="1" u="sng">
                <a:solidFill>
                  <a:srgbClr val="0000FF"/>
                </a:solidFill>
              </a:rPr>
              <a:t>명령줄 </a:t>
            </a:r>
            <a:r>
              <a:rPr lang="en-US" altLang="ko-KR" b="1" u="sng" smtClean="0">
                <a:solidFill>
                  <a:srgbClr val="0000FF"/>
                </a:solidFill>
              </a:rPr>
              <a:t/>
            </a:r>
            <a:br>
              <a:rPr lang="en-US" altLang="ko-KR" b="1" u="sng" smtClean="0">
                <a:solidFill>
                  <a:srgbClr val="0000FF"/>
                </a:solidFill>
              </a:rPr>
            </a:br>
            <a:r>
              <a:rPr lang="ko-KR" altLang="en-US" b="1" u="sng" smtClean="0">
                <a:solidFill>
                  <a:srgbClr val="0000FF"/>
                </a:solidFill>
              </a:rPr>
              <a:t>인터페이스</a:t>
            </a:r>
            <a:endParaRPr lang="en-US" altLang="ko-KR" b="1" u="sng" smtClean="0">
              <a:solidFill>
                <a:srgbClr val="0000FF"/>
              </a:solidFill>
            </a:endParaRPr>
          </a:p>
          <a:p>
            <a:pPr lvl="2"/>
            <a:r>
              <a:rPr lang="ko-KR" altLang="en-US"/>
              <a:t>이더리움 프로토콜의 </a:t>
            </a:r>
            <a:r>
              <a:rPr lang="ko-KR" altLang="en-US">
                <a:solidFill>
                  <a:srgbClr val="FF0000"/>
                </a:solidFill>
              </a:rPr>
              <a:t>가장 널리 사용되는 구현체 중 하나</a:t>
            </a:r>
            <a:endParaRPr lang="en-US" altLang="ko-KR">
              <a:solidFill>
                <a:srgbClr val="FF0000"/>
              </a:solidFill>
            </a:endParaRPr>
          </a:p>
          <a:p>
            <a:pPr lvl="2"/>
            <a:r>
              <a:rPr lang="ko-KR" altLang="en-US" b="1" smtClean="0"/>
              <a:t>개발자나 </a:t>
            </a:r>
            <a:r>
              <a:rPr lang="ko-KR" altLang="en-US" b="1"/>
              <a:t>고급 사용자가 </a:t>
            </a:r>
            <a:r>
              <a:rPr lang="ko-KR" altLang="en-US" b="1" u="sng">
                <a:solidFill>
                  <a:schemeClr val="accent6">
                    <a:lumMod val="75000"/>
                  </a:schemeClr>
                </a:solidFill>
              </a:rPr>
              <a:t>이더리움 네트워크와 직접적으로 상호작용하고자 </a:t>
            </a:r>
            <a:r>
              <a:rPr lang="en-US" altLang="ko-KR" b="1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b="1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b="1" smtClean="0"/>
              <a:t>할 </a:t>
            </a:r>
            <a:r>
              <a:rPr lang="ko-KR" altLang="en-US" b="1"/>
              <a:t>때 </a:t>
            </a:r>
            <a:r>
              <a:rPr lang="ko-KR" altLang="en-US"/>
              <a:t>유용 </a:t>
            </a:r>
            <a:r>
              <a:rPr lang="ko-KR" altLang="en-US" smtClean="0">
                <a:latin typeface="휴먼모음T"/>
                <a:ea typeface="휴먼모음T"/>
              </a:rPr>
              <a:t>⇒ </a:t>
            </a:r>
            <a:r>
              <a:rPr lang="ko-KR" altLang="en-US" smtClean="0"/>
              <a:t>이더리움 </a:t>
            </a:r>
            <a:r>
              <a:rPr lang="ko-KR" altLang="en-US"/>
              <a:t>네트워크의 </a:t>
            </a:r>
            <a:r>
              <a:rPr lang="ko-KR" altLang="en-US" u="sng"/>
              <a:t>전체 노드를 </a:t>
            </a:r>
            <a:r>
              <a:rPr lang="ko-KR" altLang="en-US" u="sng" smtClean="0"/>
              <a:t>실행</a:t>
            </a:r>
            <a:r>
              <a:rPr lang="en-US" altLang="ko-KR" u="sng" smtClean="0"/>
              <a:t>&lt;</a:t>
            </a:r>
            <a:r>
              <a:rPr lang="ko-KR" altLang="en-US" u="sng" smtClean="0"/>
              <a:t>가장 </a:t>
            </a:r>
            <a:r>
              <a:rPr lang="ko-KR" altLang="en-US" u="sng"/>
              <a:t>처음</a:t>
            </a:r>
            <a:r>
              <a:rPr lang="en-US" altLang="ko-KR" u="sng"/>
              <a:t>(</a:t>
            </a:r>
            <a:r>
              <a:rPr lang="ko-KR" altLang="en-US" u="sng"/>
              <a:t>제네시스 블록</a:t>
            </a:r>
            <a:r>
              <a:rPr lang="en-US" altLang="ko-KR" u="sng"/>
              <a:t>)</a:t>
            </a:r>
            <a:r>
              <a:rPr lang="ko-KR" altLang="en-US" u="sng"/>
              <a:t>부터 현재까지의 전체 데이터 복사본을 다운로드하고 저장한다는 </a:t>
            </a:r>
            <a:r>
              <a:rPr lang="ko-KR" altLang="en-US" u="sng" smtClean="0"/>
              <a:t>의미</a:t>
            </a:r>
            <a:r>
              <a:rPr lang="en-US" altLang="ko-KR" u="sng" smtClean="0"/>
              <a:t>&gt;</a:t>
            </a:r>
            <a:r>
              <a:rPr lang="ko-KR" altLang="en-US" smtClean="0"/>
              <a:t>하며</a:t>
            </a:r>
            <a:r>
              <a:rPr lang="en-US" altLang="ko-KR"/>
              <a:t>, </a:t>
            </a:r>
            <a:r>
              <a:rPr lang="ko-KR" altLang="en-US"/>
              <a:t>사용자가 </a:t>
            </a:r>
            <a:r>
              <a:rPr lang="ko-KR" altLang="en-US" smtClean="0"/>
              <a:t>블록체인과 </a:t>
            </a:r>
            <a:r>
              <a:rPr lang="ko-KR" altLang="en-US"/>
              <a:t>소통할 수 있는 다양한 기능을 제공</a:t>
            </a:r>
          </a:p>
          <a:p>
            <a:pPr lvl="2"/>
            <a:endParaRPr lang="en-US" altLang="ko-KR" b="1" smtClean="0"/>
          </a:p>
          <a:p>
            <a:pPr lvl="3"/>
            <a:r>
              <a:rPr lang="en-US" altLang="ko-KR" b="1" smtClean="0"/>
              <a:t>Metamask </a:t>
            </a:r>
            <a:r>
              <a:rPr lang="ko-KR" altLang="en-US" b="1"/>
              <a:t>같은 지갑 애플리케이션은 </a:t>
            </a:r>
            <a:r>
              <a:rPr lang="ko-KR" altLang="en-US" b="1" u="sng">
                <a:solidFill>
                  <a:srgbClr val="FF0000"/>
                </a:solidFill>
              </a:rPr>
              <a:t>사용자에게 편리한 인터페이스를 </a:t>
            </a:r>
            <a:r>
              <a:rPr lang="en-US" altLang="ko-KR" b="1" u="sng" smtClean="0">
                <a:solidFill>
                  <a:srgbClr val="FF0000"/>
                </a:solidFill>
              </a:rPr>
              <a:t/>
            </a:r>
            <a:br>
              <a:rPr lang="en-US" altLang="ko-KR" b="1" u="sng" smtClean="0">
                <a:solidFill>
                  <a:srgbClr val="FF0000"/>
                </a:solidFill>
              </a:rPr>
            </a:br>
            <a:r>
              <a:rPr lang="ko-KR" altLang="en-US" b="1" u="sng" smtClean="0">
                <a:solidFill>
                  <a:srgbClr val="FF0000"/>
                </a:solidFill>
              </a:rPr>
              <a:t>제공하지만</a:t>
            </a:r>
            <a:r>
              <a:rPr lang="en-US" altLang="ko-KR" b="1"/>
              <a:t>, Geth</a:t>
            </a:r>
            <a:r>
              <a:rPr lang="ko-KR" altLang="en-US" b="1"/>
              <a:t>는 </a:t>
            </a:r>
            <a:r>
              <a:rPr lang="ko-KR" altLang="en-US" b="1">
                <a:solidFill>
                  <a:srgbClr val="00B050"/>
                </a:solidFill>
              </a:rPr>
              <a:t>더 깊은 수준에서 </a:t>
            </a:r>
            <a:r>
              <a:rPr lang="ko-KR" altLang="en-US" b="1" u="sng"/>
              <a:t>네트워크를 제어하고 분석할 수 있는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강력한 도구</a:t>
            </a:r>
            <a:endParaRPr lang="en-US" altLang="ko-KR" b="1" smtClean="0"/>
          </a:p>
          <a:p>
            <a:pPr lvl="4"/>
            <a:r>
              <a:rPr lang="ko-KR" altLang="en-US" b="1" smtClean="0"/>
              <a:t>예를 </a:t>
            </a:r>
            <a:r>
              <a:rPr lang="ko-KR" altLang="en-US" b="1"/>
              <a:t>들어</a:t>
            </a:r>
            <a:r>
              <a:rPr lang="en-US" altLang="ko-KR" b="1"/>
              <a:t>, </a:t>
            </a:r>
            <a:r>
              <a:rPr lang="ko-KR" altLang="en-US" b="1" u="sng"/>
              <a:t>맞춤형 스크립트를 작성하거나</a:t>
            </a:r>
            <a:r>
              <a:rPr lang="en-US" altLang="ko-KR" b="1" u="sng"/>
              <a:t>, </a:t>
            </a:r>
            <a:r>
              <a:rPr lang="ko-KR" altLang="en-US" b="1" u="sng"/>
              <a:t>네트워크의 특정 상태를 </a:t>
            </a:r>
            <a:r>
              <a:rPr lang="en-US" altLang="ko-KR" b="1" u="sng" smtClean="0"/>
              <a:t/>
            </a:r>
            <a:br>
              <a:rPr lang="en-US" altLang="ko-KR" b="1" u="sng" smtClean="0"/>
            </a:br>
            <a:r>
              <a:rPr lang="ko-KR" altLang="en-US" b="1" u="sng" smtClean="0"/>
              <a:t>분석하거나</a:t>
            </a:r>
            <a:r>
              <a:rPr lang="en-US" altLang="ko-KR" b="1" u="sng"/>
              <a:t>, </a:t>
            </a:r>
            <a:r>
              <a:rPr lang="ko-KR" altLang="en-US" b="1" u="sng" smtClean="0"/>
              <a:t>스마트 </a:t>
            </a:r>
            <a:r>
              <a:rPr lang="ko-KR" altLang="en-US" b="1" u="sng"/>
              <a:t>계약 개발 과정에서 디버깅하는 데 사용될 수 </a:t>
            </a:r>
            <a:r>
              <a:rPr lang="ko-KR" altLang="en-US" b="1" u="sng" smtClean="0"/>
              <a:t>있음</a:t>
            </a:r>
            <a:endParaRPr lang="en-US" altLang="ko-KR" b="1" u="sng" smtClean="0"/>
          </a:p>
        </p:txBody>
      </p:sp>
    </p:spTree>
    <p:extLst>
      <p:ext uri="{BB962C8B-B14F-4D97-AF65-F5344CB8AC3E}">
        <p14:creationId xmlns:p14="http://schemas.microsoft.com/office/powerpoint/2010/main" val="97518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smtClean="0">
                <a:solidFill>
                  <a:srgbClr val="C00000"/>
                </a:solidFill>
              </a:rPr>
              <a:t>Geth(Go Ethereum)</a:t>
            </a:r>
            <a:r>
              <a:rPr lang="ko-KR" altLang="en-US" b="1" smtClean="0">
                <a:solidFill>
                  <a:srgbClr val="C00000"/>
                </a:solidFill>
              </a:rPr>
              <a:t>란</a:t>
            </a:r>
            <a:endParaRPr lang="en-US" altLang="ko-KR" b="1" smtClean="0">
              <a:solidFill>
                <a:srgbClr val="C00000"/>
              </a:solidFill>
            </a:endParaRPr>
          </a:p>
          <a:p>
            <a:pPr lvl="1"/>
            <a:r>
              <a:rPr lang="ko-KR" altLang="en-US">
                <a:solidFill>
                  <a:srgbClr val="0000FF"/>
                </a:solidFill>
              </a:rPr>
              <a:t>전체 노드의 역할 및 특징</a:t>
            </a:r>
          </a:p>
          <a:p>
            <a:pPr lvl="2"/>
            <a:r>
              <a:rPr lang="en-US" altLang="ko-KR"/>
              <a:t>Geth</a:t>
            </a:r>
            <a:r>
              <a:rPr lang="ko-KR" altLang="en-US"/>
              <a:t>를 통해 </a:t>
            </a:r>
            <a:r>
              <a:rPr lang="ko-KR" altLang="en-US" u="sng">
                <a:solidFill>
                  <a:srgbClr val="00B050"/>
                </a:solidFill>
              </a:rPr>
              <a:t>전체 노드를 실행하면 </a:t>
            </a:r>
            <a:r>
              <a:rPr lang="ko-KR" altLang="en-US"/>
              <a:t>다음과 같은 역할을 </a:t>
            </a:r>
            <a:r>
              <a:rPr lang="ko-KR" altLang="en-US" smtClean="0"/>
              <a:t>수행</a:t>
            </a:r>
            <a:endParaRPr lang="ko-KR" altLang="en-US"/>
          </a:p>
          <a:p>
            <a:endParaRPr lang="en-US" altLang="ko-KR" b="1" smtClean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2708920"/>
            <a:ext cx="6984776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990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solidFill>
                  <a:srgbClr val="C00000"/>
                </a:solidFill>
              </a:rPr>
              <a:t>Geth(Go Ethereum</a:t>
            </a:r>
            <a:r>
              <a:rPr lang="en-US" altLang="ko-KR" smtClean="0">
                <a:solidFill>
                  <a:srgbClr val="C00000"/>
                </a:solidFill>
              </a:rPr>
              <a:t>)</a:t>
            </a:r>
            <a:r>
              <a:rPr lang="ko-KR" altLang="en-US" b="1" smtClean="0">
                <a:solidFill>
                  <a:srgbClr val="C00000"/>
                </a:solidFill>
              </a:rPr>
              <a:t>의 </a:t>
            </a:r>
            <a:r>
              <a:rPr lang="ko-KR" altLang="en-US" b="1">
                <a:solidFill>
                  <a:srgbClr val="C00000"/>
                </a:solidFill>
              </a:rPr>
              <a:t>주요 기능</a:t>
            </a:r>
          </a:p>
          <a:p>
            <a:pPr lvl="1"/>
            <a:r>
              <a:rPr lang="ko-KR" altLang="en-US" b="1" smtClean="0">
                <a:solidFill>
                  <a:srgbClr val="0000FF"/>
                </a:solidFill>
              </a:rPr>
              <a:t>이더리움 </a:t>
            </a:r>
            <a:r>
              <a:rPr lang="ko-KR" altLang="en-US" b="1">
                <a:solidFill>
                  <a:srgbClr val="0000FF"/>
                </a:solidFill>
              </a:rPr>
              <a:t>노드 </a:t>
            </a:r>
            <a:r>
              <a:rPr lang="ko-KR" altLang="en-US" b="1" smtClean="0">
                <a:solidFill>
                  <a:srgbClr val="0000FF"/>
                </a:solidFill>
              </a:rPr>
              <a:t>실행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2"/>
            <a:r>
              <a:rPr lang="en-US" altLang="ko-KR" b="1" smtClean="0"/>
              <a:t>Geth</a:t>
            </a:r>
            <a:r>
              <a:rPr lang="ko-KR" altLang="en-US" b="1"/>
              <a:t>는 이더리움 블록체인 전체를 다운로드하고 검증하여</a:t>
            </a:r>
            <a:r>
              <a:rPr lang="en-US" altLang="ko-KR" b="1"/>
              <a:t>, </a:t>
            </a:r>
            <a:r>
              <a:rPr lang="ko-KR" altLang="en-US" b="1"/>
              <a:t>사용자의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컴퓨터가 </a:t>
            </a:r>
            <a:r>
              <a:rPr lang="ko-KR" altLang="en-US" b="1" smtClean="0">
                <a:solidFill>
                  <a:srgbClr val="FF0000"/>
                </a:solidFill>
              </a:rPr>
              <a:t>이더리움 </a:t>
            </a:r>
            <a:r>
              <a:rPr lang="ko-KR" altLang="en-US" b="1">
                <a:solidFill>
                  <a:srgbClr val="FF0000"/>
                </a:solidFill>
              </a:rPr>
              <a:t>네트워크의 </a:t>
            </a:r>
            <a:r>
              <a:rPr lang="ko-KR" altLang="en-US" b="1" u="sng">
                <a:solidFill>
                  <a:srgbClr val="FF0000"/>
                </a:solidFill>
              </a:rPr>
              <a:t>일부가 되도록 </a:t>
            </a:r>
            <a:r>
              <a:rPr lang="ko-KR" altLang="en-US" b="1" u="sng" smtClean="0">
                <a:solidFill>
                  <a:srgbClr val="FF0000"/>
                </a:solidFill>
              </a:rPr>
              <a:t>함</a:t>
            </a:r>
            <a:endParaRPr lang="en-US" altLang="ko-KR" b="1" u="sng" smtClean="0">
              <a:solidFill>
                <a:srgbClr val="FF0000"/>
              </a:solidFill>
            </a:endParaRPr>
          </a:p>
          <a:p>
            <a:pPr lvl="2"/>
            <a:r>
              <a:rPr lang="ko-KR" altLang="en-US" b="1" smtClean="0"/>
              <a:t>블록체인 </a:t>
            </a:r>
            <a:r>
              <a:rPr lang="ko-KR" altLang="en-US" b="1"/>
              <a:t>데이터의 무결성을 스스로 확인할 수 있게 </a:t>
            </a:r>
            <a:r>
              <a:rPr lang="ko-KR" altLang="en-US" b="1" smtClean="0"/>
              <a:t>해줌</a:t>
            </a:r>
            <a:endParaRPr lang="en-US" altLang="ko-KR" b="1"/>
          </a:p>
          <a:p>
            <a:pPr lvl="1"/>
            <a:r>
              <a:rPr lang="ko-KR" altLang="en-US" b="1">
                <a:solidFill>
                  <a:srgbClr val="0000FF"/>
                </a:solidFill>
              </a:rPr>
              <a:t>계정 </a:t>
            </a:r>
            <a:r>
              <a:rPr lang="ko-KR" altLang="en-US" b="1" smtClean="0">
                <a:solidFill>
                  <a:srgbClr val="0000FF"/>
                </a:solidFill>
              </a:rPr>
              <a:t>관리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2"/>
            <a:r>
              <a:rPr lang="ko-KR" altLang="en-US" b="1" smtClean="0"/>
              <a:t>새로운 </a:t>
            </a:r>
            <a:r>
              <a:rPr lang="ko-KR" altLang="en-US" b="1"/>
              <a:t>이더리움 </a:t>
            </a:r>
            <a:r>
              <a:rPr lang="ko-KR" altLang="en-US" b="1" u="sng">
                <a:solidFill>
                  <a:srgbClr val="FF0000"/>
                </a:solidFill>
              </a:rPr>
              <a:t>계정을 생성하고</a:t>
            </a:r>
            <a:r>
              <a:rPr lang="en-US" altLang="ko-KR" b="1" u="sng">
                <a:solidFill>
                  <a:srgbClr val="FF0000"/>
                </a:solidFill>
              </a:rPr>
              <a:t>, </a:t>
            </a:r>
            <a:r>
              <a:rPr lang="ko-KR" altLang="en-US" b="1" u="sng">
                <a:solidFill>
                  <a:srgbClr val="FF0000"/>
                </a:solidFill>
              </a:rPr>
              <a:t>잔액을 확인하며</a:t>
            </a:r>
            <a:r>
              <a:rPr lang="en-US" altLang="ko-KR" b="1" u="sng">
                <a:solidFill>
                  <a:srgbClr val="FF0000"/>
                </a:solidFill>
              </a:rPr>
              <a:t>, </a:t>
            </a:r>
            <a:r>
              <a:rPr lang="ko-KR" altLang="en-US" b="1" u="sng">
                <a:solidFill>
                  <a:srgbClr val="FF0000"/>
                </a:solidFill>
              </a:rPr>
              <a:t>계정을 잠그거나 </a:t>
            </a:r>
            <a:r>
              <a:rPr lang="en-US" altLang="ko-KR" b="1" u="sng" smtClean="0">
                <a:solidFill>
                  <a:srgbClr val="FF0000"/>
                </a:solidFill>
              </a:rPr>
              <a:t/>
            </a:r>
            <a:br>
              <a:rPr lang="en-US" altLang="ko-KR" b="1" u="sng" smtClean="0">
                <a:solidFill>
                  <a:srgbClr val="FF0000"/>
                </a:solidFill>
              </a:rPr>
            </a:br>
            <a:r>
              <a:rPr lang="ko-KR" altLang="en-US" b="1" u="sng" smtClean="0">
                <a:solidFill>
                  <a:srgbClr val="FF0000"/>
                </a:solidFill>
              </a:rPr>
              <a:t>잠금 해제하는 </a:t>
            </a:r>
            <a:r>
              <a:rPr lang="ko-KR" altLang="en-US" b="1"/>
              <a:t>등의 관리를 할 수 </a:t>
            </a:r>
            <a:r>
              <a:rPr lang="ko-KR" altLang="en-US" b="1" smtClean="0"/>
              <a:t>있음</a:t>
            </a:r>
            <a:endParaRPr lang="en-US" altLang="ko-KR" b="1" smtClean="0"/>
          </a:p>
          <a:p>
            <a:pPr lvl="1"/>
            <a:r>
              <a:rPr lang="ko-KR" altLang="en-US" b="1" smtClean="0">
                <a:solidFill>
                  <a:srgbClr val="0000FF"/>
                </a:solidFill>
              </a:rPr>
              <a:t>트랜잭션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2"/>
            <a:r>
              <a:rPr lang="ko-KR" altLang="en-US" b="1" smtClean="0"/>
              <a:t>이더리움을 </a:t>
            </a:r>
            <a:r>
              <a:rPr lang="ko-KR" altLang="en-US" b="1"/>
              <a:t>다른 계정으로 </a:t>
            </a:r>
            <a:r>
              <a:rPr lang="ko-KR" altLang="en-US" b="1">
                <a:solidFill>
                  <a:srgbClr val="FF0000"/>
                </a:solidFill>
              </a:rPr>
              <a:t>전송하거나</a:t>
            </a:r>
            <a:r>
              <a:rPr lang="en-US" altLang="ko-KR" b="1">
                <a:solidFill>
                  <a:srgbClr val="FF0000"/>
                </a:solidFill>
              </a:rPr>
              <a:t>, </a:t>
            </a:r>
            <a:r>
              <a:rPr lang="ko-KR" altLang="en-US" b="1">
                <a:solidFill>
                  <a:srgbClr val="FF0000"/>
                </a:solidFill>
              </a:rPr>
              <a:t>스마트 계약을 배포하고 호출하는 등 </a:t>
            </a:r>
            <a:r>
              <a:rPr lang="ko-KR" altLang="en-US" b="1" u="sng" smtClean="0">
                <a:solidFill>
                  <a:srgbClr val="FF0000"/>
                </a:solidFill>
              </a:rPr>
              <a:t>다양한 </a:t>
            </a:r>
            <a:r>
              <a:rPr lang="ko-KR" altLang="en-US" b="1" u="sng">
                <a:solidFill>
                  <a:srgbClr val="FF0000"/>
                </a:solidFill>
              </a:rPr>
              <a:t>트랜잭션을 생성하고 서명할 </a:t>
            </a:r>
            <a:r>
              <a:rPr lang="ko-KR" altLang="en-US" b="1"/>
              <a:t>수 </a:t>
            </a:r>
            <a:r>
              <a:rPr lang="ko-KR" altLang="en-US" b="1" smtClean="0"/>
              <a:t>있음</a:t>
            </a:r>
            <a:endParaRPr lang="en-US" altLang="ko-KR" b="1" smtClean="0"/>
          </a:p>
        </p:txBody>
      </p:sp>
    </p:spTree>
    <p:extLst>
      <p:ext uri="{BB962C8B-B14F-4D97-AF65-F5344CB8AC3E}">
        <p14:creationId xmlns:p14="http://schemas.microsoft.com/office/powerpoint/2010/main" val="138408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solidFill>
                  <a:srgbClr val="C00000"/>
                </a:solidFill>
              </a:rPr>
              <a:t>Geth(Go Ethereum</a:t>
            </a:r>
            <a:r>
              <a:rPr lang="en-US" altLang="ko-KR" smtClean="0">
                <a:solidFill>
                  <a:srgbClr val="C00000"/>
                </a:solidFill>
              </a:rPr>
              <a:t>)</a:t>
            </a:r>
            <a:r>
              <a:rPr lang="ko-KR" altLang="en-US" b="1" smtClean="0">
                <a:solidFill>
                  <a:srgbClr val="C00000"/>
                </a:solidFill>
              </a:rPr>
              <a:t>의 </a:t>
            </a:r>
            <a:r>
              <a:rPr lang="ko-KR" altLang="en-US" b="1">
                <a:solidFill>
                  <a:srgbClr val="C00000"/>
                </a:solidFill>
              </a:rPr>
              <a:t>주요 기능</a:t>
            </a:r>
          </a:p>
          <a:p>
            <a:pPr lvl="1"/>
            <a:r>
              <a:rPr lang="ko-KR" altLang="en-US" b="1" smtClean="0">
                <a:solidFill>
                  <a:srgbClr val="0000FF"/>
                </a:solidFill>
              </a:rPr>
              <a:t>스마트 </a:t>
            </a:r>
            <a:r>
              <a:rPr lang="ko-KR" altLang="en-US" b="1">
                <a:solidFill>
                  <a:srgbClr val="0000FF"/>
                </a:solidFill>
              </a:rPr>
              <a:t>계약 </a:t>
            </a:r>
            <a:r>
              <a:rPr lang="ko-KR" altLang="en-US" b="1" smtClean="0">
                <a:solidFill>
                  <a:srgbClr val="0000FF"/>
                </a:solidFill>
              </a:rPr>
              <a:t>상호작용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2"/>
            <a:r>
              <a:rPr lang="ko-KR" altLang="en-US" b="1" smtClean="0"/>
              <a:t>스마트 </a:t>
            </a:r>
            <a:r>
              <a:rPr lang="ko-KR" altLang="en-US" b="1"/>
              <a:t>계약을 </a:t>
            </a:r>
            <a:r>
              <a:rPr lang="ko-KR" altLang="en-US" b="1" u="sng">
                <a:solidFill>
                  <a:srgbClr val="FF0000"/>
                </a:solidFill>
              </a:rPr>
              <a:t>배포</a:t>
            </a:r>
            <a:r>
              <a:rPr lang="ko-KR" altLang="en-US" b="1"/>
              <a:t>하거나</a:t>
            </a:r>
            <a:r>
              <a:rPr lang="en-US" altLang="ko-KR" b="1"/>
              <a:t>, </a:t>
            </a:r>
            <a:r>
              <a:rPr lang="ko-KR" altLang="en-US" b="1"/>
              <a:t>이미 배포된 </a:t>
            </a:r>
            <a:r>
              <a:rPr lang="ko-KR" altLang="en-US" b="1" u="sng">
                <a:solidFill>
                  <a:srgbClr val="FF0000"/>
                </a:solidFill>
              </a:rPr>
              <a:t>계약의 함수를 호출하고 상태를 </a:t>
            </a:r>
            <a:r>
              <a:rPr lang="en-US" altLang="ko-KR" b="1" u="sng" smtClean="0">
                <a:solidFill>
                  <a:srgbClr val="FF0000"/>
                </a:solidFill>
              </a:rPr>
              <a:t/>
            </a:r>
            <a:br>
              <a:rPr lang="en-US" altLang="ko-KR" b="1" u="sng" smtClean="0">
                <a:solidFill>
                  <a:srgbClr val="FF0000"/>
                </a:solidFill>
              </a:rPr>
            </a:br>
            <a:r>
              <a:rPr lang="ko-KR" altLang="en-US" b="1" u="sng" smtClean="0">
                <a:solidFill>
                  <a:srgbClr val="FF0000"/>
                </a:solidFill>
              </a:rPr>
              <a:t>확인할</a:t>
            </a:r>
            <a:r>
              <a:rPr lang="ko-KR" altLang="en-US" b="1" smtClean="0">
                <a:solidFill>
                  <a:srgbClr val="FF0000"/>
                </a:solidFill>
              </a:rPr>
              <a:t> </a:t>
            </a:r>
            <a:r>
              <a:rPr lang="ko-KR" altLang="en-US" b="1"/>
              <a:t>수 </a:t>
            </a:r>
            <a:r>
              <a:rPr lang="ko-KR" altLang="en-US" b="1" smtClean="0"/>
              <a:t>있음</a:t>
            </a:r>
            <a:endParaRPr lang="en-US" altLang="ko-KR" b="1"/>
          </a:p>
          <a:p>
            <a:pPr lvl="1"/>
            <a:r>
              <a:rPr lang="ko-KR" altLang="en-US" b="1">
                <a:solidFill>
                  <a:srgbClr val="0000FF"/>
                </a:solidFill>
              </a:rPr>
              <a:t>채굴</a:t>
            </a:r>
            <a:r>
              <a:rPr lang="en-US" altLang="ko-KR" b="1">
                <a:solidFill>
                  <a:srgbClr val="0000FF"/>
                </a:solidFill>
              </a:rPr>
              <a:t>(Mining</a:t>
            </a:r>
            <a:r>
              <a:rPr lang="en-US" altLang="ko-KR" b="1" smtClean="0">
                <a:solidFill>
                  <a:srgbClr val="0000FF"/>
                </a:solidFill>
              </a:rPr>
              <a:t>)</a:t>
            </a:r>
          </a:p>
          <a:p>
            <a:pPr lvl="2"/>
            <a:r>
              <a:rPr lang="ko-KR" altLang="en-US" b="1" smtClean="0"/>
              <a:t>과거에는 </a:t>
            </a:r>
            <a:r>
              <a:rPr lang="en-US" altLang="ko-KR" b="1"/>
              <a:t>Geth</a:t>
            </a:r>
            <a:r>
              <a:rPr lang="ko-KR" altLang="en-US" b="1"/>
              <a:t>를 사용하여 이더리움을 채굴할 수 있었지만</a:t>
            </a:r>
            <a:r>
              <a:rPr lang="en-US" altLang="ko-KR" b="1"/>
              <a:t>, </a:t>
            </a:r>
            <a:r>
              <a:rPr lang="ko-KR" altLang="en-US" b="1"/>
              <a:t>이더리움이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작업증명</a:t>
            </a:r>
            <a:r>
              <a:rPr lang="en-US" altLang="ko-KR" b="1"/>
              <a:t>(PoW)</a:t>
            </a:r>
            <a:r>
              <a:rPr lang="ko-KR" altLang="en-US" b="1"/>
              <a:t>에서 지분증명</a:t>
            </a:r>
            <a:r>
              <a:rPr lang="en-US" altLang="ko-KR" b="1"/>
              <a:t>(PoS)</a:t>
            </a:r>
            <a:r>
              <a:rPr lang="ko-KR" altLang="en-US" b="1"/>
              <a:t>으로 전환하면서 현재는 </a:t>
            </a:r>
            <a:r>
              <a:rPr lang="ko-KR" altLang="en-US" b="1" u="sng">
                <a:solidFill>
                  <a:srgbClr val="FF0000"/>
                </a:solidFill>
              </a:rPr>
              <a:t>채굴 기능이 </a:t>
            </a:r>
            <a:r>
              <a:rPr lang="en-US" altLang="ko-KR" b="1" u="sng" smtClean="0">
                <a:solidFill>
                  <a:srgbClr val="FF0000"/>
                </a:solidFill>
              </a:rPr>
              <a:t/>
            </a:r>
            <a:br>
              <a:rPr lang="en-US" altLang="ko-KR" b="1" u="sng" smtClean="0">
                <a:solidFill>
                  <a:srgbClr val="FF0000"/>
                </a:solidFill>
              </a:rPr>
            </a:br>
            <a:r>
              <a:rPr lang="ko-KR" altLang="en-US" b="1" u="sng" smtClean="0">
                <a:solidFill>
                  <a:srgbClr val="FF0000"/>
                </a:solidFill>
              </a:rPr>
              <a:t>주요 </a:t>
            </a:r>
            <a:r>
              <a:rPr lang="ko-KR" altLang="en-US" b="1" u="sng">
                <a:solidFill>
                  <a:srgbClr val="FF0000"/>
                </a:solidFill>
              </a:rPr>
              <a:t>용도는 </a:t>
            </a:r>
            <a:r>
              <a:rPr lang="ko-KR" altLang="en-US" b="1" u="sng" smtClean="0">
                <a:solidFill>
                  <a:srgbClr val="FF0000"/>
                </a:solidFill>
              </a:rPr>
              <a:t>아님</a:t>
            </a:r>
            <a:endParaRPr lang="en-US" altLang="ko-KR" b="1" u="sng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331966"/>
            <a:ext cx="2346573" cy="437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799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>
                <a:solidFill>
                  <a:srgbClr val="C00000"/>
                </a:solidFill>
              </a:rPr>
              <a:t>설치를 위한 디렉토리 구성</a:t>
            </a:r>
            <a:r>
              <a:rPr lang="en-US" altLang="ko-KR" u="sng" smtClean="0">
                <a:solidFill>
                  <a:srgbClr val="00B050"/>
                </a:solidFill>
              </a:rPr>
              <a:t>(</a:t>
            </a:r>
            <a:r>
              <a:rPr lang="ko-KR" altLang="en-US" u="sng" smtClean="0">
                <a:solidFill>
                  <a:srgbClr val="00B050"/>
                </a:solidFill>
              </a:rPr>
              <a:t>개별적인 경우에 해당</a:t>
            </a:r>
            <a:r>
              <a:rPr lang="en-US" altLang="ko-KR" u="sng" smtClean="0">
                <a:solidFill>
                  <a:srgbClr val="00B050"/>
                </a:solidFill>
              </a:rPr>
              <a:t>~~~~)</a:t>
            </a:r>
          </a:p>
          <a:p>
            <a:pPr lvl="1"/>
            <a:r>
              <a:rPr lang="ko-KR" altLang="en-US" smtClean="0"/>
              <a:t>최상위 </a:t>
            </a:r>
            <a:r>
              <a:rPr lang="ko-KR" altLang="en-US"/>
              <a:t>디렉토리 </a:t>
            </a:r>
            <a:r>
              <a:rPr lang="en-US" altLang="ko-KR" smtClean="0">
                <a:solidFill>
                  <a:srgbClr val="0000FF"/>
                </a:solidFill>
              </a:rPr>
              <a:t>Code</a:t>
            </a:r>
            <a:r>
              <a:rPr lang="ko-KR" altLang="en-US" smtClean="0">
                <a:solidFill>
                  <a:srgbClr val="0000FF"/>
                </a:solidFill>
              </a:rPr>
              <a:t>를 생성</a:t>
            </a:r>
            <a:endParaRPr lang="en-US" altLang="ko-KR" smtClean="0">
              <a:solidFill>
                <a:srgbClr val="0000FF"/>
              </a:solidFill>
            </a:endParaRPr>
          </a:p>
          <a:p>
            <a:pPr lvl="2"/>
            <a:r>
              <a:rPr lang="ko-KR" altLang="en-US" smtClean="0"/>
              <a:t>개발자는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소스코드를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Code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에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저장하는 것이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좋음</a:t>
            </a:r>
            <a:endParaRPr lang="en-US" altLang="ko-KR" smtClean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altLang="ko-KR" smtClean="0"/>
              <a:t>Code </a:t>
            </a:r>
            <a:r>
              <a:rPr lang="ko-KR" altLang="en-US"/>
              <a:t>아래 프로젝트 </a:t>
            </a:r>
            <a:r>
              <a:rPr lang="ko-KR" altLang="en-US" smtClean="0"/>
              <a:t>디렉토리 </a:t>
            </a:r>
            <a:r>
              <a:rPr lang="en-US" altLang="ko-KR" smtClean="0">
                <a:solidFill>
                  <a:srgbClr val="0000FF"/>
                </a:solidFill>
              </a:rPr>
              <a:t>pjt_dir</a:t>
            </a:r>
            <a:r>
              <a:rPr lang="ko-KR" altLang="en-US" smtClean="0">
                <a:solidFill>
                  <a:srgbClr val="0000FF"/>
                </a:solidFill>
              </a:rPr>
              <a:t>를 생성</a:t>
            </a:r>
            <a:endParaRPr lang="en-US" altLang="ko-KR" smtClean="0">
              <a:solidFill>
                <a:srgbClr val="0000FF"/>
              </a:solidFill>
            </a:endParaRPr>
          </a:p>
          <a:p>
            <a:pPr lvl="2"/>
            <a:r>
              <a:rPr lang="ko-KR" altLang="en-US" smtClean="0"/>
              <a:t>유니코드 </a:t>
            </a:r>
            <a:r>
              <a:rPr lang="ko-KR" altLang="en-US"/>
              <a:t>지원에 따라 다르겠지만</a:t>
            </a:r>
            <a:r>
              <a:rPr lang="en-US" altLang="ko-KR"/>
              <a:t>, </a:t>
            </a:r>
            <a:r>
              <a:rPr lang="ko-KR" altLang="en-US"/>
              <a:t>디렉토리 이름에 가능하면 한글을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사용하지 </a:t>
            </a:r>
            <a:r>
              <a:rPr lang="ko-KR" altLang="en-US"/>
              <a:t>말고 영문으로 작성하며</a:t>
            </a:r>
            <a:r>
              <a:rPr lang="en-US" altLang="ko-KR"/>
              <a:t>, </a:t>
            </a:r>
            <a:r>
              <a:rPr lang="ko-KR" altLang="en-US"/>
              <a:t>공백을 포함하지 않도록 </a:t>
            </a:r>
            <a:r>
              <a:rPr lang="ko-KR" altLang="en-US" smtClean="0"/>
              <a:t>함</a:t>
            </a:r>
            <a:endParaRPr lang="en-US" altLang="ko-KR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691186"/>
            <a:ext cx="4820394" cy="2696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89040"/>
            <a:ext cx="4361482" cy="1406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5383292"/>
            <a:ext cx="31623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C:\Users\signl\Downloads\icons8-물음표-8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724" y="0"/>
            <a:ext cx="2893293" cy="289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907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운영체제에 따라 설치하고 빌드할 수 있는 방법</a:t>
            </a:r>
            <a:endParaRPr lang="en-US" altLang="ko-KR">
              <a:solidFill>
                <a:srgbClr val="C00000"/>
              </a:solidFill>
            </a:endParaRPr>
          </a:p>
          <a:p>
            <a:pPr lvl="1"/>
            <a:r>
              <a:rPr lang="en-US" altLang="ko-KR">
                <a:hlinkClick r:id="rId2"/>
              </a:rPr>
              <a:t>https://geth.ethereum.org/docs/getting-started/installing-geth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55" y="2492896"/>
            <a:ext cx="7386477" cy="31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034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ko-KR" altLang="en-US">
                <a:solidFill>
                  <a:srgbClr val="C00000"/>
                </a:solidFill>
              </a:rPr>
              <a:t>윈도우에 </a:t>
            </a:r>
            <a:r>
              <a:rPr lang="en-US" altLang="ko-KR">
                <a:solidFill>
                  <a:srgbClr val="C00000"/>
                </a:solidFill>
              </a:rPr>
              <a:t>Geth(Go Ethereum)</a:t>
            </a:r>
            <a:r>
              <a:rPr lang="ko-KR" altLang="en-US" smtClean="0">
                <a:solidFill>
                  <a:srgbClr val="C00000"/>
                </a:solidFill>
              </a:rPr>
              <a:t> 설치 빙법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설치 파일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(Installer)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을 이용한 방법</a:t>
            </a:r>
          </a:p>
          <a:p>
            <a:pPr lvl="2"/>
            <a:r>
              <a:rPr lang="en-US" altLang="ko-KR" smtClean="0">
                <a:hlinkClick r:id="rId2"/>
              </a:rPr>
              <a:t>https</a:t>
            </a:r>
            <a:r>
              <a:rPr lang="en-US" altLang="ko-KR">
                <a:hlinkClick r:id="rId2"/>
              </a:rPr>
              <a:t>://geth.ethereum.org/downloads</a:t>
            </a:r>
            <a:r>
              <a:rPr lang="en-US" altLang="ko-KR" smtClean="0">
                <a:hlinkClick r:id="rId2"/>
              </a:rPr>
              <a:t>/</a:t>
            </a:r>
            <a:r>
              <a:rPr lang="ko-KR" altLang="en-US" smtClean="0"/>
              <a:t>에 접속</a:t>
            </a:r>
            <a:endParaRPr lang="en-US" altLang="ko-KR"/>
          </a:p>
          <a:p>
            <a:pPr lvl="3"/>
            <a:r>
              <a:rPr lang="ko-KR" altLang="en-US"/>
              <a:t>윈도우용 </a:t>
            </a:r>
            <a:r>
              <a:rPr lang="en-US" altLang="ko-KR"/>
              <a:t>Installer </a:t>
            </a:r>
            <a:r>
              <a:rPr lang="ko-KR" altLang="en-US" smtClean="0"/>
              <a:t>다운로드</a:t>
            </a:r>
            <a:r>
              <a:rPr lang="en-US" altLang="ko-KR" smtClean="0"/>
              <a:t>(</a:t>
            </a:r>
            <a:r>
              <a:rPr lang="ko-KR" altLang="en-US" smtClean="0"/>
              <a:t> </a:t>
            </a:r>
            <a:r>
              <a:rPr lang="en-US" altLang="ko-KR"/>
              <a:t>.exe installer</a:t>
            </a:r>
            <a:r>
              <a:rPr lang="ko-KR" altLang="en-US"/>
              <a:t> </a:t>
            </a:r>
            <a:r>
              <a:rPr lang="ko-KR" altLang="en-US" smtClean="0"/>
              <a:t>파일</a:t>
            </a:r>
            <a:r>
              <a:rPr lang="en-US" altLang="ko-KR" smtClean="0"/>
              <a:t>,</a:t>
            </a:r>
            <a:r>
              <a:rPr lang="ko-KR" altLang="en-US" smtClean="0"/>
              <a:t> </a:t>
            </a:r>
            <a:r>
              <a:rPr lang="en-US" altLang="ko-KR"/>
              <a:t>64</a:t>
            </a:r>
            <a:r>
              <a:rPr lang="ko-KR" altLang="en-US"/>
              <a:t>비트 </a:t>
            </a:r>
            <a:r>
              <a:rPr lang="ko-KR" altLang="en-US" smtClean="0"/>
              <a:t>버전</a:t>
            </a:r>
            <a:r>
              <a:rPr lang="en-US" altLang="ko-KR" smtClean="0"/>
              <a:t>)</a:t>
            </a:r>
          </a:p>
          <a:p>
            <a:pPr lvl="3"/>
            <a:r>
              <a:rPr lang="ko-KR" altLang="en-US" smtClean="0"/>
              <a:t>설치 진행 설정을 </a:t>
            </a:r>
            <a:r>
              <a:rPr lang="ko-KR" altLang="en-US"/>
              <a:t>변경할 필요가 없다면 </a:t>
            </a:r>
            <a:r>
              <a:rPr lang="ko-KR" altLang="en-US" u="sng">
                <a:solidFill>
                  <a:srgbClr val="FF0000"/>
                </a:solidFill>
              </a:rPr>
              <a:t>기본값으로 </a:t>
            </a:r>
            <a:r>
              <a:rPr lang="ko-KR" altLang="en-US" u="sng" smtClean="0">
                <a:solidFill>
                  <a:srgbClr val="FF0000"/>
                </a:solidFill>
              </a:rPr>
              <a:t>진행</a:t>
            </a:r>
            <a:endParaRPr lang="en-US" altLang="ko-KR" u="sng">
              <a:solidFill>
                <a:srgbClr val="FF0000"/>
              </a:solidFill>
            </a:endParaRPr>
          </a:p>
          <a:p>
            <a:pPr lvl="3"/>
            <a:r>
              <a:rPr lang="ko-KR" altLang="en-US">
                <a:solidFill>
                  <a:srgbClr val="00B050"/>
                </a:solidFill>
              </a:rPr>
              <a:t>환경 변수 설정 </a:t>
            </a:r>
            <a:r>
              <a:rPr lang="ko-KR" altLang="en-US" smtClean="0">
                <a:solidFill>
                  <a:srgbClr val="00B050"/>
                </a:solidFill>
              </a:rPr>
              <a:t>확인</a:t>
            </a:r>
            <a:endParaRPr lang="en-US" altLang="ko-KR" smtClean="0">
              <a:solidFill>
                <a:srgbClr val="00B050"/>
              </a:solidFill>
            </a:endParaRPr>
          </a:p>
          <a:p>
            <a:pPr lvl="4"/>
            <a:r>
              <a:rPr lang="ko-KR" altLang="en-US" smtClean="0"/>
              <a:t>설치 </a:t>
            </a:r>
            <a:r>
              <a:rPr lang="ko-KR" altLang="en-US"/>
              <a:t>프로그램이 자동으로 환경 변수</a:t>
            </a:r>
            <a:r>
              <a:rPr lang="en-US" altLang="ko-KR"/>
              <a:t>(PATH)</a:t>
            </a:r>
            <a:r>
              <a:rPr lang="ko-KR" altLang="en-US"/>
              <a:t>를 설정해주기 때문에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별도로 </a:t>
            </a:r>
            <a:r>
              <a:rPr lang="ko-KR" altLang="en-US"/>
              <a:t>설정할 필요는 </a:t>
            </a:r>
            <a:r>
              <a:rPr lang="ko-KR" altLang="en-US" smtClean="0"/>
              <a:t>없음</a:t>
            </a:r>
            <a:endParaRPr lang="en-US" altLang="ko-KR" smtClean="0"/>
          </a:p>
          <a:p>
            <a:pPr lvl="4"/>
            <a:r>
              <a:rPr lang="ko-KR" altLang="en-US" smtClean="0"/>
              <a:t>제대로 </a:t>
            </a:r>
            <a:r>
              <a:rPr lang="ko-KR" altLang="en-US"/>
              <a:t>설치되었는지 확인하기 </a:t>
            </a:r>
            <a:r>
              <a:rPr lang="ko-KR" altLang="en-US" u="sng">
                <a:solidFill>
                  <a:srgbClr val="FF0000"/>
                </a:solidFill>
              </a:rPr>
              <a:t>위해 명령 프롬프트</a:t>
            </a:r>
            <a:r>
              <a:rPr lang="en-US" altLang="ko-KR" u="sng">
                <a:solidFill>
                  <a:srgbClr val="FF0000"/>
                </a:solidFill>
              </a:rPr>
              <a:t>(CMD)</a:t>
            </a:r>
            <a:r>
              <a:rPr lang="ko-KR" altLang="en-US" u="sng">
                <a:solidFill>
                  <a:srgbClr val="FF0000"/>
                </a:solidFill>
              </a:rPr>
              <a:t> 또는 </a:t>
            </a:r>
            <a:r>
              <a:rPr lang="en-US" altLang="ko-KR" u="sng" smtClean="0">
                <a:solidFill>
                  <a:srgbClr val="FF0000"/>
                </a:solidFill>
              </a:rPr>
              <a:t/>
            </a:r>
            <a:br>
              <a:rPr lang="en-US" altLang="ko-KR" u="sng" smtClean="0">
                <a:solidFill>
                  <a:srgbClr val="FF0000"/>
                </a:solidFill>
              </a:rPr>
            </a:br>
            <a:r>
              <a:rPr lang="en-US" altLang="ko-KR" u="sng" smtClean="0">
                <a:solidFill>
                  <a:srgbClr val="FF0000"/>
                </a:solidFill>
              </a:rPr>
              <a:t>PowerShell</a:t>
            </a:r>
            <a:r>
              <a:rPr lang="ko-KR" altLang="en-US" u="sng">
                <a:solidFill>
                  <a:srgbClr val="FF0000"/>
                </a:solidFill>
              </a:rPr>
              <a:t>을 열고 </a:t>
            </a:r>
            <a:r>
              <a:rPr lang="en-US" altLang="ko-KR" u="sng">
                <a:solidFill>
                  <a:srgbClr val="FF0000"/>
                </a:solidFill>
              </a:rPr>
              <a:t>geth --help </a:t>
            </a:r>
            <a:r>
              <a:rPr lang="ko-KR" altLang="en-US" u="sng">
                <a:solidFill>
                  <a:srgbClr val="FF0000"/>
                </a:solidFill>
              </a:rPr>
              <a:t>명령어를 </a:t>
            </a:r>
            <a:r>
              <a:rPr lang="ko-KR" altLang="en-US" u="sng" smtClean="0">
                <a:solidFill>
                  <a:srgbClr val="FF0000"/>
                </a:solidFill>
              </a:rPr>
              <a:t>입력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en-US" altLang="ko-KR" smtClean="0"/>
              <a:t>Geth</a:t>
            </a:r>
            <a:r>
              <a:rPr lang="ko-KR" altLang="en-US"/>
              <a:t>의 사용법 관련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정보가 </a:t>
            </a:r>
            <a:r>
              <a:rPr lang="ko-KR" altLang="en-US"/>
              <a:t>출력되면 성공적으로 설치된 </a:t>
            </a:r>
            <a:r>
              <a:rPr lang="ko-KR" altLang="en-US" smtClean="0"/>
              <a:t>것임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88295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ko-KR" altLang="en-US">
                <a:solidFill>
                  <a:srgbClr val="C00000"/>
                </a:solidFill>
              </a:rPr>
              <a:t>윈도우에 </a:t>
            </a:r>
            <a:r>
              <a:rPr lang="en-US" altLang="ko-KR">
                <a:solidFill>
                  <a:srgbClr val="C00000"/>
                </a:solidFill>
              </a:rPr>
              <a:t>Geth(Go Ethereum)</a:t>
            </a:r>
            <a:r>
              <a:rPr lang="ko-KR" altLang="en-US" smtClean="0">
                <a:solidFill>
                  <a:srgbClr val="C00000"/>
                </a:solidFill>
              </a:rPr>
              <a:t> 설치 빙법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Zip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파일을 이용한 방법</a:t>
            </a:r>
          </a:p>
          <a:p>
            <a:pPr lvl="2"/>
            <a:r>
              <a:rPr lang="en-US" altLang="ko-KR">
                <a:hlinkClick r:id="rId2"/>
              </a:rPr>
              <a:t>https://geth.ethereum.org/downloads/</a:t>
            </a:r>
            <a:r>
              <a:rPr lang="ko-KR" altLang="en-US"/>
              <a:t>에 접속</a:t>
            </a:r>
            <a:endParaRPr lang="en-US" altLang="ko-KR"/>
          </a:p>
          <a:p>
            <a:pPr lvl="3"/>
            <a:r>
              <a:rPr lang="ko-KR" altLang="en-US" smtClean="0"/>
              <a:t>윈도우용 </a:t>
            </a:r>
            <a:r>
              <a:rPr lang="en-US" altLang="ko-KR"/>
              <a:t>Zip </a:t>
            </a:r>
            <a:r>
              <a:rPr lang="ko-KR" altLang="en-US"/>
              <a:t>파일 </a:t>
            </a:r>
            <a:r>
              <a:rPr lang="ko-KR" altLang="en-US" smtClean="0"/>
              <a:t>다운로드 및 압축 해제</a:t>
            </a:r>
            <a:r>
              <a:rPr lang="en-US" altLang="ko-KR" u="sng" smtClean="0">
                <a:solidFill>
                  <a:srgbClr val="FF0000"/>
                </a:solidFill>
              </a:rPr>
              <a:t>(</a:t>
            </a:r>
            <a:r>
              <a:rPr lang="ko-KR" altLang="en-US" u="sng" smtClean="0">
                <a:solidFill>
                  <a:srgbClr val="FF0000"/>
                </a:solidFill>
              </a:rPr>
              <a:t>파일을 </a:t>
            </a:r>
            <a:r>
              <a:rPr lang="ko-KR" altLang="en-US" u="sng">
                <a:solidFill>
                  <a:srgbClr val="FF0000"/>
                </a:solidFill>
              </a:rPr>
              <a:t>원하는 위치에 압축 </a:t>
            </a:r>
            <a:r>
              <a:rPr lang="ko-KR" altLang="en-US" u="sng" smtClean="0">
                <a:solidFill>
                  <a:srgbClr val="FF0000"/>
                </a:solidFill>
              </a:rPr>
              <a:t>해제</a:t>
            </a:r>
            <a:r>
              <a:rPr lang="en-US" altLang="ko-KR" u="sng" smtClean="0">
                <a:solidFill>
                  <a:srgbClr val="FF0000"/>
                </a:solidFill>
              </a:rPr>
              <a:t>)</a:t>
            </a:r>
          </a:p>
          <a:p>
            <a:pPr lvl="3"/>
            <a:endParaRPr lang="en-US" altLang="ko-KR" smtClean="0">
              <a:solidFill>
                <a:srgbClr val="00B050"/>
              </a:solidFill>
            </a:endParaRPr>
          </a:p>
          <a:p>
            <a:pPr lvl="3"/>
            <a:r>
              <a:rPr lang="ko-KR" altLang="en-US" smtClean="0">
                <a:solidFill>
                  <a:srgbClr val="00B050"/>
                </a:solidFill>
              </a:rPr>
              <a:t>환경 </a:t>
            </a:r>
            <a:r>
              <a:rPr lang="ko-KR" altLang="en-US">
                <a:solidFill>
                  <a:srgbClr val="00B050"/>
                </a:solidFill>
              </a:rPr>
              <a:t>변수 수동 </a:t>
            </a:r>
            <a:r>
              <a:rPr lang="ko-KR" altLang="en-US" smtClean="0">
                <a:solidFill>
                  <a:srgbClr val="00B050"/>
                </a:solidFill>
              </a:rPr>
              <a:t>설정</a:t>
            </a:r>
            <a:r>
              <a:rPr lang="en-US" altLang="ko-KR" smtClean="0">
                <a:solidFill>
                  <a:srgbClr val="00B050"/>
                </a:solidFill>
              </a:rPr>
              <a:t>(</a:t>
            </a:r>
            <a:r>
              <a:rPr lang="ko-KR" altLang="en-US">
                <a:solidFill>
                  <a:srgbClr val="00B050"/>
                </a:solidFill>
              </a:rPr>
              <a:t>선택 사항</a:t>
            </a:r>
            <a:r>
              <a:rPr lang="en-US" altLang="ko-KR" smtClean="0">
                <a:solidFill>
                  <a:srgbClr val="00B050"/>
                </a:solidFill>
              </a:rPr>
              <a:t>) </a:t>
            </a:r>
            <a:r>
              <a:rPr lang="en-US" altLang="ko-KR" smtClean="0"/>
              <a:t>-</a:t>
            </a:r>
            <a:r>
              <a:rPr lang="ko-KR" altLang="en-US" smtClean="0"/>
              <a:t> 어느 </a:t>
            </a:r>
            <a:r>
              <a:rPr lang="ko-KR" altLang="en-US"/>
              <a:t>경로에서든 </a:t>
            </a:r>
            <a:r>
              <a:rPr lang="en-US" altLang="ko-KR"/>
              <a:t>Geth</a:t>
            </a:r>
            <a:r>
              <a:rPr lang="ko-KR" altLang="en-US"/>
              <a:t>를 실행하려면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u="sng" smtClean="0"/>
              <a:t>Geth </a:t>
            </a:r>
            <a:r>
              <a:rPr lang="ko-KR" altLang="en-US" u="sng"/>
              <a:t>실행 파일</a:t>
            </a:r>
            <a:r>
              <a:rPr lang="en-US" altLang="ko-KR" u="sng"/>
              <a:t>(geth.exe)</a:t>
            </a:r>
            <a:r>
              <a:rPr lang="ko-KR" altLang="en-US" u="sng"/>
              <a:t>이 있는 폴더의 경로를 </a:t>
            </a:r>
            <a:r>
              <a:rPr lang="ko-KR" altLang="en-US" u="sng" smtClean="0"/>
              <a:t>시스템 </a:t>
            </a:r>
            <a:r>
              <a:rPr lang="ko-KR" altLang="en-US" u="sng"/>
              <a:t>환경 변수</a:t>
            </a:r>
            <a:r>
              <a:rPr lang="en-US" altLang="ko-KR" u="sng"/>
              <a:t>(PATH</a:t>
            </a:r>
            <a:r>
              <a:rPr lang="en-US" altLang="ko-KR" u="sng" smtClean="0"/>
              <a:t>)</a:t>
            </a:r>
            <a:r>
              <a:rPr lang="ko-KR" altLang="en-US" u="sng" smtClean="0"/>
              <a:t>에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직접 추가</a:t>
            </a:r>
            <a:endParaRPr lang="en-US" altLang="ko-KR" u="sng" smtClean="0"/>
          </a:p>
          <a:p>
            <a:pPr lvl="3"/>
            <a:endParaRPr lang="en-US" altLang="ko-KR" smtClean="0"/>
          </a:p>
          <a:p>
            <a:pPr lvl="3"/>
            <a:r>
              <a:rPr lang="en-US" altLang="ko-KR" smtClean="0"/>
              <a:t>Geth </a:t>
            </a:r>
            <a:r>
              <a:rPr lang="ko-KR" altLang="en-US" smtClean="0"/>
              <a:t>실행 </a:t>
            </a:r>
            <a:r>
              <a:rPr lang="en-US" altLang="ko-KR" smtClean="0"/>
              <a:t>- </a:t>
            </a:r>
            <a:r>
              <a:rPr lang="ko-KR" altLang="en-US"/>
              <a:t>압축을 해제한 폴더로 이동한 후</a:t>
            </a:r>
            <a:r>
              <a:rPr lang="en-US" altLang="ko-KR"/>
              <a:t>, </a:t>
            </a:r>
            <a:r>
              <a:rPr lang="en-US" altLang="ko-KR">
                <a:solidFill>
                  <a:srgbClr val="00B050"/>
                </a:solidFill>
              </a:rPr>
              <a:t>geth.exe</a:t>
            </a:r>
            <a:r>
              <a:rPr lang="ko-KR" altLang="en-US">
                <a:solidFill>
                  <a:srgbClr val="00B050"/>
                </a:solidFill>
              </a:rPr>
              <a:t>를 실행하거나</a:t>
            </a:r>
            <a:r>
              <a:rPr lang="en-US" altLang="ko-KR">
                <a:solidFill>
                  <a:srgbClr val="00B050"/>
                </a:solidFill>
              </a:rPr>
              <a:t>, </a:t>
            </a:r>
            <a:r>
              <a:rPr lang="en-US" altLang="ko-KR" smtClean="0">
                <a:solidFill>
                  <a:srgbClr val="00B050"/>
                </a:solidFill>
              </a:rPr>
              <a:t/>
            </a:r>
            <a:br>
              <a:rPr lang="en-US" altLang="ko-KR" smtClean="0">
                <a:solidFill>
                  <a:srgbClr val="00B050"/>
                </a:solidFill>
              </a:rPr>
            </a:br>
            <a:r>
              <a:rPr lang="ko-KR" altLang="en-US" smtClean="0">
                <a:solidFill>
                  <a:srgbClr val="00B050"/>
                </a:solidFill>
              </a:rPr>
              <a:t>환경 </a:t>
            </a:r>
            <a:r>
              <a:rPr lang="ko-KR" altLang="en-US">
                <a:solidFill>
                  <a:srgbClr val="00B050"/>
                </a:solidFill>
              </a:rPr>
              <a:t>변수를 설정했다면 </a:t>
            </a:r>
            <a:r>
              <a:rPr lang="ko-KR" altLang="en-US"/>
              <a:t>명령 프롬프트에서 </a:t>
            </a:r>
            <a:r>
              <a:rPr lang="en-US" altLang="ko-KR"/>
              <a:t>geth --help </a:t>
            </a:r>
            <a:r>
              <a:rPr lang="ko-KR" altLang="en-US"/>
              <a:t>명령어를 바로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실행할 </a:t>
            </a:r>
            <a:r>
              <a:rPr lang="ko-KR" altLang="en-US"/>
              <a:t>수 </a:t>
            </a:r>
            <a:r>
              <a:rPr lang="ko-KR" altLang="en-US" smtClean="0"/>
              <a:t>있음</a:t>
            </a:r>
            <a:endParaRPr lang="en-US" altLang="ko-KR"/>
          </a:p>
        </p:txBody>
      </p:sp>
      <p:pic>
        <p:nvPicPr>
          <p:cNvPr id="4" name="Picture 3" descr="C:\Users\signl\Downloads\icons8-물음표-8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552" y="3822592"/>
            <a:ext cx="2893293" cy="289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60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>
                <a:solidFill>
                  <a:srgbClr val="C00000"/>
                </a:solidFill>
              </a:rPr>
              <a:t>Geth(Ethereum) </a:t>
            </a:r>
            <a:r>
              <a:rPr lang="ko-KR" altLang="en-US" smtClean="0">
                <a:solidFill>
                  <a:srgbClr val="C00000"/>
                </a:solidFill>
              </a:rPr>
              <a:t>설치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en-US" altLang="ko-KR" smtClean="0">
                <a:solidFill>
                  <a:srgbClr val="0000FF"/>
                </a:solidFill>
              </a:rPr>
              <a:t>Ethereum v1.8 </a:t>
            </a:r>
            <a:r>
              <a:rPr lang="ko-KR" altLang="en-US">
                <a:solidFill>
                  <a:srgbClr val="0000FF"/>
                </a:solidFill>
              </a:rPr>
              <a:t>버전을 </a:t>
            </a:r>
            <a:r>
              <a:rPr lang="ko-KR" altLang="en-US" smtClean="0">
                <a:solidFill>
                  <a:srgbClr val="0000FF"/>
                </a:solidFill>
              </a:rPr>
              <a:t>설치</a:t>
            </a:r>
            <a:r>
              <a:rPr lang="en-US" altLang="ko-KR" smtClean="0"/>
              <a:t>(</a:t>
            </a:r>
            <a:r>
              <a:rPr lang="ko-KR" altLang="en-US" smtClean="0"/>
              <a:t>실습 시 </a:t>
            </a:r>
            <a:r>
              <a:rPr lang="en-US" altLang="ko-KR" smtClean="0"/>
              <a:t> v1.10</a:t>
            </a:r>
            <a:r>
              <a:rPr lang="ko-KR" altLang="en-US"/>
              <a:t>까지도 문제가 </a:t>
            </a:r>
            <a:r>
              <a:rPr lang="ko-KR" altLang="en-US" smtClean="0"/>
              <a:t>없음</a:t>
            </a:r>
            <a:r>
              <a:rPr lang="en-US" altLang="ko-KR" smtClean="0"/>
              <a:t>)  </a:t>
            </a:r>
          </a:p>
          <a:p>
            <a:pPr lvl="1"/>
            <a:r>
              <a:rPr lang="en-US" altLang="ko-KR" smtClean="0"/>
              <a:t>PoW</a:t>
            </a:r>
            <a:r>
              <a:rPr lang="ko-KR" altLang="en-US" smtClean="0"/>
              <a:t>에서 </a:t>
            </a:r>
            <a:r>
              <a:rPr lang="en-US" altLang="ko-KR" smtClean="0"/>
              <a:t>PoS</a:t>
            </a:r>
            <a:r>
              <a:rPr lang="ko-KR" altLang="en-US" smtClean="0"/>
              <a:t>로 </a:t>
            </a:r>
            <a:r>
              <a:rPr lang="ko-KR" altLang="en-US"/>
              <a:t>이행하면서 </a:t>
            </a:r>
            <a:r>
              <a:rPr lang="en-US" altLang="ko-KR" smtClean="0"/>
              <a:t>v1.11</a:t>
            </a:r>
            <a:r>
              <a:rPr lang="ko-KR" altLang="en-US"/>
              <a:t>부터는 </a:t>
            </a:r>
            <a:r>
              <a:rPr lang="ko-KR" altLang="en-US" u="sng"/>
              <a:t>지원 서비스의 변화가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있거나</a:t>
            </a:r>
            <a:r>
              <a:rPr lang="en-US" altLang="ko-KR" u="sng" smtClean="0"/>
              <a:t>(Personal </a:t>
            </a:r>
            <a:r>
              <a:rPr lang="en-US" altLang="ko-KR" u="sng"/>
              <a:t>API  </a:t>
            </a:r>
            <a:r>
              <a:rPr lang="ko-KR" altLang="en-US" u="sng" smtClean="0"/>
              <a:t>제거</a:t>
            </a:r>
            <a:r>
              <a:rPr lang="en-US" altLang="ko-KR" u="sng"/>
              <a:t>), </a:t>
            </a:r>
            <a:r>
              <a:rPr lang="ko-KR" altLang="en-US" u="sng"/>
              <a:t>테스트망이 교체되고 </a:t>
            </a:r>
            <a:r>
              <a:rPr lang="ko-KR" altLang="en-US" u="sng" smtClean="0"/>
              <a:t>있음</a:t>
            </a:r>
            <a:r>
              <a:rPr lang="en-US" altLang="ko-KR" u="sng" smtClean="0"/>
              <a:t>(Ropsten</a:t>
            </a:r>
            <a:r>
              <a:rPr lang="ko-KR" altLang="en-US" u="sng" smtClean="0"/>
              <a:t>이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제거</a:t>
            </a:r>
            <a:r>
              <a:rPr lang="en-US" altLang="ko-KR" u="sng" smtClean="0"/>
              <a:t>)</a:t>
            </a:r>
          </a:p>
          <a:p>
            <a:pPr lvl="2"/>
            <a:r>
              <a:rPr lang="en-US" altLang="ko-KR">
                <a:hlinkClick r:id="rId2"/>
              </a:rPr>
              <a:t>https://geth.ethereum.org/downloads</a:t>
            </a:r>
            <a:r>
              <a:rPr lang="en-US" altLang="ko-KR" smtClean="0">
                <a:hlinkClick r:id="rId2"/>
              </a:rPr>
              <a:t>/</a:t>
            </a:r>
            <a:r>
              <a:rPr lang="ko-KR" altLang="en-US" smtClean="0">
                <a:solidFill>
                  <a:srgbClr val="C00000"/>
                </a:solidFill>
              </a:rPr>
              <a:t>에 </a:t>
            </a:r>
            <a:r>
              <a:rPr lang="ko-KR" altLang="en-US">
                <a:solidFill>
                  <a:srgbClr val="C00000"/>
                </a:solidFill>
              </a:rPr>
              <a:t>접속한 후</a:t>
            </a:r>
            <a:r>
              <a:rPr lang="en-US" altLang="ko-KR">
                <a:solidFill>
                  <a:srgbClr val="C00000"/>
                </a:solidFill>
              </a:rPr>
              <a:t>,  geth  </a:t>
            </a:r>
            <a:r>
              <a:rPr lang="ko-KR" altLang="en-US">
                <a:solidFill>
                  <a:srgbClr val="C00000"/>
                </a:solidFill>
              </a:rPr>
              <a:t>설치 </a:t>
            </a:r>
            <a:r>
              <a:rPr lang="en-US" altLang="ko-KR" smtClean="0">
                <a:solidFill>
                  <a:srgbClr val="C00000"/>
                </a:solidFill>
              </a:rPr>
              <a:t/>
            </a:r>
            <a:br>
              <a:rPr lang="en-US" altLang="ko-KR" smtClean="0">
                <a:solidFill>
                  <a:srgbClr val="C00000"/>
                </a:solidFill>
              </a:rPr>
            </a:br>
            <a:r>
              <a:rPr lang="ko-KR" altLang="en-US" smtClean="0">
                <a:solidFill>
                  <a:srgbClr val="C00000"/>
                </a:solidFill>
              </a:rPr>
              <a:t>파일을 다운로드</a:t>
            </a:r>
            <a:r>
              <a:rPr lang="en-US" altLang="ko-KR" smtClean="0">
                <a:solidFill>
                  <a:srgbClr val="C00000"/>
                </a:solidFill>
              </a:rPr>
              <a:t>(32</a:t>
            </a:r>
            <a:r>
              <a:rPr lang="ko-KR" altLang="en-US">
                <a:solidFill>
                  <a:srgbClr val="C00000"/>
                </a:solidFill>
              </a:rPr>
              <a:t>비트 또는 </a:t>
            </a:r>
            <a:r>
              <a:rPr lang="en-US" altLang="ko-KR">
                <a:solidFill>
                  <a:srgbClr val="C00000"/>
                </a:solidFill>
              </a:rPr>
              <a:t>64</a:t>
            </a:r>
            <a:r>
              <a:rPr lang="ko-KR" altLang="en-US">
                <a:solidFill>
                  <a:srgbClr val="C00000"/>
                </a:solidFill>
              </a:rPr>
              <a:t>비트 알맞은 버전을 </a:t>
            </a:r>
            <a:r>
              <a:rPr lang="ko-KR" altLang="en-US" smtClean="0">
                <a:solidFill>
                  <a:srgbClr val="C00000"/>
                </a:solidFill>
              </a:rPr>
              <a:t>선택</a:t>
            </a:r>
            <a:r>
              <a:rPr lang="en-US" altLang="ko-KR" smtClean="0">
                <a:solidFill>
                  <a:srgbClr val="C00000"/>
                </a:solidFill>
              </a:rPr>
              <a:t>) </a:t>
            </a:r>
            <a:r>
              <a:rPr lang="ko-KR" altLang="en-US" smtClean="0">
                <a:solidFill>
                  <a:srgbClr val="C00000"/>
                </a:solidFill>
              </a:rPr>
              <a:t>및 설치</a:t>
            </a:r>
            <a:endParaRPr lang="en-US" altLang="ko-KR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861048"/>
            <a:ext cx="5921127" cy="2525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6434003"/>
            <a:ext cx="6516724" cy="20489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7" y="4419744"/>
            <a:ext cx="14192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5796136" y="5361780"/>
            <a:ext cx="29209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  <a:latin typeface="+mn-ea"/>
              </a:rPr>
              <a:t>Geth 1.8.0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버전은 </a:t>
            </a:r>
            <a:r>
              <a:rPr lang="en-US" altLang="ko-KR" sz="1400" b="1">
                <a:solidFill>
                  <a:srgbClr val="FF0000"/>
                </a:solidFill>
                <a:latin typeface="+mn-ea"/>
              </a:rPr>
              <a:t>2018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년에 발표</a:t>
            </a:r>
          </a:p>
        </p:txBody>
      </p:sp>
    </p:spTree>
    <p:extLst>
      <p:ext uri="{BB962C8B-B14F-4D97-AF65-F5344CB8AC3E}">
        <p14:creationId xmlns:p14="http://schemas.microsoft.com/office/powerpoint/2010/main" val="300687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Geth(Ethereum) </a:t>
            </a:r>
            <a:r>
              <a:rPr lang="ko-KR" altLang="en-US">
                <a:solidFill>
                  <a:srgbClr val="C00000"/>
                </a:solidFill>
              </a:rPr>
              <a:t>설치</a:t>
            </a:r>
            <a:endParaRPr lang="en-US" altLang="ko-KR">
              <a:solidFill>
                <a:srgbClr val="C00000"/>
              </a:solidFill>
            </a:endParaRPr>
          </a:p>
          <a:p>
            <a:pPr lvl="2"/>
            <a:r>
              <a:rPr lang="ko-KR" altLang="en-US" smtClean="0"/>
              <a:t>설치하는 디렉토리 </a:t>
            </a:r>
            <a:r>
              <a:rPr lang="en-US" altLang="ko-KR" u="sng" smtClean="0">
                <a:solidFill>
                  <a:srgbClr val="FF0000"/>
                </a:solidFill>
              </a:rPr>
              <a:t>C:\Program Files\Geth</a:t>
            </a:r>
            <a:r>
              <a:rPr lang="ko-KR" altLang="en-US" smtClean="0"/>
              <a:t>를 설정</a:t>
            </a:r>
            <a:endParaRPr lang="en-US" altLang="ko-KR" smtClean="0"/>
          </a:p>
          <a:p>
            <a:pPr lvl="2"/>
            <a:r>
              <a:rPr lang="ko-KR" altLang="en-US" smtClean="0"/>
              <a:t>경로를 </a:t>
            </a:r>
            <a:r>
              <a:rPr lang="ko-KR" altLang="en-US"/>
              <a:t>설정하기 위해서 </a:t>
            </a:r>
            <a:r>
              <a:rPr lang="ko-KR" altLang="en-US" smtClean="0"/>
              <a:t>사용자 </a:t>
            </a:r>
            <a:r>
              <a:rPr lang="ko-KR" altLang="en-US"/>
              <a:t>환경 변수에서 </a:t>
            </a:r>
            <a:r>
              <a:rPr lang="en-US" altLang="ko-KR" smtClean="0"/>
              <a:t>Geth  </a:t>
            </a:r>
            <a:r>
              <a:rPr lang="ko-KR" altLang="en-US" smtClean="0"/>
              <a:t>실행 </a:t>
            </a:r>
            <a:r>
              <a:rPr lang="ko-KR" altLang="en-US"/>
              <a:t>파일이 있는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디렉토리 경로</a:t>
            </a:r>
            <a:r>
              <a:rPr lang="en-US" altLang="ko-KR" smtClean="0"/>
              <a:t>(</a:t>
            </a:r>
            <a:r>
              <a:rPr lang="en-US" altLang="ko-KR"/>
              <a:t>C </a:t>
            </a:r>
            <a:r>
              <a:rPr lang="en-US" altLang="ko-KR" smtClean="0"/>
              <a:t>:\Program Files\Geth)</a:t>
            </a:r>
            <a:r>
              <a:rPr lang="ko-KR" altLang="en-US" smtClean="0"/>
              <a:t>를 추가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en-US" altLang="ko-KR" smtClean="0">
                <a:solidFill>
                  <a:srgbClr val="0000FF"/>
                </a:solidFill>
              </a:rPr>
              <a:t>geth  </a:t>
            </a:r>
            <a:r>
              <a:rPr lang="ko-KR" altLang="en-US">
                <a:solidFill>
                  <a:srgbClr val="0000FF"/>
                </a:solidFill>
              </a:rPr>
              <a:t>클라이언트에서 블록체인에 연결할 수 </a:t>
            </a:r>
            <a:r>
              <a:rPr lang="ko-KR" altLang="en-US" smtClean="0">
                <a:solidFill>
                  <a:srgbClr val="0000FF"/>
                </a:solidFill>
              </a:rPr>
              <a:t>있음</a:t>
            </a:r>
            <a:endParaRPr lang="en-US" altLang="ko-KR" smtClean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662886" y="4365104"/>
            <a:ext cx="6696744" cy="11695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  <a:latin typeface="+mn-ea"/>
              </a:rPr>
              <a:t>geth 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외에도 같은  </a:t>
            </a:r>
            <a:r>
              <a:rPr lang="en-US" altLang="ko-KR" sz="1400" b="1" smtClean="0">
                <a:solidFill>
                  <a:srgbClr val="FF0000"/>
                </a:solidFill>
                <a:latin typeface="+mn-ea"/>
              </a:rPr>
              <a:t>Go</a:t>
            </a:r>
            <a:r>
              <a:rPr lang="ko-KR" altLang="en-US" sz="1400" b="1" smtClean="0">
                <a:solidFill>
                  <a:srgbClr val="FF0000"/>
                </a:solidFill>
                <a:latin typeface="+mn-ea"/>
              </a:rPr>
              <a:t>로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구현한  </a:t>
            </a:r>
            <a:r>
              <a:rPr lang="en-US" altLang="ko-KR" sz="1400" b="1">
                <a:solidFill>
                  <a:srgbClr val="FF0000"/>
                </a:solidFill>
                <a:latin typeface="+mn-ea"/>
              </a:rPr>
              <a:t>Erigon ,  </a:t>
            </a:r>
            <a:r>
              <a:rPr lang="en-US" altLang="ko-KR" sz="1400" b="1" smtClean="0">
                <a:solidFill>
                  <a:srgbClr val="FF0000"/>
                </a:solidFill>
                <a:latin typeface="+mn-ea"/>
              </a:rPr>
              <a:t>C#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으로 구현된  </a:t>
            </a:r>
            <a:r>
              <a:rPr lang="en-US" altLang="ko-KR" sz="1400" b="1">
                <a:solidFill>
                  <a:srgbClr val="FF0000"/>
                </a:solidFill>
                <a:latin typeface="+mn-ea"/>
              </a:rPr>
              <a:t>Nethermind , </a:t>
            </a:r>
            <a:r>
              <a:rPr lang="en-US" altLang="ko-KR" sz="1400" b="1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ko-KR" sz="1400" b="1" smtClean="0">
                <a:solidFill>
                  <a:srgbClr val="FF0000"/>
                </a:solidFill>
                <a:latin typeface="+mn-ea"/>
              </a:rPr>
            </a:br>
            <a:r>
              <a:rPr lang="ko-KR" altLang="en-US" sz="1400" b="1" smtClean="0">
                <a:solidFill>
                  <a:srgbClr val="FF0000"/>
                </a:solidFill>
                <a:latin typeface="+mn-ea"/>
              </a:rPr>
              <a:t>자바로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구현된  </a:t>
            </a:r>
            <a:r>
              <a:rPr lang="en-US" altLang="ko-KR" sz="1400" b="1">
                <a:solidFill>
                  <a:srgbClr val="FF0000"/>
                </a:solidFill>
                <a:latin typeface="+mn-ea"/>
              </a:rPr>
              <a:t>Hyperledger Besu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등 여러 클라이언트를 사용할 수 </a:t>
            </a:r>
            <a:r>
              <a:rPr lang="ko-KR" altLang="en-US" sz="1400" b="1" smtClean="0">
                <a:solidFill>
                  <a:srgbClr val="FF0000"/>
                </a:solidFill>
                <a:latin typeface="+mn-ea"/>
              </a:rPr>
              <a:t>있음</a:t>
            </a:r>
            <a:endParaRPr lang="en-US" altLang="ko-KR" sz="1400" b="1" smtClean="0">
              <a:solidFill>
                <a:srgbClr val="FF0000"/>
              </a:solidFill>
              <a:latin typeface="+mn-ea"/>
            </a:endParaRPr>
          </a:p>
          <a:p>
            <a:endParaRPr lang="en-US" altLang="ko-KR" sz="1400" b="1">
              <a:solidFill>
                <a:srgbClr val="FF0000"/>
              </a:solidFill>
              <a:latin typeface="+mn-ea"/>
            </a:endParaRPr>
          </a:p>
          <a:p>
            <a:r>
              <a:rPr lang="en-US" altLang="ko-KR" sz="1400" b="1" smtClean="0">
                <a:solidFill>
                  <a:srgbClr val="FF0000"/>
                </a:solidFill>
                <a:latin typeface="+mn-ea"/>
              </a:rPr>
              <a:t>    - Erigon -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 이더리움 노드의 효율적인 실행 클라이언트이며</a:t>
            </a:r>
            <a:r>
              <a:rPr lang="en-US" altLang="ko-KR" sz="1400" b="1">
                <a:solidFill>
                  <a:srgbClr val="FF0000"/>
                </a:solidFill>
                <a:latin typeface="+mn-ea"/>
              </a:rPr>
              <a:t>, </a:t>
            </a:r>
            <a:r>
              <a:rPr lang="en-US" altLang="ko-KR" sz="1400" b="1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ko-KR" sz="1400" b="1" smtClean="0">
                <a:solidFill>
                  <a:srgbClr val="FF0000"/>
                </a:solidFill>
                <a:latin typeface="+mn-ea"/>
              </a:rPr>
            </a:br>
            <a:r>
              <a:rPr lang="en-US" altLang="ko-KR" sz="1400" b="1" smtClean="0">
                <a:solidFill>
                  <a:srgbClr val="FF0000"/>
                </a:solidFill>
                <a:latin typeface="+mn-ea"/>
              </a:rPr>
              <a:t>      </a:t>
            </a:r>
            <a:r>
              <a:rPr lang="ko-KR" altLang="en-US" sz="1400" b="1" smtClean="0">
                <a:solidFill>
                  <a:srgbClr val="FF0000"/>
                </a:solidFill>
                <a:latin typeface="+mn-ea"/>
              </a:rPr>
              <a:t>기본적으로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풀 노드 역할을 </a:t>
            </a:r>
            <a:r>
              <a:rPr lang="ko-KR" altLang="en-US" sz="1400" b="1" smtClean="0">
                <a:solidFill>
                  <a:srgbClr val="FF0000"/>
                </a:solidFill>
                <a:latin typeface="+mn-ea"/>
              </a:rPr>
              <a:t>함</a:t>
            </a:r>
            <a:r>
              <a:rPr lang="en-US" altLang="ko-KR" sz="1400" b="1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b="1" smtClean="0">
                <a:solidFill>
                  <a:srgbClr val="FF0000"/>
                </a:solidFill>
                <a:latin typeface="+mn-ea"/>
              </a:rPr>
              <a:t>속도</a:t>
            </a:r>
            <a:r>
              <a:rPr lang="en-US" altLang="ko-KR" sz="1400" b="1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모듈성</a:t>
            </a:r>
            <a:r>
              <a:rPr lang="en-US" altLang="ko-KR" sz="1400" b="1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최적화에 초점을 </a:t>
            </a:r>
            <a:r>
              <a:rPr lang="ko-KR" altLang="en-US" sz="1400" b="1" smtClean="0">
                <a:solidFill>
                  <a:srgbClr val="FF0000"/>
                </a:solidFill>
                <a:latin typeface="+mn-ea"/>
              </a:rPr>
              <a:t>맞춤</a:t>
            </a:r>
            <a:r>
              <a:rPr lang="en-US" altLang="ko-KR" sz="1400" b="1" smtClean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400" b="1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464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Geth(Ethereum) </a:t>
            </a:r>
            <a:r>
              <a:rPr lang="ko-KR" altLang="en-US" smtClean="0">
                <a:solidFill>
                  <a:srgbClr val="C00000"/>
                </a:solidFill>
              </a:rPr>
              <a:t>설치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 smtClean="0">
                <a:solidFill>
                  <a:srgbClr val="0000FF"/>
                </a:solidFill>
              </a:rPr>
              <a:t>설치</a:t>
            </a:r>
            <a:r>
              <a:rPr lang="en-US" altLang="ko-KR" smtClean="0">
                <a:solidFill>
                  <a:srgbClr val="0000FF"/>
                </a:solidFill>
              </a:rPr>
              <a:t> </a:t>
            </a:r>
            <a:r>
              <a:rPr lang="ko-KR" altLang="en-US" smtClean="0">
                <a:solidFill>
                  <a:srgbClr val="0000FF"/>
                </a:solidFill>
              </a:rPr>
              <a:t>과정</a:t>
            </a:r>
            <a:endParaRPr lang="en-US" altLang="ko-KR">
              <a:solidFill>
                <a:srgbClr val="0000FF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5" y="2348881"/>
            <a:ext cx="2952328" cy="2011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959" y="2348880"/>
            <a:ext cx="2808312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287" y="2348880"/>
            <a:ext cx="2808312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1" y="4437112"/>
            <a:ext cx="2983181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02" y="4437112"/>
            <a:ext cx="2803669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287" y="4437111"/>
            <a:ext cx="2812818" cy="223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6274450" y="6165304"/>
            <a:ext cx="936104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Geth(Ethereum) </a:t>
            </a:r>
            <a:r>
              <a:rPr lang="ko-KR" altLang="en-US" smtClean="0">
                <a:solidFill>
                  <a:srgbClr val="C00000"/>
                </a:solidFill>
              </a:rPr>
              <a:t>설치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 smtClean="0">
                <a:solidFill>
                  <a:srgbClr val="0000FF"/>
                </a:solidFill>
              </a:rPr>
              <a:t>설치 후 </a:t>
            </a:r>
            <a:r>
              <a:rPr lang="en-US" altLang="ko-KR" smtClean="0">
                <a:solidFill>
                  <a:srgbClr val="0000FF"/>
                </a:solidFill>
              </a:rPr>
              <a:t>C:\</a:t>
            </a:r>
            <a:r>
              <a:rPr lang="en-US" altLang="ko-KR">
                <a:solidFill>
                  <a:srgbClr val="0000FF"/>
                </a:solidFill>
              </a:rPr>
              <a:t>Program </a:t>
            </a:r>
            <a:r>
              <a:rPr lang="en-US" altLang="ko-KR" smtClean="0">
                <a:solidFill>
                  <a:srgbClr val="0000FF"/>
                </a:solidFill>
              </a:rPr>
              <a:t>Files\Geth </a:t>
            </a:r>
            <a:r>
              <a:rPr lang="ko-KR" altLang="en-US" smtClean="0">
                <a:solidFill>
                  <a:srgbClr val="0000FF"/>
                </a:solidFill>
              </a:rPr>
              <a:t>확인</a:t>
            </a:r>
            <a:endParaRPr lang="en-US" altLang="ko-KR">
              <a:solidFill>
                <a:srgbClr val="0000FF"/>
              </a:solidFill>
            </a:endParaRPr>
          </a:p>
          <a:p>
            <a:endParaRPr lang="ko-KR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2896"/>
            <a:ext cx="3384376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3563888" y="2492387"/>
            <a:ext cx="5328592" cy="5770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050" b="1" smtClean="0">
                <a:latin typeface="+mn-ea"/>
              </a:rPr>
              <a:t>Abigen</a:t>
            </a:r>
            <a:r>
              <a:rPr lang="ko-KR" altLang="en-US" sz="1050" b="1" smtClean="0">
                <a:latin typeface="+mn-ea"/>
              </a:rPr>
              <a:t> </a:t>
            </a:r>
            <a:r>
              <a:rPr lang="en-US" altLang="ko-KR" sz="1050" b="1" smtClean="0">
                <a:latin typeface="+mn-ea"/>
              </a:rPr>
              <a:t>- </a:t>
            </a:r>
            <a:r>
              <a:rPr lang="ko-KR" altLang="en-US" sz="1050" b="1" smtClean="0">
                <a:latin typeface="+mn-ea"/>
              </a:rPr>
              <a:t> </a:t>
            </a:r>
            <a:r>
              <a:rPr lang="en-US" altLang="ko-KR" sz="1050" b="1">
                <a:latin typeface="+mn-ea"/>
              </a:rPr>
              <a:t>Geth</a:t>
            </a:r>
            <a:r>
              <a:rPr lang="ko-KR" altLang="en-US" sz="1050" b="1">
                <a:latin typeface="+mn-ea"/>
              </a:rPr>
              <a:t>에 포함된 도구로</a:t>
            </a:r>
            <a:r>
              <a:rPr lang="en-US" altLang="ko-KR" sz="1050" b="1">
                <a:latin typeface="+mn-ea"/>
              </a:rPr>
              <a:t>, </a:t>
            </a:r>
            <a:r>
              <a:rPr lang="ko-KR" altLang="en-US" sz="1050" b="1">
                <a:latin typeface="+mn-ea"/>
              </a:rPr>
              <a:t>스마트 계약의 </a:t>
            </a:r>
            <a:r>
              <a:rPr lang="en-US" altLang="ko-KR" sz="1050" b="1" smtClean="0">
                <a:latin typeface="+mn-ea"/>
              </a:rPr>
              <a:t>ABI(Application </a:t>
            </a:r>
            <a:r>
              <a:rPr lang="en-US" altLang="ko-KR" sz="1050" b="1">
                <a:latin typeface="+mn-ea"/>
              </a:rPr>
              <a:t>Binary Interface</a:t>
            </a:r>
            <a:r>
              <a:rPr lang="en-US" altLang="ko-KR" sz="1050" b="1" smtClean="0">
                <a:latin typeface="+mn-ea"/>
              </a:rPr>
              <a:t>)</a:t>
            </a:r>
            <a:r>
              <a:rPr lang="ko-KR" altLang="en-US" sz="1050" b="1" smtClean="0">
                <a:latin typeface="+mn-ea"/>
              </a:rPr>
              <a:t>와 바이트코드</a:t>
            </a:r>
            <a:r>
              <a:rPr lang="en-US" altLang="ko-KR" sz="1050" b="1">
                <a:latin typeface="+mn-ea"/>
              </a:rPr>
              <a:t>(BIN) </a:t>
            </a:r>
            <a:r>
              <a:rPr lang="ko-KR" altLang="en-US" sz="1050" b="1">
                <a:latin typeface="+mn-ea"/>
              </a:rPr>
              <a:t>파일을 기반으로 특정 프로그래밍 언어</a:t>
            </a:r>
            <a:r>
              <a:rPr lang="en-US" altLang="ko-KR" sz="1050" b="1">
                <a:latin typeface="+mn-ea"/>
              </a:rPr>
              <a:t>(</a:t>
            </a:r>
            <a:r>
              <a:rPr lang="ko-KR" altLang="en-US" sz="1050" b="1">
                <a:latin typeface="+mn-ea"/>
              </a:rPr>
              <a:t>주로 </a:t>
            </a:r>
            <a:r>
              <a:rPr lang="en-US" altLang="ko-KR" sz="1050" b="1">
                <a:latin typeface="+mn-ea"/>
              </a:rPr>
              <a:t>Go </a:t>
            </a:r>
            <a:r>
              <a:rPr lang="ko-KR" altLang="en-US" sz="1050" b="1">
                <a:latin typeface="+mn-ea"/>
              </a:rPr>
              <a:t>언어</a:t>
            </a:r>
            <a:r>
              <a:rPr lang="en-US" altLang="ko-KR" sz="1050" b="1">
                <a:latin typeface="+mn-ea"/>
              </a:rPr>
              <a:t>)</a:t>
            </a:r>
            <a:r>
              <a:rPr lang="ko-KR" altLang="en-US" sz="1050" b="1">
                <a:latin typeface="+mn-ea"/>
              </a:rPr>
              <a:t>로 작성된 </a:t>
            </a:r>
            <a:r>
              <a:rPr lang="en-US" altLang="ko-KR" sz="1050" b="1" smtClean="0">
                <a:latin typeface="+mn-ea"/>
              </a:rPr>
              <a:t/>
            </a:r>
            <a:br>
              <a:rPr lang="en-US" altLang="ko-KR" sz="1050" b="1" smtClean="0">
                <a:latin typeface="+mn-ea"/>
              </a:rPr>
            </a:br>
            <a:r>
              <a:rPr lang="ko-KR" altLang="en-US" sz="1050" b="1" smtClean="0">
                <a:latin typeface="+mn-ea"/>
              </a:rPr>
              <a:t>바인딩 </a:t>
            </a:r>
            <a:r>
              <a:rPr lang="ko-KR" altLang="en-US" sz="1050" b="1">
                <a:latin typeface="+mn-ea"/>
              </a:rPr>
              <a:t>코드를 생성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577295" y="3140968"/>
            <a:ext cx="5304168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 b="1" smtClean="0">
                <a:latin typeface="+mn-ea"/>
              </a:rPr>
              <a:t>Bootnode -</a:t>
            </a:r>
            <a:r>
              <a:rPr lang="ko-KR" altLang="en-US" sz="1100" b="1" smtClean="0">
                <a:latin typeface="+mn-ea"/>
              </a:rPr>
              <a:t> </a:t>
            </a:r>
            <a:r>
              <a:rPr lang="ko-KR" altLang="en-US" sz="1100" b="1">
                <a:latin typeface="+mn-ea"/>
              </a:rPr>
              <a:t>이더리움과 같은 분산 네트워크에서 다른 노드들을 찾는 데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사용되는 </a:t>
            </a:r>
            <a:r>
              <a:rPr lang="ko-KR" altLang="en-US" sz="1100" b="1">
                <a:latin typeface="+mn-ea"/>
              </a:rPr>
              <a:t>특별한 노드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577295" y="3639698"/>
            <a:ext cx="5304168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 b="1" smtClean="0">
                <a:latin typeface="+mn-ea"/>
              </a:rPr>
              <a:t>EVM(Ethereum </a:t>
            </a:r>
            <a:r>
              <a:rPr lang="en-US" altLang="ko-KR" sz="1100" b="1">
                <a:latin typeface="+mn-ea"/>
              </a:rPr>
              <a:t>Virtual </a:t>
            </a:r>
            <a:r>
              <a:rPr lang="en-US" altLang="ko-KR" sz="1100" b="1" smtClean="0">
                <a:latin typeface="+mn-ea"/>
              </a:rPr>
              <a:t>Machine) - </a:t>
            </a:r>
            <a:r>
              <a:rPr lang="ko-KR" altLang="en-US" sz="1100" b="1">
                <a:latin typeface="+mn-ea"/>
              </a:rPr>
              <a:t>이더리움 블록체인에서 스마트 계약을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실행하는 </a:t>
            </a:r>
            <a:r>
              <a:rPr lang="ko-KR" altLang="en-US" sz="1100" b="1">
                <a:latin typeface="+mn-ea"/>
              </a:rPr>
              <a:t>런타임 환경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596938" y="4150241"/>
            <a:ext cx="5295541" cy="4308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 b="1" smtClean="0">
                <a:latin typeface="+mn-ea"/>
              </a:rPr>
              <a:t>Geth(Go Ethereum) - </a:t>
            </a:r>
            <a:r>
              <a:rPr lang="ko-KR" altLang="en-US" sz="1100" b="1">
                <a:latin typeface="+mn-ea"/>
              </a:rPr>
              <a:t>이더리움 블록체인 노드를 실행하는 데 사용되는 명령줄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인터페이스</a:t>
            </a:r>
            <a:r>
              <a:rPr lang="en-US" altLang="ko-KR" sz="1100" b="1">
                <a:latin typeface="+mn-ea"/>
              </a:rPr>
              <a:t>(CLI) </a:t>
            </a:r>
            <a:r>
              <a:rPr lang="ko-KR" altLang="en-US" sz="1100" b="1">
                <a:latin typeface="+mn-ea"/>
              </a:rPr>
              <a:t>프로그램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607955" y="4664153"/>
            <a:ext cx="5284523" cy="4308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 b="1" smtClean="0">
                <a:latin typeface="+mn-ea"/>
              </a:rPr>
              <a:t>Puppeth -</a:t>
            </a:r>
            <a:r>
              <a:rPr lang="ko-KR" altLang="en-US" sz="1100" b="1" smtClean="0">
                <a:latin typeface="+mn-ea"/>
              </a:rPr>
              <a:t> </a:t>
            </a:r>
            <a:r>
              <a:rPr lang="ko-KR" altLang="en-US" sz="1100" b="1">
                <a:latin typeface="+mn-ea"/>
              </a:rPr>
              <a:t>이더리움 클라이언트인 </a:t>
            </a:r>
            <a:r>
              <a:rPr lang="en-US" altLang="ko-KR" sz="1100" b="1">
                <a:latin typeface="+mn-ea"/>
              </a:rPr>
              <a:t>Geth</a:t>
            </a:r>
            <a:r>
              <a:rPr lang="ko-KR" altLang="en-US" sz="1100" b="1">
                <a:latin typeface="+mn-ea"/>
              </a:rPr>
              <a:t>에 포함된 명령줄 유틸리티로</a:t>
            </a:r>
            <a:r>
              <a:rPr lang="en-US" altLang="ko-KR" sz="1100" b="1">
                <a:latin typeface="+mn-ea"/>
              </a:rPr>
              <a:t>, </a:t>
            </a:r>
            <a:r>
              <a:rPr lang="ko-KR" altLang="en-US" sz="1100" b="1">
                <a:latin typeface="+mn-ea"/>
              </a:rPr>
              <a:t>자신만의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프라이빗 </a:t>
            </a:r>
            <a:r>
              <a:rPr lang="ko-KR" altLang="en-US" sz="1100" b="1">
                <a:latin typeface="+mn-ea"/>
              </a:rPr>
              <a:t>이더리움 네트워크를 손쉽게 만들고 관리할 수 있게 도와주는 도구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633106" y="5191100"/>
            <a:ext cx="5259371" cy="60016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 b="1" smtClean="0">
                <a:latin typeface="+mn-ea"/>
              </a:rPr>
              <a:t>Rlpdump -</a:t>
            </a:r>
            <a:r>
              <a:rPr lang="ko-KR" altLang="en-US" sz="1100" b="1" smtClean="0">
                <a:latin typeface="+mn-ea"/>
              </a:rPr>
              <a:t> </a:t>
            </a:r>
            <a:r>
              <a:rPr lang="en-US" altLang="ko-KR" sz="1100" b="1">
                <a:latin typeface="+mn-ea"/>
              </a:rPr>
              <a:t>Geth</a:t>
            </a:r>
            <a:r>
              <a:rPr lang="ko-KR" altLang="en-US" sz="1100" b="1">
                <a:latin typeface="+mn-ea"/>
              </a:rPr>
              <a:t>에 포함된 개발자 유틸리티 도구로</a:t>
            </a:r>
            <a:r>
              <a:rPr lang="en-US" altLang="ko-KR" sz="1100" b="1">
                <a:latin typeface="+mn-ea"/>
              </a:rPr>
              <a:t>, </a:t>
            </a:r>
            <a:r>
              <a:rPr lang="ko-KR" altLang="en-US" sz="1100" b="1">
                <a:latin typeface="+mn-ea"/>
              </a:rPr>
              <a:t>이더리움에서 데이터를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인코딩하는데 </a:t>
            </a:r>
            <a:r>
              <a:rPr lang="ko-KR" altLang="en-US" sz="1100" b="1">
                <a:latin typeface="+mn-ea"/>
              </a:rPr>
              <a:t>사용되는 </a:t>
            </a:r>
            <a:r>
              <a:rPr lang="en-US" altLang="ko-KR" sz="1100" b="1">
                <a:latin typeface="+mn-ea"/>
              </a:rPr>
              <a:t>RLP(Recursive Length Prefix) </a:t>
            </a:r>
            <a:r>
              <a:rPr lang="ko-KR" altLang="en-US" sz="1100" b="1">
                <a:latin typeface="+mn-ea"/>
              </a:rPr>
              <a:t>형식의 이진 데이터를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사람이 </a:t>
            </a:r>
            <a:r>
              <a:rPr lang="ko-KR" altLang="en-US" sz="1100" b="1">
                <a:latin typeface="+mn-ea"/>
              </a:rPr>
              <a:t>읽기 쉬운 계층적 표현으로 변환해주는 역할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641005" y="5877272"/>
            <a:ext cx="5240457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 b="1" smtClean="0">
                <a:latin typeface="+mn-ea"/>
              </a:rPr>
              <a:t>Wnode</a:t>
            </a:r>
            <a:r>
              <a:rPr lang="ko-KR" altLang="en-US" sz="1100" b="1" smtClean="0">
                <a:latin typeface="+mn-ea"/>
              </a:rPr>
              <a:t> </a:t>
            </a:r>
            <a:r>
              <a:rPr lang="en-US" altLang="ko-KR" sz="1100" b="1" smtClean="0">
                <a:latin typeface="+mn-ea"/>
              </a:rPr>
              <a:t>-</a:t>
            </a:r>
            <a:r>
              <a:rPr lang="ko-KR" altLang="en-US" sz="1100" b="1" smtClean="0">
                <a:latin typeface="+mn-ea"/>
              </a:rPr>
              <a:t> </a:t>
            </a:r>
            <a:r>
              <a:rPr lang="ko-KR" altLang="en-US" sz="1100" b="1">
                <a:latin typeface="+mn-ea"/>
              </a:rPr>
              <a:t> </a:t>
            </a:r>
            <a:r>
              <a:rPr lang="en-US" altLang="ko-KR" sz="1100" b="1">
                <a:latin typeface="+mn-ea"/>
              </a:rPr>
              <a:t>"Web3 Node"</a:t>
            </a:r>
            <a:r>
              <a:rPr lang="ko-KR" altLang="en-US" sz="1100" b="1">
                <a:latin typeface="+mn-ea"/>
              </a:rPr>
              <a:t>의 약자로</a:t>
            </a:r>
            <a:r>
              <a:rPr lang="en-US" altLang="ko-KR" sz="1100" b="1">
                <a:latin typeface="+mn-ea"/>
              </a:rPr>
              <a:t>, </a:t>
            </a:r>
            <a:r>
              <a:rPr lang="ko-KR" altLang="en-US" sz="1100" b="1">
                <a:latin typeface="+mn-ea"/>
              </a:rPr>
              <a:t>이더리움 네트워크에 접속하여 블록체인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데이터를 </a:t>
            </a:r>
            <a:r>
              <a:rPr lang="ko-KR" altLang="en-US" sz="1100" b="1">
                <a:latin typeface="+mn-ea"/>
              </a:rPr>
              <a:t>조회하고 상호작용할 수 있는 클라이언트 프로그램입니다</a:t>
            </a:r>
            <a:r>
              <a:rPr lang="en-US" altLang="ko-KR" sz="1100" b="1">
                <a:latin typeface="+mn-ea"/>
              </a:rPr>
              <a:t>. </a:t>
            </a:r>
            <a:r>
              <a:rPr lang="ko-KR" altLang="en-US" sz="1100" b="1">
                <a:latin typeface="+mn-ea"/>
              </a:rPr>
              <a:t>즉</a:t>
            </a:r>
            <a:r>
              <a:rPr lang="en-US" altLang="ko-KR" sz="1100" b="1">
                <a:latin typeface="+mn-ea"/>
              </a:rPr>
              <a:t>, Geth</a:t>
            </a:r>
            <a:r>
              <a:rPr lang="ko-KR" altLang="en-US" sz="1100" b="1">
                <a:latin typeface="+mn-ea"/>
              </a:rPr>
              <a:t>를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통해 </a:t>
            </a:r>
            <a:r>
              <a:rPr lang="ko-KR" altLang="en-US" sz="1100" b="1">
                <a:latin typeface="+mn-ea"/>
              </a:rPr>
              <a:t>이더리움 블록체인 네트워크에 참여하고 스마트 컨트랙트 실행</a:t>
            </a:r>
            <a:r>
              <a:rPr lang="en-US" altLang="ko-KR" sz="1100" b="1">
                <a:latin typeface="+mn-ea"/>
              </a:rPr>
              <a:t>, </a:t>
            </a:r>
            <a:r>
              <a:rPr lang="ko-KR" altLang="en-US" sz="1100" b="1">
                <a:latin typeface="+mn-ea"/>
              </a:rPr>
              <a:t>트랜잭션 </a:t>
            </a:r>
            <a:r>
              <a:rPr lang="en-US" altLang="ko-KR" sz="1100" b="1" smtClean="0">
                <a:latin typeface="+mn-ea"/>
              </a:rPr>
              <a:t/>
            </a:r>
            <a:br>
              <a:rPr lang="en-US" altLang="ko-KR" sz="1100" b="1" smtClean="0">
                <a:latin typeface="+mn-ea"/>
              </a:rPr>
            </a:br>
            <a:r>
              <a:rPr lang="ko-KR" altLang="en-US" sz="1100" b="1" smtClean="0">
                <a:latin typeface="+mn-ea"/>
              </a:rPr>
              <a:t>전송 </a:t>
            </a:r>
            <a:r>
              <a:rPr lang="ko-KR" altLang="en-US" sz="1100" b="1">
                <a:latin typeface="+mn-ea"/>
              </a:rPr>
              <a:t>등 다양한 작업을 수행할 수 </a:t>
            </a:r>
            <a:r>
              <a:rPr lang="ko-KR" altLang="en-US" sz="1100" b="1" smtClean="0">
                <a:latin typeface="+mn-ea"/>
              </a:rPr>
              <a:t>있음</a:t>
            </a:r>
            <a:endParaRPr lang="ko-KR" altLang="en-US" sz="11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1677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Geth(Ethereum) </a:t>
            </a:r>
            <a:r>
              <a:rPr lang="ko-KR" altLang="en-US" smtClean="0">
                <a:solidFill>
                  <a:srgbClr val="C00000"/>
                </a:solidFill>
              </a:rPr>
              <a:t>설치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 smtClean="0">
                <a:solidFill>
                  <a:srgbClr val="0000FF"/>
                </a:solidFill>
              </a:rPr>
              <a:t>설치 후 </a:t>
            </a:r>
            <a:r>
              <a:rPr lang="en-US" altLang="ko-KR" smtClean="0">
                <a:solidFill>
                  <a:srgbClr val="0000FF"/>
                </a:solidFill>
              </a:rPr>
              <a:t>C:\</a:t>
            </a:r>
            <a:r>
              <a:rPr lang="en-US" altLang="ko-KR">
                <a:solidFill>
                  <a:srgbClr val="0000FF"/>
                </a:solidFill>
              </a:rPr>
              <a:t>Program </a:t>
            </a:r>
            <a:r>
              <a:rPr lang="en-US" altLang="ko-KR" smtClean="0">
                <a:solidFill>
                  <a:srgbClr val="0000FF"/>
                </a:solidFill>
              </a:rPr>
              <a:t>Files\Geth </a:t>
            </a:r>
            <a:r>
              <a:rPr lang="ko-KR" altLang="en-US" smtClean="0">
                <a:solidFill>
                  <a:srgbClr val="0000FF"/>
                </a:solidFill>
              </a:rPr>
              <a:t>확인</a:t>
            </a:r>
            <a:endParaRPr lang="en-US" altLang="ko-KR">
              <a:solidFill>
                <a:srgbClr val="0000FF"/>
              </a:solidFill>
            </a:endParaRPr>
          </a:p>
          <a:p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3" y="2636912"/>
            <a:ext cx="1656184" cy="2197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20" y="2697608"/>
            <a:ext cx="1442241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6906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060848"/>
            <a:ext cx="5616624" cy="4104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Geth </a:t>
            </a:r>
            <a:r>
              <a:rPr lang="ko-KR" altLang="en-US" smtClean="0">
                <a:solidFill>
                  <a:srgbClr val="C00000"/>
                </a:solidFill>
              </a:rPr>
              <a:t>초기화면</a:t>
            </a: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23728" y="2736492"/>
            <a:ext cx="1405391" cy="21085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43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Geth </a:t>
            </a:r>
            <a:r>
              <a:rPr lang="ko-KR" altLang="en-US" smtClean="0">
                <a:solidFill>
                  <a:srgbClr val="C00000"/>
                </a:solidFill>
              </a:rPr>
              <a:t>초기화면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600908"/>
            <a:ext cx="4320480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04864"/>
            <a:ext cx="3816424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201260"/>
            <a:ext cx="3816424" cy="1556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193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Geth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Geth </a:t>
            </a:r>
            <a:r>
              <a:rPr lang="ko-KR" altLang="en-US" smtClean="0">
                <a:solidFill>
                  <a:srgbClr val="C00000"/>
                </a:solidFill>
              </a:rPr>
              <a:t>초기화면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420888"/>
            <a:ext cx="4752528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04864"/>
            <a:ext cx="3816424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15" y="5176382"/>
            <a:ext cx="3816424" cy="1556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880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Node.js </a:t>
            </a:r>
            <a:r>
              <a:rPr lang="ko-KR" altLang="en-US" smtClean="0"/>
              <a:t>설치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Node.js</a:t>
            </a:r>
            <a:r>
              <a:rPr lang="ko-KR" altLang="en-US" smtClean="0">
                <a:solidFill>
                  <a:srgbClr val="C00000"/>
                </a:solidFill>
              </a:rPr>
              <a:t>란</a:t>
            </a:r>
            <a:r>
              <a:rPr lang="en-US" altLang="ko-KR" smtClean="0">
                <a:solidFill>
                  <a:srgbClr val="C00000"/>
                </a:solidFill>
              </a:rPr>
              <a:t>?</a:t>
            </a:r>
          </a:p>
          <a:p>
            <a:pPr lvl="1"/>
            <a:r>
              <a:rPr lang="en-US" altLang="ko-KR" smtClean="0"/>
              <a:t>Chrome </a:t>
            </a:r>
            <a:r>
              <a:rPr lang="en-US" altLang="ko-KR"/>
              <a:t>V8 JavaScript </a:t>
            </a:r>
            <a:r>
              <a:rPr lang="ko-KR" altLang="en-US"/>
              <a:t>엔진으로 빌드된 </a:t>
            </a:r>
            <a:r>
              <a:rPr lang="en-US" altLang="ko-KR">
                <a:solidFill>
                  <a:srgbClr val="C00000"/>
                </a:solidFill>
              </a:rPr>
              <a:t>JavaScript </a:t>
            </a:r>
            <a:r>
              <a:rPr lang="ko-KR" altLang="en-US">
                <a:solidFill>
                  <a:srgbClr val="C00000"/>
                </a:solidFill>
              </a:rPr>
              <a:t>런타임 </a:t>
            </a:r>
            <a:r>
              <a:rPr lang="ko-KR" altLang="en-US" smtClean="0">
                <a:solidFill>
                  <a:srgbClr val="C00000"/>
                </a:solidFill>
              </a:rPr>
              <a:t>환경</a:t>
            </a:r>
            <a:endParaRPr lang="en-US" altLang="ko-KR" smtClean="0">
              <a:solidFill>
                <a:srgbClr val="C00000"/>
              </a:solidFill>
            </a:endParaRPr>
          </a:p>
          <a:p>
            <a:pPr lvl="2"/>
            <a:r>
              <a:rPr lang="ko-KR" altLang="en-US">
                <a:solidFill>
                  <a:srgbClr val="0000FF"/>
                </a:solidFill>
              </a:rPr>
              <a:t>런타임 환경</a:t>
            </a:r>
            <a:r>
              <a:rPr lang="en-US" altLang="ko-KR">
                <a:solidFill>
                  <a:srgbClr val="0000FF"/>
                </a:solidFill>
              </a:rPr>
              <a:t>(runtime environment</a:t>
            </a:r>
            <a:r>
              <a:rPr lang="en-US" altLang="ko-KR" smtClean="0">
                <a:solidFill>
                  <a:srgbClr val="0000FF"/>
                </a:solidFill>
              </a:rPr>
              <a:t>)</a:t>
            </a:r>
          </a:p>
          <a:p>
            <a:pPr lvl="3"/>
            <a:r>
              <a:rPr lang="ko-KR" altLang="en-US" smtClean="0"/>
              <a:t>프로그램이 </a:t>
            </a:r>
            <a:r>
              <a:rPr lang="ko-KR" altLang="en-US"/>
              <a:t>실행되는 동안 필요한 </a:t>
            </a:r>
            <a:r>
              <a:rPr lang="ko-KR" altLang="en-US" u="sng">
                <a:solidFill>
                  <a:srgbClr val="FF0000"/>
                </a:solidFill>
              </a:rPr>
              <a:t>모든 요소와 리소스를 포함하는 </a:t>
            </a:r>
            <a:r>
              <a:rPr lang="ko-KR" altLang="en-US" u="sng" smtClean="0">
                <a:solidFill>
                  <a:srgbClr val="FF0000"/>
                </a:solidFill>
              </a:rPr>
              <a:t>환경</a:t>
            </a:r>
            <a:endParaRPr lang="en-US" altLang="ko-KR" u="sng" smtClean="0">
              <a:solidFill>
                <a:srgbClr val="FF0000"/>
              </a:solidFill>
            </a:endParaRPr>
          </a:p>
          <a:p>
            <a:pPr lvl="3"/>
            <a:r>
              <a:rPr lang="en-US" altLang="ko-KR" smtClean="0"/>
              <a:t>javascript</a:t>
            </a:r>
            <a:r>
              <a:rPr lang="ko-KR" altLang="en-US"/>
              <a:t>를 예로 </a:t>
            </a:r>
            <a:r>
              <a:rPr lang="ko-KR" altLang="en-US" smtClean="0"/>
              <a:t>들면 </a:t>
            </a:r>
            <a:r>
              <a:rPr lang="ko-KR" altLang="en-US" u="sng" smtClean="0"/>
              <a:t>브라우져에서 </a:t>
            </a:r>
            <a:r>
              <a:rPr lang="ko-KR" altLang="en-US" u="sng"/>
              <a:t>실행되면 런타임 환경은 </a:t>
            </a:r>
            <a:r>
              <a:rPr lang="ko-KR" altLang="en-US" u="sng" smtClean="0"/>
              <a:t>브라우저이며 </a:t>
            </a:r>
            <a:r>
              <a:rPr lang="en-US" altLang="ko-KR" u="sng" smtClean="0">
                <a:solidFill>
                  <a:srgbClr val="006600"/>
                </a:solidFill>
              </a:rPr>
              <a:t>node.js</a:t>
            </a:r>
            <a:r>
              <a:rPr lang="ko-KR" altLang="en-US" u="sng">
                <a:solidFill>
                  <a:srgbClr val="006600"/>
                </a:solidFill>
              </a:rPr>
              <a:t>에서 실행이 되면 런타임 환경은 </a:t>
            </a:r>
            <a:r>
              <a:rPr lang="en-US" altLang="ko-KR" u="sng">
                <a:solidFill>
                  <a:srgbClr val="006600"/>
                </a:solidFill>
              </a:rPr>
              <a:t>node.js</a:t>
            </a:r>
            <a:r>
              <a:rPr lang="ko-KR" altLang="en-US" u="sng">
                <a:solidFill>
                  <a:srgbClr val="006600"/>
                </a:solidFill>
              </a:rPr>
              <a:t>가 </a:t>
            </a:r>
            <a:r>
              <a:rPr lang="ko-KR" altLang="en-US" u="sng" smtClean="0">
                <a:solidFill>
                  <a:srgbClr val="006600"/>
                </a:solidFill>
              </a:rPr>
              <a:t>되는것임</a:t>
            </a:r>
            <a:endParaRPr lang="en-US" altLang="ko-KR" u="sng" smtClean="0">
              <a:solidFill>
                <a:srgbClr val="006600"/>
              </a:solidFill>
            </a:endParaRPr>
          </a:p>
          <a:p>
            <a:pPr lvl="3"/>
            <a:endParaRPr lang="en-US" altLang="ko-KR" smtClean="0">
              <a:solidFill>
                <a:srgbClr val="006600"/>
              </a:solidFill>
            </a:endParaRPr>
          </a:p>
          <a:p>
            <a:pPr lvl="2"/>
            <a:r>
              <a:rPr lang="ko-KR" altLang="en-US" smtClean="0"/>
              <a:t>웹 </a:t>
            </a:r>
            <a:r>
              <a:rPr lang="ko-KR" altLang="en-US"/>
              <a:t>브라우저 외부에서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자바스크립트 코드를 실행할 수 있게 해주는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플랫폼</a:t>
            </a:r>
            <a:endParaRPr lang="en-US" altLang="ko-KR" smtClean="0">
              <a:solidFill>
                <a:schemeClr val="accent6">
                  <a:lumMod val="75000"/>
                </a:schemeClr>
              </a:solidFill>
            </a:endParaRPr>
          </a:p>
          <a:p>
            <a:pPr lvl="2"/>
            <a:endParaRPr lang="en-US" altLang="ko-KR" smtClean="0"/>
          </a:p>
          <a:p>
            <a:pPr lvl="2"/>
            <a:r>
              <a:rPr lang="en-US" altLang="ko-KR" smtClean="0"/>
              <a:t>Node.js</a:t>
            </a:r>
            <a:r>
              <a:rPr lang="ko-KR" altLang="en-US"/>
              <a:t>는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비동기 이벤트 기반 방식으로 </a:t>
            </a:r>
            <a:r>
              <a:rPr lang="ko-KR" altLang="en-US"/>
              <a:t>작동하여 확장성이 뛰어나고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네트워크 애플리케이션 </a:t>
            </a:r>
            <a:r>
              <a:rPr lang="ko-KR" altLang="en-US"/>
              <a:t>구축에 주로 </a:t>
            </a:r>
            <a:r>
              <a:rPr lang="ko-KR" altLang="en-US" smtClean="0"/>
              <a:t>사용</a:t>
            </a:r>
            <a:endParaRPr lang="en-US" altLang="ko-KR" smtClean="0"/>
          </a:p>
          <a:p>
            <a:pPr lvl="2"/>
            <a:endParaRPr lang="en-US" altLang="ko-KR" smtClean="0"/>
          </a:p>
          <a:p>
            <a:pPr lvl="2"/>
            <a:r>
              <a:rPr lang="ko-KR" altLang="en-US" smtClean="0"/>
              <a:t>특히</a:t>
            </a:r>
            <a:r>
              <a:rPr lang="en-US" altLang="ko-KR"/>
              <a:t>, </a:t>
            </a:r>
            <a:r>
              <a:rPr lang="ko-KR" altLang="en-US"/>
              <a:t>높은 처리 성능과 낮은 메모리 사용량으로 인해 많은 개발자와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기업에서 선호하고 있음</a:t>
            </a:r>
            <a:endParaRPr lang="en-US" altLang="ko-KR" smtClean="0"/>
          </a:p>
        </p:txBody>
      </p:sp>
      <p:sp>
        <p:nvSpPr>
          <p:cNvPr id="4" name="직사각형 3"/>
          <p:cNvSpPr/>
          <p:nvPr/>
        </p:nvSpPr>
        <p:spPr>
          <a:xfrm>
            <a:off x="467544" y="5634194"/>
            <a:ext cx="84969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>Npm(Node </a:t>
            </a:r>
            <a:r>
              <a:rPr lang="en-US" altLang="ko-KR" sz="1200" b="1">
                <a:solidFill>
                  <a:srgbClr val="C00000"/>
                </a:solidFill>
                <a:latin typeface="+mn-ea"/>
              </a:rPr>
              <a:t>Package </a:t>
            </a: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>Manager)</a:t>
            </a:r>
          </a:p>
          <a:p>
            <a:r>
              <a:rPr lang="en-US" altLang="ko-KR" sz="1200" b="1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> - 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자바스크립트 프로그래밍 언어를 위한 </a:t>
            </a:r>
            <a:r>
              <a:rPr lang="ko-KR" altLang="en-US" sz="1200" b="1" smtClean="0">
                <a:solidFill>
                  <a:srgbClr val="C00000"/>
                </a:solidFill>
                <a:latin typeface="+mn-ea"/>
              </a:rPr>
              <a:t>패키지 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관리자</a:t>
            </a:r>
            <a:r>
              <a:rPr lang="en-US" altLang="ko-KR" sz="1200" b="1">
                <a:solidFill>
                  <a:srgbClr val="C00000"/>
                </a:solidFill>
                <a:latin typeface="+mn-ea"/>
              </a:rPr>
              <a:t>(Package Manager</a:t>
            </a: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mtClean="0">
                <a:solidFill>
                  <a:srgbClr val="C00000"/>
                </a:solidFill>
                <a:latin typeface="+mn-ea"/>
              </a:rPr>
              <a:t>이자 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세계에서 가장 큰 소프트웨어 </a:t>
            </a: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/>
            </a:r>
            <a:br>
              <a:rPr lang="en-US" altLang="ko-KR" sz="1200" b="1" smtClean="0">
                <a:solidFill>
                  <a:srgbClr val="C00000"/>
                </a:solidFill>
                <a:latin typeface="+mn-ea"/>
              </a:rPr>
            </a:b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>    </a:t>
            </a:r>
            <a:r>
              <a:rPr lang="ko-KR" altLang="en-US" sz="1200" b="1" smtClean="0">
                <a:solidFill>
                  <a:srgbClr val="C00000"/>
                </a:solidFill>
                <a:latin typeface="+mn-ea"/>
              </a:rPr>
              <a:t>레지스트리</a:t>
            </a:r>
            <a:r>
              <a:rPr lang="en-US" altLang="ko-KR" sz="1200" b="1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저장소</a:t>
            </a: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>)</a:t>
            </a:r>
            <a:endParaRPr lang="en-US" altLang="ko-KR" sz="1200" b="1">
              <a:solidFill>
                <a:srgbClr val="C00000"/>
              </a:solidFill>
              <a:latin typeface="+mn-ea"/>
            </a:endParaRPr>
          </a:p>
          <a:p>
            <a:r>
              <a:rPr lang="ko-KR" altLang="en-US" sz="1200" b="1" smtClean="0">
                <a:solidFill>
                  <a:srgbClr val="C00000"/>
                </a:solidFill>
                <a:latin typeface="+mn-ea"/>
              </a:rPr>
              <a:t>  </a:t>
            </a: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>- </a:t>
            </a:r>
            <a:r>
              <a:rPr lang="ko-KR" altLang="en-US" sz="1200" b="1" smtClean="0">
                <a:solidFill>
                  <a:srgbClr val="C00000"/>
                </a:solidFill>
                <a:latin typeface="+mn-ea"/>
              </a:rPr>
              <a:t>자바스크립트 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런타임 환경인 </a:t>
            </a:r>
            <a:r>
              <a:rPr lang="en-US" altLang="ko-KR" sz="1200" b="1">
                <a:solidFill>
                  <a:srgbClr val="C00000"/>
                </a:solidFill>
                <a:latin typeface="+mn-ea"/>
              </a:rPr>
              <a:t>Node.js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를 설치하면 기본으로 함께 설치되며</a:t>
            </a:r>
            <a:r>
              <a:rPr lang="en-US" altLang="ko-KR" sz="1200" b="1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자바스크립트 생태계에서 </a:t>
            </a: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/>
            </a:r>
            <a:br>
              <a:rPr lang="en-US" altLang="ko-KR" sz="1200" b="1" smtClean="0">
                <a:solidFill>
                  <a:srgbClr val="C00000"/>
                </a:solidFill>
                <a:latin typeface="+mn-ea"/>
              </a:rPr>
            </a:br>
            <a:r>
              <a:rPr lang="en-US" altLang="ko-KR" sz="1200" b="1" smtClean="0">
                <a:solidFill>
                  <a:srgbClr val="C00000"/>
                </a:solidFill>
                <a:latin typeface="+mn-ea"/>
              </a:rPr>
              <a:t>    </a:t>
            </a:r>
            <a:r>
              <a:rPr lang="ko-KR" altLang="en-US" sz="1200" b="1" smtClean="0">
                <a:solidFill>
                  <a:srgbClr val="C00000"/>
                </a:solidFill>
                <a:latin typeface="+mn-ea"/>
              </a:rPr>
              <a:t>라이브러리 </a:t>
            </a:r>
            <a:r>
              <a:rPr lang="ko-KR" altLang="en-US" sz="1200" b="1">
                <a:solidFill>
                  <a:srgbClr val="C00000"/>
                </a:solidFill>
                <a:latin typeface="+mn-ea"/>
              </a:rPr>
              <a:t>및 모듈을 설치하고 관리하는 데 필수적인 </a:t>
            </a:r>
            <a:r>
              <a:rPr lang="ko-KR" altLang="en-US" sz="1200" b="1" smtClean="0">
                <a:solidFill>
                  <a:srgbClr val="C00000"/>
                </a:solidFill>
                <a:latin typeface="+mn-ea"/>
              </a:rPr>
              <a:t>도구</a:t>
            </a:r>
            <a:endParaRPr lang="en-US" altLang="ko-KR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055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Node.js </a:t>
            </a:r>
            <a:r>
              <a:rPr lang="ko-KR" altLang="en-US"/>
              <a:t>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Node.js </a:t>
            </a:r>
            <a:r>
              <a:rPr lang="ko-KR" altLang="en-US" smtClean="0">
                <a:solidFill>
                  <a:srgbClr val="C00000"/>
                </a:solidFill>
              </a:rPr>
              <a:t>설치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 smtClean="0"/>
              <a:t>다운로드</a:t>
            </a:r>
            <a:endParaRPr lang="en-US" altLang="ko-KR" smtClean="0"/>
          </a:p>
          <a:p>
            <a:pPr lvl="2"/>
            <a:r>
              <a:rPr lang="en-US" altLang="ko-KR" smtClean="0">
                <a:hlinkClick r:id="rId2"/>
              </a:rPr>
              <a:t>https</a:t>
            </a:r>
            <a:r>
              <a:rPr lang="en-US" altLang="ko-KR">
                <a:hlinkClick r:id="rId2"/>
              </a:rPr>
              <a:t>://nodejs.org/ko/download</a:t>
            </a:r>
            <a:r>
              <a:rPr lang="en-US" altLang="ko-KR" smtClean="0">
                <a:hlinkClick r:id="rId2"/>
              </a:rPr>
              <a:t>/</a:t>
            </a:r>
            <a:endParaRPr lang="en-US" altLang="ko-KR" smtClean="0"/>
          </a:p>
          <a:p>
            <a:pPr lvl="2"/>
            <a:r>
              <a:rPr lang="en-US" altLang="ko-KR">
                <a:hlinkClick r:id="rId3"/>
              </a:rPr>
              <a:t>https://nodejs.org/download/release/v14.16.0/</a:t>
            </a:r>
            <a:endParaRPr lang="en-US" altLang="ko-K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4794818" cy="1711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002" y="4533991"/>
            <a:ext cx="6768752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30" y="5805264"/>
            <a:ext cx="7038975" cy="77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480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Node.js </a:t>
            </a:r>
            <a:r>
              <a:rPr lang="ko-KR" altLang="en-US"/>
              <a:t>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Node.js </a:t>
            </a:r>
            <a:r>
              <a:rPr lang="ko-KR" altLang="en-US" smtClean="0">
                <a:solidFill>
                  <a:srgbClr val="C00000"/>
                </a:solidFill>
              </a:rPr>
              <a:t>설치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 smtClean="0">
                <a:solidFill>
                  <a:srgbClr val="0000FF"/>
                </a:solidFill>
              </a:rPr>
              <a:t>설치</a:t>
            </a:r>
            <a:r>
              <a:rPr lang="en-US" altLang="ko-KR" smtClean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420888"/>
            <a:ext cx="2614613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420888"/>
            <a:ext cx="2614613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436296"/>
            <a:ext cx="2614613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581128"/>
            <a:ext cx="2614613" cy="202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581128"/>
            <a:ext cx="2614613" cy="202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765" y="4581128"/>
            <a:ext cx="2581048" cy="202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357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Node.js </a:t>
            </a:r>
            <a:r>
              <a:rPr lang="ko-KR" altLang="en-US"/>
              <a:t>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Node.js </a:t>
            </a:r>
            <a:r>
              <a:rPr lang="ko-KR" altLang="en-US" smtClean="0">
                <a:solidFill>
                  <a:srgbClr val="C00000"/>
                </a:solidFill>
              </a:rPr>
              <a:t>설치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 smtClean="0">
                <a:solidFill>
                  <a:srgbClr val="0000FF"/>
                </a:solidFill>
              </a:rPr>
              <a:t>설치</a:t>
            </a:r>
            <a:r>
              <a:rPr lang="en-US" altLang="ko-KR" smtClean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420888"/>
            <a:ext cx="2614613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420888"/>
            <a:ext cx="2614613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653136"/>
            <a:ext cx="3600400" cy="1877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677339"/>
            <a:ext cx="3600400" cy="1852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296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Node.js </a:t>
            </a:r>
            <a:r>
              <a:rPr lang="ko-KR" altLang="en-US"/>
              <a:t>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Node.js </a:t>
            </a:r>
            <a:r>
              <a:rPr lang="ko-KR" altLang="en-US" smtClean="0">
                <a:solidFill>
                  <a:srgbClr val="C00000"/>
                </a:solidFill>
              </a:rPr>
              <a:t>설치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 smtClean="0">
                <a:solidFill>
                  <a:srgbClr val="0000FF"/>
                </a:solidFill>
              </a:rPr>
              <a:t>설치</a:t>
            </a:r>
            <a:r>
              <a:rPr lang="en-US" altLang="ko-KR" smtClean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285058"/>
            <a:ext cx="7232032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508" y="4725145"/>
            <a:ext cx="3264595" cy="2115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444" y="4774878"/>
            <a:ext cx="3718744" cy="208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857920" y="228505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5"/>
              </a:rPr>
              <a:t>Node.js </a:t>
            </a:r>
            <a:r>
              <a:rPr lang="ko-KR" altLang="en-US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5"/>
              </a:rPr>
              <a:t>설치 후 </a:t>
            </a:r>
            <a:r>
              <a:rPr lang="en-US" altLang="ko-KR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5"/>
              </a:rPr>
              <a:t>npm </a:t>
            </a:r>
            <a:r>
              <a:rPr lang="ko-KR" altLang="en-US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5"/>
              </a:rPr>
              <a:t>명령어 실행되지 않을 때</a:t>
            </a:r>
            <a:r>
              <a:rPr lang="en-US" altLang="ko-KR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5"/>
              </a:rPr>
              <a:t>, </a:t>
            </a:r>
            <a:r>
              <a:rPr lang="ko-KR" altLang="en-US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5"/>
              </a:rPr>
              <a:t>오류 유형</a:t>
            </a:r>
            <a:r>
              <a:rPr lang="en-US" altLang="ko-KR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5"/>
              </a:rPr>
              <a:t>2</a:t>
            </a:r>
            <a:endParaRPr lang="en-US" altLang="ko-KR" sz="1100" b="1">
              <a:solidFill>
                <a:srgbClr val="C00000"/>
              </a:solidFill>
              <a:latin typeface="HY그래픽" panose="02030600000101010101" pitchFamily="18" charset="-127"/>
              <a:ea typeface="HY그래픽" panose="0203060000010101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882988" y="255876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6"/>
              </a:rPr>
              <a:t>nodejs </a:t>
            </a:r>
            <a:r>
              <a:rPr lang="ko-KR" altLang="en-US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6"/>
              </a:rPr>
              <a:t>설치 후 윈도우 </a:t>
            </a:r>
            <a:r>
              <a:rPr lang="en-US" altLang="ko-KR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6"/>
              </a:rPr>
              <a:t>powershell </a:t>
            </a:r>
            <a:r>
              <a:rPr lang="ko-KR" altLang="en-US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6"/>
              </a:rPr>
              <a:t>에서 </a:t>
            </a:r>
            <a:r>
              <a:rPr lang="en-US" altLang="ko-KR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6"/>
              </a:rPr>
              <a:t>npm </a:t>
            </a:r>
            <a:r>
              <a:rPr lang="ko-KR" altLang="en-US" sz="1100" b="1">
                <a:solidFill>
                  <a:srgbClr val="C00000"/>
                </a:solidFill>
                <a:latin typeface="HY그래픽" panose="02030600000101010101" pitchFamily="18" charset="-127"/>
                <a:ea typeface="HY그래픽" panose="02030600000101010101" pitchFamily="18" charset="-127"/>
                <a:hlinkClick r:id="rId6"/>
              </a:rPr>
              <a:t>이 안되는 문제</a:t>
            </a:r>
            <a:endParaRPr lang="ko-KR" altLang="en-US" sz="1100" b="1">
              <a:solidFill>
                <a:srgbClr val="C00000"/>
              </a:solidFill>
              <a:latin typeface="HY그래픽" panose="02030600000101010101" pitchFamily="18" charset="-127"/>
              <a:ea typeface="HY그래픽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047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Node.js </a:t>
            </a:r>
            <a:r>
              <a:rPr lang="ko-KR" altLang="en-US"/>
              <a:t>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Node.js </a:t>
            </a:r>
            <a:r>
              <a:rPr lang="ko-KR" altLang="en-US">
                <a:solidFill>
                  <a:srgbClr val="C00000"/>
                </a:solidFill>
              </a:rPr>
              <a:t>설치</a:t>
            </a:r>
            <a:endParaRPr lang="en-US" altLang="ko-KR">
              <a:solidFill>
                <a:srgbClr val="C00000"/>
              </a:solidFill>
            </a:endParaRPr>
          </a:p>
          <a:p>
            <a:pPr lvl="1"/>
            <a:r>
              <a:rPr lang="ko-KR" altLang="en-US">
                <a:solidFill>
                  <a:srgbClr val="0000FF"/>
                </a:solidFill>
              </a:rPr>
              <a:t>설치</a:t>
            </a:r>
            <a:r>
              <a:rPr lang="en-US" altLang="ko-KR">
                <a:solidFill>
                  <a:srgbClr val="0000FF"/>
                </a:solidFill>
              </a:rPr>
              <a:t> </a:t>
            </a:r>
          </a:p>
          <a:p>
            <a:endParaRPr lang="ko-KR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492896"/>
            <a:ext cx="5688632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763688" y="5877272"/>
            <a:ext cx="180020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73771"/>
            <a:ext cx="436245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7020272" y="2924944"/>
            <a:ext cx="648072" cy="1870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088" y="3365653"/>
            <a:ext cx="29241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6588224" y="3695382"/>
            <a:ext cx="1080120" cy="226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323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Node.js </a:t>
            </a:r>
            <a:r>
              <a:rPr lang="ko-KR" altLang="en-US"/>
              <a:t>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Node.js </a:t>
            </a:r>
            <a:r>
              <a:rPr lang="ko-KR" altLang="en-US" smtClean="0">
                <a:solidFill>
                  <a:srgbClr val="C00000"/>
                </a:solidFill>
              </a:rPr>
              <a:t>예제</a:t>
            </a:r>
            <a:endParaRPr lang="en-US" altLang="ko-KR">
              <a:solidFill>
                <a:srgbClr val="C00000"/>
              </a:solidFill>
            </a:endParaRPr>
          </a:p>
          <a:p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750" y="3501008"/>
            <a:ext cx="69627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288" y="2636912"/>
            <a:ext cx="1643661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463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>
                <a:solidFill>
                  <a:srgbClr val="C00000"/>
                </a:solidFill>
              </a:rPr>
              <a:t>Solidity</a:t>
            </a:r>
          </a:p>
          <a:p>
            <a:pPr lvl="1"/>
            <a:r>
              <a:rPr lang="ko-KR" altLang="en-US" smtClean="0">
                <a:solidFill>
                  <a:srgbClr val="0000FF"/>
                </a:solidFill>
              </a:rPr>
              <a:t>이더리움 </a:t>
            </a:r>
            <a:r>
              <a:rPr lang="ko-KR" altLang="en-US">
                <a:solidFill>
                  <a:srgbClr val="0000FF"/>
                </a:solidFill>
              </a:rPr>
              <a:t>블록체인에서 스마트 계약을 작성하고 구현하기 위해 </a:t>
            </a:r>
            <a:r>
              <a:rPr lang="en-US" altLang="ko-KR" smtClean="0">
                <a:solidFill>
                  <a:srgbClr val="0000FF"/>
                </a:solidFill>
              </a:rPr>
              <a:t/>
            </a:r>
            <a:br>
              <a:rPr lang="en-US" altLang="ko-KR" smtClean="0">
                <a:solidFill>
                  <a:srgbClr val="0000FF"/>
                </a:solidFill>
              </a:rPr>
            </a:br>
            <a:r>
              <a:rPr lang="ko-KR" altLang="en-US" smtClean="0">
                <a:solidFill>
                  <a:srgbClr val="0000FF"/>
                </a:solidFill>
              </a:rPr>
              <a:t>만들어진 </a:t>
            </a:r>
            <a:r>
              <a:rPr lang="ko-KR" altLang="en-US">
                <a:solidFill>
                  <a:srgbClr val="0000FF"/>
                </a:solidFill>
              </a:rPr>
              <a:t>객체 지향</a:t>
            </a:r>
            <a:r>
              <a:rPr lang="en-US" altLang="ko-KR">
                <a:solidFill>
                  <a:srgbClr val="0000FF"/>
                </a:solidFill>
              </a:rPr>
              <a:t>, </a:t>
            </a:r>
            <a:r>
              <a:rPr lang="ko-KR" altLang="en-US">
                <a:solidFill>
                  <a:srgbClr val="0000FF"/>
                </a:solidFill>
              </a:rPr>
              <a:t>고급 프로그래밍 </a:t>
            </a:r>
            <a:r>
              <a:rPr lang="ko-KR" altLang="en-US" smtClean="0">
                <a:solidFill>
                  <a:srgbClr val="0000FF"/>
                </a:solidFill>
              </a:rPr>
              <a:t>언어</a:t>
            </a:r>
            <a:endParaRPr lang="en-US" altLang="ko-KR" smtClean="0">
              <a:solidFill>
                <a:srgbClr val="0000FF"/>
              </a:solidFill>
            </a:endParaRPr>
          </a:p>
          <a:p>
            <a:pPr lvl="1"/>
            <a:r>
              <a:rPr lang="ko-KR" altLang="en-US" smtClean="0"/>
              <a:t>이더리움 </a:t>
            </a:r>
            <a:r>
              <a:rPr lang="ko-KR" altLang="en-US">
                <a:solidFill>
                  <a:srgbClr val="FF0000"/>
                </a:solidFill>
              </a:rPr>
              <a:t>가상 머신</a:t>
            </a:r>
            <a:r>
              <a:rPr lang="en-US" altLang="ko-KR">
                <a:solidFill>
                  <a:srgbClr val="FF0000"/>
                </a:solidFill>
              </a:rPr>
              <a:t>(EVM)</a:t>
            </a:r>
            <a:r>
              <a:rPr lang="ko-KR" altLang="en-US">
                <a:solidFill>
                  <a:srgbClr val="FF0000"/>
                </a:solidFill>
              </a:rPr>
              <a:t>에서 </a:t>
            </a:r>
            <a:r>
              <a:rPr lang="ko-KR" altLang="en-US"/>
              <a:t>실행되는 코드를 </a:t>
            </a:r>
            <a:r>
              <a:rPr lang="ko-KR" altLang="en-US" smtClean="0"/>
              <a:t>작성하는데 사용</a:t>
            </a:r>
            <a:endParaRPr lang="en-US" altLang="ko-KR" smtClean="0"/>
          </a:p>
          <a:p>
            <a:pPr lvl="1"/>
            <a:r>
              <a:rPr lang="ko-KR" altLang="en-US"/>
              <a:t>주요 특징 및 용도</a:t>
            </a:r>
          </a:p>
          <a:p>
            <a:pPr lvl="2"/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스마트 계약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개발 </a:t>
            </a:r>
            <a:r>
              <a:rPr lang="en-US" altLang="ko-KR" smtClean="0"/>
              <a:t>- </a:t>
            </a:r>
            <a:r>
              <a:rPr lang="ko-KR" altLang="en-US" smtClean="0"/>
              <a:t>주로 </a:t>
            </a:r>
            <a:r>
              <a:rPr lang="ko-KR" altLang="en-US"/>
              <a:t>분산 애플리케이션</a:t>
            </a:r>
            <a:r>
              <a:rPr lang="en-US" altLang="ko-KR"/>
              <a:t>(dApps)</a:t>
            </a:r>
            <a:r>
              <a:rPr lang="ko-KR" altLang="en-US"/>
              <a:t>의 </a:t>
            </a:r>
            <a:r>
              <a:rPr lang="ko-KR" altLang="en-US" u="sng"/>
              <a:t>백엔드 로직을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담당하는 </a:t>
            </a:r>
            <a:r>
              <a:rPr lang="ko-KR" altLang="en-US" u="sng"/>
              <a:t>스마트 계약을 만드는 데 </a:t>
            </a:r>
            <a:r>
              <a:rPr lang="ko-KR" altLang="en-US" u="sng" smtClean="0"/>
              <a:t>사용</a:t>
            </a:r>
            <a:r>
              <a:rPr lang="en-US" altLang="ko-KR" smtClean="0"/>
              <a:t>(</a:t>
            </a:r>
            <a:r>
              <a:rPr lang="ko-KR" altLang="en-US" smtClean="0"/>
              <a:t>스마트 </a:t>
            </a:r>
            <a:r>
              <a:rPr lang="ko-KR" altLang="en-US"/>
              <a:t>계약은 특정 조건이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충족되면 </a:t>
            </a:r>
            <a:r>
              <a:rPr lang="ko-KR" altLang="en-US"/>
              <a:t>자동으로 실행되는 블록체인 기반의 </a:t>
            </a:r>
            <a:r>
              <a:rPr lang="ko-KR" altLang="en-US" smtClean="0"/>
              <a:t>프로그램</a:t>
            </a:r>
            <a:r>
              <a:rPr lang="en-US" altLang="ko-KR" smtClean="0"/>
              <a:t>)</a:t>
            </a:r>
            <a:endParaRPr lang="en-US" altLang="ko-KR"/>
          </a:p>
          <a:p>
            <a:pPr lvl="2"/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문법</a:t>
            </a:r>
            <a:r>
              <a:rPr lang="ko-KR" altLang="en-US" smtClean="0"/>
              <a:t> </a:t>
            </a:r>
            <a:r>
              <a:rPr lang="en-US" altLang="ko-KR" smtClean="0"/>
              <a:t>- </a:t>
            </a:r>
            <a:r>
              <a:rPr lang="en-US" altLang="ko-KR"/>
              <a:t>JavaScript, C++, Python</a:t>
            </a:r>
            <a:r>
              <a:rPr lang="ko-KR" altLang="en-US"/>
              <a:t>과 </a:t>
            </a:r>
            <a:r>
              <a:rPr lang="ko-KR" altLang="en-US" u="sng"/>
              <a:t>유사한 문법을 가지고 있어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기존 </a:t>
            </a:r>
            <a:r>
              <a:rPr lang="ko-KR" altLang="en-US"/>
              <a:t>프로그래밍 언어에 익숙한 개발자가 비교적 쉽게 배울 수 </a:t>
            </a:r>
            <a:r>
              <a:rPr lang="ko-KR" altLang="en-US" smtClean="0"/>
              <a:t>있음</a:t>
            </a:r>
            <a:endParaRPr lang="en-US" altLang="ko-KR"/>
          </a:p>
          <a:p>
            <a:pPr lvl="2"/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정적 타입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언어 </a:t>
            </a:r>
            <a:r>
              <a:rPr lang="en-US" altLang="ko-KR" smtClean="0"/>
              <a:t>- </a:t>
            </a:r>
            <a:r>
              <a:rPr lang="ko-KR" altLang="en-US" u="sng"/>
              <a:t>변수의 타입을 명확히 지정해야 하는 </a:t>
            </a:r>
            <a:r>
              <a:rPr lang="ko-KR" altLang="en-US"/>
              <a:t>정적 타입 </a:t>
            </a:r>
            <a:r>
              <a:rPr lang="ko-KR" altLang="en-US" smtClean="0"/>
              <a:t>언어</a:t>
            </a:r>
            <a:r>
              <a:rPr lang="en-US" altLang="ko-KR" smtClean="0"/>
              <a:t>(</a:t>
            </a:r>
            <a:r>
              <a:rPr lang="ko-KR" altLang="en-US" smtClean="0"/>
              <a:t>이는 </a:t>
            </a:r>
            <a:r>
              <a:rPr lang="ko-KR" altLang="en-US"/>
              <a:t>코드의 안정성을 높이고 잠재적인 오류를 줄이는 데 도움이 </a:t>
            </a:r>
            <a:r>
              <a:rPr lang="ko-KR" altLang="en-US" smtClean="0"/>
              <a:t>됨</a:t>
            </a:r>
            <a:r>
              <a:rPr lang="en-US" altLang="ko-KR" smtClean="0"/>
              <a:t>)</a:t>
            </a:r>
            <a:endParaRPr lang="en-US" altLang="ko-KR"/>
          </a:p>
          <a:p>
            <a:pPr lvl="2"/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실행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환경 </a:t>
            </a:r>
            <a:r>
              <a:rPr lang="en-US" altLang="ko-KR" smtClean="0"/>
              <a:t>- </a:t>
            </a:r>
            <a:r>
              <a:rPr lang="en-US" altLang="ko-KR"/>
              <a:t>Solidity</a:t>
            </a:r>
            <a:r>
              <a:rPr lang="ko-KR" altLang="en-US"/>
              <a:t>로 작성된 코드는 </a:t>
            </a:r>
            <a:r>
              <a:rPr lang="ko-KR" altLang="en-US" u="sng"/>
              <a:t>컴파일러를 통해 </a:t>
            </a:r>
            <a:r>
              <a:rPr lang="en-US" altLang="ko-KR" u="sng"/>
              <a:t>EVM</a:t>
            </a:r>
            <a:r>
              <a:rPr lang="ko-KR" altLang="en-US" u="sng"/>
              <a:t>이 이해할 수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있는 </a:t>
            </a:r>
            <a:r>
              <a:rPr lang="ko-KR" altLang="en-US" u="sng"/>
              <a:t>바이트코드로 </a:t>
            </a:r>
            <a:r>
              <a:rPr lang="ko-KR" altLang="en-US" u="sng" smtClean="0"/>
              <a:t>변환</a:t>
            </a:r>
            <a:r>
              <a:rPr lang="en-US" altLang="ko-KR" smtClean="0"/>
              <a:t>(</a:t>
            </a:r>
            <a:r>
              <a:rPr lang="ko-KR" altLang="en-US" smtClean="0"/>
              <a:t>이 </a:t>
            </a:r>
            <a:r>
              <a:rPr lang="ko-KR" altLang="en-US"/>
              <a:t>바이트코드가 이더리움 블록체인에 배포되고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네트워크 </a:t>
            </a:r>
            <a:r>
              <a:rPr lang="ko-KR" altLang="en-US"/>
              <a:t>노드에 의해 </a:t>
            </a:r>
            <a:r>
              <a:rPr lang="ko-KR" altLang="en-US" smtClean="0"/>
              <a:t>실행됨</a:t>
            </a:r>
            <a:r>
              <a:rPr lang="en-US" altLang="ko-KR" smtClean="0"/>
              <a:t>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421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C00000"/>
                </a:solidFill>
              </a:rPr>
              <a:t>Solidity </a:t>
            </a:r>
            <a:r>
              <a:rPr lang="ko-KR" altLang="en-US">
                <a:solidFill>
                  <a:srgbClr val="C00000"/>
                </a:solidFill>
              </a:rPr>
              <a:t>설치 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ko-KR" altLang="en-US" smtClean="0"/>
              <a:t>스마트 </a:t>
            </a:r>
            <a:r>
              <a:rPr lang="ko-KR" altLang="en-US"/>
              <a:t>계약은 </a:t>
            </a:r>
            <a:r>
              <a:rPr lang="en-US" altLang="ko-KR" smtClean="0"/>
              <a:t>Solidity </a:t>
            </a:r>
            <a:r>
              <a:rPr lang="ko-KR" altLang="en-US"/>
              <a:t>또는 </a:t>
            </a:r>
            <a:r>
              <a:rPr lang="en-US" altLang="ko-KR" smtClean="0"/>
              <a:t>Python</a:t>
            </a:r>
            <a:r>
              <a:rPr lang="ko-KR" altLang="en-US" smtClean="0"/>
              <a:t>을 </a:t>
            </a:r>
            <a:r>
              <a:rPr lang="ko-KR" altLang="en-US"/>
              <a:t>닮은 </a:t>
            </a:r>
            <a:r>
              <a:rPr lang="en-US" altLang="ko-KR" smtClean="0"/>
              <a:t>Vyper</a:t>
            </a:r>
            <a:r>
              <a:rPr lang="ko-KR" altLang="en-US" smtClean="0"/>
              <a:t>로 </a:t>
            </a:r>
            <a:r>
              <a:rPr lang="ko-KR" altLang="en-US"/>
              <a:t>구현할 수 </a:t>
            </a:r>
            <a:r>
              <a:rPr lang="ko-KR" altLang="en-US" smtClean="0"/>
              <a:t>있음</a:t>
            </a:r>
            <a:endParaRPr lang="en-US" altLang="ko-KR" smtClean="0"/>
          </a:p>
          <a:p>
            <a:pPr lvl="2"/>
            <a:r>
              <a:rPr lang="en-US" altLang="ko-KR"/>
              <a:t>Vyper(</a:t>
            </a:r>
            <a:r>
              <a:rPr lang="ko-KR" altLang="en-US"/>
              <a:t>바이퍼</a:t>
            </a:r>
            <a:r>
              <a:rPr lang="en-US" altLang="ko-KR" smtClean="0"/>
              <a:t>) -</a:t>
            </a:r>
            <a:r>
              <a:rPr lang="ko-KR" altLang="en-US" smtClean="0"/>
              <a:t> </a:t>
            </a:r>
            <a:r>
              <a:rPr lang="ko-KR" altLang="en-US"/>
              <a:t>이더리움 블록체인 상의 </a:t>
            </a:r>
            <a:r>
              <a:rPr lang="ko-KR" altLang="en-US" u="sng"/>
              <a:t>스마트 계약</a:t>
            </a:r>
            <a:r>
              <a:rPr lang="en-US" altLang="ko-KR" u="sng"/>
              <a:t>(Smart Contract)</a:t>
            </a:r>
            <a:r>
              <a:rPr lang="ko-KR" altLang="en-US" u="sng"/>
              <a:t>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작성을 </a:t>
            </a:r>
            <a:r>
              <a:rPr lang="ko-KR" altLang="en-US" u="sng"/>
              <a:t>위해 특별히 설계된 계약 지향</a:t>
            </a:r>
            <a:r>
              <a:rPr lang="en-US" altLang="ko-KR" u="sng"/>
              <a:t>(Contract-Oriented) </a:t>
            </a:r>
            <a:r>
              <a:rPr lang="ko-KR" altLang="en-US" u="sng"/>
              <a:t>프로그래밍 언어</a:t>
            </a:r>
            <a:endParaRPr lang="en-US" altLang="ko-KR" u="sng" smtClean="0"/>
          </a:p>
          <a:p>
            <a:pPr lvl="1"/>
            <a:r>
              <a:rPr lang="ko-KR" altLang="en-US" smtClean="0"/>
              <a:t>직접 </a:t>
            </a:r>
            <a:r>
              <a:rPr lang="en-US" altLang="ko-KR"/>
              <a:t>"</a:t>
            </a:r>
            <a:r>
              <a:rPr lang="ko-KR" altLang="en-US"/>
              <a:t>설치</a:t>
            </a:r>
            <a:r>
              <a:rPr lang="en-US" altLang="ko-KR"/>
              <a:t>"</a:t>
            </a:r>
            <a:r>
              <a:rPr lang="ko-KR" altLang="en-US"/>
              <a:t>하는 것은 일반적으로 </a:t>
            </a:r>
            <a:r>
              <a:rPr lang="en-US" altLang="ko-KR">
                <a:solidFill>
                  <a:srgbClr val="0000FF"/>
                </a:solidFill>
              </a:rPr>
              <a:t>Solidity </a:t>
            </a:r>
            <a:r>
              <a:rPr lang="ko-KR" altLang="en-US">
                <a:solidFill>
                  <a:srgbClr val="0000FF"/>
                </a:solidFill>
              </a:rPr>
              <a:t>컴파일러인 </a:t>
            </a:r>
            <a:r>
              <a:rPr lang="en-US" altLang="ko-KR" smtClean="0">
                <a:solidFill>
                  <a:srgbClr val="FF0000"/>
                </a:solidFill>
              </a:rPr>
              <a:t>solc</a:t>
            </a:r>
            <a:r>
              <a:rPr lang="ko-KR" altLang="en-US" smtClean="0">
                <a:solidFill>
                  <a:srgbClr val="0000FF"/>
                </a:solidFill>
              </a:rPr>
              <a:t>를 </a:t>
            </a:r>
            <a:r>
              <a:rPr lang="en-US" altLang="ko-KR" smtClean="0">
                <a:solidFill>
                  <a:srgbClr val="0000FF"/>
                </a:solidFill>
              </a:rPr>
              <a:t/>
            </a:r>
            <a:br>
              <a:rPr lang="en-US" altLang="ko-KR" smtClean="0">
                <a:solidFill>
                  <a:srgbClr val="0000FF"/>
                </a:solidFill>
              </a:rPr>
            </a:br>
            <a:r>
              <a:rPr lang="ko-KR" altLang="en-US" smtClean="0">
                <a:solidFill>
                  <a:srgbClr val="0000FF"/>
                </a:solidFill>
              </a:rPr>
              <a:t>설치하는 </a:t>
            </a:r>
            <a:r>
              <a:rPr lang="ko-KR" altLang="en-US">
                <a:solidFill>
                  <a:srgbClr val="0000FF"/>
                </a:solidFill>
              </a:rPr>
              <a:t>것을 </a:t>
            </a:r>
            <a:r>
              <a:rPr lang="ko-KR" altLang="en-US" smtClean="0">
                <a:solidFill>
                  <a:srgbClr val="0000FF"/>
                </a:solidFill>
              </a:rPr>
              <a:t>의미</a:t>
            </a:r>
            <a:endParaRPr lang="en-US" altLang="ko-KR" smtClean="0">
              <a:solidFill>
                <a:srgbClr val="0000FF"/>
              </a:solidFill>
            </a:endParaRPr>
          </a:p>
          <a:p>
            <a:pPr lvl="1"/>
            <a:r>
              <a:rPr lang="en-US" altLang="ko-KR" smtClean="0">
                <a:solidFill>
                  <a:srgbClr val="0000FF"/>
                </a:solidFill>
              </a:rPr>
              <a:t>0.8</a:t>
            </a:r>
            <a:r>
              <a:rPr lang="en-US" altLang="ko-KR">
                <a:solidFill>
                  <a:srgbClr val="0000FF"/>
                </a:solidFill>
              </a:rPr>
              <a:t>. </a:t>
            </a:r>
            <a:r>
              <a:rPr lang="en-US" altLang="ko-KR" smtClean="0">
                <a:solidFill>
                  <a:srgbClr val="0000FF"/>
                </a:solidFill>
              </a:rPr>
              <a:t>x</a:t>
            </a:r>
            <a:r>
              <a:rPr lang="ko-KR" altLang="en-US" smtClean="0">
                <a:solidFill>
                  <a:srgbClr val="0000FF"/>
                </a:solidFill>
              </a:rPr>
              <a:t>대의 </a:t>
            </a:r>
            <a:r>
              <a:rPr lang="ko-KR" altLang="en-US">
                <a:solidFill>
                  <a:srgbClr val="0000FF"/>
                </a:solidFill>
              </a:rPr>
              <a:t>버전을 </a:t>
            </a:r>
            <a:r>
              <a:rPr lang="ko-KR" altLang="en-US" smtClean="0">
                <a:solidFill>
                  <a:srgbClr val="0000FF"/>
                </a:solidFill>
              </a:rPr>
              <a:t>사용</a:t>
            </a:r>
            <a:r>
              <a:rPr lang="en-US" altLang="ko-KR" smtClean="0">
                <a:solidFill>
                  <a:srgbClr val="0000FF"/>
                </a:solidFill>
              </a:rPr>
              <a:t>(</a:t>
            </a:r>
            <a:r>
              <a:rPr lang="ko-KR" altLang="en-US" smtClean="0">
                <a:solidFill>
                  <a:srgbClr val="0000FF"/>
                </a:solidFill>
              </a:rPr>
              <a:t>실습 시</a:t>
            </a:r>
            <a:r>
              <a:rPr lang="en-US" altLang="ko-KR" smtClean="0">
                <a:solidFill>
                  <a:srgbClr val="0000FF"/>
                </a:solidFill>
              </a:rPr>
              <a:t>)</a:t>
            </a:r>
          </a:p>
          <a:p>
            <a:pPr lvl="2"/>
            <a:r>
              <a:rPr lang="ko-KR" altLang="en-US" smtClean="0"/>
              <a:t>아직 </a:t>
            </a:r>
            <a:r>
              <a:rPr lang="ko-KR" altLang="en-US"/>
              <a:t>솔리디티 언어는 발전하고 </a:t>
            </a:r>
            <a:r>
              <a:rPr lang="ko-KR" altLang="en-US" smtClean="0"/>
              <a:t>있으며</a:t>
            </a:r>
            <a:r>
              <a:rPr lang="en-US" altLang="ko-KR" smtClean="0"/>
              <a:t> </a:t>
            </a:r>
            <a:r>
              <a:rPr lang="ko-KR" altLang="en-US" u="sng"/>
              <a:t>최신 버전을 설치하면 명령어에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차이가 </a:t>
            </a:r>
            <a:r>
              <a:rPr lang="ko-KR" altLang="en-US" u="sng"/>
              <a:t>있을 수 </a:t>
            </a:r>
            <a:r>
              <a:rPr lang="ko-KR" altLang="en-US" u="sng" smtClean="0"/>
              <a:t>있음</a:t>
            </a:r>
            <a:r>
              <a:rPr lang="en-US" altLang="ko-KR" u="sng" smtClean="0"/>
              <a:t>(</a:t>
            </a:r>
            <a:r>
              <a:rPr lang="ko-KR" altLang="en-US" u="sng" smtClean="0"/>
              <a:t>경우에 따라서는 </a:t>
            </a:r>
            <a:r>
              <a:rPr lang="ko-KR" altLang="en-US" u="sng"/>
              <a:t>안정성 문제로</a:t>
            </a:r>
            <a:r>
              <a:rPr lang="ko-KR" altLang="en-US"/>
              <a:t> 낮은 버전 </a:t>
            </a:r>
            <a:r>
              <a:rPr lang="en-US" altLang="ko-KR"/>
              <a:t>0.5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또는 </a:t>
            </a:r>
            <a:r>
              <a:rPr lang="en-US" altLang="ko-KR"/>
              <a:t>0.4.25</a:t>
            </a:r>
            <a:r>
              <a:rPr lang="ko-KR" altLang="en-US"/>
              <a:t>를 설치하여 사용하기도 </a:t>
            </a:r>
            <a:r>
              <a:rPr lang="ko-KR" altLang="en-US" smtClean="0"/>
              <a:t>함</a:t>
            </a:r>
            <a:r>
              <a:rPr lang="en-US" altLang="ko-KR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2371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Solidity </a:t>
            </a:r>
            <a:r>
              <a:rPr lang="ko-KR" altLang="en-US">
                <a:solidFill>
                  <a:srgbClr val="C00000"/>
                </a:solidFill>
              </a:rPr>
              <a:t>설치 </a:t>
            </a:r>
            <a:endParaRPr lang="en-US" altLang="ko-KR">
              <a:solidFill>
                <a:srgbClr val="C00000"/>
              </a:solidFill>
            </a:endParaRPr>
          </a:p>
          <a:p>
            <a:pPr lvl="1"/>
            <a:r>
              <a:rPr lang="en-US" altLang="ko-KR" smtClean="0">
                <a:solidFill>
                  <a:srgbClr val="0000FF"/>
                </a:solidFill>
              </a:rPr>
              <a:t>(1</a:t>
            </a:r>
            <a:r>
              <a:rPr lang="en-US" altLang="ko-KR">
                <a:solidFill>
                  <a:srgbClr val="0000FF"/>
                </a:solidFill>
              </a:rPr>
              <a:t>) </a:t>
            </a:r>
            <a:r>
              <a:rPr lang="en-US" altLang="ko-KR">
                <a:solidFill>
                  <a:srgbClr val="0000FF"/>
                </a:solidFill>
                <a:hlinkClick r:id="rId2"/>
              </a:rPr>
              <a:t>https://github.com/argotorg/solidity/releases</a:t>
            </a:r>
            <a:endParaRPr lang="en-US" altLang="ko-KR" smtClean="0">
              <a:solidFill>
                <a:srgbClr val="0000FF"/>
              </a:solidFill>
            </a:endParaRPr>
          </a:p>
          <a:p>
            <a:pPr lvl="2"/>
            <a:r>
              <a:rPr lang="ko-KR" altLang="en-US" smtClean="0"/>
              <a:t>특정 </a:t>
            </a:r>
            <a:r>
              <a:rPr lang="ko-KR" altLang="en-US"/>
              <a:t>버전을 원한다면 좌 상단의  ‘ </a:t>
            </a:r>
            <a:r>
              <a:rPr lang="en-US" altLang="ko-KR"/>
              <a:t>Tags ’ </a:t>
            </a:r>
            <a:r>
              <a:rPr lang="ko-KR" altLang="en-US"/>
              <a:t>에서 내려 받을 버전을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선택하여 설치</a:t>
            </a:r>
            <a:endParaRPr lang="en-US" altLang="ko-KR" smtClean="0"/>
          </a:p>
          <a:p>
            <a:pPr lvl="2"/>
            <a:r>
              <a:rPr lang="ko-KR" altLang="en-US" smtClean="0"/>
              <a:t>버전 </a:t>
            </a:r>
            <a:r>
              <a:rPr lang="en-US" altLang="ko-KR"/>
              <a:t>0.7.2</a:t>
            </a:r>
            <a:r>
              <a:rPr lang="ko-KR" altLang="en-US"/>
              <a:t>부터 실행파일을 한 </a:t>
            </a:r>
            <a:r>
              <a:rPr lang="ko-KR" altLang="en-US" smtClean="0"/>
              <a:t>개만 </a:t>
            </a:r>
            <a:r>
              <a:rPr lang="ko-KR" altLang="en-US"/>
              <a:t>제공하므로</a:t>
            </a:r>
            <a:r>
              <a:rPr lang="en-US" altLang="ko-KR"/>
              <a:t>, </a:t>
            </a:r>
            <a:r>
              <a:rPr lang="ko-KR" altLang="en-US"/>
              <a:t>솔리디티 파일을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다운로드 </a:t>
            </a:r>
            <a:r>
              <a:rPr lang="ko-KR" altLang="en-US"/>
              <a:t>받아 적절한 </a:t>
            </a:r>
            <a:r>
              <a:rPr lang="ko-KR" altLang="en-US" smtClean="0"/>
              <a:t>경로를 </a:t>
            </a:r>
            <a:r>
              <a:rPr lang="ko-KR" altLang="en-US"/>
              <a:t>생성해서 저장하기만 </a:t>
            </a:r>
            <a:r>
              <a:rPr lang="ko-KR" altLang="en-US" smtClean="0"/>
              <a:t>하면됨</a:t>
            </a:r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93" y="3645024"/>
            <a:ext cx="6197135" cy="2719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645024"/>
            <a:ext cx="3157296" cy="276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123125" y="3656041"/>
            <a:ext cx="504056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H="1">
            <a:off x="2555776" y="4016081"/>
            <a:ext cx="3819377" cy="200520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735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Solidity </a:t>
            </a:r>
            <a:r>
              <a:rPr lang="ko-KR" altLang="en-US">
                <a:solidFill>
                  <a:srgbClr val="C00000"/>
                </a:solidFill>
              </a:rPr>
              <a:t>설치 </a:t>
            </a:r>
            <a:endParaRPr lang="en-US" altLang="ko-KR">
              <a:solidFill>
                <a:srgbClr val="C00000"/>
              </a:solidFill>
            </a:endParaRPr>
          </a:p>
          <a:p>
            <a:pPr lvl="1"/>
            <a:r>
              <a:rPr lang="en-US" altLang="ko-KR">
                <a:solidFill>
                  <a:srgbClr val="0000FF"/>
                </a:solidFill>
              </a:rPr>
              <a:t>(1) </a:t>
            </a:r>
            <a:r>
              <a:rPr lang="en-US" altLang="ko-KR">
                <a:solidFill>
                  <a:srgbClr val="0000FF"/>
                </a:solidFill>
                <a:hlinkClick r:id="rId2"/>
              </a:rPr>
              <a:t>https://github.com/argotorg/solidity/releases</a:t>
            </a:r>
            <a:endParaRPr lang="en-US" altLang="ko-KR">
              <a:solidFill>
                <a:srgbClr val="0000FF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74" y="3573016"/>
            <a:ext cx="8048228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92896"/>
            <a:ext cx="6264696" cy="741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71600" y="4797152"/>
            <a:ext cx="784887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153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Solidity </a:t>
            </a:r>
            <a:r>
              <a:rPr lang="ko-KR" altLang="en-US">
                <a:solidFill>
                  <a:srgbClr val="C00000"/>
                </a:solidFill>
              </a:rPr>
              <a:t>설치 </a:t>
            </a:r>
            <a:endParaRPr lang="en-US" altLang="ko-KR">
              <a:solidFill>
                <a:srgbClr val="C00000"/>
              </a:solidFill>
            </a:endParaRPr>
          </a:p>
          <a:p>
            <a:pPr lvl="1"/>
            <a:r>
              <a:rPr lang="en-US" altLang="ko-KR">
                <a:solidFill>
                  <a:srgbClr val="0000FF"/>
                </a:solidFill>
              </a:rPr>
              <a:t>(1) </a:t>
            </a:r>
            <a:r>
              <a:rPr lang="en-US" altLang="ko-KR">
                <a:solidFill>
                  <a:srgbClr val="0000FF"/>
                </a:solidFill>
                <a:hlinkClick r:id="rId2"/>
              </a:rPr>
              <a:t>https://github.com/argotorg/solidity/releases</a:t>
            </a:r>
            <a:endParaRPr lang="en-US" altLang="ko-KR">
              <a:solidFill>
                <a:srgbClr val="0000FF"/>
              </a:solidFill>
            </a:endParaRPr>
          </a:p>
          <a:p>
            <a:pPr lvl="2"/>
            <a:r>
              <a:rPr lang="en-US" altLang="ko-KR" smtClean="0"/>
              <a:t>0.7.2 </a:t>
            </a:r>
            <a:r>
              <a:rPr lang="ko-KR" altLang="en-US"/>
              <a:t>이전 버전은 </a:t>
            </a:r>
            <a:r>
              <a:rPr lang="ko-KR" altLang="en-US" u="sng"/>
              <a:t>압축 파일로 </a:t>
            </a:r>
            <a:r>
              <a:rPr lang="ko-KR" altLang="en-US" u="sng" smtClean="0"/>
              <a:t>제공하기 때문에 적절한 </a:t>
            </a:r>
            <a:r>
              <a:rPr lang="ko-KR" altLang="en-US" u="sng"/>
              <a:t>경로에 </a:t>
            </a:r>
            <a:r>
              <a:rPr lang="ko-KR" altLang="en-US" u="sng" smtClean="0"/>
              <a:t>압축을 </a:t>
            </a:r>
            <a:r>
              <a:rPr lang="en-US" altLang="ko-KR" u="sng" smtClean="0"/>
              <a:t/>
            </a:r>
            <a:br>
              <a:rPr lang="en-US" altLang="ko-KR" u="sng" smtClean="0"/>
            </a:br>
            <a:r>
              <a:rPr lang="ko-KR" altLang="en-US" u="sng" smtClean="0"/>
              <a:t>풀면 됨</a:t>
            </a:r>
            <a:endParaRPr lang="en-US" altLang="ko-KR" u="sng" smtClean="0"/>
          </a:p>
          <a:p>
            <a:pPr lvl="3"/>
            <a:r>
              <a:rPr lang="en-US" altLang="ko-KR" smtClean="0">
                <a:solidFill>
                  <a:srgbClr val="FF0000"/>
                </a:solidFill>
              </a:rPr>
              <a:t>C :\Program Files\solidity-windows</a:t>
            </a:r>
            <a:r>
              <a:rPr lang="ko-KR" altLang="en-US" smtClean="0">
                <a:solidFill>
                  <a:srgbClr val="FF0000"/>
                </a:solidFill>
              </a:rPr>
              <a:t>에 </a:t>
            </a:r>
            <a:r>
              <a:rPr lang="en-US" altLang="ko-KR" smtClean="0">
                <a:solidFill>
                  <a:srgbClr val="FF0000"/>
                </a:solidFill>
              </a:rPr>
              <a:t>Solidity </a:t>
            </a:r>
            <a:r>
              <a:rPr lang="ko-KR" altLang="en-US" smtClean="0">
                <a:solidFill>
                  <a:srgbClr val="FF0000"/>
                </a:solidFill>
              </a:rPr>
              <a:t>컴파일러를 설치</a:t>
            </a:r>
            <a:endParaRPr lang="en-US" altLang="ko-KR" smtClean="0">
              <a:solidFill>
                <a:srgbClr val="FF0000"/>
              </a:solidFill>
            </a:endParaRPr>
          </a:p>
          <a:p>
            <a:pPr lvl="3"/>
            <a:r>
              <a:rPr lang="ko-KR" altLang="en-US" smtClean="0">
                <a:solidFill>
                  <a:srgbClr val="FF0000"/>
                </a:solidFill>
              </a:rPr>
              <a:t>환경변수의  </a:t>
            </a:r>
            <a:r>
              <a:rPr lang="ko-KR" altLang="en-US">
                <a:solidFill>
                  <a:srgbClr val="FF0000"/>
                </a:solidFill>
              </a:rPr>
              <a:t>‘ </a:t>
            </a:r>
            <a:r>
              <a:rPr lang="en-US" altLang="ko-KR">
                <a:solidFill>
                  <a:srgbClr val="FF0000"/>
                </a:solidFill>
              </a:rPr>
              <a:t>Path ’ </a:t>
            </a:r>
            <a:r>
              <a:rPr lang="ko-KR" altLang="en-US">
                <a:solidFill>
                  <a:srgbClr val="FF0000"/>
                </a:solidFill>
              </a:rPr>
              <a:t>에 </a:t>
            </a:r>
            <a:r>
              <a:rPr lang="ko-KR" altLang="en-US" smtClean="0">
                <a:solidFill>
                  <a:srgbClr val="FF0000"/>
                </a:solidFill>
              </a:rPr>
              <a:t>추가</a:t>
            </a:r>
            <a:endParaRPr lang="en-US" altLang="ko-KR" smtClean="0">
              <a:solidFill>
                <a:srgbClr val="FF0000"/>
              </a:solidFill>
            </a:endParaRPr>
          </a:p>
          <a:p>
            <a:pPr lvl="3"/>
            <a:endParaRPr lang="en-US" altLang="ko-KR">
              <a:solidFill>
                <a:srgbClr val="FF0000"/>
              </a:solidFill>
            </a:endParaRPr>
          </a:p>
          <a:p>
            <a:pPr lvl="3"/>
            <a:endParaRPr lang="en-US" altLang="ko-KR" smtClean="0">
              <a:solidFill>
                <a:srgbClr val="FF0000"/>
              </a:solidFill>
            </a:endParaRPr>
          </a:p>
          <a:p>
            <a:pPr lvl="3"/>
            <a:endParaRPr lang="en-US" altLang="ko-KR" smtClean="0">
              <a:solidFill>
                <a:srgbClr val="FF0000"/>
              </a:solidFill>
            </a:endParaRPr>
          </a:p>
          <a:p>
            <a:pPr lvl="2"/>
            <a:r>
              <a:rPr lang="en-US" altLang="ko-KR" smtClean="0"/>
              <a:t>Python </a:t>
            </a:r>
            <a:r>
              <a:rPr lang="ko-KR" altLang="en-US" smtClean="0"/>
              <a:t>환경에서 </a:t>
            </a:r>
            <a:r>
              <a:rPr lang="ko-KR" altLang="en-US"/>
              <a:t>사용하려면 </a:t>
            </a:r>
            <a:r>
              <a:rPr lang="en-US" altLang="ko-KR" smtClean="0">
                <a:solidFill>
                  <a:srgbClr val="C00000"/>
                </a:solidFill>
              </a:rPr>
              <a:t>pip </a:t>
            </a:r>
            <a:r>
              <a:rPr lang="en-US" altLang="ko-KR">
                <a:solidFill>
                  <a:srgbClr val="C00000"/>
                </a:solidFill>
              </a:rPr>
              <a:t>install </a:t>
            </a:r>
            <a:r>
              <a:rPr lang="en-US" altLang="ko-KR" smtClean="0">
                <a:solidFill>
                  <a:srgbClr val="C00000"/>
                </a:solidFill>
              </a:rPr>
              <a:t>py-solc</a:t>
            </a:r>
            <a:r>
              <a:rPr lang="ko-KR" altLang="en-US" smtClean="0"/>
              <a:t>하여 </a:t>
            </a:r>
            <a:r>
              <a:rPr lang="ko-KR" altLang="en-US"/>
              <a:t>일종의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래퍼</a:t>
            </a:r>
            <a:r>
              <a:rPr lang="en-US" altLang="ko-KR" smtClean="0"/>
              <a:t>(Wrapper -</a:t>
            </a:r>
            <a:r>
              <a:rPr lang="ko-KR" altLang="en-US" b="0" smtClean="0"/>
              <a:t> </a:t>
            </a:r>
            <a:r>
              <a:rPr lang="ko-KR" altLang="en-US" smtClean="0"/>
              <a:t>기존 </a:t>
            </a:r>
            <a:r>
              <a:rPr lang="ko-KR" altLang="en-US"/>
              <a:t>코드를 감싸서 기능을 추가하거나 변경하는 기법</a:t>
            </a:r>
            <a:r>
              <a:rPr lang="en-US" altLang="ko-KR" smtClean="0"/>
              <a:t>)</a:t>
            </a:r>
            <a:r>
              <a:rPr lang="ko-KR" altLang="en-US"/>
              <a:t>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설치</a:t>
            </a:r>
            <a:endParaRPr lang="ko-KR" alt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170463"/>
            <a:ext cx="36004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7321729" y="3407100"/>
            <a:ext cx="965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smtClean="0">
                <a:solidFill>
                  <a:srgbClr val="FF0000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이름 변경</a:t>
            </a:r>
            <a:endParaRPr lang="ko-KR" altLang="en-US" sz="1400" b="1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pic>
        <p:nvPicPr>
          <p:cNvPr id="8" name="Picture 3" descr="C:\Users\signl\Downloads\icons8-물음표-8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4584" y="3909864"/>
            <a:ext cx="2893293" cy="289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243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Solidity </a:t>
            </a:r>
            <a:r>
              <a:rPr lang="ko-KR" altLang="en-US">
                <a:solidFill>
                  <a:srgbClr val="C00000"/>
                </a:solidFill>
              </a:rPr>
              <a:t>설치 </a:t>
            </a:r>
            <a:endParaRPr lang="en-US" altLang="ko-KR">
              <a:solidFill>
                <a:srgbClr val="C00000"/>
              </a:solidFill>
            </a:endParaRPr>
          </a:p>
          <a:p>
            <a:pPr lvl="1"/>
            <a:r>
              <a:rPr lang="en-US" altLang="ko-KR">
                <a:solidFill>
                  <a:srgbClr val="0000FF"/>
                </a:solidFill>
              </a:rPr>
              <a:t>(1) </a:t>
            </a:r>
            <a:r>
              <a:rPr lang="en-US" altLang="ko-KR">
                <a:solidFill>
                  <a:srgbClr val="0000FF"/>
                </a:solidFill>
                <a:hlinkClick r:id="rId2"/>
              </a:rPr>
              <a:t>https://github.com/argotorg/solidity/releases</a:t>
            </a:r>
            <a:endParaRPr lang="en-US" altLang="ko-KR">
              <a:solidFill>
                <a:srgbClr val="0000FF"/>
              </a:solidFill>
            </a:endParaRPr>
          </a:p>
          <a:p>
            <a:endParaRPr lang="ko-KR" alt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77132"/>
            <a:ext cx="5019675" cy="4123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457099"/>
            <a:ext cx="42576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716016" y="4027098"/>
            <a:ext cx="2376264" cy="17593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27584" y="5855238"/>
            <a:ext cx="2293813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330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en-US" altLang="ko-KR">
                <a:solidFill>
                  <a:srgbClr val="C00000"/>
                </a:solidFill>
              </a:rPr>
              <a:t>Solidity </a:t>
            </a:r>
            <a:r>
              <a:rPr lang="ko-KR" altLang="en-US">
                <a:solidFill>
                  <a:srgbClr val="C00000"/>
                </a:solidFill>
              </a:rPr>
              <a:t>설치 </a:t>
            </a:r>
            <a:endParaRPr lang="en-US" altLang="ko-KR">
              <a:solidFill>
                <a:srgbClr val="C00000"/>
              </a:solidFill>
            </a:endParaRPr>
          </a:p>
          <a:p>
            <a:pPr lvl="1"/>
            <a:r>
              <a:rPr lang="en-US" altLang="ko-KR" smtClean="0">
                <a:solidFill>
                  <a:srgbClr val="0000FF"/>
                </a:solidFill>
              </a:rPr>
              <a:t>(2) Node.js</a:t>
            </a:r>
            <a:r>
              <a:rPr lang="ko-KR" altLang="en-US">
                <a:solidFill>
                  <a:srgbClr val="0000FF"/>
                </a:solidFill>
              </a:rPr>
              <a:t>와 </a:t>
            </a:r>
            <a:r>
              <a:rPr lang="en-US" altLang="ko-KR">
                <a:solidFill>
                  <a:srgbClr val="0000FF"/>
                </a:solidFill>
              </a:rPr>
              <a:t>npm</a:t>
            </a:r>
            <a:r>
              <a:rPr lang="ko-KR" altLang="en-US">
                <a:solidFill>
                  <a:srgbClr val="0000FF"/>
                </a:solidFill>
              </a:rPr>
              <a:t>을 이용한 설치</a:t>
            </a:r>
          </a:p>
          <a:p>
            <a:pPr lvl="2"/>
            <a:r>
              <a:rPr lang="ko-KR" altLang="en-US"/>
              <a:t>가장 일반적이고 권장되는 </a:t>
            </a:r>
            <a:r>
              <a:rPr lang="ko-KR" altLang="en-US" smtClean="0"/>
              <a:t>방법</a:t>
            </a:r>
            <a:endParaRPr lang="en-US" altLang="ko-KR" smtClean="0"/>
          </a:p>
          <a:p>
            <a:pPr lvl="2"/>
            <a:r>
              <a:rPr lang="en-US" altLang="ko-KR" u="sng" smtClean="0"/>
              <a:t>Node.js</a:t>
            </a:r>
            <a:r>
              <a:rPr lang="ko-KR" altLang="en-US" u="sng"/>
              <a:t>와 </a:t>
            </a:r>
            <a:r>
              <a:rPr lang="en-US" altLang="ko-KR" u="sng" smtClean="0"/>
              <a:t>npm(Node </a:t>
            </a:r>
            <a:r>
              <a:rPr lang="en-US" altLang="ko-KR" u="sng"/>
              <a:t>Package Manager</a:t>
            </a:r>
            <a:r>
              <a:rPr lang="en-US" altLang="ko-KR" u="sng" smtClean="0"/>
              <a:t>)</a:t>
            </a:r>
            <a:r>
              <a:rPr lang="ko-KR" altLang="en-US" u="sng" smtClean="0"/>
              <a:t>이 </a:t>
            </a:r>
            <a:r>
              <a:rPr lang="ko-KR" altLang="en-US" u="sng"/>
              <a:t>설치되어 </a:t>
            </a:r>
            <a:r>
              <a:rPr lang="ko-KR" altLang="en-US"/>
              <a:t>있어야 </a:t>
            </a:r>
            <a:r>
              <a:rPr lang="ko-KR" altLang="en-US" smtClean="0"/>
              <a:t>함</a:t>
            </a:r>
            <a:endParaRPr lang="en-US" altLang="ko-KR"/>
          </a:p>
          <a:p>
            <a:pPr lvl="2"/>
            <a:r>
              <a:rPr lang="en-US" altLang="ko-KR" u="sng">
                <a:solidFill>
                  <a:schemeClr val="accent6">
                    <a:lumMod val="75000"/>
                  </a:schemeClr>
                </a:solidFill>
              </a:rPr>
              <a:t>Node.js </a:t>
            </a: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설치 </a:t>
            </a:r>
            <a:r>
              <a:rPr lang="en-US" altLang="ko-KR" smtClean="0"/>
              <a:t>- </a:t>
            </a:r>
            <a:r>
              <a:rPr lang="en-US" altLang="ko-KR"/>
              <a:t>Node.js </a:t>
            </a:r>
            <a:r>
              <a:rPr lang="ko-KR" altLang="en-US"/>
              <a:t>공식 웹사이트</a:t>
            </a:r>
            <a:r>
              <a:rPr lang="en-US" altLang="ko-KR"/>
              <a:t>(</a:t>
            </a:r>
            <a:r>
              <a:rPr lang="en-US" altLang="ko-KR">
                <a:hlinkClick r:id="rId2"/>
              </a:rPr>
              <a:t>https://nodejs.org/</a:t>
            </a:r>
            <a:r>
              <a:rPr lang="en-US" altLang="ko-KR"/>
              <a:t>)</a:t>
            </a:r>
            <a:r>
              <a:rPr lang="ko-KR" altLang="en-US"/>
              <a:t>에서 </a:t>
            </a:r>
            <a:r>
              <a:rPr lang="ko-KR" altLang="en-US" smtClean="0"/>
              <a:t>윈도우용 </a:t>
            </a:r>
            <a:r>
              <a:rPr lang="ko-KR" altLang="en-US"/>
              <a:t>설치 파일을 다운로드하여 </a:t>
            </a:r>
            <a:r>
              <a:rPr lang="ko-KR" altLang="en-US" smtClean="0"/>
              <a:t>설치</a:t>
            </a:r>
            <a:endParaRPr lang="en-US" altLang="ko-KR"/>
          </a:p>
          <a:p>
            <a:pPr lvl="2"/>
            <a:r>
              <a:rPr lang="en-US" altLang="ko-KR" u="sng">
                <a:solidFill>
                  <a:schemeClr val="accent6">
                    <a:lumMod val="75000"/>
                  </a:schemeClr>
                </a:solidFill>
              </a:rPr>
              <a:t>Solidity </a:t>
            </a:r>
            <a:r>
              <a:rPr lang="ko-KR" altLang="en-US" u="sng">
                <a:solidFill>
                  <a:schemeClr val="accent6">
                    <a:lumMod val="75000"/>
                  </a:schemeClr>
                </a:solidFill>
              </a:rPr>
              <a:t>컴파일러 </a:t>
            </a: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설치 </a:t>
            </a:r>
            <a:r>
              <a:rPr lang="en-US" altLang="ko-KR" smtClean="0"/>
              <a:t>- </a:t>
            </a:r>
            <a:r>
              <a:rPr lang="ko-KR" altLang="en-US"/>
              <a:t>터미널</a:t>
            </a:r>
            <a:r>
              <a:rPr lang="en-US" altLang="ko-KR"/>
              <a:t>(</a:t>
            </a:r>
            <a:r>
              <a:rPr lang="ko-KR" altLang="en-US"/>
              <a:t>명령 프롬프트</a:t>
            </a:r>
            <a:r>
              <a:rPr lang="en-US" altLang="ko-KR"/>
              <a:t>, PowerShell, </a:t>
            </a:r>
            <a:r>
              <a:rPr lang="ko-KR" altLang="en-US"/>
              <a:t>또는 </a:t>
            </a:r>
            <a:r>
              <a:rPr lang="en-US" altLang="ko-KR"/>
              <a:t>Terminal)</a:t>
            </a:r>
            <a:r>
              <a:rPr lang="ko-KR" altLang="en-US"/>
              <a:t>을 열고 다음 명령어를 </a:t>
            </a:r>
            <a:r>
              <a:rPr lang="ko-KR" altLang="en-US" smtClean="0"/>
              <a:t>입력</a:t>
            </a:r>
            <a:endParaRPr lang="en-US" altLang="ko-KR" smtClean="0"/>
          </a:p>
          <a:p>
            <a:pPr lvl="3"/>
            <a:r>
              <a:rPr lang="en-US" altLang="ko-KR"/>
              <a:t>solc</a:t>
            </a:r>
            <a:r>
              <a:rPr lang="ko-KR" altLang="en-US"/>
              <a:t>는 전역</a:t>
            </a:r>
            <a:r>
              <a:rPr lang="en-US" altLang="ko-KR"/>
              <a:t>(global)</a:t>
            </a:r>
            <a:r>
              <a:rPr lang="ko-KR" altLang="en-US"/>
              <a:t>으로 설치되어</a:t>
            </a:r>
            <a:r>
              <a:rPr lang="en-US" altLang="ko-KR"/>
              <a:t>, </a:t>
            </a:r>
            <a:r>
              <a:rPr lang="ko-KR" altLang="en-US"/>
              <a:t>어느 디렉토리에서든 </a:t>
            </a:r>
            <a:r>
              <a:rPr lang="en-US" altLang="ko-KR"/>
              <a:t>solidity </a:t>
            </a:r>
            <a:r>
              <a:rPr lang="ko-KR" altLang="en-US"/>
              <a:t>컴파일러를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사용할 </a:t>
            </a:r>
            <a:r>
              <a:rPr lang="ko-KR" altLang="en-US"/>
              <a:t>수 </a:t>
            </a:r>
            <a:r>
              <a:rPr lang="ko-KR" altLang="en-US" smtClean="0"/>
              <a:t>있음</a:t>
            </a:r>
            <a:endParaRPr lang="en-US" altLang="ko-KR" smtClean="0"/>
          </a:p>
          <a:p>
            <a:pPr lvl="3"/>
            <a:endParaRPr lang="en-US" altLang="ko-KR"/>
          </a:p>
          <a:p>
            <a:pPr lvl="3"/>
            <a:endParaRPr lang="en-US" altLang="ko-KR" smtClean="0"/>
          </a:p>
        </p:txBody>
      </p:sp>
      <p:sp>
        <p:nvSpPr>
          <p:cNvPr id="6" name="직사각형 5"/>
          <p:cNvSpPr/>
          <p:nvPr/>
        </p:nvSpPr>
        <p:spPr>
          <a:xfrm>
            <a:off x="2138261" y="4538737"/>
            <a:ext cx="2286000" cy="3077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altLang="ko-KR" sz="1400" b="1">
                <a:latin typeface="HY그래픽M" panose="02030600000101010101" pitchFamily="18" charset="-127"/>
                <a:ea typeface="HY그래픽M" panose="02030600000101010101" pitchFamily="18" charset="-127"/>
              </a:rPr>
              <a:t>npm install -g </a:t>
            </a:r>
            <a:r>
              <a:rPr lang="en-US" altLang="ko-KR" sz="1400" b="1" smtClean="0">
                <a:latin typeface="HY그래픽M" panose="02030600000101010101" pitchFamily="18" charset="-127"/>
                <a:ea typeface="HY그래픽M" panose="02030600000101010101" pitchFamily="18" charset="-127"/>
              </a:rPr>
              <a:t>solc</a:t>
            </a:r>
            <a:endParaRPr lang="en-US" altLang="ko-KR" sz="1400" b="1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pic>
        <p:nvPicPr>
          <p:cNvPr id="5" name="Picture 3" descr="C:\Users\signl\Downloads\icons8-물음표-8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5431" y="3909864"/>
            <a:ext cx="2893293" cy="289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783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en-US" altLang="ko-KR">
                <a:solidFill>
                  <a:srgbClr val="C00000"/>
                </a:solidFill>
              </a:rPr>
              <a:t>Solidity </a:t>
            </a:r>
            <a:r>
              <a:rPr lang="ko-KR" altLang="en-US">
                <a:solidFill>
                  <a:srgbClr val="C00000"/>
                </a:solidFill>
              </a:rPr>
              <a:t>설치 </a:t>
            </a:r>
            <a:endParaRPr lang="en-US" altLang="ko-KR">
              <a:solidFill>
                <a:srgbClr val="C00000"/>
              </a:solidFill>
            </a:endParaRPr>
          </a:p>
          <a:p>
            <a:pPr lvl="1"/>
            <a:r>
              <a:rPr lang="en-US" altLang="ko-KR" smtClean="0">
                <a:solidFill>
                  <a:srgbClr val="0000FF"/>
                </a:solidFill>
              </a:rPr>
              <a:t>(3) Docker </a:t>
            </a:r>
            <a:r>
              <a:rPr lang="ko-KR" altLang="en-US">
                <a:solidFill>
                  <a:srgbClr val="0000FF"/>
                </a:solidFill>
              </a:rPr>
              <a:t>이미지를 이용한 </a:t>
            </a:r>
            <a:r>
              <a:rPr lang="ko-KR" altLang="en-US" smtClean="0">
                <a:solidFill>
                  <a:srgbClr val="0000FF"/>
                </a:solidFill>
              </a:rPr>
              <a:t>설치</a:t>
            </a:r>
            <a:endParaRPr lang="en-US" altLang="ko-KR" smtClean="0">
              <a:solidFill>
                <a:srgbClr val="0000FF"/>
              </a:solidFill>
            </a:endParaRPr>
          </a:p>
          <a:p>
            <a:pPr lvl="1"/>
            <a:r>
              <a:rPr lang="en-US" altLang="ko-KR" smtClean="0">
                <a:solidFill>
                  <a:srgbClr val="0000FF"/>
                </a:solidFill>
              </a:rPr>
              <a:t>(4) </a:t>
            </a:r>
            <a:r>
              <a:rPr lang="ko-KR" altLang="en-US" smtClean="0">
                <a:solidFill>
                  <a:srgbClr val="0000FF"/>
                </a:solidFill>
              </a:rPr>
              <a:t>온라인 </a:t>
            </a:r>
            <a:r>
              <a:rPr lang="en-US" altLang="ko-KR">
                <a:solidFill>
                  <a:srgbClr val="0000FF"/>
                </a:solidFill>
              </a:rPr>
              <a:t>IDE </a:t>
            </a:r>
            <a:r>
              <a:rPr lang="ko-KR" altLang="en-US" smtClean="0">
                <a:solidFill>
                  <a:srgbClr val="0000FF"/>
                </a:solidFill>
              </a:rPr>
              <a:t>사용</a:t>
            </a:r>
            <a:r>
              <a:rPr lang="en-US" altLang="ko-KR" smtClean="0"/>
              <a:t>(</a:t>
            </a:r>
            <a:r>
              <a:rPr lang="en-US" altLang="ko-KR">
                <a:hlinkClick r:id="rId2"/>
              </a:rPr>
              <a:t>https://remix.ethereum.org</a:t>
            </a:r>
            <a:r>
              <a:rPr lang="en-US" altLang="ko-KR" smtClean="0">
                <a:hlinkClick r:id="rId2"/>
              </a:rPr>
              <a:t>/</a:t>
            </a:r>
            <a:r>
              <a:rPr lang="en-US" altLang="ko-KR" smtClean="0"/>
              <a:t>)</a:t>
            </a:r>
            <a:endParaRPr lang="ko-KR" altLang="en-US"/>
          </a:p>
          <a:p>
            <a:pPr lvl="2"/>
            <a:r>
              <a:rPr lang="ko-KR" altLang="en-US"/>
              <a:t>설치 과정 없이 바로 </a:t>
            </a:r>
            <a:r>
              <a:rPr lang="en-US" altLang="ko-KR"/>
              <a:t>Solidity </a:t>
            </a:r>
            <a:r>
              <a:rPr lang="ko-KR" altLang="en-US"/>
              <a:t>코드를 작성하고 컴파일할 수 있는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온라인 </a:t>
            </a:r>
            <a:r>
              <a:rPr lang="ko-KR" altLang="en-US" u="sng">
                <a:solidFill>
                  <a:schemeClr val="accent6">
                    <a:lumMod val="75000"/>
                  </a:schemeClr>
                </a:solidFill>
              </a:rPr>
              <a:t>통합 개발 환경</a:t>
            </a:r>
            <a:r>
              <a:rPr lang="en-US" altLang="ko-KR" u="sng">
                <a:solidFill>
                  <a:schemeClr val="accent6">
                    <a:lumMod val="75000"/>
                  </a:schemeClr>
                </a:solidFill>
              </a:rPr>
              <a:t>(IDE</a:t>
            </a:r>
            <a: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n-US" altLang="ko-KR" u="sng">
              <a:solidFill>
                <a:schemeClr val="accent6">
                  <a:lumMod val="75000"/>
                </a:schemeClr>
              </a:solidFill>
            </a:endParaRPr>
          </a:p>
          <a:p>
            <a:pPr lvl="2"/>
            <a:r>
              <a:rPr lang="en-US" altLang="ko-KR">
                <a:solidFill>
                  <a:srgbClr val="FF0000"/>
                </a:solidFill>
              </a:rPr>
              <a:t>Remix </a:t>
            </a:r>
            <a:r>
              <a:rPr lang="en-US" altLang="ko-KR" smtClean="0">
                <a:solidFill>
                  <a:srgbClr val="FF0000"/>
                </a:solidFill>
              </a:rPr>
              <a:t>IDE </a:t>
            </a:r>
            <a:r>
              <a:rPr lang="en-US" altLang="ko-KR" smtClean="0"/>
              <a:t>- </a:t>
            </a:r>
            <a:r>
              <a:rPr lang="en-US" altLang="ko-KR"/>
              <a:t>Remix</a:t>
            </a:r>
            <a:r>
              <a:rPr lang="ko-KR" altLang="en-US"/>
              <a:t>는 이더리움 스마트 계약 개발을 위한 </a:t>
            </a:r>
            <a:r>
              <a:rPr lang="ko-KR" altLang="en-US" u="sng">
                <a:solidFill>
                  <a:srgbClr val="00B050"/>
                </a:solidFill>
              </a:rPr>
              <a:t>가장 인기 있는 </a:t>
            </a:r>
            <a:r>
              <a:rPr lang="en-US" altLang="ko-KR" u="sng" smtClean="0">
                <a:solidFill>
                  <a:srgbClr val="00B050"/>
                </a:solidFill>
              </a:rPr>
              <a:t/>
            </a:r>
            <a:br>
              <a:rPr lang="en-US" altLang="ko-KR" u="sng" smtClean="0">
                <a:solidFill>
                  <a:srgbClr val="00B050"/>
                </a:solidFill>
              </a:rPr>
            </a:br>
            <a:r>
              <a:rPr lang="ko-KR" altLang="en-US" u="sng" smtClean="0">
                <a:solidFill>
                  <a:srgbClr val="00B050"/>
                </a:solidFill>
              </a:rPr>
              <a:t>웹 </a:t>
            </a:r>
            <a:r>
              <a:rPr lang="ko-KR" altLang="en-US" u="sng">
                <a:solidFill>
                  <a:srgbClr val="00B050"/>
                </a:solidFill>
              </a:rPr>
              <a:t>기반 </a:t>
            </a:r>
            <a:r>
              <a:rPr lang="en-US" altLang="ko-KR" u="sng" smtClean="0">
                <a:solidFill>
                  <a:srgbClr val="00B050"/>
                </a:solidFill>
              </a:rPr>
              <a:t>IDE</a:t>
            </a:r>
            <a:r>
              <a:rPr lang="en-US" altLang="ko-KR" smtClean="0"/>
              <a:t>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r>
              <a:rPr lang="en-US" altLang="ko-KR" smtClean="0"/>
              <a:t>Solidity </a:t>
            </a:r>
            <a:r>
              <a:rPr lang="ko-KR" altLang="en-US"/>
              <a:t>코드 작성</a:t>
            </a:r>
            <a:r>
              <a:rPr lang="en-US" altLang="ko-KR"/>
              <a:t>, </a:t>
            </a:r>
            <a:r>
              <a:rPr lang="ko-KR" altLang="en-US"/>
              <a:t>컴파일</a:t>
            </a:r>
            <a:r>
              <a:rPr lang="en-US" altLang="ko-KR"/>
              <a:t>, </a:t>
            </a:r>
            <a:r>
              <a:rPr lang="ko-KR" altLang="en-US"/>
              <a:t>배포</a:t>
            </a:r>
            <a:r>
              <a:rPr lang="en-US" altLang="ko-KR"/>
              <a:t>, </a:t>
            </a:r>
            <a:r>
              <a:rPr lang="ko-KR" altLang="en-US"/>
              <a:t>디버깅 등 모든 과정을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웹 </a:t>
            </a:r>
            <a:r>
              <a:rPr lang="ko-KR" altLang="en-US"/>
              <a:t>브라우저에서 할 수 </a:t>
            </a:r>
            <a:r>
              <a:rPr lang="ko-KR" altLang="en-US" smtClean="0"/>
              <a:t>있음</a:t>
            </a:r>
            <a:endParaRPr lang="en-US" altLang="ko-KR"/>
          </a:p>
        </p:txBody>
      </p:sp>
      <p:pic>
        <p:nvPicPr>
          <p:cNvPr id="4" name="Picture 3" descr="C:\Users\signl\Downloads\icons8-물음표-8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5431" y="3909864"/>
            <a:ext cx="2893293" cy="289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604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en-US" altLang="ko-KR">
                <a:solidFill>
                  <a:srgbClr val="C00000"/>
                </a:solidFill>
              </a:rPr>
              <a:t>Solidity </a:t>
            </a:r>
            <a:r>
              <a:rPr lang="ko-KR" altLang="en-US" smtClean="0">
                <a:solidFill>
                  <a:srgbClr val="C00000"/>
                </a:solidFill>
              </a:rPr>
              <a:t>컴파일 방법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en-US" altLang="ko-KR" smtClean="0">
                <a:solidFill>
                  <a:srgbClr val="0000FF"/>
                </a:solidFill>
              </a:rPr>
              <a:t>contract.sol </a:t>
            </a:r>
            <a:r>
              <a:rPr lang="ko-KR" altLang="en-US" smtClean="0">
                <a:solidFill>
                  <a:srgbClr val="0000FF"/>
                </a:solidFill>
              </a:rPr>
              <a:t>파일 </a:t>
            </a:r>
            <a:endParaRPr lang="en-US" altLang="ko-KR" smtClean="0">
              <a:solidFill>
                <a:srgbClr val="0000F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9512" y="2351167"/>
            <a:ext cx="48965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// SPDX-License-Identifier: MIT</a:t>
            </a:r>
          </a:p>
          <a:p>
            <a:r>
              <a:rPr lang="en-US" altLang="ko-KR" sz="1200" b="1">
                <a:latin typeface="+mn-ea"/>
              </a:rPr>
              <a:t>pragma solidity ^0.8.0;</a:t>
            </a:r>
          </a:p>
          <a:p>
            <a:endParaRPr lang="en-US" altLang="ko-KR" sz="1200" b="1">
              <a:latin typeface="+mn-ea"/>
            </a:endParaRPr>
          </a:p>
          <a:p>
            <a:r>
              <a:rPr lang="en-US" altLang="ko-KR" sz="1200" b="1">
                <a:latin typeface="+mn-ea"/>
              </a:rPr>
              <a:t>/**</a:t>
            </a:r>
          </a:p>
          <a:p>
            <a:r>
              <a:rPr lang="en-US" altLang="ko-KR" sz="1200" b="1">
                <a:latin typeface="+mn-ea"/>
              </a:rPr>
              <a:t> * @title Adder</a:t>
            </a:r>
          </a:p>
          <a:p>
            <a:r>
              <a:rPr lang="en-US" altLang="ko-KR" sz="1200" b="1">
                <a:latin typeface="+mn-ea"/>
              </a:rPr>
              <a:t> * @dev </a:t>
            </a:r>
            <a:r>
              <a:rPr lang="ko-KR" altLang="en-US" sz="1200" b="1">
                <a:latin typeface="+mn-ea"/>
              </a:rPr>
              <a:t>두 개의 숫자를 받아 더한 결과를 반환하는 간단한 </a:t>
            </a:r>
            <a:r>
              <a:rPr lang="ko-KR" altLang="en-US" sz="1200" b="1" smtClean="0">
                <a:latin typeface="+mn-ea"/>
              </a:rPr>
              <a:t>계약</a:t>
            </a:r>
            <a:endParaRPr lang="en-US" altLang="ko-KR" sz="1200" b="1" smtClean="0">
              <a:latin typeface="+mn-ea"/>
            </a:endParaRPr>
          </a:p>
          <a:p>
            <a:r>
              <a:rPr lang="en-US" altLang="ko-KR" sz="1200" b="1" smtClean="0">
                <a:latin typeface="+mn-ea"/>
              </a:rPr>
              <a:t> </a:t>
            </a:r>
            <a:r>
              <a:rPr lang="en-US" altLang="ko-KR" sz="1200" b="1">
                <a:latin typeface="+mn-ea"/>
              </a:rPr>
              <a:t>*/</a:t>
            </a:r>
          </a:p>
          <a:p>
            <a:r>
              <a:rPr lang="en-US" altLang="ko-KR" sz="1200" b="1">
                <a:latin typeface="+mn-ea"/>
              </a:rPr>
              <a:t>contract Adder {</a:t>
            </a:r>
          </a:p>
          <a:p>
            <a:endParaRPr lang="en-US" altLang="ko-KR" sz="1200" b="1">
              <a:latin typeface="+mn-ea"/>
            </a:endParaRPr>
          </a:p>
          <a:p>
            <a:r>
              <a:rPr lang="en-US" altLang="ko-KR" sz="1200" b="1">
                <a:latin typeface="+mn-ea"/>
              </a:rPr>
              <a:t>    /**</a:t>
            </a:r>
          </a:p>
          <a:p>
            <a:r>
              <a:rPr lang="en-US" altLang="ko-KR" sz="1200" b="1">
                <a:latin typeface="+mn-ea"/>
              </a:rPr>
              <a:t>     * @notice </a:t>
            </a:r>
            <a:r>
              <a:rPr lang="ko-KR" altLang="en-US" sz="1200" b="1">
                <a:latin typeface="+mn-ea"/>
              </a:rPr>
              <a:t>두 정수를 더한 결과를 </a:t>
            </a:r>
            <a:r>
              <a:rPr lang="ko-KR" altLang="en-US" sz="1200" b="1" smtClean="0">
                <a:latin typeface="+mn-ea"/>
              </a:rPr>
              <a:t>반환</a:t>
            </a:r>
            <a:endParaRPr lang="en-US" altLang="ko-KR" sz="1200" b="1">
              <a:latin typeface="+mn-ea"/>
            </a:endParaRPr>
          </a:p>
          <a:p>
            <a:r>
              <a:rPr lang="en-US" altLang="ko-KR" sz="1200" b="1">
                <a:latin typeface="+mn-ea"/>
              </a:rPr>
              <a:t>     * @param _a </a:t>
            </a:r>
            <a:r>
              <a:rPr lang="ko-KR" altLang="en-US" sz="1200" b="1">
                <a:latin typeface="+mn-ea"/>
              </a:rPr>
              <a:t>첫 번째 정수</a:t>
            </a:r>
          </a:p>
          <a:p>
            <a:r>
              <a:rPr lang="ko-KR" altLang="en-US" sz="1200" b="1">
                <a:latin typeface="+mn-ea"/>
              </a:rPr>
              <a:t>     * </a:t>
            </a:r>
            <a:r>
              <a:rPr lang="en-US" altLang="ko-KR" sz="1200" b="1">
                <a:latin typeface="+mn-ea"/>
              </a:rPr>
              <a:t>@param _b </a:t>
            </a:r>
            <a:r>
              <a:rPr lang="ko-KR" altLang="en-US" sz="1200" b="1">
                <a:latin typeface="+mn-ea"/>
              </a:rPr>
              <a:t>두 번째 정수</a:t>
            </a:r>
          </a:p>
          <a:p>
            <a:r>
              <a:rPr lang="ko-KR" altLang="en-US" sz="1200" b="1">
                <a:latin typeface="+mn-ea"/>
              </a:rPr>
              <a:t>     * </a:t>
            </a:r>
            <a:r>
              <a:rPr lang="en-US" altLang="ko-KR" sz="1200" b="1">
                <a:latin typeface="+mn-ea"/>
              </a:rPr>
              <a:t>@return sum </a:t>
            </a:r>
            <a:r>
              <a:rPr lang="ko-KR" altLang="en-US" sz="1200" b="1">
                <a:latin typeface="+mn-ea"/>
              </a:rPr>
              <a:t>두 정수의 합계</a:t>
            </a:r>
          </a:p>
          <a:p>
            <a:r>
              <a:rPr lang="ko-KR" altLang="en-US" sz="1200" b="1">
                <a:latin typeface="+mn-ea"/>
              </a:rPr>
              <a:t>     *</a:t>
            </a:r>
            <a:r>
              <a:rPr lang="en-US" altLang="ko-KR" sz="1200" b="1">
                <a:latin typeface="+mn-ea"/>
              </a:rPr>
              <a:t>/</a:t>
            </a:r>
          </a:p>
          <a:p>
            <a:r>
              <a:rPr lang="en-US" altLang="ko-KR" sz="1200" b="1">
                <a:latin typeface="+mn-ea"/>
              </a:rPr>
              <a:t>    function add(uint _a, uint _b) public pure returns (uint sum) {</a:t>
            </a:r>
          </a:p>
          <a:p>
            <a:r>
              <a:rPr lang="en-US" altLang="ko-KR" sz="1200" b="1">
                <a:latin typeface="+mn-ea"/>
              </a:rPr>
              <a:t>        // uint256 </a:t>
            </a:r>
            <a:r>
              <a:rPr lang="ko-KR" altLang="en-US" sz="1200" b="1">
                <a:latin typeface="+mn-ea"/>
              </a:rPr>
              <a:t>타입의 오버플로우</a:t>
            </a:r>
            <a:r>
              <a:rPr lang="en-US" altLang="ko-KR" sz="1200" b="1">
                <a:latin typeface="+mn-ea"/>
              </a:rPr>
              <a:t>/</a:t>
            </a:r>
            <a:r>
              <a:rPr lang="ko-KR" altLang="en-US" sz="1200" b="1">
                <a:latin typeface="+mn-ea"/>
              </a:rPr>
              <a:t>언더플로우는 </a:t>
            </a:r>
            <a:r>
              <a:rPr lang="en-US" altLang="ko-KR" sz="1200" b="1" smtClean="0">
                <a:latin typeface="+mn-ea"/>
              </a:rPr>
              <a:t/>
            </a:r>
            <a:br>
              <a:rPr lang="en-US" altLang="ko-KR" sz="1200" b="1" smtClean="0">
                <a:latin typeface="+mn-ea"/>
              </a:rPr>
            </a:br>
            <a:r>
              <a:rPr lang="en-US" altLang="ko-KR" sz="1200" b="1" smtClean="0">
                <a:latin typeface="+mn-ea"/>
              </a:rPr>
              <a:t>        // Solidity </a:t>
            </a:r>
            <a:r>
              <a:rPr lang="en-US" altLang="ko-KR" sz="1200" b="1">
                <a:latin typeface="+mn-ea"/>
              </a:rPr>
              <a:t>0.8.0 </a:t>
            </a:r>
            <a:r>
              <a:rPr lang="ko-KR" altLang="en-US" sz="1200" b="1">
                <a:latin typeface="+mn-ea"/>
              </a:rPr>
              <a:t>버전부터 자동으로 </a:t>
            </a:r>
            <a:r>
              <a:rPr lang="ko-KR" altLang="en-US" sz="1200" b="1" smtClean="0">
                <a:latin typeface="+mn-ea"/>
              </a:rPr>
              <a:t>체크</a:t>
            </a:r>
            <a:endParaRPr lang="en-US" altLang="ko-KR" sz="1200" b="1">
              <a:latin typeface="+mn-ea"/>
            </a:endParaRPr>
          </a:p>
          <a:p>
            <a:r>
              <a:rPr lang="en-US" altLang="ko-KR" sz="1200" b="1">
                <a:latin typeface="+mn-ea"/>
              </a:rPr>
              <a:t>        return _a + _b;</a:t>
            </a:r>
          </a:p>
          <a:p>
            <a:r>
              <a:rPr lang="en-US" altLang="ko-KR" sz="1200" b="1">
                <a:latin typeface="+mn-ea"/>
              </a:rPr>
              <a:t>    }</a:t>
            </a:r>
          </a:p>
          <a:p>
            <a:r>
              <a:rPr lang="en-US" altLang="ko-KR" sz="1200" b="1">
                <a:latin typeface="+mn-ea"/>
              </a:rPr>
              <a:t>}</a:t>
            </a:r>
            <a:endParaRPr lang="ko-KR" altLang="en-US" sz="1200" b="1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203848" y="3628181"/>
            <a:ext cx="56886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Solidity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세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가지 주요 주석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스타일</a:t>
            </a:r>
            <a:endParaRPr lang="en-US" altLang="ko-KR" sz="1200" b="1" smtClean="0">
              <a:solidFill>
                <a:srgbClr val="FF0000"/>
              </a:solidFill>
              <a:latin typeface="+mn-ea"/>
            </a:endParaRPr>
          </a:p>
          <a:p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단일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라인 주석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(Single-line Comments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) - //</a:t>
            </a:r>
          </a:p>
          <a:p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멀티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라인 주석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(Multi-line Comments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) - /* ~~~~*/</a:t>
            </a:r>
          </a:p>
          <a:p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  - NatSpec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(Ethereum Natural Specification Format)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특수한 형태의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ko-KR" sz="1200" b="1" smtClean="0">
                <a:solidFill>
                  <a:srgbClr val="FF0000"/>
                </a:solidFill>
                <a:latin typeface="+mn-ea"/>
              </a:rPr>
            </a:b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   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멀티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라인 주석으로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,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 ///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또는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/**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를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사용</a:t>
            </a:r>
            <a:endParaRPr lang="en-US" altLang="ko-KR" sz="1200" b="1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     *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컴파일러에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의해 처리되어 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JSON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ABI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파일에 포함되며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컨트랙트의 </a:t>
            </a: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ko-KR" sz="1200" b="1" smtClean="0">
                <a:solidFill>
                  <a:srgbClr val="FF0000"/>
                </a:solidFill>
                <a:latin typeface="+mn-ea"/>
              </a:rPr>
            </a:br>
            <a:r>
              <a:rPr lang="en-US" altLang="ko-KR" sz="1200" b="1" smtClean="0">
                <a:solidFill>
                  <a:srgbClr val="FF0000"/>
                </a:solidFill>
                <a:latin typeface="+mn-ea"/>
              </a:rPr>
              <a:t>      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함수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변수</a:t>
            </a: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이벤트 등에 대한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자세한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설명서를 자동으로 생성하는 데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사용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171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Solidity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en-US" altLang="ko-KR">
                <a:solidFill>
                  <a:srgbClr val="C00000"/>
                </a:solidFill>
              </a:rPr>
              <a:t>Solidity </a:t>
            </a:r>
            <a:r>
              <a:rPr lang="ko-KR" altLang="en-US" smtClean="0">
                <a:solidFill>
                  <a:srgbClr val="C00000"/>
                </a:solidFill>
              </a:rPr>
              <a:t>컴파일 방법</a:t>
            </a:r>
            <a:endParaRPr lang="en-US" altLang="ko-KR" smtClean="0">
              <a:solidFill>
                <a:srgbClr val="C00000"/>
              </a:solidFill>
            </a:endParaRPr>
          </a:p>
          <a:p>
            <a:pPr lvl="1"/>
            <a:r>
              <a:rPr lang="en-US" altLang="ko-KR" smtClean="0">
                <a:solidFill>
                  <a:srgbClr val="0000FF"/>
                </a:solidFill>
              </a:rPr>
              <a:t>contract.sol </a:t>
            </a:r>
            <a:r>
              <a:rPr lang="ko-KR" altLang="en-US" smtClean="0">
                <a:solidFill>
                  <a:srgbClr val="0000FF"/>
                </a:solidFill>
              </a:rPr>
              <a:t>파일</a:t>
            </a:r>
            <a:endParaRPr lang="en-US" altLang="ko-KR" smtClean="0">
              <a:solidFill>
                <a:srgbClr val="0000FF"/>
              </a:solidFill>
            </a:endParaRPr>
          </a:p>
          <a:p>
            <a:pPr lvl="2"/>
            <a:r>
              <a:rPr lang="en-US" altLang="ko-KR"/>
              <a:t>solc --bin --abi contract.sol</a:t>
            </a:r>
            <a:r>
              <a:rPr lang="ko-KR" altLang="en-US" smtClean="0">
                <a:solidFill>
                  <a:srgbClr val="C00000"/>
                </a:solidFill>
              </a:rPr>
              <a:t> </a:t>
            </a:r>
            <a:endParaRPr lang="en-US" altLang="ko-KR" smtClean="0">
              <a:solidFill>
                <a:srgbClr val="C00000"/>
              </a:solidFill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80928"/>
            <a:ext cx="691515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713" y="5733256"/>
            <a:ext cx="1472891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78957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Web3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en-US" altLang="ko-KR" smtClean="0">
                <a:solidFill>
                  <a:srgbClr val="C00000"/>
                </a:solidFill>
              </a:rPr>
              <a:t>Web3</a:t>
            </a:r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블록체인 </a:t>
            </a:r>
            <a:r>
              <a:rPr lang="ko-KR" altLang="en-US">
                <a:solidFill>
                  <a:schemeClr val="tx1"/>
                </a:solidFill>
              </a:rPr>
              <a:t>기술을 기반으로 한 </a:t>
            </a:r>
            <a:r>
              <a:rPr lang="ko-KR" altLang="en-US" u="sng">
                <a:solidFill>
                  <a:srgbClr val="0000FF"/>
                </a:solidFill>
              </a:rPr>
              <a:t>탈중앙화된 차세대 </a:t>
            </a:r>
            <a:r>
              <a:rPr lang="ko-KR" altLang="en-US" u="sng" smtClean="0">
                <a:solidFill>
                  <a:srgbClr val="0000FF"/>
                </a:solidFill>
              </a:rPr>
              <a:t>인터넷</a:t>
            </a:r>
            <a:endParaRPr lang="en-US" altLang="ko-KR" u="sng" smtClean="0">
              <a:solidFill>
                <a:srgbClr val="0000FF"/>
              </a:solidFill>
            </a:endParaRPr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사용자 </a:t>
            </a:r>
            <a:r>
              <a:rPr lang="ko-KR" altLang="en-US">
                <a:solidFill>
                  <a:schemeClr val="tx1"/>
                </a:solidFill>
              </a:rPr>
              <a:t>개인이 데이터와 자산을 </a:t>
            </a:r>
            <a:r>
              <a:rPr lang="ko-KR" altLang="en-US" u="sng">
                <a:solidFill>
                  <a:schemeClr val="accent6">
                    <a:lumMod val="75000"/>
                  </a:schemeClr>
                </a:solidFill>
              </a:rPr>
              <a:t>직접 소유하고 통제하는 것을 </a:t>
            </a:r>
            <a:r>
              <a:rPr lang="ko-KR" altLang="en-US">
                <a:solidFill>
                  <a:schemeClr val="tx1"/>
                </a:solidFill>
              </a:rPr>
              <a:t>목표로 </a:t>
            </a:r>
            <a:r>
              <a:rPr lang="ko-KR" altLang="en-US" smtClean="0">
                <a:solidFill>
                  <a:schemeClr val="tx1"/>
                </a:solidFill>
              </a:rPr>
              <a:t>함</a:t>
            </a:r>
            <a:endParaRPr lang="en-US" altLang="ko-KR" smtClean="0">
              <a:solidFill>
                <a:schemeClr val="tx1"/>
              </a:solidFill>
            </a:endParaRPr>
          </a:p>
          <a:p>
            <a:pPr lvl="2"/>
            <a:r>
              <a:rPr lang="ko-KR" altLang="en-US" smtClean="0"/>
              <a:t>기존의 </a:t>
            </a:r>
            <a:r>
              <a:rPr lang="ko-KR" altLang="en-US"/>
              <a:t>웹</a:t>
            </a:r>
            <a:r>
              <a:rPr lang="en-US" altLang="ko-KR"/>
              <a:t>2(</a:t>
            </a:r>
            <a:r>
              <a:rPr lang="ko-KR" altLang="en-US"/>
              <a:t>읽고 쓰는 웹</a:t>
            </a:r>
            <a:r>
              <a:rPr lang="en-US" altLang="ko-KR"/>
              <a:t>)</a:t>
            </a:r>
            <a:r>
              <a:rPr lang="ko-KR" altLang="en-US"/>
              <a:t>와 달리</a:t>
            </a:r>
            <a:r>
              <a:rPr lang="en-US" altLang="ko-KR"/>
              <a:t>, </a:t>
            </a:r>
            <a:r>
              <a:rPr lang="ko-KR" altLang="en-US">
                <a:solidFill>
                  <a:srgbClr val="00B050"/>
                </a:solidFill>
              </a:rPr>
              <a:t>웹</a:t>
            </a:r>
            <a:r>
              <a:rPr lang="en-US" altLang="ko-KR">
                <a:solidFill>
                  <a:srgbClr val="00B050"/>
                </a:solidFill>
              </a:rPr>
              <a:t>3</a:t>
            </a:r>
            <a:r>
              <a:rPr lang="ko-KR" altLang="en-US">
                <a:solidFill>
                  <a:srgbClr val="00B050"/>
                </a:solidFill>
              </a:rPr>
              <a:t>는 </a:t>
            </a:r>
            <a:r>
              <a:rPr lang="en-US" altLang="ko-KR">
                <a:solidFill>
                  <a:srgbClr val="00B050"/>
                </a:solidFill>
              </a:rPr>
              <a:t>'</a:t>
            </a:r>
            <a:r>
              <a:rPr lang="ko-KR" altLang="en-US">
                <a:solidFill>
                  <a:srgbClr val="00B050"/>
                </a:solidFill>
              </a:rPr>
              <a:t>읽기</a:t>
            </a:r>
            <a:r>
              <a:rPr lang="en-US" altLang="ko-KR">
                <a:solidFill>
                  <a:srgbClr val="00B050"/>
                </a:solidFill>
              </a:rPr>
              <a:t>, </a:t>
            </a:r>
            <a:r>
              <a:rPr lang="ko-KR" altLang="en-US">
                <a:solidFill>
                  <a:srgbClr val="00B050"/>
                </a:solidFill>
              </a:rPr>
              <a:t>쓰기</a:t>
            </a:r>
            <a:r>
              <a:rPr lang="en-US" altLang="ko-KR">
                <a:solidFill>
                  <a:srgbClr val="00B050"/>
                </a:solidFill>
              </a:rPr>
              <a:t>, </a:t>
            </a:r>
            <a:r>
              <a:rPr lang="ko-KR" altLang="en-US">
                <a:solidFill>
                  <a:srgbClr val="00B050"/>
                </a:solidFill>
              </a:rPr>
              <a:t>소유</a:t>
            </a:r>
            <a:r>
              <a:rPr lang="en-US" altLang="ko-KR">
                <a:solidFill>
                  <a:srgbClr val="00B050"/>
                </a:solidFill>
              </a:rPr>
              <a:t>'</a:t>
            </a:r>
            <a:r>
              <a:rPr lang="ko-KR" altLang="en-US">
                <a:solidFill>
                  <a:srgbClr val="00B050"/>
                </a:solidFill>
              </a:rPr>
              <a:t>가 </a:t>
            </a:r>
            <a:r>
              <a:rPr lang="ko-KR" altLang="en-US"/>
              <a:t>가능해지며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빅테크 </a:t>
            </a:r>
            <a:r>
              <a:rPr lang="ko-KR" altLang="en-US"/>
              <a:t>기업과 같은 중앙 기관의 통제에서 벗어나 사용자 중심의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인터넷 </a:t>
            </a:r>
            <a:r>
              <a:rPr lang="ko-KR" altLang="en-US"/>
              <a:t>환경을 만드는 데 중점을 </a:t>
            </a:r>
            <a:r>
              <a:rPr lang="ko-KR" altLang="en-US" smtClean="0"/>
              <a:t>두고 있음</a:t>
            </a:r>
            <a:endParaRPr lang="en-US" altLang="ko-KR" smtClean="0"/>
          </a:p>
          <a:p>
            <a:pPr lvl="2"/>
            <a:r>
              <a:rPr lang="ko-KR" altLang="en-US" smtClean="0"/>
              <a:t>탈중앙화</a:t>
            </a:r>
            <a:r>
              <a:rPr lang="en-US" altLang="ko-KR"/>
              <a:t>(decentralization</a:t>
            </a:r>
            <a:r>
              <a:rPr lang="en-US" altLang="ko-KR" smtClean="0"/>
              <a:t>)</a:t>
            </a:r>
            <a:r>
              <a:rPr lang="ko-KR" altLang="en-US" smtClean="0"/>
              <a:t>와 소유권</a:t>
            </a:r>
            <a:r>
              <a:rPr lang="en-US" altLang="ko-KR"/>
              <a:t>(ownership</a:t>
            </a:r>
            <a:r>
              <a:rPr lang="en-US" altLang="ko-KR" smtClean="0"/>
              <a:t>)</a:t>
            </a:r>
            <a:r>
              <a:rPr lang="ko-KR" altLang="en-US" smtClean="0"/>
              <a:t>을 </a:t>
            </a:r>
            <a:r>
              <a:rPr lang="ko-KR" altLang="en-US"/>
              <a:t>핵심 가치로 </a:t>
            </a:r>
            <a:r>
              <a:rPr lang="ko-KR" altLang="en-US" smtClean="0"/>
              <a:t>삼음 </a:t>
            </a:r>
            <a:r>
              <a:rPr lang="ko-KR" altLang="en-US" smtClean="0">
                <a:latin typeface="휴먼모음T"/>
                <a:ea typeface="휴먼모음T"/>
              </a:rPr>
              <a:t>⇒ </a:t>
            </a:r>
            <a:r>
              <a:rPr lang="ko-KR" altLang="en-US" smtClean="0"/>
              <a:t>개인이 </a:t>
            </a:r>
            <a:r>
              <a:rPr lang="ko-KR" altLang="en-US"/>
              <a:t>자신의 데이터와 자산에 대한 통제권을 되찾는 차세대 인터넷 환경</a:t>
            </a:r>
            <a:endParaRPr lang="en-US" altLang="ko-KR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3" y="4293096"/>
            <a:ext cx="6143625" cy="2245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0413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Web3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en-US" altLang="ko-KR" smtClean="0">
                <a:solidFill>
                  <a:srgbClr val="C00000"/>
                </a:solidFill>
              </a:rPr>
              <a:t>Web3</a:t>
            </a:r>
            <a:r>
              <a:rPr lang="ko-KR" altLang="en-US" smtClean="0">
                <a:solidFill>
                  <a:srgbClr val="C00000"/>
                </a:solidFill>
              </a:rPr>
              <a:t>를 </a:t>
            </a:r>
            <a:r>
              <a:rPr lang="ko-KR" altLang="en-US">
                <a:solidFill>
                  <a:srgbClr val="C00000"/>
                </a:solidFill>
              </a:rPr>
              <a:t>이루는 기술</a:t>
            </a:r>
          </a:p>
          <a:p>
            <a:pPr lvl="1"/>
            <a:r>
              <a:rPr lang="en-US" altLang="ko-KR">
                <a:solidFill>
                  <a:schemeClr val="tx1"/>
                </a:solidFill>
              </a:rPr>
              <a:t>Web3</a:t>
            </a:r>
            <a:r>
              <a:rPr lang="ko-KR" altLang="en-US">
                <a:solidFill>
                  <a:schemeClr val="tx1"/>
                </a:solidFill>
              </a:rPr>
              <a:t>는 아직 초기 단계에 있으며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앞으로 </a:t>
            </a:r>
            <a:r>
              <a:rPr lang="ko-KR" altLang="en-US" u="sng">
                <a:solidFill>
                  <a:schemeClr val="accent6">
                    <a:lumMod val="75000"/>
                  </a:schemeClr>
                </a:solidFill>
              </a:rPr>
              <a:t>인터넷 사용 방식과 </a:t>
            </a:r>
            <a: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u="sng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비즈니스 </a:t>
            </a:r>
            <a:r>
              <a:rPr lang="ko-KR" altLang="en-US" u="sng">
                <a:solidFill>
                  <a:schemeClr val="accent6">
                    <a:lumMod val="75000"/>
                  </a:schemeClr>
                </a:solidFill>
              </a:rPr>
              <a:t>모델에 큰 변화를 가져올 잠재력을 가진 </a:t>
            </a:r>
            <a:r>
              <a:rPr lang="ko-KR" altLang="en-US" u="sng" smtClean="0">
                <a:solidFill>
                  <a:schemeClr val="accent6">
                    <a:lumMod val="75000"/>
                  </a:schemeClr>
                </a:solidFill>
              </a:rPr>
              <a:t>개념 </a:t>
            </a:r>
            <a:r>
              <a:rPr lang="ko-KR" altLang="en-US" smtClean="0">
                <a:solidFill>
                  <a:schemeClr val="tx1"/>
                </a:solidFill>
                <a:latin typeface="휴먼모음T"/>
                <a:ea typeface="휴먼모음T"/>
              </a:rPr>
              <a:t>⇒ </a:t>
            </a:r>
            <a:r>
              <a:rPr lang="en-US" altLang="ko-KR" smtClean="0">
                <a:solidFill>
                  <a:schemeClr val="tx1"/>
                </a:solidFill>
              </a:rPr>
              <a:t>Web3 </a:t>
            </a:r>
            <a:br>
              <a:rPr lang="en-US" altLang="ko-KR" smtClean="0">
                <a:solidFill>
                  <a:schemeClr val="tx1"/>
                </a:solidFill>
              </a:rPr>
            </a:br>
            <a:r>
              <a:rPr lang="ko-KR" altLang="en-US" smtClean="0">
                <a:solidFill>
                  <a:schemeClr val="tx1"/>
                </a:solidFill>
              </a:rPr>
              <a:t>생태계는 </a:t>
            </a:r>
            <a:r>
              <a:rPr lang="ko-KR" altLang="en-US">
                <a:solidFill>
                  <a:schemeClr val="tx1"/>
                </a:solidFill>
              </a:rPr>
              <a:t>다음과 같은 기술들로 </a:t>
            </a:r>
            <a:r>
              <a:rPr lang="ko-KR" altLang="en-US" smtClean="0">
                <a:solidFill>
                  <a:schemeClr val="tx1"/>
                </a:solidFill>
              </a:rPr>
              <a:t>구동</a:t>
            </a:r>
            <a:endParaRPr lang="en-US" altLang="ko-KR" smtClean="0">
              <a:solidFill>
                <a:schemeClr val="tx1"/>
              </a:solidFill>
            </a:endParaRPr>
          </a:p>
          <a:p>
            <a:pPr lvl="2"/>
            <a:r>
              <a:rPr lang="ko-KR" altLang="en-US" smtClean="0">
                <a:solidFill>
                  <a:srgbClr val="0000FF"/>
                </a:solidFill>
              </a:rPr>
              <a:t>블록체인</a:t>
            </a:r>
            <a:endParaRPr lang="en-US" altLang="ko-KR" smtClean="0">
              <a:solidFill>
                <a:srgbClr val="0000FF"/>
              </a:solidFill>
            </a:endParaRPr>
          </a:p>
          <a:p>
            <a:pPr lvl="3"/>
            <a:r>
              <a:rPr lang="ko-KR" altLang="en-US" smtClean="0"/>
              <a:t>데이터를 </a:t>
            </a:r>
            <a:r>
              <a:rPr lang="ko-KR" altLang="en-US"/>
              <a:t>안전하고 투명하게 분산 저장하는 핵심 </a:t>
            </a:r>
            <a:r>
              <a:rPr lang="ko-KR" altLang="en-US" smtClean="0"/>
              <a:t>인프라</a:t>
            </a:r>
            <a:r>
              <a:rPr lang="en-US" altLang="ko-KR" smtClean="0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이더리움</a:t>
            </a:r>
            <a:r>
              <a:rPr lang="en-US" altLang="ko-KR"/>
              <a:t>, </a:t>
            </a:r>
            <a:r>
              <a:rPr lang="ko-KR" altLang="en-US"/>
              <a:t>솔라나</a:t>
            </a:r>
            <a:r>
              <a:rPr lang="en-US" altLang="ko-KR" smtClean="0"/>
              <a:t>)</a:t>
            </a:r>
            <a:endParaRPr lang="en-US" altLang="ko-KR"/>
          </a:p>
          <a:p>
            <a:pPr lvl="2"/>
            <a:r>
              <a:rPr lang="ko-KR" altLang="en-US">
                <a:solidFill>
                  <a:srgbClr val="0000FF"/>
                </a:solidFill>
              </a:rPr>
              <a:t>스마트 </a:t>
            </a:r>
            <a:r>
              <a:rPr lang="ko-KR" altLang="en-US" smtClean="0">
                <a:solidFill>
                  <a:srgbClr val="0000FF"/>
                </a:solidFill>
              </a:rPr>
              <a:t>계약</a:t>
            </a:r>
            <a:r>
              <a:rPr lang="en-US" altLang="ko-KR" smtClean="0">
                <a:solidFill>
                  <a:srgbClr val="0000FF"/>
                </a:solidFill>
              </a:rPr>
              <a:t>(</a:t>
            </a:r>
            <a:r>
              <a:rPr lang="en-US" altLang="ko-KR">
                <a:solidFill>
                  <a:srgbClr val="0000FF"/>
                </a:solidFill>
              </a:rPr>
              <a:t>Smart Contracts</a:t>
            </a:r>
            <a:r>
              <a:rPr lang="en-US" altLang="ko-KR" smtClean="0">
                <a:solidFill>
                  <a:srgbClr val="0000FF"/>
                </a:solidFill>
              </a:rPr>
              <a:t>)</a:t>
            </a:r>
          </a:p>
          <a:p>
            <a:pPr lvl="3"/>
            <a:r>
              <a:rPr lang="ko-KR" altLang="en-US" smtClean="0"/>
              <a:t>블록체인 </a:t>
            </a:r>
            <a:r>
              <a:rPr lang="ko-KR" altLang="en-US"/>
              <a:t>상에서 자동으로 실행되는 계약 코드</a:t>
            </a:r>
            <a:r>
              <a:rPr lang="en-US" altLang="ko-KR"/>
              <a:t>. Web3 </a:t>
            </a:r>
            <a:r>
              <a:rPr lang="ko-KR" altLang="en-US" smtClean="0"/>
              <a:t>서비스</a:t>
            </a:r>
            <a:r>
              <a:rPr lang="en-US" altLang="ko-KR" smtClean="0"/>
              <a:t>(DApp)</a:t>
            </a:r>
            <a:r>
              <a:rPr lang="ko-KR" altLang="en-US"/>
              <a:t>의 논리를 </a:t>
            </a:r>
            <a:r>
              <a:rPr lang="ko-KR" altLang="en-US" smtClean="0"/>
              <a:t>구현</a:t>
            </a:r>
            <a:endParaRPr lang="en-US" altLang="ko-KR" smtClean="0"/>
          </a:p>
          <a:p>
            <a:pPr lvl="2"/>
            <a:r>
              <a:rPr lang="en-US" altLang="ko-KR" smtClean="0">
                <a:solidFill>
                  <a:srgbClr val="0000FF"/>
                </a:solidFill>
              </a:rPr>
              <a:t>DApp(Decentralized </a:t>
            </a:r>
            <a:r>
              <a:rPr lang="en-US" altLang="ko-KR">
                <a:solidFill>
                  <a:srgbClr val="0000FF"/>
                </a:solidFill>
              </a:rPr>
              <a:t>Application</a:t>
            </a:r>
            <a:r>
              <a:rPr lang="en-US" altLang="ko-KR" smtClean="0">
                <a:solidFill>
                  <a:srgbClr val="0000FF"/>
                </a:solidFill>
              </a:rPr>
              <a:t>)</a:t>
            </a:r>
          </a:p>
          <a:p>
            <a:pPr lvl="3"/>
            <a:r>
              <a:rPr lang="ko-KR" altLang="en-US" smtClean="0"/>
              <a:t>블록체인 </a:t>
            </a:r>
            <a:r>
              <a:rPr lang="ko-KR" altLang="en-US"/>
              <a:t>기반으로 운영되는 탈중앙화 </a:t>
            </a:r>
            <a:r>
              <a:rPr lang="ko-KR" altLang="en-US" smtClean="0"/>
              <a:t>애플리케이션</a:t>
            </a:r>
            <a:endParaRPr lang="en-US" altLang="ko-KR" smtClean="0"/>
          </a:p>
          <a:p>
            <a:pPr lvl="2"/>
            <a:r>
              <a:rPr lang="en-US" altLang="ko-KR" smtClean="0">
                <a:solidFill>
                  <a:srgbClr val="0000FF"/>
                </a:solidFill>
              </a:rPr>
              <a:t>DeFi(Decentralized </a:t>
            </a:r>
            <a:r>
              <a:rPr lang="en-US" altLang="ko-KR">
                <a:solidFill>
                  <a:srgbClr val="0000FF"/>
                </a:solidFill>
              </a:rPr>
              <a:t>Finance</a:t>
            </a:r>
            <a:r>
              <a:rPr lang="en-US" altLang="ko-KR" smtClean="0">
                <a:solidFill>
                  <a:srgbClr val="0000FF"/>
                </a:solidFill>
              </a:rPr>
              <a:t>)</a:t>
            </a:r>
          </a:p>
          <a:p>
            <a:pPr lvl="3"/>
            <a:r>
              <a:rPr lang="ko-KR" altLang="en-US" smtClean="0"/>
              <a:t>중개자 </a:t>
            </a:r>
            <a:r>
              <a:rPr lang="ko-KR" altLang="en-US"/>
              <a:t>없이 금융 거래를 가능하게 하는 </a:t>
            </a:r>
            <a:r>
              <a:rPr lang="ko-KR" altLang="en-US" smtClean="0"/>
              <a:t>서비스</a:t>
            </a:r>
            <a:endParaRPr lang="en-US" altLang="ko-KR" smtClean="0"/>
          </a:p>
          <a:p>
            <a:pPr lvl="2"/>
            <a:r>
              <a:rPr lang="en-US" altLang="ko-KR" smtClean="0">
                <a:solidFill>
                  <a:srgbClr val="0000FF"/>
                </a:solidFill>
              </a:rPr>
              <a:t>NFT(Non-Fungible </a:t>
            </a:r>
            <a:r>
              <a:rPr lang="en-US" altLang="ko-KR">
                <a:solidFill>
                  <a:srgbClr val="0000FF"/>
                </a:solidFill>
              </a:rPr>
              <a:t>Tokens</a:t>
            </a:r>
            <a:r>
              <a:rPr lang="en-US" altLang="ko-KR" smtClean="0">
                <a:solidFill>
                  <a:srgbClr val="0000FF"/>
                </a:solidFill>
              </a:rPr>
              <a:t>)</a:t>
            </a:r>
          </a:p>
          <a:p>
            <a:pPr lvl="3"/>
            <a:r>
              <a:rPr lang="ko-KR" altLang="en-US" smtClean="0"/>
              <a:t>디지털 </a:t>
            </a:r>
            <a:r>
              <a:rPr lang="ko-KR" altLang="en-US"/>
              <a:t>자산의 고유한 소유권을 증명하는 </a:t>
            </a:r>
            <a:r>
              <a:rPr lang="ko-KR" altLang="en-US" smtClean="0"/>
              <a:t>수단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4876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Web3.js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Web3.js</a:t>
            </a:r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이더리움 </a:t>
            </a:r>
            <a:r>
              <a:rPr lang="ko-KR" altLang="en-US">
                <a:solidFill>
                  <a:schemeClr val="tx1"/>
                </a:solidFill>
              </a:rPr>
              <a:t>블록체인을 비롯한 </a:t>
            </a:r>
            <a:r>
              <a:rPr lang="en-US" altLang="ko-KR">
                <a:solidFill>
                  <a:schemeClr val="tx1"/>
                </a:solidFill>
              </a:rPr>
              <a:t>EVM(Ethereum Virtual Machine) </a:t>
            </a:r>
            <a:r>
              <a:rPr lang="ko-KR" altLang="en-US">
                <a:solidFill>
                  <a:schemeClr val="tx1"/>
                </a:solidFill>
              </a:rPr>
              <a:t>호환 블록체인 네트워크와 상호작용할 수 있게 해주는 </a:t>
            </a:r>
            <a:r>
              <a:rPr lang="en-US" altLang="ko-KR" u="sng">
                <a:solidFill>
                  <a:srgbClr val="FF0000"/>
                </a:solidFill>
              </a:rPr>
              <a:t>JavaScript </a:t>
            </a:r>
            <a:r>
              <a:rPr lang="ko-KR" altLang="en-US" u="sng">
                <a:solidFill>
                  <a:srgbClr val="FF0000"/>
                </a:solidFill>
              </a:rPr>
              <a:t>라이브러리들의 모음</a:t>
            </a:r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일반 </a:t>
            </a:r>
            <a:r>
              <a:rPr lang="ko-KR" altLang="en-US">
                <a:solidFill>
                  <a:schemeClr val="tx1"/>
                </a:solidFill>
              </a:rPr>
              <a:t>웹 개발 환경인 </a:t>
            </a:r>
            <a:r>
              <a:rPr lang="en-US" altLang="ko-KR" u="sng">
                <a:solidFill>
                  <a:schemeClr val="tx1"/>
                </a:solidFill>
              </a:rPr>
              <a:t>JavaScript</a:t>
            </a:r>
            <a:r>
              <a:rPr lang="ko-KR" altLang="en-US" u="sng">
                <a:solidFill>
                  <a:schemeClr val="tx1"/>
                </a:solidFill>
              </a:rPr>
              <a:t>를 사용하여 블록체인이라는 새로운 분산 네트워크 세계에 접근할 수 있도록 </a:t>
            </a:r>
            <a:r>
              <a:rPr lang="ko-KR" altLang="en-US">
                <a:solidFill>
                  <a:schemeClr val="tx1"/>
                </a:solidFill>
              </a:rPr>
              <a:t>연결해 주는 다리 역할을 함</a:t>
            </a:r>
          </a:p>
          <a:p>
            <a:endParaRPr lang="ko-KR" altLang="en-US"/>
          </a:p>
        </p:txBody>
      </p:sp>
      <p:pic>
        <p:nvPicPr>
          <p:cNvPr id="16386" name="Picture 2" descr="https://blog.kakaocdn.net/dna/bYaHYN/btrwbgFmxKl/AAAAAAAAAAAAAAAAAAAAAPcRR5oWCsLJRgb2COGwlCDLucT9maPNw6RLICjmtGcj/img.png?credential=yqXZFxpELC7KVnFOS48ylbz2pIh7yKj8&amp;expires=1761922799&amp;allow_ip=&amp;allow_referer=&amp;signature=sAx05n%2BTJdv8BHiPj07%2Bi531%2FBQ%3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772618"/>
            <a:ext cx="64389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530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Web3.js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>
                <a:solidFill>
                  <a:srgbClr val="C00000"/>
                </a:solidFill>
              </a:rPr>
              <a:t>Web3.js</a:t>
            </a:r>
            <a:r>
              <a:rPr lang="ko-KR" altLang="en-US">
                <a:solidFill>
                  <a:srgbClr val="C00000"/>
                </a:solidFill>
              </a:rPr>
              <a:t>의 주요 역할 및 특징</a:t>
            </a:r>
          </a:p>
          <a:p>
            <a:pPr lvl="1"/>
            <a:r>
              <a:rPr lang="ko-KR" altLang="en-US" smtClean="0">
                <a:solidFill>
                  <a:schemeClr val="tx1"/>
                </a:solidFill>
              </a:rPr>
              <a:t>개발자들이 </a:t>
            </a:r>
            <a:r>
              <a:rPr lang="ko-KR" altLang="en-US" u="sng">
                <a:solidFill>
                  <a:srgbClr val="FFC000"/>
                </a:solidFill>
              </a:rPr>
              <a:t>탈중앙화 애플리케이션</a:t>
            </a:r>
            <a:r>
              <a:rPr lang="en-US" altLang="ko-KR" u="sng">
                <a:solidFill>
                  <a:srgbClr val="FFC000"/>
                </a:solidFill>
              </a:rPr>
              <a:t>(DApp)</a:t>
            </a:r>
            <a:r>
              <a:rPr lang="ko-KR" altLang="en-US" u="sng">
                <a:solidFill>
                  <a:srgbClr val="FFC000"/>
                </a:solidFill>
              </a:rPr>
              <a:t>의 프론트엔드</a:t>
            </a:r>
            <a:r>
              <a:rPr lang="en-US" altLang="ko-KR" u="sng">
                <a:solidFill>
                  <a:srgbClr val="FFC000"/>
                </a:solidFill>
              </a:rPr>
              <a:t>(</a:t>
            </a:r>
            <a:r>
              <a:rPr lang="ko-KR" altLang="en-US" u="sng">
                <a:solidFill>
                  <a:srgbClr val="FFC000"/>
                </a:solidFill>
              </a:rPr>
              <a:t>사용자 인터페이스</a:t>
            </a:r>
            <a:r>
              <a:rPr lang="en-US" altLang="ko-KR" u="sng">
                <a:solidFill>
                  <a:srgbClr val="FFC000"/>
                </a:solidFill>
              </a:rPr>
              <a:t>)</a:t>
            </a:r>
            <a:r>
              <a:rPr lang="ko-KR" altLang="en-US" u="sng">
                <a:solidFill>
                  <a:srgbClr val="FFC000"/>
                </a:solidFill>
              </a:rPr>
              <a:t>에서 </a:t>
            </a:r>
            <a:r>
              <a:rPr lang="ko-KR" altLang="en-US">
                <a:solidFill>
                  <a:schemeClr val="tx1"/>
                </a:solidFill>
              </a:rPr>
              <a:t>블록체인과 쉽게 통신할 수 있도록 도와주는 핵심 도구</a:t>
            </a:r>
          </a:p>
          <a:p>
            <a:pPr lvl="2"/>
            <a:r>
              <a:rPr lang="ko-KR" altLang="en-US" smtClean="0">
                <a:solidFill>
                  <a:srgbClr val="0000FF"/>
                </a:solidFill>
              </a:rPr>
              <a:t>블록체인 </a:t>
            </a:r>
            <a:r>
              <a:rPr lang="ko-KR" altLang="en-US">
                <a:solidFill>
                  <a:srgbClr val="0000FF"/>
                </a:solidFill>
              </a:rPr>
              <a:t>통신 </a:t>
            </a:r>
            <a:endParaRPr lang="en-US" altLang="ko-KR" smtClean="0">
              <a:solidFill>
                <a:srgbClr val="0000FF"/>
              </a:solidFill>
            </a:endParaRPr>
          </a:p>
          <a:p>
            <a:pPr lvl="3"/>
            <a:r>
              <a:rPr lang="ko-KR" altLang="en-US" smtClean="0"/>
              <a:t>이더리움 </a:t>
            </a:r>
            <a:r>
              <a:rPr lang="ko-KR" altLang="en-US"/>
              <a:t>노드와 통신하기 위해 사용되는 </a:t>
            </a:r>
            <a:r>
              <a:rPr lang="en-US" altLang="ko-KR"/>
              <a:t>JSON-RPC </a:t>
            </a:r>
            <a:r>
              <a:rPr lang="ko-KR" altLang="en-US"/>
              <a:t>형식을 개발자가 직접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다루지 </a:t>
            </a:r>
            <a:r>
              <a:rPr lang="ko-KR" altLang="en-US"/>
              <a:t>않고도</a:t>
            </a:r>
            <a:r>
              <a:rPr lang="en-US" altLang="ko-KR"/>
              <a:t>, </a:t>
            </a:r>
            <a:r>
              <a:rPr lang="en-US" altLang="ko-KR" smtClean="0"/>
              <a:t>JavaScript </a:t>
            </a:r>
            <a:r>
              <a:rPr lang="ko-KR" altLang="en-US"/>
              <a:t>함수 호출을 통해 간편하게 블록체인의 데이터를 읽고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잔액 조회</a:t>
            </a:r>
            <a:r>
              <a:rPr lang="en-US" altLang="ko-KR"/>
              <a:t>, </a:t>
            </a:r>
            <a:r>
              <a:rPr lang="ko-KR" altLang="en-US"/>
              <a:t>블록 정보</a:t>
            </a:r>
            <a:r>
              <a:rPr lang="en-US" altLang="ko-KR"/>
              <a:t>) </a:t>
            </a:r>
            <a:r>
              <a:rPr lang="ko-KR" altLang="en-US"/>
              <a:t>트랜잭션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코인 전송</a:t>
            </a:r>
            <a:r>
              <a:rPr lang="en-US" altLang="ko-KR"/>
              <a:t>, </a:t>
            </a:r>
            <a:r>
              <a:rPr lang="ko-KR" altLang="en-US"/>
              <a:t>스마트 컨트랙트 실행</a:t>
            </a:r>
            <a:r>
              <a:rPr lang="en-US" altLang="ko-KR"/>
              <a:t>)</a:t>
            </a:r>
            <a:r>
              <a:rPr lang="ko-KR" altLang="en-US" smtClean="0"/>
              <a:t>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전송할 </a:t>
            </a:r>
            <a:r>
              <a:rPr lang="ko-KR" altLang="en-US"/>
              <a:t>수 있도록 추상화 계층을 제공</a:t>
            </a:r>
          </a:p>
          <a:p>
            <a:pPr lvl="2"/>
            <a:r>
              <a:rPr lang="en-US" altLang="ko-KR" smtClean="0">
                <a:solidFill>
                  <a:srgbClr val="0000FF"/>
                </a:solidFill>
              </a:rPr>
              <a:t>DApp </a:t>
            </a:r>
            <a:r>
              <a:rPr lang="ko-KR" altLang="en-US">
                <a:solidFill>
                  <a:srgbClr val="0000FF"/>
                </a:solidFill>
              </a:rPr>
              <a:t>개발 </a:t>
            </a:r>
            <a:endParaRPr lang="en-US" altLang="ko-KR" smtClean="0">
              <a:solidFill>
                <a:srgbClr val="0000FF"/>
              </a:solidFill>
            </a:endParaRPr>
          </a:p>
          <a:p>
            <a:pPr lvl="3"/>
            <a:r>
              <a:rPr lang="ko-KR" altLang="en-US" smtClean="0"/>
              <a:t>웹 </a:t>
            </a:r>
            <a:r>
              <a:rPr lang="ko-KR" altLang="en-US"/>
              <a:t>브라우저 기반의 </a:t>
            </a:r>
            <a:r>
              <a:rPr lang="en-US" altLang="ko-KR"/>
              <a:t>DApp</a:t>
            </a:r>
            <a:r>
              <a:rPr lang="ko-KR" altLang="en-US"/>
              <a:t>을 만들 때 사용자 지갑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MetaMask)</a:t>
            </a:r>
            <a:r>
              <a:rPr lang="ko-KR" altLang="en-US"/>
              <a:t>과 블록체인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네트워크를 </a:t>
            </a:r>
            <a:r>
              <a:rPr lang="ko-KR" altLang="en-US"/>
              <a:t>연결하고</a:t>
            </a:r>
            <a:r>
              <a:rPr lang="en-US" altLang="ko-KR" smtClean="0"/>
              <a:t>, </a:t>
            </a:r>
            <a:r>
              <a:rPr lang="ko-KR" altLang="en-US" smtClean="0"/>
              <a:t>스마트 </a:t>
            </a:r>
            <a:r>
              <a:rPr lang="ko-KR" altLang="en-US"/>
              <a:t>컨트랙트를 배포하거나 상호작용하는 데 사용</a:t>
            </a:r>
          </a:p>
          <a:p>
            <a:pPr lvl="2"/>
            <a:r>
              <a:rPr lang="ko-KR" altLang="en-US" smtClean="0">
                <a:solidFill>
                  <a:srgbClr val="0000FF"/>
                </a:solidFill>
              </a:rPr>
              <a:t>기능 모듈</a:t>
            </a:r>
            <a:endParaRPr lang="en-US" altLang="ko-KR" smtClean="0">
              <a:solidFill>
                <a:srgbClr val="0000FF"/>
              </a:solidFill>
            </a:endParaRPr>
          </a:p>
          <a:p>
            <a:pPr lvl="3"/>
            <a:r>
              <a:rPr lang="en-US" altLang="ko-KR" smtClean="0"/>
              <a:t>web3.eth(</a:t>
            </a:r>
            <a:r>
              <a:rPr lang="ko-KR" altLang="en-US"/>
              <a:t>이더리움 관련</a:t>
            </a:r>
            <a:r>
              <a:rPr lang="en-US" altLang="ko-KR"/>
              <a:t>), web3.utils (</a:t>
            </a:r>
            <a:r>
              <a:rPr lang="ko-KR" altLang="en-US"/>
              <a:t>유틸리티 함수</a:t>
            </a:r>
            <a:r>
              <a:rPr lang="en-US" altLang="ko-KR"/>
              <a:t>), </a:t>
            </a:r>
            <a:r>
              <a:rPr lang="en-US" altLang="ko-KR" smtClean="0"/>
              <a:t>web3.shh(Whisper </a:t>
            </a:r>
            <a:r>
              <a:rPr lang="ko-KR" altLang="en-US"/>
              <a:t>프로토콜</a:t>
            </a:r>
            <a:r>
              <a:rPr lang="en-US" altLang="ko-KR"/>
              <a:t>), web3.bzz (Swarm </a:t>
            </a:r>
            <a:r>
              <a:rPr lang="ko-KR" altLang="en-US"/>
              <a:t>프로토콜</a:t>
            </a:r>
            <a:r>
              <a:rPr lang="en-US" altLang="ko-KR"/>
              <a:t>) </a:t>
            </a:r>
            <a:r>
              <a:rPr lang="ko-KR" altLang="en-US" smtClean="0"/>
              <a:t>등 다양한 </a:t>
            </a:r>
            <a:r>
              <a:rPr lang="ko-KR" altLang="en-US"/>
              <a:t>기능을 제공하는 모듈로 구성되어 있음</a:t>
            </a:r>
            <a:r>
              <a:rPr lang="en-US" altLang="ko-KR"/>
              <a:t>(</a:t>
            </a:r>
            <a:r>
              <a:rPr lang="ko-KR" altLang="en-US"/>
              <a:t>다만</a:t>
            </a:r>
            <a:r>
              <a:rPr lang="en-US" altLang="ko-KR"/>
              <a:t>, </a:t>
            </a:r>
            <a:r>
              <a:rPr lang="ko-KR" altLang="en-US"/>
              <a:t>현재는 주로 </a:t>
            </a:r>
            <a:r>
              <a:rPr lang="en-US" altLang="ko-KR"/>
              <a:t>web3.eth</a:t>
            </a:r>
            <a:r>
              <a:rPr lang="ko-KR" altLang="en-US"/>
              <a:t>와 </a:t>
            </a:r>
            <a:r>
              <a:rPr lang="en-US" altLang="ko-KR"/>
              <a:t>web3.utils</a:t>
            </a:r>
            <a:r>
              <a:rPr lang="ko-KR" altLang="en-US"/>
              <a:t>가 활용</a:t>
            </a:r>
            <a:r>
              <a:rPr lang="en-US" altLang="ko-KR"/>
              <a:t>)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407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Web3.js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solidFill>
                  <a:srgbClr val="C00000"/>
                </a:solidFill>
              </a:rPr>
              <a:t>Web3 </a:t>
            </a:r>
            <a:r>
              <a:rPr lang="ko-KR" altLang="en-US">
                <a:solidFill>
                  <a:srgbClr val="C00000"/>
                </a:solidFill>
              </a:rPr>
              <a:t>명령어</a:t>
            </a:r>
            <a:endParaRPr lang="ko-KR" altLang="en-US" b="0">
              <a:solidFill>
                <a:srgbClr val="C00000"/>
              </a:solidFill>
            </a:endParaRPr>
          </a:p>
          <a:p>
            <a:endParaRPr lang="ko-KR" alt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667" y="1988840"/>
            <a:ext cx="7162800" cy="442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37815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Web3.js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</a:rPr>
              <a:t>Web3 </a:t>
            </a:r>
            <a:r>
              <a:rPr lang="ko-KR" altLang="en-US" smtClean="0">
                <a:solidFill>
                  <a:srgbClr val="C00000"/>
                </a:solidFill>
              </a:rPr>
              <a:t>예제</a:t>
            </a:r>
            <a:endParaRPr lang="ko-KR" altLang="en-US" b="0">
              <a:solidFill>
                <a:srgbClr val="C00000"/>
              </a:solidFill>
            </a:endParaRPr>
          </a:p>
          <a:p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461" y="2276872"/>
            <a:ext cx="1874459" cy="485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257" y="3225006"/>
            <a:ext cx="72199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355" y="4782323"/>
            <a:ext cx="828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004" y="5661248"/>
            <a:ext cx="10953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아래쪽 화살표 4"/>
          <p:cNvSpPr/>
          <p:nvPr/>
        </p:nvSpPr>
        <p:spPr>
          <a:xfrm>
            <a:off x="4257115" y="4293096"/>
            <a:ext cx="217149" cy="1984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>
            <a:off x="4257114" y="5344183"/>
            <a:ext cx="217149" cy="1908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704319" y="4207674"/>
            <a:ext cx="1356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/>
              <a:t>npm init -y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704319" y="5239523"/>
            <a:ext cx="1980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/>
              <a:t>npm install web3</a:t>
            </a:r>
          </a:p>
        </p:txBody>
      </p:sp>
    </p:spTree>
    <p:extLst>
      <p:ext uri="{BB962C8B-B14F-4D97-AF65-F5344CB8AC3E}">
        <p14:creationId xmlns:p14="http://schemas.microsoft.com/office/powerpoint/2010/main" val="3224984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2515</TotalTime>
  <Words>1083</Words>
  <Application>Microsoft Office PowerPoint</Application>
  <PresentationFormat>화면 슬라이드 쇼(4:3)</PresentationFormat>
  <Paragraphs>249</Paragraphs>
  <Slides>40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1" baseType="lpstr">
      <vt:lpstr>Office 테마</vt:lpstr>
      <vt:lpstr>Geth, Node.js, Solidity, Web3.js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Geth</vt:lpstr>
      <vt:lpstr>Node.js 설치</vt:lpstr>
      <vt:lpstr>Node.js 설치</vt:lpstr>
      <vt:lpstr>Node.js 설치</vt:lpstr>
      <vt:lpstr>Node.js 설치</vt:lpstr>
      <vt:lpstr>Node.js 설치</vt:lpstr>
      <vt:lpstr>Node.js 설치</vt:lpstr>
      <vt:lpstr>Node.js 설치</vt:lpstr>
      <vt:lpstr>Solidity</vt:lpstr>
      <vt:lpstr>Solidity</vt:lpstr>
      <vt:lpstr>Solidity</vt:lpstr>
      <vt:lpstr>Solidity</vt:lpstr>
      <vt:lpstr>Solidity</vt:lpstr>
      <vt:lpstr>Solidity</vt:lpstr>
      <vt:lpstr>Solidity</vt:lpstr>
      <vt:lpstr>Solidity</vt:lpstr>
      <vt:lpstr>Solidity</vt:lpstr>
      <vt:lpstr>Solidity</vt:lpstr>
      <vt:lpstr>Web3</vt:lpstr>
      <vt:lpstr>Web3</vt:lpstr>
      <vt:lpstr>Web3.js</vt:lpstr>
      <vt:lpstr>Web3.js</vt:lpstr>
      <vt:lpstr>Web3.js</vt:lpstr>
      <vt:lpstr>Web3.js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Geth, Solidity 설치</dc:title>
  <dc:creator>Microsoft Corporation</dc:creator>
  <cp:lastModifiedBy>박인철</cp:lastModifiedBy>
  <cp:revision>105</cp:revision>
  <dcterms:created xsi:type="dcterms:W3CDTF">2006-10-05T04:04:58Z</dcterms:created>
  <dcterms:modified xsi:type="dcterms:W3CDTF">2025-11-10T11:21:17Z</dcterms:modified>
</cp:coreProperties>
</file>