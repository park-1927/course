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8" r:id="rId9"/>
    <p:sldId id="262" r:id="rId10"/>
    <p:sldId id="264" r:id="rId11"/>
    <p:sldId id="280" r:id="rId12"/>
    <p:sldId id="279" r:id="rId13"/>
    <p:sldId id="283" r:id="rId14"/>
    <p:sldId id="263" r:id="rId15"/>
    <p:sldId id="266" r:id="rId16"/>
    <p:sldId id="265" r:id="rId17"/>
    <p:sldId id="270" r:id="rId18"/>
    <p:sldId id="274" r:id="rId19"/>
    <p:sldId id="282" r:id="rId20"/>
    <p:sldId id="281" r:id="rId21"/>
    <p:sldId id="269" r:id="rId22"/>
    <p:sldId id="272" r:id="rId23"/>
    <p:sldId id="284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009900"/>
    <a:srgbClr val="E509A6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30" autoAdjust="0"/>
  </p:normalViewPr>
  <p:slideViewPr>
    <p:cSldViewPr>
      <p:cViewPr>
        <p:scale>
          <a:sx n="100" d="100"/>
          <a:sy n="100" d="100"/>
        </p:scale>
        <p:origin x="-153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="1">
                <a:solidFill>
                  <a:srgbClr val="C00000"/>
                </a:solidFill>
                <a:latin typeface="+mn-ea"/>
                <a:ea typeface="+mn-ea"/>
              </a:defRPr>
            </a:lvl1pPr>
            <a:lvl2pPr>
              <a:defRPr sz="1800" b="1">
                <a:solidFill>
                  <a:srgbClr val="0000FF"/>
                </a:solidFill>
                <a:latin typeface="+mn-ea"/>
                <a:ea typeface="+mn-ea"/>
              </a:defRPr>
            </a:lvl2pPr>
            <a:lvl3pPr>
              <a:defRPr sz="1600" b="1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defRPr sz="1400" b="1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defRPr sz="1400" b="1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destates.com/blog/content/%EB%B8%94%EB%A1%9D%EC%B2%B4%EC%9D%B8-%EA%B5%AC%EC%A1%B0%EC%99%80-%EB%B8%94%EB%A1%9D%EC%B2%B4%EC%9D%B8-%ED%8A%B8%EB%9E%9C%EC%9E%AD%EC%85%98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rownbears.tistory.com/39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brownbears.tistory.com/39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asset.works/news/articleView.html?idxno=4142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rownbears.tistory.com/39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on1seok.tistory.com/106" TargetMode="External"/><Relationship Id="rId2" Type="http://schemas.openxmlformats.org/officeDocument/2006/relationships/hyperlink" Target="https://ryublock.tistory.com/1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kwjdnjs.tistory.com/96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states.com/blog/content/%EB%B8%94%EB%A1%9D%EC%B2%B4%EC%9D%B8-%EA%B5%AC%EC%A1%B0%EC%99%80-%EB%B8%94%EB%A1%9D%EC%B2%B4%EC%9D%B8-%ED%8A%B8%EB%9E%9C%EC%9E%AD%EC%85%98" TargetMode="External"/><Relationship Id="rId2" Type="http://schemas.openxmlformats.org/officeDocument/2006/relationships/hyperlink" Target="https://velog.io/@choyeah/UTXO-Unspent-Transaction-Outpu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2400" b="1" u="sng">
                <a:hlinkClick r:id="rId2"/>
              </a:rPr>
              <a:t>블록체인 구조와 </a:t>
            </a:r>
            <a:r>
              <a:rPr lang="ko-KR" altLang="en-US" sz="2400" b="1" u="sng" smtClean="0">
                <a:hlinkClick r:id="rId2"/>
              </a:rPr>
              <a:t>블록체인 </a:t>
            </a:r>
            <a:r>
              <a:rPr lang="ko-KR" altLang="en-US" sz="2400" b="1" u="sng" smtClean="0">
                <a:hlinkClick r:id="rId2"/>
              </a:rPr>
              <a:t>트랜잭션</a:t>
            </a:r>
            <a:r>
              <a:rPr lang="en-US" altLang="ko-KR" sz="2400" b="1" u="sng" smtClean="0">
                <a:hlinkClick r:id="rId2"/>
              </a:rPr>
              <a:t/>
            </a:r>
            <a:br>
              <a:rPr lang="en-US" altLang="ko-KR" sz="2400" b="1" u="sng" smtClean="0">
                <a:hlinkClick r:id="rId2"/>
              </a:rPr>
            </a:br>
            <a:r>
              <a:rPr lang="en-US" altLang="ko-KR" sz="2400" b="1" u="sng" smtClean="0">
                <a:hlinkClick r:id="rId2"/>
              </a:rPr>
              <a:t/>
            </a:r>
            <a:br>
              <a:rPr lang="en-US" altLang="ko-KR" sz="2400" b="1" u="sng" smtClean="0">
                <a:hlinkClick r:id="rId2"/>
              </a:rPr>
            </a:br>
            <a:r>
              <a:rPr lang="ko-KR" altLang="en-US" sz="2400" b="1" smtClean="0"/>
              <a:t>비트코인과</a:t>
            </a:r>
            <a:r>
              <a:rPr lang="en-US" altLang="ko-KR" sz="2400" b="1" smtClean="0"/>
              <a:t> </a:t>
            </a:r>
            <a:r>
              <a:rPr lang="ko-KR" altLang="en-US" sz="2400" b="1" smtClean="0"/>
              <a:t>이더리움 비교</a:t>
            </a:r>
            <a:endParaRPr lang="ko-KR" altLang="en-US" sz="2400">
              <a:hlinkClick r:id="rId2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비트코인과 </a:t>
            </a:r>
            <a:r>
              <a:rPr lang="ko-KR" altLang="en-US" b="1" smtClean="0"/>
              <a:t>이더리움</a:t>
            </a:r>
            <a:endParaRPr lang="ko-KR" altLang="en-US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ko-KR" altLang="en-US" b="1" smtClean="0">
                <a:solidFill>
                  <a:srgbClr val="C00000"/>
                </a:solidFill>
              </a:rPr>
              <a:t>블록체인을</a:t>
            </a:r>
            <a:r>
              <a:rPr lang="en-US" altLang="ko-KR" b="1" smtClean="0">
                <a:solidFill>
                  <a:srgbClr val="C00000"/>
                </a:solidFill>
              </a:rPr>
              <a:t> </a:t>
            </a:r>
            <a:r>
              <a:rPr lang="ko-KR" altLang="en-US" b="1" smtClean="0">
                <a:solidFill>
                  <a:srgbClr val="C00000"/>
                </a:solidFill>
              </a:rPr>
              <a:t>위해 어떤 </a:t>
            </a:r>
            <a:r>
              <a:rPr lang="ko-KR" altLang="en-US" b="1">
                <a:solidFill>
                  <a:srgbClr val="C00000"/>
                </a:solidFill>
              </a:rPr>
              <a:t>것을 </a:t>
            </a:r>
            <a:r>
              <a:rPr lang="ko-KR" altLang="en-US" b="1" smtClean="0">
                <a:solidFill>
                  <a:srgbClr val="C00000"/>
                </a:solidFill>
              </a:rPr>
              <a:t>선택할까</a:t>
            </a:r>
            <a:r>
              <a:rPr lang="en-US" altLang="ko-KR" b="1" smtClean="0">
                <a:solidFill>
                  <a:srgbClr val="C00000"/>
                </a:solidFill>
              </a:rPr>
              <a:t>?</a:t>
            </a:r>
          </a:p>
          <a:p>
            <a:pPr lvl="1" fontAlgn="ctr"/>
            <a:r>
              <a:rPr lang="ko-KR" altLang="en-US" b="1" smtClean="0"/>
              <a:t>비트코인과 </a:t>
            </a:r>
            <a:r>
              <a:rPr lang="ko-KR" altLang="en-US" b="1"/>
              <a:t>이더리움은 각기 다른 특성을 가진 블록체인 플랫폼이며</a:t>
            </a:r>
            <a:r>
              <a:rPr lang="en-US" altLang="ko-KR" b="1"/>
              <a:t>,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어떤 </a:t>
            </a:r>
            <a:r>
              <a:rPr lang="ko-KR" altLang="en-US" b="1"/>
              <a:t>것을 선택할지는 </a:t>
            </a:r>
            <a:r>
              <a:rPr lang="ko-KR" altLang="en-US" b="1" u="sng">
                <a:solidFill>
                  <a:schemeClr val="accent6">
                    <a:lumMod val="75000"/>
                  </a:schemeClr>
                </a:solidFill>
              </a:rPr>
              <a:t>사용 목적과 개인의 선호도에 따라 </a:t>
            </a:r>
            <a:r>
              <a:rPr lang="ko-KR" altLang="en-US" b="1" u="sng" smtClean="0">
                <a:solidFill>
                  <a:schemeClr val="accent6">
                    <a:lumMod val="75000"/>
                  </a:schemeClr>
                </a:solidFill>
              </a:rPr>
              <a:t>달라짐</a:t>
            </a:r>
            <a:endParaRPr lang="en-US" altLang="ko-KR" b="1" u="sng" smtClean="0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r>
              <a:rPr lang="ko-KR" altLang="en-US" b="1" smtClean="0">
                <a:solidFill>
                  <a:srgbClr val="E509A6"/>
                </a:solidFill>
              </a:rPr>
              <a:t>비트코인</a:t>
            </a:r>
            <a:r>
              <a:rPr lang="en-US" altLang="ko-KR" b="1" smtClean="0">
                <a:solidFill>
                  <a:srgbClr val="E509A6"/>
                </a:solidFill>
              </a:rPr>
              <a:t>(</a:t>
            </a:r>
            <a:r>
              <a:rPr lang="en-US" altLang="ko-KR" b="1">
                <a:solidFill>
                  <a:srgbClr val="E509A6"/>
                </a:solidFill>
              </a:rPr>
              <a:t>Bitcoin</a:t>
            </a:r>
            <a:r>
              <a:rPr lang="en-US" altLang="ko-KR" b="1" smtClean="0">
                <a:solidFill>
                  <a:srgbClr val="E509A6"/>
                </a:solidFill>
              </a:rPr>
              <a:t>)</a:t>
            </a:r>
            <a:endParaRPr lang="en-US" altLang="ko-KR" b="1">
              <a:solidFill>
                <a:srgbClr val="E509A6"/>
              </a:solidFill>
            </a:endParaRPr>
          </a:p>
          <a:p>
            <a:pPr lvl="3" fontAlgn="ctr"/>
            <a:r>
              <a:rPr lang="ko-KR" altLang="en-US" b="1">
                <a:solidFill>
                  <a:schemeClr val="tx1"/>
                </a:solidFill>
              </a:rPr>
              <a:t>가치 저장 </a:t>
            </a:r>
            <a:r>
              <a:rPr lang="ko-KR" altLang="en-US" b="1" smtClean="0">
                <a:solidFill>
                  <a:schemeClr val="tx1"/>
                </a:solidFill>
              </a:rPr>
              <a:t>수단 </a:t>
            </a:r>
            <a:r>
              <a:rPr lang="en-US" altLang="ko-KR" b="1" smtClean="0">
                <a:solidFill>
                  <a:schemeClr val="tx1"/>
                </a:solidFill>
              </a:rPr>
              <a:t>-</a:t>
            </a:r>
            <a:r>
              <a:rPr lang="ko-KR" altLang="en-US" b="1">
                <a:solidFill>
                  <a:schemeClr val="tx1"/>
                </a:solidFill>
              </a:rPr>
              <a:t> 비트코인은 디지털 금이라고 불리며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희소성과 </a:t>
            </a:r>
            <a:r>
              <a:rPr lang="en-US" altLang="ko-KR" b="1" smtClean="0">
                <a:solidFill>
                  <a:schemeClr val="tx1"/>
                </a:solidFill>
              </a:rPr>
              <a:t/>
            </a:r>
            <a:br>
              <a:rPr lang="en-US" altLang="ko-KR" b="1" smtClean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탈중앙화된 특성을 </a:t>
            </a:r>
            <a:r>
              <a:rPr lang="ko-KR" altLang="en-US" b="1">
                <a:solidFill>
                  <a:schemeClr val="tx1"/>
                </a:solidFill>
              </a:rPr>
              <a:t>바탕으로 </a:t>
            </a:r>
            <a:r>
              <a:rPr lang="ko-KR" altLang="en-US" b="1" u="sng">
                <a:solidFill>
                  <a:srgbClr val="FF0000"/>
                </a:solidFill>
              </a:rPr>
              <a:t>가치 저장 수단으로 </a:t>
            </a:r>
            <a:r>
              <a:rPr lang="ko-KR" altLang="en-US" b="1" u="sng" smtClean="0">
                <a:solidFill>
                  <a:srgbClr val="FF0000"/>
                </a:solidFill>
              </a:rPr>
              <a:t>인식</a:t>
            </a:r>
            <a:r>
              <a:rPr lang="en-US" altLang="ko-KR" b="1" u="sng">
                <a:solidFill>
                  <a:srgbClr val="FF0000"/>
                </a:solidFill>
              </a:rPr>
              <a:t> </a:t>
            </a:r>
            <a:endParaRPr lang="ko-KR" altLang="en-US" b="1" u="sng">
              <a:solidFill>
                <a:srgbClr val="FF0000"/>
              </a:solidFill>
            </a:endParaRPr>
          </a:p>
          <a:p>
            <a:pPr lvl="3" fontAlgn="ctr"/>
            <a:r>
              <a:rPr lang="ko-KR" altLang="en-US" b="1" smtClean="0">
                <a:solidFill>
                  <a:schemeClr val="tx1"/>
                </a:solidFill>
              </a:rPr>
              <a:t>장점 </a:t>
            </a:r>
            <a:r>
              <a:rPr lang="en-US" altLang="ko-KR" b="1" smtClean="0">
                <a:solidFill>
                  <a:schemeClr val="tx1"/>
                </a:solidFill>
              </a:rPr>
              <a:t>-</a:t>
            </a:r>
            <a:r>
              <a:rPr lang="ko-KR" altLang="en-US" b="1">
                <a:solidFill>
                  <a:schemeClr val="tx1"/>
                </a:solidFill>
              </a:rPr>
              <a:t> 높은 보안성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탈중앙화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제한된 공급량 </a:t>
            </a:r>
          </a:p>
          <a:p>
            <a:pPr lvl="3" fontAlgn="ctr"/>
            <a:r>
              <a:rPr lang="ko-KR" altLang="en-US" b="1" smtClean="0">
                <a:solidFill>
                  <a:schemeClr val="tx1"/>
                </a:solidFill>
              </a:rPr>
              <a:t>단점 </a:t>
            </a:r>
            <a:r>
              <a:rPr lang="en-US" altLang="ko-KR" b="1" smtClean="0">
                <a:solidFill>
                  <a:schemeClr val="tx1"/>
                </a:solidFill>
              </a:rPr>
              <a:t>-</a:t>
            </a:r>
            <a:r>
              <a:rPr lang="ko-KR" altLang="en-US" b="1">
                <a:solidFill>
                  <a:schemeClr val="tx1"/>
                </a:solidFill>
              </a:rPr>
              <a:t> 높은 변동성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낮은 처리 속도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상대적으로 단순한 기능 </a:t>
            </a:r>
          </a:p>
          <a:p>
            <a:pPr lvl="3" fontAlgn="ctr"/>
            <a:r>
              <a:rPr lang="ko-KR" altLang="en-US" b="1">
                <a:solidFill>
                  <a:schemeClr val="tx1"/>
                </a:solidFill>
              </a:rPr>
              <a:t>주요 </a:t>
            </a:r>
            <a:r>
              <a:rPr lang="ko-KR" altLang="en-US" b="1" smtClean="0">
                <a:solidFill>
                  <a:schemeClr val="tx1"/>
                </a:solidFill>
              </a:rPr>
              <a:t>용도 </a:t>
            </a:r>
            <a:r>
              <a:rPr lang="en-US" altLang="ko-KR" b="1" smtClean="0">
                <a:solidFill>
                  <a:schemeClr val="tx1"/>
                </a:solidFill>
              </a:rPr>
              <a:t>-</a:t>
            </a:r>
            <a:r>
              <a:rPr lang="ko-KR" altLang="en-US" b="1">
                <a:solidFill>
                  <a:schemeClr val="tx1"/>
                </a:solidFill>
              </a:rPr>
              <a:t> 자산 축적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가치 저장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송금 </a:t>
            </a:r>
          </a:p>
          <a:p>
            <a:pPr lvl="2"/>
            <a:r>
              <a:rPr lang="ko-KR" altLang="en-US" b="1" smtClean="0">
                <a:solidFill>
                  <a:srgbClr val="E509A6"/>
                </a:solidFill>
              </a:rPr>
              <a:t>이더리움</a:t>
            </a:r>
            <a:r>
              <a:rPr lang="en-US" altLang="ko-KR" b="1" smtClean="0">
                <a:solidFill>
                  <a:srgbClr val="E509A6"/>
                </a:solidFill>
              </a:rPr>
              <a:t>(</a:t>
            </a:r>
            <a:r>
              <a:rPr lang="en-US" altLang="ko-KR" b="1">
                <a:solidFill>
                  <a:srgbClr val="E509A6"/>
                </a:solidFill>
              </a:rPr>
              <a:t>Ethereum</a:t>
            </a:r>
            <a:r>
              <a:rPr lang="en-US" altLang="ko-KR" b="1" smtClean="0">
                <a:solidFill>
                  <a:srgbClr val="E509A6"/>
                </a:solidFill>
              </a:rPr>
              <a:t>)</a:t>
            </a:r>
            <a:endParaRPr lang="en-US" altLang="ko-KR" b="1">
              <a:solidFill>
                <a:srgbClr val="E509A6"/>
              </a:solidFill>
            </a:endParaRPr>
          </a:p>
          <a:p>
            <a:pPr lvl="3"/>
            <a:r>
              <a:rPr lang="ko-KR" altLang="en-US" b="1">
                <a:solidFill>
                  <a:schemeClr val="tx1"/>
                </a:solidFill>
              </a:rPr>
              <a:t>스마트 컨트랙트 </a:t>
            </a:r>
            <a:r>
              <a:rPr lang="ko-KR" altLang="en-US" b="1" smtClean="0">
                <a:solidFill>
                  <a:schemeClr val="tx1"/>
                </a:solidFill>
              </a:rPr>
              <a:t>플랫폼 </a:t>
            </a:r>
            <a:r>
              <a:rPr lang="en-US" altLang="ko-KR" b="1" smtClean="0">
                <a:solidFill>
                  <a:schemeClr val="tx1"/>
                </a:solidFill>
              </a:rPr>
              <a:t>- </a:t>
            </a:r>
            <a:r>
              <a:rPr lang="ko-KR" altLang="en-US" b="1" smtClean="0">
                <a:solidFill>
                  <a:schemeClr val="tx1"/>
                </a:solidFill>
              </a:rPr>
              <a:t>블록체인 </a:t>
            </a:r>
            <a:r>
              <a:rPr lang="ko-KR" altLang="en-US" b="1">
                <a:solidFill>
                  <a:schemeClr val="tx1"/>
                </a:solidFill>
              </a:rPr>
              <a:t>위에서 스마트 컨트랙트와 </a:t>
            </a:r>
            <a:r>
              <a:rPr lang="en-US" altLang="ko-KR" b="1" smtClean="0">
                <a:solidFill>
                  <a:schemeClr val="tx1"/>
                </a:solidFill>
              </a:rPr>
              <a:t/>
            </a:r>
            <a:br>
              <a:rPr lang="en-US" altLang="ko-KR" b="1" smtClean="0">
                <a:solidFill>
                  <a:schemeClr val="tx1"/>
                </a:solidFill>
              </a:rPr>
            </a:br>
            <a:r>
              <a:rPr lang="en-US" altLang="ko-KR" b="1" smtClean="0">
                <a:solidFill>
                  <a:schemeClr val="tx1"/>
                </a:solidFill>
              </a:rPr>
              <a:t>DApp </a:t>
            </a:r>
            <a:r>
              <a:rPr lang="ko-KR" altLang="en-US" b="1" smtClean="0">
                <a:solidFill>
                  <a:schemeClr val="tx1"/>
                </a:solidFill>
              </a:rPr>
              <a:t>개발이 가능</a:t>
            </a:r>
            <a:r>
              <a:rPr lang="en-US" altLang="ko-KR" b="1">
                <a:solidFill>
                  <a:schemeClr val="tx1"/>
                </a:solidFill>
              </a:rPr>
              <a:t> </a:t>
            </a:r>
            <a:endParaRPr lang="ko-KR" altLang="en-US" b="1">
              <a:solidFill>
                <a:schemeClr val="tx1"/>
              </a:solidFill>
            </a:endParaRPr>
          </a:p>
          <a:p>
            <a:pPr lvl="3"/>
            <a:r>
              <a:rPr lang="ko-KR" altLang="en-US" b="1" smtClean="0">
                <a:solidFill>
                  <a:schemeClr val="tx1"/>
                </a:solidFill>
              </a:rPr>
              <a:t>장점 </a:t>
            </a:r>
            <a:r>
              <a:rPr lang="en-US" altLang="ko-KR" b="1" smtClean="0">
                <a:solidFill>
                  <a:schemeClr val="tx1"/>
                </a:solidFill>
              </a:rPr>
              <a:t>- </a:t>
            </a:r>
            <a:r>
              <a:rPr lang="ko-KR" altLang="en-US" b="1" smtClean="0">
                <a:solidFill>
                  <a:schemeClr val="tx1"/>
                </a:solidFill>
              </a:rPr>
              <a:t>다양한 </a:t>
            </a:r>
            <a:r>
              <a:rPr lang="ko-KR" altLang="en-US" b="1">
                <a:solidFill>
                  <a:schemeClr val="tx1"/>
                </a:solidFill>
              </a:rPr>
              <a:t>응용 프로그램 개발 가능성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유연한 플랫폼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활발한 개발 </a:t>
            </a:r>
            <a:r>
              <a:rPr lang="en-US" altLang="ko-KR" b="1" smtClean="0">
                <a:solidFill>
                  <a:schemeClr val="tx1"/>
                </a:solidFill>
              </a:rPr>
              <a:t/>
            </a:r>
            <a:br>
              <a:rPr lang="en-US" altLang="ko-KR" b="1" smtClean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커뮤니티</a:t>
            </a:r>
            <a:r>
              <a:rPr lang="ko-KR" altLang="en-US" b="1">
                <a:solidFill>
                  <a:schemeClr val="tx1"/>
                </a:solidFill>
              </a:rPr>
              <a:t> </a:t>
            </a:r>
          </a:p>
          <a:p>
            <a:pPr lvl="3"/>
            <a:r>
              <a:rPr lang="ko-KR" altLang="en-US" b="1" smtClean="0">
                <a:solidFill>
                  <a:schemeClr val="tx1"/>
                </a:solidFill>
              </a:rPr>
              <a:t>단점 </a:t>
            </a:r>
            <a:r>
              <a:rPr lang="en-US" altLang="ko-KR" b="1" smtClean="0">
                <a:solidFill>
                  <a:schemeClr val="tx1"/>
                </a:solidFill>
              </a:rPr>
              <a:t>- </a:t>
            </a:r>
            <a:r>
              <a:rPr lang="ko-KR" altLang="en-US" b="1" smtClean="0">
                <a:solidFill>
                  <a:schemeClr val="tx1"/>
                </a:solidFill>
              </a:rPr>
              <a:t>상대적으로 </a:t>
            </a:r>
            <a:r>
              <a:rPr lang="ko-KR" altLang="en-US" b="1">
                <a:solidFill>
                  <a:schemeClr val="tx1"/>
                </a:solidFill>
              </a:rPr>
              <a:t>낮은 보안성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높은 수수료</a:t>
            </a:r>
            <a:r>
              <a:rPr lang="en-US" altLang="ko-KR" b="1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중앙화 가능성 지적 </a:t>
            </a:r>
          </a:p>
          <a:p>
            <a:pPr lvl="3"/>
            <a:r>
              <a:rPr lang="ko-KR" altLang="en-US" b="1">
                <a:solidFill>
                  <a:schemeClr val="tx1"/>
                </a:solidFill>
              </a:rPr>
              <a:t>주요 </a:t>
            </a:r>
            <a:r>
              <a:rPr lang="ko-KR" altLang="en-US" b="1" smtClean="0">
                <a:solidFill>
                  <a:schemeClr val="tx1"/>
                </a:solidFill>
              </a:rPr>
              <a:t>용도 </a:t>
            </a:r>
            <a:r>
              <a:rPr lang="en-US" altLang="ko-KR" b="1" smtClean="0">
                <a:solidFill>
                  <a:schemeClr val="tx1"/>
                </a:solidFill>
              </a:rPr>
              <a:t>- </a:t>
            </a:r>
            <a:r>
              <a:rPr lang="en-US" altLang="ko-KR" b="1" u="sng" smtClean="0">
                <a:solidFill>
                  <a:srgbClr val="FF0000"/>
                </a:solidFill>
              </a:rPr>
              <a:t>DApp </a:t>
            </a:r>
            <a:r>
              <a:rPr lang="ko-KR" altLang="en-US" b="1" u="sng">
                <a:solidFill>
                  <a:srgbClr val="FF0000"/>
                </a:solidFill>
              </a:rPr>
              <a:t>개발</a:t>
            </a:r>
            <a:r>
              <a:rPr lang="en-US" altLang="ko-KR" b="1" u="sng">
                <a:solidFill>
                  <a:srgbClr val="FF0000"/>
                </a:solidFill>
              </a:rPr>
              <a:t>, </a:t>
            </a:r>
            <a:r>
              <a:rPr lang="ko-KR" altLang="en-US" b="1" u="sng">
                <a:solidFill>
                  <a:srgbClr val="FF0000"/>
                </a:solidFill>
              </a:rPr>
              <a:t>탈중앙화 금융</a:t>
            </a:r>
            <a:r>
              <a:rPr lang="en-US" altLang="ko-KR" b="1" u="sng">
                <a:solidFill>
                  <a:srgbClr val="FF0000"/>
                </a:solidFill>
              </a:rPr>
              <a:t>(DeFi), </a:t>
            </a:r>
            <a:r>
              <a:rPr lang="ko-KR" altLang="en-US" b="1" u="sng">
                <a:solidFill>
                  <a:srgbClr val="FF0000"/>
                </a:solidFill>
              </a:rPr>
              <a:t>대체 불가능 토큰</a:t>
            </a:r>
            <a:r>
              <a:rPr lang="en-US" altLang="ko-KR" b="1" u="sng">
                <a:solidFill>
                  <a:srgbClr val="FF0000"/>
                </a:solidFill>
              </a:rPr>
              <a:t>(NFT) </a:t>
            </a:r>
            <a:endParaRPr lang="ko-KR" altLang="en-US" b="1" u="sn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블록체인 </a:t>
            </a:r>
            <a:r>
              <a:rPr lang="ko-KR" altLang="en-US" b="1" smtClean="0"/>
              <a:t>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b="1">
                <a:solidFill>
                  <a:srgbClr val="C00000"/>
                </a:solidFill>
              </a:rPr>
              <a:t>블록체인 </a:t>
            </a:r>
            <a:r>
              <a:rPr lang="ko-KR" altLang="en-US" b="1" smtClean="0">
                <a:solidFill>
                  <a:srgbClr val="C00000"/>
                </a:solidFill>
              </a:rPr>
              <a:t>구조</a:t>
            </a:r>
            <a:r>
              <a:rPr lang="en-US" altLang="ko-KR" b="1" smtClean="0">
                <a:solidFill>
                  <a:srgbClr val="C00000"/>
                </a:solidFill>
              </a:rPr>
              <a:t>(</a:t>
            </a:r>
            <a:r>
              <a:rPr lang="ko-KR" altLang="en-US" b="1" smtClean="0">
                <a:solidFill>
                  <a:srgbClr val="C00000"/>
                </a:solidFill>
              </a:rPr>
              <a:t>비트코인과 이더리움</a:t>
            </a:r>
            <a:r>
              <a:rPr lang="en-US" altLang="ko-KR" b="1" smtClean="0">
                <a:solidFill>
                  <a:srgbClr val="C00000"/>
                </a:solidFill>
              </a:rPr>
              <a:t>)</a:t>
            </a:r>
            <a:r>
              <a:rPr lang="ko-KR" altLang="en-US" b="1" smtClean="0">
                <a:solidFill>
                  <a:srgbClr val="C00000"/>
                </a:solidFill>
              </a:rPr>
              <a:t> </a:t>
            </a:r>
            <a:r>
              <a:rPr lang="en-US" altLang="ko-KR" b="1" smtClean="0">
                <a:solidFill>
                  <a:srgbClr val="C00000"/>
                </a:solidFill>
              </a:rPr>
              <a:t>- </a:t>
            </a:r>
            <a:r>
              <a:rPr lang="ko-KR" altLang="en-US" b="1" smtClean="0">
                <a:solidFill>
                  <a:schemeClr val="tx1"/>
                </a:solidFill>
              </a:rPr>
              <a:t>블록체인을 </a:t>
            </a:r>
            <a:r>
              <a:rPr lang="ko-KR" altLang="en-US" b="1">
                <a:solidFill>
                  <a:schemeClr val="tx1"/>
                </a:solidFill>
              </a:rPr>
              <a:t>이루고 있는 </a:t>
            </a:r>
            <a:r>
              <a:rPr lang="en-US" altLang="ko-KR" b="1" smtClean="0">
                <a:solidFill>
                  <a:schemeClr val="tx1"/>
                </a:solidFill>
              </a:rPr>
              <a:t/>
            </a:r>
            <a:br>
              <a:rPr lang="en-US" altLang="ko-KR" b="1" smtClean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블록 </a:t>
            </a:r>
            <a:r>
              <a:rPr lang="ko-KR" altLang="en-US" b="1">
                <a:solidFill>
                  <a:schemeClr val="tx1"/>
                </a:solidFill>
              </a:rPr>
              <a:t>하나하나의 구조는 어떻게 구성되어 있을까요</a:t>
            </a:r>
            <a:r>
              <a:rPr lang="en-US" altLang="ko-KR" b="1">
                <a:solidFill>
                  <a:schemeClr val="tx1"/>
                </a:solidFill>
              </a:rPr>
              <a:t>? </a:t>
            </a:r>
            <a:endParaRPr lang="en-US" altLang="ko-KR" b="1" smtClean="0">
              <a:solidFill>
                <a:schemeClr val="tx1"/>
              </a:solidFill>
            </a:endParaRPr>
          </a:p>
          <a:p>
            <a:pPr lvl="1" fontAlgn="base"/>
            <a:r>
              <a:rPr lang="ko-KR" altLang="en-US" b="1" smtClean="0"/>
              <a:t>블록 </a:t>
            </a:r>
            <a:r>
              <a:rPr lang="ko-KR" altLang="en-US" b="1"/>
              <a:t>하나는 </a:t>
            </a:r>
            <a:r>
              <a:rPr lang="ko-KR" altLang="en-US" b="1">
                <a:solidFill>
                  <a:srgbClr val="0000FF"/>
                </a:solidFill>
              </a:rPr>
              <a:t>헤더</a:t>
            </a:r>
            <a:r>
              <a:rPr lang="en-US" altLang="ko-KR" b="1">
                <a:solidFill>
                  <a:srgbClr val="0000FF"/>
                </a:solidFill>
              </a:rPr>
              <a:t>(Header)</a:t>
            </a:r>
            <a:r>
              <a:rPr lang="ko-KR" altLang="en-US" b="1">
                <a:solidFill>
                  <a:srgbClr val="0000FF"/>
                </a:solidFill>
              </a:rPr>
              <a:t>와 바디</a:t>
            </a:r>
            <a:r>
              <a:rPr lang="en-US" altLang="ko-KR" b="1">
                <a:solidFill>
                  <a:srgbClr val="0000FF"/>
                </a:solidFill>
              </a:rPr>
              <a:t>(Body)</a:t>
            </a:r>
            <a:r>
              <a:rPr lang="ko-KR" altLang="en-US" b="1"/>
              <a:t>로 나눠져 </a:t>
            </a:r>
            <a:r>
              <a:rPr lang="ko-KR" altLang="en-US" b="1" smtClean="0"/>
              <a:t>있음</a:t>
            </a:r>
            <a:endParaRPr lang="en-US" altLang="ko-KR" b="1" smtClean="0"/>
          </a:p>
          <a:p>
            <a:pPr lvl="2" fontAlgn="base"/>
            <a:r>
              <a:rPr lang="ko-KR" altLang="en-US" b="1" smtClean="0"/>
              <a:t>헤더는 </a:t>
            </a:r>
            <a:r>
              <a:rPr lang="ko-KR" altLang="en-US" b="1" smtClean="0">
                <a:solidFill>
                  <a:schemeClr val="accent6">
                    <a:lumMod val="75000"/>
                  </a:schemeClr>
                </a:solidFill>
              </a:rPr>
              <a:t>메타데이터</a:t>
            </a:r>
            <a:r>
              <a:rPr lang="en-US" altLang="ko-KR" b="1" smtClean="0"/>
              <a:t>, </a:t>
            </a:r>
            <a:r>
              <a:rPr lang="ko-KR" altLang="en-US" b="1" smtClean="0"/>
              <a:t>바디는 </a:t>
            </a:r>
            <a:r>
              <a:rPr lang="ko-KR" altLang="en-US" b="1">
                <a:solidFill>
                  <a:schemeClr val="accent6">
                    <a:lumMod val="75000"/>
                  </a:schemeClr>
                </a:solidFill>
              </a:rPr>
              <a:t>트랜잭션 리스트로 </a:t>
            </a:r>
            <a:r>
              <a:rPr lang="ko-KR" altLang="en-US" b="1" smtClean="0"/>
              <a:t>구성</a:t>
            </a:r>
            <a:endParaRPr lang="en-US" altLang="ko-KR" b="1"/>
          </a:p>
          <a:p>
            <a:pPr lvl="3" fontAlgn="base"/>
            <a:endParaRPr lang="en-US" altLang="ko-KR" b="1" smtClean="0"/>
          </a:p>
          <a:p>
            <a:pPr lvl="3" fontAlgn="base"/>
            <a:r>
              <a:rPr lang="ko-KR" altLang="en-US" b="1" smtClean="0"/>
              <a:t>메타데이터 </a:t>
            </a:r>
            <a:r>
              <a:rPr lang="en-US" altLang="ko-KR" b="1" smtClean="0"/>
              <a:t>-</a:t>
            </a:r>
            <a:r>
              <a:rPr lang="ko-KR" altLang="en-US" b="1" smtClean="0"/>
              <a:t> </a:t>
            </a:r>
            <a:r>
              <a:rPr lang="ko-KR" altLang="en-US" b="1" u="sng">
                <a:solidFill>
                  <a:srgbClr val="006600"/>
                </a:solidFill>
              </a:rPr>
              <a:t>이 블록을 누가</a:t>
            </a:r>
            <a:r>
              <a:rPr lang="en-US" altLang="ko-KR" b="1" u="sng">
                <a:solidFill>
                  <a:srgbClr val="006600"/>
                </a:solidFill>
              </a:rPr>
              <a:t>, </a:t>
            </a:r>
            <a:r>
              <a:rPr lang="ko-KR" altLang="en-US" b="1" u="sng">
                <a:solidFill>
                  <a:srgbClr val="006600"/>
                </a:solidFill>
              </a:rPr>
              <a:t>언제 생성한 블록인지</a:t>
            </a:r>
            <a:r>
              <a:rPr lang="en-US" altLang="ko-KR" b="1" u="sng">
                <a:solidFill>
                  <a:srgbClr val="006600"/>
                </a:solidFill>
              </a:rPr>
              <a:t>, </a:t>
            </a:r>
            <a:r>
              <a:rPr lang="ko-KR" altLang="en-US" b="1" u="sng">
                <a:solidFill>
                  <a:srgbClr val="006600"/>
                </a:solidFill>
              </a:rPr>
              <a:t>이 블록의 크기와 </a:t>
            </a:r>
            <a:r>
              <a:rPr lang="en-US" altLang="ko-KR" b="1" u="sng" smtClean="0">
                <a:solidFill>
                  <a:srgbClr val="006600"/>
                </a:solidFill>
              </a:rPr>
              <a:t/>
            </a:r>
            <a:br>
              <a:rPr lang="en-US" altLang="ko-KR" b="1" u="sng" smtClean="0">
                <a:solidFill>
                  <a:srgbClr val="006600"/>
                </a:solidFill>
              </a:rPr>
            </a:br>
            <a:r>
              <a:rPr lang="ko-KR" altLang="en-US" b="1" u="sng" smtClean="0">
                <a:solidFill>
                  <a:srgbClr val="006600"/>
                </a:solidFill>
              </a:rPr>
              <a:t>총 </a:t>
            </a:r>
            <a:r>
              <a:rPr lang="ko-KR" altLang="en-US" b="1" u="sng">
                <a:solidFill>
                  <a:srgbClr val="006600"/>
                </a:solidFill>
              </a:rPr>
              <a:t>코인 전송량은 얼마인지 같은 해당 블록 자체를 설명하는 </a:t>
            </a:r>
            <a:r>
              <a:rPr lang="en-US" altLang="ko-KR" b="1" u="sng" smtClean="0">
                <a:solidFill>
                  <a:srgbClr val="006600"/>
                </a:solidFill>
              </a:rPr>
              <a:t/>
            </a:r>
            <a:br>
              <a:rPr lang="en-US" altLang="ko-KR" b="1" u="sng" smtClean="0">
                <a:solidFill>
                  <a:srgbClr val="006600"/>
                </a:solidFill>
              </a:rPr>
            </a:br>
            <a:r>
              <a:rPr lang="ko-KR" altLang="en-US" b="1" u="sng" smtClean="0">
                <a:solidFill>
                  <a:srgbClr val="006600"/>
                </a:solidFill>
              </a:rPr>
              <a:t>데이터</a:t>
            </a:r>
            <a:r>
              <a:rPr lang="ko-KR" altLang="en-US" b="1" smtClean="0"/>
              <a:t> </a:t>
            </a:r>
            <a:r>
              <a:rPr lang="en-US" altLang="ko-KR" b="1" smtClean="0">
                <a:sym typeface="Wingdings" panose="05000000000000000000" pitchFamily="2" charset="2"/>
              </a:rPr>
              <a:t></a:t>
            </a:r>
            <a:r>
              <a:rPr lang="ko-KR" altLang="en-US" b="1"/>
              <a:t> 블록의 가장 </a:t>
            </a:r>
            <a:r>
              <a:rPr lang="ko-KR" altLang="en-US" b="1" smtClean="0"/>
              <a:t>상단에 </a:t>
            </a:r>
            <a:r>
              <a:rPr lang="ko-KR" altLang="en-US" b="1"/>
              <a:t>위치하기 때문에 블록 헤더</a:t>
            </a:r>
            <a:r>
              <a:rPr lang="en-US" altLang="ko-KR" b="1"/>
              <a:t>(Header)</a:t>
            </a:r>
            <a:r>
              <a:rPr lang="ko-KR" altLang="en-US" b="1"/>
              <a:t>라고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부르기도 함</a:t>
            </a:r>
            <a:endParaRPr lang="ko-KR" altLang="en-US" b="1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655" y="3933056"/>
            <a:ext cx="1914525" cy="2761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437112"/>
            <a:ext cx="4991274" cy="1981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828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블록체인 </a:t>
            </a:r>
            <a:r>
              <a:rPr lang="ko-KR" altLang="en-US" b="1" smtClean="0"/>
              <a:t>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/>
              <a:t>블록체인 구조</a:t>
            </a:r>
            <a:r>
              <a:rPr lang="en-US" altLang="ko-KR"/>
              <a:t>(</a:t>
            </a:r>
            <a:r>
              <a:rPr lang="ko-KR" altLang="en-US"/>
              <a:t>비트코인과 이더리움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>
                <a:solidFill>
                  <a:schemeClr val="tx1"/>
                </a:solidFill>
              </a:rPr>
              <a:t>블록체인을 이루고 있는 </a:t>
            </a:r>
            <a:r>
              <a:rPr lang="en-US" altLang="ko-KR">
                <a:solidFill>
                  <a:schemeClr val="tx1"/>
                </a:solidFill>
              </a:rPr>
              <a:t/>
            </a:r>
            <a:br>
              <a:rPr lang="en-US" altLang="ko-KR">
                <a:solidFill>
                  <a:schemeClr val="tx1"/>
                </a:solidFill>
              </a:rPr>
            </a:br>
            <a:r>
              <a:rPr lang="ko-KR" altLang="en-US">
                <a:solidFill>
                  <a:schemeClr val="tx1"/>
                </a:solidFill>
              </a:rPr>
              <a:t>블록 하나하나의 구조는 어떻게 구성되어 있을까요</a:t>
            </a:r>
            <a:r>
              <a:rPr lang="en-US" altLang="ko-KR">
                <a:solidFill>
                  <a:schemeClr val="tx1"/>
                </a:solidFill>
              </a:rPr>
              <a:t>? </a:t>
            </a:r>
          </a:p>
          <a:p>
            <a:pPr lvl="1" fontAlgn="base"/>
            <a:r>
              <a:rPr lang="ko-KR" altLang="en-US" b="1" smtClean="0">
                <a:solidFill>
                  <a:srgbClr val="0000FF"/>
                </a:solidFill>
              </a:rPr>
              <a:t>헤더의 </a:t>
            </a:r>
            <a:r>
              <a:rPr lang="ko-KR" altLang="en-US" b="1" smtClean="0">
                <a:solidFill>
                  <a:srgbClr val="0000FF"/>
                </a:solidFill>
              </a:rPr>
              <a:t>각 데이터는 </a:t>
            </a:r>
            <a:r>
              <a:rPr lang="ko-KR" altLang="en-US" b="1">
                <a:solidFill>
                  <a:srgbClr val="0000FF"/>
                </a:solidFill>
              </a:rPr>
              <a:t>무엇을 </a:t>
            </a:r>
            <a:r>
              <a:rPr lang="ko-KR" altLang="en-US" b="1" smtClean="0">
                <a:solidFill>
                  <a:srgbClr val="0000FF"/>
                </a:solidFill>
              </a:rPr>
              <a:t>의미할까</a:t>
            </a:r>
            <a:r>
              <a:rPr lang="en-US" altLang="ko-KR" b="1" smtClean="0">
                <a:solidFill>
                  <a:srgbClr val="0000FF"/>
                </a:solidFill>
              </a:rPr>
              <a:t>?</a:t>
            </a:r>
          </a:p>
          <a:p>
            <a:pPr lvl="2" fontAlgn="base"/>
            <a:r>
              <a:rPr lang="ko-KR" altLang="en-US" b="1" smtClean="0">
                <a:solidFill>
                  <a:srgbClr val="E509A6"/>
                </a:solidFill>
              </a:rPr>
              <a:t>버전</a:t>
            </a:r>
            <a:endParaRPr lang="ko-KR" altLang="en-US" b="1">
              <a:solidFill>
                <a:srgbClr val="E509A6"/>
              </a:solidFill>
            </a:endParaRPr>
          </a:p>
          <a:p>
            <a:pPr lvl="3" fontAlgn="base"/>
            <a:r>
              <a:rPr lang="ko-KR" altLang="en-US" sz="1500" b="1" smtClean="0">
                <a:solidFill>
                  <a:srgbClr val="00CC00"/>
                </a:solidFill>
              </a:rPr>
              <a:t>해당 </a:t>
            </a:r>
            <a:r>
              <a:rPr lang="ko-KR" altLang="en-US" sz="1500" b="1">
                <a:solidFill>
                  <a:srgbClr val="00CC00"/>
                </a:solidFill>
              </a:rPr>
              <a:t>블록이 비트코인의 어떤 버전을 </a:t>
            </a:r>
            <a:r>
              <a:rPr lang="ko-KR" altLang="en-US" sz="1500" b="1"/>
              <a:t>사용하고 있는지 </a:t>
            </a:r>
            <a:r>
              <a:rPr lang="ko-KR" altLang="en-US" sz="1500" b="1" smtClean="0"/>
              <a:t>표기</a:t>
            </a:r>
            <a:endParaRPr lang="en-US" altLang="ko-KR" sz="1500" b="1" smtClean="0"/>
          </a:p>
          <a:p>
            <a:pPr lvl="3" fontAlgn="base"/>
            <a:r>
              <a:rPr lang="ko-KR" altLang="en-US" sz="1500" b="1" smtClean="0"/>
              <a:t>이는 </a:t>
            </a:r>
            <a:r>
              <a:rPr lang="ko-KR" altLang="en-US" sz="1500" b="1"/>
              <a:t>이후에 있을 수 있는 소프트웨어 프로토콜의 </a:t>
            </a:r>
            <a:r>
              <a:rPr lang="ko-KR" altLang="en-US" sz="1500" b="1">
                <a:solidFill>
                  <a:srgbClr val="00CC00"/>
                </a:solidFill>
              </a:rPr>
              <a:t>업데이트를</a:t>
            </a:r>
            <a:r>
              <a:rPr lang="ko-KR" altLang="en-US" sz="1500" b="1"/>
              <a:t> 추적하기 </a:t>
            </a:r>
            <a:r>
              <a:rPr lang="en-US" altLang="ko-KR" sz="1500" b="1" smtClean="0"/>
              <a:t/>
            </a:r>
            <a:br>
              <a:rPr lang="en-US" altLang="ko-KR" sz="1500" b="1" smtClean="0"/>
            </a:br>
            <a:r>
              <a:rPr lang="ko-KR" altLang="en-US" sz="1500" b="1" smtClean="0"/>
              <a:t>위한 버전 번호</a:t>
            </a:r>
            <a:endParaRPr lang="en-US" altLang="ko-KR" sz="1500" b="1"/>
          </a:p>
          <a:p>
            <a:pPr lvl="2" fontAlgn="base"/>
            <a:r>
              <a:rPr lang="ko-KR" altLang="en-US" b="1" smtClean="0">
                <a:solidFill>
                  <a:srgbClr val="E509A6"/>
                </a:solidFill>
              </a:rPr>
              <a:t>이전 </a:t>
            </a:r>
            <a:r>
              <a:rPr lang="ko-KR" altLang="en-US" b="1">
                <a:solidFill>
                  <a:srgbClr val="E509A6"/>
                </a:solidFill>
              </a:rPr>
              <a:t>블록 헤더 해시</a:t>
            </a:r>
          </a:p>
          <a:p>
            <a:pPr lvl="3" fontAlgn="base"/>
            <a:r>
              <a:rPr lang="ko-KR" altLang="en-US" sz="1500" b="1" smtClean="0"/>
              <a:t>블록체인을 </a:t>
            </a:r>
            <a:r>
              <a:rPr lang="ko-KR" altLang="en-US" sz="1500" b="1">
                <a:solidFill>
                  <a:srgbClr val="00CC00"/>
                </a:solidFill>
              </a:rPr>
              <a:t>체인으로 묶어주는 </a:t>
            </a:r>
            <a:r>
              <a:rPr lang="ko-KR" altLang="en-US" sz="1500" b="1"/>
              <a:t>중요한 </a:t>
            </a:r>
            <a:r>
              <a:rPr lang="ko-KR" altLang="en-US" sz="1500" b="1" smtClean="0"/>
              <a:t>개념</a:t>
            </a:r>
            <a:endParaRPr lang="en-US" altLang="ko-KR" sz="1500" b="1" smtClean="0"/>
          </a:p>
          <a:p>
            <a:pPr lvl="4" fontAlgn="base"/>
            <a:r>
              <a:rPr lang="ko-KR" altLang="en-US" sz="1500" b="1" smtClean="0"/>
              <a:t>예를 </a:t>
            </a:r>
            <a:r>
              <a:rPr lang="ko-KR" altLang="en-US" sz="1500" b="1"/>
              <a:t>들어</a:t>
            </a:r>
            <a:r>
              <a:rPr lang="en-US" altLang="ko-KR" sz="1500" b="1"/>
              <a:t>, </a:t>
            </a:r>
            <a:r>
              <a:rPr lang="en-US" altLang="ko-KR" sz="1500" b="1" u="sng">
                <a:solidFill>
                  <a:srgbClr val="FF0000"/>
                </a:solidFill>
              </a:rPr>
              <a:t>101</a:t>
            </a:r>
            <a:r>
              <a:rPr lang="ko-KR" altLang="en-US" sz="1500" b="1" u="sng">
                <a:solidFill>
                  <a:srgbClr val="FF0000"/>
                </a:solidFill>
              </a:rPr>
              <a:t>번째 블록을 채굴하려는 채굴자</a:t>
            </a:r>
            <a:r>
              <a:rPr lang="en-US" altLang="ko-KR" sz="1500" b="1" u="sng">
                <a:solidFill>
                  <a:srgbClr val="FF0000"/>
                </a:solidFill>
              </a:rPr>
              <a:t>(Node)</a:t>
            </a:r>
            <a:r>
              <a:rPr lang="ko-KR" altLang="en-US" sz="1500" b="1" u="sng">
                <a:solidFill>
                  <a:srgbClr val="FF0000"/>
                </a:solidFill>
              </a:rPr>
              <a:t>가 </a:t>
            </a:r>
            <a:r>
              <a:rPr lang="en-US" altLang="ko-KR" sz="1500" b="1" u="sng">
                <a:solidFill>
                  <a:srgbClr val="FF0000"/>
                </a:solidFill>
              </a:rPr>
              <a:t>100</a:t>
            </a:r>
            <a:r>
              <a:rPr lang="ko-KR" altLang="en-US" sz="1500" b="1" u="sng">
                <a:solidFill>
                  <a:srgbClr val="FF0000"/>
                </a:solidFill>
              </a:rPr>
              <a:t>번째 </a:t>
            </a:r>
            <a:r>
              <a:rPr lang="en-US" altLang="ko-KR" sz="1500" b="1" u="sng" smtClean="0">
                <a:solidFill>
                  <a:srgbClr val="FF0000"/>
                </a:solidFill>
              </a:rPr>
              <a:t/>
            </a:r>
            <a:br>
              <a:rPr lang="en-US" altLang="ko-KR" sz="1500" b="1" u="sng" smtClean="0">
                <a:solidFill>
                  <a:srgbClr val="FF0000"/>
                </a:solidFill>
              </a:rPr>
            </a:br>
            <a:r>
              <a:rPr lang="ko-KR" altLang="en-US" sz="1500" b="1" u="sng" smtClean="0">
                <a:solidFill>
                  <a:srgbClr val="FF0000"/>
                </a:solidFill>
              </a:rPr>
              <a:t>블록을 </a:t>
            </a:r>
            <a:r>
              <a:rPr lang="ko-KR" altLang="en-US" sz="1500" b="1" u="sng">
                <a:solidFill>
                  <a:srgbClr val="FF0000"/>
                </a:solidFill>
              </a:rPr>
              <a:t>전달받았을 때 해당 블록의 헤더 데이터를 두 번 해시해서 </a:t>
            </a:r>
            <a:r>
              <a:rPr lang="en-US" altLang="ko-KR" sz="1500" b="1" u="sng" smtClean="0">
                <a:solidFill>
                  <a:srgbClr val="FF0000"/>
                </a:solidFill>
              </a:rPr>
              <a:t/>
            </a:r>
            <a:br>
              <a:rPr lang="en-US" altLang="ko-KR" sz="1500" b="1" u="sng" smtClean="0">
                <a:solidFill>
                  <a:srgbClr val="FF0000"/>
                </a:solidFill>
              </a:rPr>
            </a:br>
            <a:r>
              <a:rPr lang="en-US" altLang="ko-KR" sz="1500" b="1" u="sng" smtClean="0">
                <a:solidFill>
                  <a:srgbClr val="FF0000"/>
                </a:solidFill>
              </a:rPr>
              <a:t>101</a:t>
            </a:r>
            <a:r>
              <a:rPr lang="ko-KR" altLang="en-US" sz="1500" b="1" u="sng">
                <a:solidFill>
                  <a:srgbClr val="FF0000"/>
                </a:solidFill>
              </a:rPr>
              <a:t>번째 블록에 담게 되는 </a:t>
            </a:r>
            <a:r>
              <a:rPr lang="ko-KR" altLang="en-US" sz="1500" b="1" u="sng" smtClean="0">
                <a:solidFill>
                  <a:srgbClr val="FF0000"/>
                </a:solidFill>
              </a:rPr>
              <a:t>것임</a:t>
            </a:r>
            <a:endParaRPr lang="en-US" altLang="ko-KR" sz="1500" b="1" u="sng" smtClean="0">
              <a:solidFill>
                <a:srgbClr val="FF0000"/>
              </a:solidFill>
            </a:endParaRPr>
          </a:p>
          <a:p>
            <a:pPr lvl="4" fontAlgn="base"/>
            <a:r>
              <a:rPr lang="ko-KR" altLang="en-US" sz="1500" b="1" smtClean="0"/>
              <a:t>이전 </a:t>
            </a:r>
            <a:r>
              <a:rPr lang="ko-KR" altLang="en-US" sz="1500" b="1"/>
              <a:t>블록 헤더 해시는 흔히 블록 해시</a:t>
            </a:r>
            <a:r>
              <a:rPr lang="en-US" altLang="ko-KR" sz="1500" b="1"/>
              <a:t>(Block Hash)</a:t>
            </a:r>
            <a:r>
              <a:rPr lang="ko-KR" altLang="en-US" sz="1500" b="1"/>
              <a:t>라고 부르기도 </a:t>
            </a:r>
            <a:r>
              <a:rPr lang="ko-KR" altLang="en-US" sz="1500" b="1" smtClean="0"/>
              <a:t>함</a:t>
            </a:r>
            <a:endParaRPr lang="en-US" altLang="ko-KR" sz="1500" b="1" smtClean="0"/>
          </a:p>
          <a:p>
            <a:pPr lvl="5" fontAlgn="base"/>
            <a:r>
              <a:rPr lang="ko-KR" altLang="en-US" sz="1500" b="1" smtClean="0"/>
              <a:t>이 </a:t>
            </a:r>
            <a:r>
              <a:rPr lang="ko-KR" altLang="en-US" sz="1500" b="1"/>
              <a:t>블록 해시가 블록 전체를 해시한 </a:t>
            </a:r>
            <a:r>
              <a:rPr lang="ko-KR" altLang="en-US" sz="1500" b="1" smtClean="0"/>
              <a:t>데이터인지</a:t>
            </a:r>
            <a:r>
              <a:rPr lang="en-US" altLang="ko-KR" sz="1500" b="1"/>
              <a:t>, </a:t>
            </a:r>
            <a:r>
              <a:rPr lang="ko-KR" altLang="en-US" sz="1500" b="1"/>
              <a:t>이 해시 </a:t>
            </a:r>
            <a:r>
              <a:rPr lang="en-US" altLang="ko-KR" sz="1500" b="1" smtClean="0"/>
              <a:t/>
            </a:r>
            <a:br>
              <a:rPr lang="en-US" altLang="ko-KR" sz="1500" b="1" smtClean="0"/>
            </a:br>
            <a:r>
              <a:rPr lang="ko-KR" altLang="en-US" sz="1500" b="1" smtClean="0"/>
              <a:t>데이터가 </a:t>
            </a:r>
            <a:r>
              <a:rPr lang="ko-KR" altLang="en-US" sz="1500" b="1"/>
              <a:t>담겨있는 블록을 해시한 </a:t>
            </a:r>
            <a:r>
              <a:rPr lang="ko-KR" altLang="en-US" sz="1500" b="1" smtClean="0"/>
              <a:t>데이터인지 </a:t>
            </a:r>
            <a:r>
              <a:rPr lang="ko-KR" altLang="en-US" sz="1500" b="1"/>
              <a:t>알 수 없기 때문에 보다 정확하게 특징짓기 위해 </a:t>
            </a:r>
            <a:r>
              <a:rPr lang="ko-KR" altLang="en-US" sz="1500" b="1" smtClean="0"/>
              <a:t>이전 </a:t>
            </a:r>
            <a:r>
              <a:rPr lang="ko-KR" altLang="en-US" sz="1500" b="1"/>
              <a:t>블록 헤더 해시라고 </a:t>
            </a:r>
            <a:r>
              <a:rPr lang="ko-KR" altLang="en-US" sz="1500" b="1" smtClean="0"/>
              <a:t>명함</a:t>
            </a:r>
            <a:endParaRPr lang="en-US" altLang="ko-KR" sz="1500" b="1"/>
          </a:p>
        </p:txBody>
      </p:sp>
    </p:spTree>
    <p:extLst>
      <p:ext uri="{BB962C8B-B14F-4D97-AF65-F5344CB8AC3E}">
        <p14:creationId xmlns:p14="http://schemas.microsoft.com/office/powerpoint/2010/main" val="375243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블록체인 </a:t>
            </a:r>
            <a:r>
              <a:rPr lang="ko-KR" altLang="en-US" b="1" smtClean="0"/>
              <a:t>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ko-KR" altLang="en-US" sz="2200"/>
              <a:t>블록체인 구조</a:t>
            </a:r>
            <a:r>
              <a:rPr lang="en-US" altLang="ko-KR" sz="2200"/>
              <a:t>(</a:t>
            </a:r>
            <a:r>
              <a:rPr lang="ko-KR" altLang="en-US" sz="2200"/>
              <a:t>비트코인과 이더리움</a:t>
            </a:r>
            <a:r>
              <a:rPr lang="en-US" altLang="ko-KR" sz="2200"/>
              <a:t>)</a:t>
            </a:r>
            <a:r>
              <a:rPr lang="ko-KR" altLang="en-US" sz="2200"/>
              <a:t> </a:t>
            </a:r>
            <a:r>
              <a:rPr lang="en-US" altLang="ko-KR" sz="2200"/>
              <a:t>- </a:t>
            </a:r>
            <a:r>
              <a:rPr lang="ko-KR" altLang="en-US" sz="2200">
                <a:solidFill>
                  <a:schemeClr val="tx1"/>
                </a:solidFill>
              </a:rPr>
              <a:t>블록체인을 이루고 </a:t>
            </a:r>
            <a:r>
              <a:rPr lang="ko-KR" altLang="en-US" sz="2200">
                <a:solidFill>
                  <a:schemeClr val="tx1"/>
                </a:solidFill>
              </a:rPr>
              <a:t>있는 </a:t>
            </a:r>
            <a:r>
              <a:rPr lang="en-US" altLang="ko-KR" sz="2200" smtClean="0">
                <a:solidFill>
                  <a:schemeClr val="tx1"/>
                </a:solidFill>
              </a:rPr>
              <a:t/>
            </a:r>
            <a:br>
              <a:rPr lang="en-US" altLang="ko-KR" sz="2200" smtClean="0">
                <a:solidFill>
                  <a:schemeClr val="tx1"/>
                </a:solidFill>
              </a:rPr>
            </a:br>
            <a:r>
              <a:rPr lang="ko-KR" altLang="en-US" sz="2200" smtClean="0">
                <a:solidFill>
                  <a:schemeClr val="tx1"/>
                </a:solidFill>
              </a:rPr>
              <a:t>블록 </a:t>
            </a:r>
            <a:r>
              <a:rPr lang="ko-KR" altLang="en-US" sz="2200">
                <a:solidFill>
                  <a:schemeClr val="tx1"/>
                </a:solidFill>
              </a:rPr>
              <a:t>하나하나의 구조는 어떻게 구성되어 있을까요</a:t>
            </a:r>
            <a:r>
              <a:rPr lang="en-US" altLang="ko-KR" sz="2200">
                <a:solidFill>
                  <a:schemeClr val="tx1"/>
                </a:solidFill>
              </a:rPr>
              <a:t>? </a:t>
            </a:r>
          </a:p>
          <a:p>
            <a:pPr lvl="1" fontAlgn="base"/>
            <a:r>
              <a:rPr lang="ko-KR" altLang="en-US" sz="1900" b="1" smtClean="0">
                <a:solidFill>
                  <a:srgbClr val="0000FF"/>
                </a:solidFill>
              </a:rPr>
              <a:t>헤더의 </a:t>
            </a:r>
            <a:r>
              <a:rPr lang="ko-KR" altLang="en-US" sz="1900" b="1">
                <a:solidFill>
                  <a:srgbClr val="0000FF"/>
                </a:solidFill>
              </a:rPr>
              <a:t>각 데이터는 무엇을 의미할까</a:t>
            </a:r>
            <a:r>
              <a:rPr lang="en-US" altLang="ko-KR" sz="1900" b="1">
                <a:solidFill>
                  <a:srgbClr val="0000FF"/>
                </a:solidFill>
              </a:rPr>
              <a:t>?</a:t>
            </a:r>
          </a:p>
          <a:p>
            <a:pPr lvl="2" fontAlgn="base"/>
            <a:r>
              <a:rPr lang="en-US" altLang="ko-KR" sz="1700" b="1" smtClean="0">
                <a:solidFill>
                  <a:srgbClr val="E509A6"/>
                </a:solidFill>
              </a:rPr>
              <a:t>3</a:t>
            </a:r>
            <a:r>
              <a:rPr lang="en-US" altLang="ko-KR" sz="1700" b="1">
                <a:solidFill>
                  <a:srgbClr val="E509A6"/>
                </a:solidFill>
              </a:rPr>
              <a:t>) </a:t>
            </a:r>
            <a:r>
              <a:rPr lang="ko-KR" altLang="en-US" sz="1700" b="1">
                <a:solidFill>
                  <a:srgbClr val="E509A6"/>
                </a:solidFill>
              </a:rPr>
              <a:t>머클 </a:t>
            </a:r>
            <a:r>
              <a:rPr lang="ko-KR" altLang="en-US" sz="1700" b="1" smtClean="0">
                <a:solidFill>
                  <a:srgbClr val="E509A6"/>
                </a:solidFill>
              </a:rPr>
              <a:t>루트</a:t>
            </a:r>
            <a:r>
              <a:rPr lang="en-US" altLang="ko-KR" sz="1700" b="1" smtClean="0">
                <a:solidFill>
                  <a:srgbClr val="E509A6"/>
                </a:solidFill>
              </a:rPr>
              <a:t>(Merkle </a:t>
            </a:r>
            <a:r>
              <a:rPr lang="en-US" altLang="ko-KR" sz="1700" b="1">
                <a:solidFill>
                  <a:srgbClr val="E509A6"/>
                </a:solidFill>
              </a:rPr>
              <a:t>Root</a:t>
            </a:r>
            <a:r>
              <a:rPr lang="en-US" altLang="ko-KR" sz="1700" b="1" smtClean="0">
                <a:solidFill>
                  <a:srgbClr val="E509A6"/>
                </a:solidFill>
              </a:rPr>
              <a:t>)</a:t>
            </a:r>
          </a:p>
          <a:p>
            <a:pPr lvl="3" fontAlgn="base"/>
            <a:r>
              <a:rPr lang="ko-KR" altLang="en-US" sz="1500" b="1" smtClean="0"/>
              <a:t>머클 </a:t>
            </a:r>
            <a:r>
              <a:rPr lang="ko-KR" altLang="en-US" sz="1500" b="1"/>
              <a:t>트리의 최상단에 위치한 </a:t>
            </a:r>
            <a:r>
              <a:rPr lang="ko-KR" altLang="en-US" sz="1500" b="1" smtClean="0"/>
              <a:t>데이터로</a:t>
            </a:r>
            <a:r>
              <a:rPr lang="en-US" altLang="ko-KR" sz="1500" b="1" smtClean="0"/>
              <a:t> </a:t>
            </a:r>
            <a:r>
              <a:rPr lang="ko-KR" altLang="en-US" sz="1600" b="1">
                <a:solidFill>
                  <a:srgbClr val="FF0000"/>
                </a:solidFill>
              </a:rPr>
              <a:t>블록 트랜잭션의 </a:t>
            </a:r>
            <a:r>
              <a:rPr lang="ko-KR" altLang="en-US" sz="1600" b="1" smtClean="0">
                <a:solidFill>
                  <a:srgbClr val="FF0000"/>
                </a:solidFill>
              </a:rPr>
              <a:t>요약본</a:t>
            </a:r>
            <a:endParaRPr lang="en-US" altLang="ko-KR" sz="1600" b="1" smtClean="0">
              <a:solidFill>
                <a:srgbClr val="FF0000"/>
              </a:solidFill>
            </a:endParaRPr>
          </a:p>
          <a:p>
            <a:pPr lvl="4" fontAlgn="base"/>
            <a:r>
              <a:rPr lang="ko-KR" altLang="en-US" sz="1500" b="1" smtClean="0"/>
              <a:t>머클 </a:t>
            </a:r>
            <a:r>
              <a:rPr lang="ko-KR" altLang="en-US" sz="1500" b="1"/>
              <a:t>트리</a:t>
            </a:r>
            <a:r>
              <a:rPr lang="en-US" altLang="ko-KR" sz="1500" b="1"/>
              <a:t>(Merkle Tree</a:t>
            </a:r>
            <a:r>
              <a:rPr lang="en-US" altLang="ko-KR" sz="1500" b="1" smtClean="0"/>
              <a:t>) -</a:t>
            </a:r>
            <a:r>
              <a:rPr lang="ko-KR" altLang="en-US" sz="1500" b="1" smtClean="0"/>
              <a:t> </a:t>
            </a:r>
            <a:r>
              <a:rPr lang="en-US" altLang="ko-KR" sz="1500" b="1"/>
              <a:t>392</a:t>
            </a:r>
            <a:r>
              <a:rPr lang="ko-KR" altLang="en-US" sz="1500" b="1"/>
              <a:t>개의 트랜잭션을 각각 해시한 후 </a:t>
            </a:r>
            <a:r>
              <a:rPr lang="en-US" altLang="ko-KR" sz="1500" b="1"/>
              <a:t>2</a:t>
            </a:r>
            <a:r>
              <a:rPr lang="ko-KR" altLang="en-US" sz="1500" b="1"/>
              <a:t>개씩 </a:t>
            </a:r>
            <a:r>
              <a:rPr lang="en-US" altLang="ko-KR" sz="1500" b="1" smtClean="0"/>
              <a:t/>
            </a:r>
            <a:br>
              <a:rPr lang="en-US" altLang="ko-KR" sz="1500" b="1" smtClean="0"/>
            </a:br>
            <a:r>
              <a:rPr lang="ko-KR" altLang="en-US" sz="1500" b="1" smtClean="0"/>
              <a:t>짝을 </a:t>
            </a:r>
            <a:r>
              <a:rPr lang="ko-KR" altLang="en-US" sz="1500" b="1"/>
              <a:t>지어 해시하고</a:t>
            </a:r>
            <a:r>
              <a:rPr lang="en-US" altLang="ko-KR" sz="1500" b="1"/>
              <a:t>, </a:t>
            </a:r>
            <a:r>
              <a:rPr lang="ko-KR" altLang="en-US" sz="1500" b="1"/>
              <a:t>해시한 데이터끼리 또 </a:t>
            </a:r>
            <a:r>
              <a:rPr lang="en-US" altLang="ko-KR" sz="1500" b="1"/>
              <a:t>2</a:t>
            </a:r>
            <a:r>
              <a:rPr lang="ko-KR" altLang="en-US" sz="1500" b="1"/>
              <a:t>개씩 짝을 지어 해시하는 </a:t>
            </a:r>
            <a:r>
              <a:rPr lang="en-US" altLang="ko-KR" sz="1500" b="1" smtClean="0"/>
              <a:t/>
            </a:r>
            <a:br>
              <a:rPr lang="en-US" altLang="ko-KR" sz="1500" b="1" smtClean="0"/>
            </a:br>
            <a:r>
              <a:rPr lang="ko-KR" altLang="en-US" sz="1500" b="1" smtClean="0"/>
              <a:t>과정을 </a:t>
            </a:r>
            <a:r>
              <a:rPr lang="ko-KR" altLang="en-US" sz="1500" b="1"/>
              <a:t>하나의 해시값이 남을 때까지 반복하는 트리 </a:t>
            </a:r>
            <a:r>
              <a:rPr lang="ko-KR" altLang="en-US" sz="1500" b="1" smtClean="0"/>
              <a:t>구조 </a:t>
            </a:r>
            <a:r>
              <a:rPr lang="en-US" altLang="ko-KR" sz="1500" b="1" smtClean="0">
                <a:sym typeface="Wingdings" panose="05000000000000000000" pitchFamily="2" charset="2"/>
              </a:rPr>
              <a:t> </a:t>
            </a:r>
            <a:r>
              <a:rPr lang="ko-KR" altLang="en-US" sz="1500" b="1" smtClean="0"/>
              <a:t>여기서 </a:t>
            </a:r>
            <a:r>
              <a:rPr lang="ko-KR" altLang="en-US" sz="1500" b="1">
                <a:solidFill>
                  <a:srgbClr val="00CC00"/>
                </a:solidFill>
              </a:rPr>
              <a:t>남은 하나의 해시값이 바로 머클 </a:t>
            </a:r>
            <a:r>
              <a:rPr lang="ko-KR" altLang="en-US" sz="1500" b="1" smtClean="0">
                <a:solidFill>
                  <a:srgbClr val="00CC00"/>
                </a:solidFill>
              </a:rPr>
              <a:t>루트임</a:t>
            </a:r>
            <a:endParaRPr lang="en-US" altLang="ko-KR" sz="1500" b="1">
              <a:solidFill>
                <a:srgbClr val="00CC00"/>
              </a:solidFill>
            </a:endParaRPr>
          </a:p>
          <a:p>
            <a:pPr lvl="3" fontAlgn="base"/>
            <a:r>
              <a:rPr lang="ko-KR" altLang="en-US" sz="1500" b="1"/>
              <a:t>머클 루트를 저장하는 </a:t>
            </a:r>
            <a:r>
              <a:rPr lang="ko-KR" altLang="en-US" sz="1500" b="1" smtClean="0"/>
              <a:t>이유</a:t>
            </a:r>
            <a:endParaRPr lang="en-US" altLang="ko-KR" sz="1500" b="1" smtClean="0"/>
          </a:p>
          <a:p>
            <a:pPr lvl="4" fontAlgn="base"/>
            <a:r>
              <a:rPr lang="ko-KR" altLang="en-US" sz="1500" b="1" smtClean="0"/>
              <a:t>바로 </a:t>
            </a:r>
            <a:r>
              <a:rPr lang="ko-KR" altLang="en-US" sz="1500" b="1">
                <a:solidFill>
                  <a:srgbClr val="00CC00"/>
                </a:solidFill>
              </a:rPr>
              <a:t>블록의 유효성을 </a:t>
            </a:r>
            <a:r>
              <a:rPr lang="ko-KR" altLang="en-US" sz="1500" b="1"/>
              <a:t>확인하기 </a:t>
            </a:r>
            <a:r>
              <a:rPr lang="ko-KR" altLang="en-US" sz="1500" b="1" smtClean="0"/>
              <a:t>위해서임</a:t>
            </a:r>
            <a:endParaRPr lang="en-US" altLang="ko-KR" sz="1500" b="1" smtClean="0"/>
          </a:p>
          <a:p>
            <a:pPr lvl="4" fontAlgn="base"/>
            <a:r>
              <a:rPr lang="ko-KR" altLang="en-US" sz="1500" b="1" smtClean="0"/>
              <a:t>블록체인 </a:t>
            </a:r>
            <a:r>
              <a:rPr lang="ko-KR" altLang="en-US" sz="1500" b="1"/>
              <a:t>네트워크는 여러 참여자가 있고</a:t>
            </a:r>
            <a:r>
              <a:rPr lang="en-US" altLang="ko-KR" sz="1500" b="1"/>
              <a:t>, </a:t>
            </a:r>
            <a:r>
              <a:rPr lang="ko-KR" altLang="en-US" sz="1500" b="1"/>
              <a:t>그 참여자들의 환경은 전부 </a:t>
            </a:r>
            <a:r>
              <a:rPr lang="en-US" altLang="ko-KR" sz="1500" b="1" smtClean="0"/>
              <a:t/>
            </a:r>
            <a:br>
              <a:rPr lang="en-US" altLang="ko-KR" sz="1500" b="1" smtClean="0"/>
            </a:br>
            <a:r>
              <a:rPr lang="ko-KR" altLang="en-US" sz="1500" b="1" smtClean="0"/>
              <a:t>상이함</a:t>
            </a:r>
            <a:endParaRPr lang="en-US" altLang="ko-KR" sz="1500" b="1" smtClean="0"/>
          </a:p>
          <a:p>
            <a:pPr lvl="4" fontAlgn="base"/>
            <a:r>
              <a:rPr lang="ko-KR" altLang="en-US" sz="1500" b="1" smtClean="0"/>
              <a:t>네트워크에 </a:t>
            </a:r>
            <a:r>
              <a:rPr lang="ko-KR" altLang="en-US" sz="1500" b="1"/>
              <a:t>기여하기 위해 </a:t>
            </a:r>
            <a:r>
              <a:rPr lang="ko-KR" altLang="en-US" sz="1500" b="1">
                <a:solidFill>
                  <a:schemeClr val="accent6">
                    <a:lumMod val="75000"/>
                  </a:schemeClr>
                </a:solidFill>
              </a:rPr>
              <a:t>블록체인 네트워크의 정보를 모두 내려 </a:t>
            </a:r>
            <a:r>
              <a:rPr lang="en-US" altLang="ko-KR" sz="1500" b="1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z="1500" b="1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z="1500" b="1" smtClean="0">
                <a:solidFill>
                  <a:schemeClr val="accent6">
                    <a:lumMod val="75000"/>
                  </a:schemeClr>
                </a:solidFill>
              </a:rPr>
              <a:t>받기에는 </a:t>
            </a:r>
            <a:r>
              <a:rPr lang="ko-KR" altLang="en-US" sz="1500" b="1">
                <a:solidFill>
                  <a:schemeClr val="accent6">
                    <a:lumMod val="75000"/>
                  </a:schemeClr>
                </a:solidFill>
              </a:rPr>
              <a:t>무리가 있을 수 </a:t>
            </a:r>
            <a:r>
              <a:rPr lang="ko-KR" altLang="en-US" sz="1500" b="1" smtClean="0">
                <a:solidFill>
                  <a:schemeClr val="accent6">
                    <a:lumMod val="75000"/>
                  </a:schemeClr>
                </a:solidFill>
              </a:rPr>
              <a:t>있음 </a:t>
            </a:r>
            <a:r>
              <a:rPr lang="en-US" altLang="ko-KR" sz="1500" b="1" smtClean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500" b="1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ko-KR" altLang="en-US" sz="1500" b="1">
                <a:solidFill>
                  <a:schemeClr val="accent6">
                    <a:lumMod val="75000"/>
                  </a:schemeClr>
                </a:solidFill>
              </a:rPr>
              <a:t>하지만 머클 루트를 사용한다면 어떨까요</a:t>
            </a:r>
            <a:r>
              <a:rPr lang="en-US" altLang="ko-KR" sz="1500" b="1">
                <a:solidFill>
                  <a:schemeClr val="accent6">
                    <a:lumMod val="75000"/>
                  </a:schemeClr>
                </a:solidFill>
              </a:rPr>
              <a:t>? </a:t>
            </a:r>
            <a:endParaRPr lang="en-US" altLang="ko-KR" sz="1500" b="1" smtClean="0">
              <a:solidFill>
                <a:schemeClr val="accent6">
                  <a:lumMod val="75000"/>
                </a:schemeClr>
              </a:solidFill>
            </a:endParaRPr>
          </a:p>
          <a:p>
            <a:pPr lvl="5" fontAlgn="base"/>
            <a:r>
              <a:rPr lang="ko-KR" altLang="en-US" sz="1500" b="1" smtClean="0"/>
              <a:t>트랜잭션이 </a:t>
            </a:r>
            <a:r>
              <a:rPr lang="ko-KR" altLang="en-US" sz="1500" b="1"/>
              <a:t>하나라도 변경된다면 그에 따라 해시값이 변경되고</a:t>
            </a:r>
            <a:r>
              <a:rPr lang="en-US" altLang="ko-KR" sz="1500" b="1"/>
              <a:t>, </a:t>
            </a:r>
            <a:r>
              <a:rPr lang="en-US" altLang="ko-KR" sz="1500" b="1" smtClean="0"/>
              <a:t/>
            </a:r>
            <a:br>
              <a:rPr lang="en-US" altLang="ko-KR" sz="1500" b="1" smtClean="0"/>
            </a:br>
            <a:r>
              <a:rPr lang="ko-KR" altLang="en-US" sz="1500" b="1" smtClean="0"/>
              <a:t>자연스레 </a:t>
            </a:r>
            <a:r>
              <a:rPr lang="ko-KR" altLang="en-US" sz="1500" b="1"/>
              <a:t>머클 루트 또한 변경되기 때문에 </a:t>
            </a:r>
            <a:r>
              <a:rPr lang="en-US" altLang="ko-KR" sz="1500" b="1" u="sng">
                <a:solidFill>
                  <a:srgbClr val="FF0000"/>
                </a:solidFill>
              </a:rPr>
              <a:t>64</a:t>
            </a:r>
            <a:r>
              <a:rPr lang="ko-KR" altLang="en-US" sz="1500" b="1" u="sng">
                <a:solidFill>
                  <a:srgbClr val="FF0000"/>
                </a:solidFill>
              </a:rPr>
              <a:t>글자를 비교하는 </a:t>
            </a:r>
            <a:r>
              <a:rPr lang="en-US" altLang="ko-KR" sz="1500" b="1" u="sng" smtClean="0">
                <a:solidFill>
                  <a:srgbClr val="FF0000"/>
                </a:solidFill>
              </a:rPr>
              <a:t/>
            </a:r>
            <a:br>
              <a:rPr lang="en-US" altLang="ko-KR" sz="1500" b="1" u="sng" smtClean="0">
                <a:solidFill>
                  <a:srgbClr val="FF0000"/>
                </a:solidFill>
              </a:rPr>
            </a:br>
            <a:r>
              <a:rPr lang="ko-KR" altLang="en-US" sz="1500" b="1" u="sng" smtClean="0">
                <a:solidFill>
                  <a:srgbClr val="FF0000"/>
                </a:solidFill>
              </a:rPr>
              <a:t>것만으로 </a:t>
            </a:r>
            <a:r>
              <a:rPr lang="ko-KR" altLang="en-US" sz="1500" b="1" u="sng">
                <a:solidFill>
                  <a:srgbClr val="FF0000"/>
                </a:solidFill>
              </a:rPr>
              <a:t>해당 블록이 정상인지</a:t>
            </a:r>
            <a:r>
              <a:rPr lang="en-US" altLang="ko-KR" sz="1500" b="1" u="sng">
                <a:solidFill>
                  <a:srgbClr val="FF0000"/>
                </a:solidFill>
              </a:rPr>
              <a:t>, </a:t>
            </a:r>
            <a:r>
              <a:rPr lang="ko-KR" altLang="en-US" sz="1500" b="1" u="sng">
                <a:solidFill>
                  <a:srgbClr val="FF0000"/>
                </a:solidFill>
              </a:rPr>
              <a:t>변조된 것인지 판별할 수 </a:t>
            </a:r>
            <a:r>
              <a:rPr lang="ko-KR" altLang="en-US" sz="1500" b="1" u="sng" smtClean="0">
                <a:solidFill>
                  <a:srgbClr val="FF0000"/>
                </a:solidFill>
              </a:rPr>
              <a:t>있음</a:t>
            </a:r>
            <a:endParaRPr lang="en-US" altLang="ko-KR" sz="1500" b="1" u="sn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1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b="1"/>
              <a:t>블록체인 </a:t>
            </a:r>
            <a:r>
              <a:rPr lang="ko-KR" altLang="en-US" sz="3200" b="1" smtClean="0"/>
              <a:t>구조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/>
              <a:t>블록체인 구조</a:t>
            </a:r>
            <a:r>
              <a:rPr lang="en-US" altLang="ko-KR"/>
              <a:t>(</a:t>
            </a:r>
            <a:r>
              <a:rPr lang="ko-KR" altLang="en-US"/>
              <a:t>비트코인과 이더리움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>
                <a:solidFill>
                  <a:schemeClr val="tx1"/>
                </a:solidFill>
              </a:rPr>
              <a:t>블록체인을 이루고 있는 </a:t>
            </a:r>
            <a:r>
              <a:rPr lang="en-US" altLang="ko-KR">
                <a:solidFill>
                  <a:schemeClr val="tx1"/>
                </a:solidFill>
              </a:rPr>
              <a:t/>
            </a:r>
            <a:br>
              <a:rPr lang="en-US" altLang="ko-KR">
                <a:solidFill>
                  <a:schemeClr val="tx1"/>
                </a:solidFill>
              </a:rPr>
            </a:br>
            <a:r>
              <a:rPr lang="ko-KR" altLang="en-US">
                <a:solidFill>
                  <a:schemeClr val="tx1"/>
                </a:solidFill>
              </a:rPr>
              <a:t>블록 하나하나의 구조는 어떻게 구성되어 있을까요</a:t>
            </a:r>
            <a:r>
              <a:rPr lang="en-US" altLang="ko-KR">
                <a:solidFill>
                  <a:schemeClr val="tx1"/>
                </a:solidFill>
              </a:rPr>
              <a:t>? </a:t>
            </a:r>
          </a:p>
          <a:p>
            <a:pPr lvl="1" fontAlgn="base"/>
            <a:r>
              <a:rPr lang="ko-KR" altLang="en-US" b="1" smtClean="0">
                <a:solidFill>
                  <a:srgbClr val="0000FF"/>
                </a:solidFill>
              </a:rPr>
              <a:t>헤더의 </a:t>
            </a:r>
            <a:r>
              <a:rPr lang="ko-KR" altLang="en-US" b="1">
                <a:solidFill>
                  <a:srgbClr val="0000FF"/>
                </a:solidFill>
              </a:rPr>
              <a:t>각 데이터는 무엇을 의미할까</a:t>
            </a:r>
            <a:r>
              <a:rPr lang="en-US" altLang="ko-KR" b="1">
                <a:solidFill>
                  <a:srgbClr val="0000FF"/>
                </a:solidFill>
              </a:rPr>
              <a:t>?</a:t>
            </a:r>
          </a:p>
          <a:p>
            <a:pPr lvl="2" fontAlgn="base"/>
            <a:r>
              <a:rPr lang="en-US" altLang="ko-KR" b="1" smtClean="0">
                <a:solidFill>
                  <a:srgbClr val="E509A6"/>
                </a:solidFill>
              </a:rPr>
              <a:t>4</a:t>
            </a:r>
            <a:r>
              <a:rPr lang="en-US" altLang="ko-KR" b="1">
                <a:solidFill>
                  <a:srgbClr val="E509A6"/>
                </a:solidFill>
              </a:rPr>
              <a:t>) </a:t>
            </a:r>
            <a:r>
              <a:rPr lang="ko-KR" altLang="en-US" b="1">
                <a:solidFill>
                  <a:srgbClr val="E509A6"/>
                </a:solidFill>
              </a:rPr>
              <a:t>타임스탬프</a:t>
            </a:r>
          </a:p>
          <a:p>
            <a:pPr lvl="3" fontAlgn="base"/>
            <a:r>
              <a:rPr lang="ko-KR" altLang="en-US" b="1"/>
              <a:t>유닉스</a:t>
            </a:r>
            <a:r>
              <a:rPr lang="en-US" altLang="ko-KR" b="1"/>
              <a:t>(UNIX) </a:t>
            </a:r>
            <a:r>
              <a:rPr lang="ko-KR" altLang="en-US" b="1"/>
              <a:t>시간의 시작인 </a:t>
            </a:r>
            <a:r>
              <a:rPr lang="en-US" altLang="ko-KR" b="1" u="sng"/>
              <a:t>1970</a:t>
            </a:r>
            <a:r>
              <a:rPr lang="ko-KR" altLang="en-US" b="1" u="sng"/>
              <a:t>년 </a:t>
            </a:r>
            <a:r>
              <a:rPr lang="en-US" altLang="ko-KR" b="1" u="sng"/>
              <a:t>1</a:t>
            </a:r>
            <a:r>
              <a:rPr lang="ko-KR" altLang="en-US" b="1" u="sng"/>
              <a:t>월 </a:t>
            </a:r>
            <a:r>
              <a:rPr lang="en-US" altLang="ko-KR" b="1" u="sng"/>
              <a:t>1</a:t>
            </a:r>
            <a:r>
              <a:rPr lang="ko-KR" altLang="en-US" b="1" u="sng"/>
              <a:t>일 자정을 기준</a:t>
            </a:r>
            <a:r>
              <a:rPr lang="en-US" altLang="ko-KR" b="1" u="sng"/>
              <a:t>, </a:t>
            </a:r>
            <a:r>
              <a:rPr lang="ko-KR" altLang="en-US" b="1" u="sng"/>
              <a:t>초 단위로 </a:t>
            </a:r>
            <a:r>
              <a:rPr lang="en-US" altLang="ko-KR" b="1" u="sng" smtClean="0"/>
              <a:t/>
            </a:r>
            <a:br>
              <a:rPr lang="en-US" altLang="ko-KR" b="1" u="sng" smtClean="0"/>
            </a:br>
            <a:r>
              <a:rPr lang="ko-KR" altLang="en-US" b="1" smtClean="0"/>
              <a:t>해당 </a:t>
            </a:r>
            <a:r>
              <a:rPr lang="ko-KR" altLang="en-US" b="1" u="sng"/>
              <a:t>블록의 채굴 시각이 </a:t>
            </a:r>
            <a:r>
              <a:rPr lang="ko-KR" altLang="en-US" b="1" u="sng" smtClean="0"/>
              <a:t>기록</a:t>
            </a:r>
            <a:endParaRPr lang="en-US" altLang="ko-KR" b="1" u="sng"/>
          </a:p>
          <a:p>
            <a:pPr lvl="2" fontAlgn="base"/>
            <a:r>
              <a:rPr lang="en-US" altLang="ko-KR" b="1">
                <a:solidFill>
                  <a:srgbClr val="E509A6"/>
                </a:solidFill>
              </a:rPr>
              <a:t>5) </a:t>
            </a:r>
            <a:r>
              <a:rPr lang="ko-KR" altLang="en-US" b="1">
                <a:solidFill>
                  <a:srgbClr val="E509A6"/>
                </a:solidFill>
              </a:rPr>
              <a:t>난이도 목표</a:t>
            </a:r>
          </a:p>
          <a:p>
            <a:pPr lvl="3" fontAlgn="base"/>
            <a:r>
              <a:rPr lang="ko-KR" altLang="en-US" b="1"/>
              <a:t>블록 생성을 흔히 ‘채굴한다’고 </a:t>
            </a:r>
            <a:r>
              <a:rPr lang="ko-KR" altLang="en-US" b="1" smtClean="0"/>
              <a:t>말하는 이유</a:t>
            </a:r>
            <a:r>
              <a:rPr lang="en-US" altLang="ko-KR" b="1" smtClean="0"/>
              <a:t>?</a:t>
            </a:r>
          </a:p>
          <a:p>
            <a:pPr lvl="4" fontAlgn="base"/>
            <a:r>
              <a:rPr lang="ko-KR" altLang="en-US" b="1" smtClean="0">
                <a:solidFill>
                  <a:srgbClr val="FF0000"/>
                </a:solidFill>
              </a:rPr>
              <a:t>채굴 </a:t>
            </a:r>
            <a:r>
              <a:rPr lang="ko-KR" altLang="en-US" b="1">
                <a:solidFill>
                  <a:srgbClr val="FF0000"/>
                </a:solidFill>
              </a:rPr>
              <a:t>난이도는 방 안에서 물건을 찾는 것에 비유할 수 </a:t>
            </a:r>
            <a:r>
              <a:rPr lang="ko-KR" altLang="en-US" b="1" smtClean="0">
                <a:solidFill>
                  <a:srgbClr val="FF0000"/>
                </a:solidFill>
              </a:rPr>
              <a:t>있음</a:t>
            </a:r>
            <a:endParaRPr lang="en-US" altLang="ko-KR" b="1" smtClean="0">
              <a:solidFill>
                <a:srgbClr val="FF0000"/>
              </a:solidFill>
            </a:endParaRPr>
          </a:p>
          <a:p>
            <a:pPr lvl="4" fontAlgn="base"/>
            <a:r>
              <a:rPr lang="ko-KR" altLang="en-US" b="1" smtClean="0"/>
              <a:t>방에서 </a:t>
            </a:r>
            <a:r>
              <a:rPr lang="ko-KR" altLang="en-US" b="1"/>
              <a:t>연필같이 작은 물건을 찾는 것이 책상처럼 큰 물건을 찾는 것보다 훨씬 어렵고</a:t>
            </a:r>
            <a:r>
              <a:rPr lang="en-US" altLang="ko-KR" b="1"/>
              <a:t>, </a:t>
            </a:r>
            <a:r>
              <a:rPr lang="ko-KR" altLang="en-US" b="1"/>
              <a:t>시간이 오래 걸리는 것과 같은 </a:t>
            </a:r>
            <a:r>
              <a:rPr lang="ko-KR" altLang="en-US" b="1" smtClean="0"/>
              <a:t>것임</a:t>
            </a:r>
            <a:r>
              <a:rPr lang="en-US" altLang="ko-KR" b="1" smtClean="0"/>
              <a:t>~~~</a:t>
            </a:r>
            <a:endParaRPr lang="en-US" altLang="ko-KR" b="1"/>
          </a:p>
          <a:p>
            <a:pPr lvl="3" fontAlgn="base"/>
            <a:r>
              <a:rPr lang="ko-KR" altLang="en-US" b="1"/>
              <a:t>블록체인은 블록마다 생성된 블록의 높이에 따라 </a:t>
            </a:r>
            <a:r>
              <a:rPr lang="ko-KR" altLang="en-US" b="1">
                <a:solidFill>
                  <a:srgbClr val="FF0000"/>
                </a:solidFill>
              </a:rPr>
              <a:t>자동으로 난이도 목표를 </a:t>
            </a:r>
            <a:r>
              <a:rPr lang="ko-KR" altLang="en-US" b="1"/>
              <a:t>달리 </a:t>
            </a:r>
            <a:r>
              <a:rPr lang="ko-KR" altLang="en-US" b="1">
                <a:solidFill>
                  <a:srgbClr val="00CC00"/>
                </a:solidFill>
              </a:rPr>
              <a:t>설정해 채굴되는 속도를 일정하게 유지</a:t>
            </a:r>
            <a:r>
              <a:rPr lang="en-US" altLang="ko-KR" b="1">
                <a:solidFill>
                  <a:srgbClr val="00CC00"/>
                </a:solidFill>
              </a:rPr>
              <a:t>(</a:t>
            </a:r>
            <a:r>
              <a:rPr lang="ko-KR" altLang="en-US" b="1">
                <a:solidFill>
                  <a:srgbClr val="00CC00"/>
                </a:solidFill>
              </a:rPr>
              <a:t>비트코인의 경우 </a:t>
            </a:r>
            <a:r>
              <a:rPr lang="en-US" altLang="ko-KR" b="1">
                <a:solidFill>
                  <a:srgbClr val="00CC00"/>
                </a:solidFill>
              </a:rPr>
              <a:t>10</a:t>
            </a:r>
            <a:r>
              <a:rPr lang="ko-KR" altLang="en-US" b="1">
                <a:solidFill>
                  <a:srgbClr val="00CC00"/>
                </a:solidFill>
              </a:rPr>
              <a:t>분에 </a:t>
            </a:r>
            <a:r>
              <a:rPr lang="en-US" altLang="ko-KR" b="1">
                <a:solidFill>
                  <a:srgbClr val="00CC00"/>
                </a:solidFill>
              </a:rPr>
              <a:t>1</a:t>
            </a:r>
            <a:r>
              <a:rPr lang="ko-KR" altLang="en-US" b="1">
                <a:solidFill>
                  <a:srgbClr val="00CC00"/>
                </a:solidFill>
              </a:rPr>
              <a:t>개</a:t>
            </a:r>
            <a:r>
              <a:rPr lang="en-US" altLang="ko-KR" b="1" smtClean="0">
                <a:solidFill>
                  <a:srgbClr val="00CC00"/>
                </a:solidFill>
              </a:rPr>
              <a:t>)</a:t>
            </a:r>
            <a:r>
              <a:rPr lang="ko-KR" altLang="en-US" b="1" smtClean="0">
                <a:solidFill>
                  <a:srgbClr val="00CC00"/>
                </a:solidFill>
              </a:rPr>
              <a:t>함</a:t>
            </a:r>
            <a:endParaRPr lang="en-US" altLang="ko-KR" b="1">
              <a:solidFill>
                <a:srgbClr val="00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55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b="1"/>
              <a:t>블록체인 </a:t>
            </a:r>
            <a:r>
              <a:rPr lang="ko-KR" altLang="en-US" sz="3200" b="1" smtClean="0"/>
              <a:t>구조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/>
              <a:t>블록체인 구조</a:t>
            </a:r>
            <a:r>
              <a:rPr lang="en-US" altLang="ko-KR"/>
              <a:t>(</a:t>
            </a:r>
            <a:r>
              <a:rPr lang="ko-KR" altLang="en-US"/>
              <a:t>비트코인과 이더리움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>
                <a:solidFill>
                  <a:schemeClr val="tx1"/>
                </a:solidFill>
              </a:rPr>
              <a:t>블록체인을 이루고 있는 </a:t>
            </a:r>
            <a:r>
              <a:rPr lang="en-US" altLang="ko-KR">
                <a:solidFill>
                  <a:schemeClr val="tx1"/>
                </a:solidFill>
              </a:rPr>
              <a:t/>
            </a:r>
            <a:br>
              <a:rPr lang="en-US" altLang="ko-KR">
                <a:solidFill>
                  <a:schemeClr val="tx1"/>
                </a:solidFill>
              </a:rPr>
            </a:br>
            <a:r>
              <a:rPr lang="ko-KR" altLang="en-US">
                <a:solidFill>
                  <a:schemeClr val="tx1"/>
                </a:solidFill>
              </a:rPr>
              <a:t>블록 하나하나의 구조는 어떻게 구성되어 있을까요</a:t>
            </a:r>
            <a:r>
              <a:rPr lang="en-US" altLang="ko-KR">
                <a:solidFill>
                  <a:schemeClr val="tx1"/>
                </a:solidFill>
              </a:rPr>
              <a:t>? </a:t>
            </a:r>
          </a:p>
          <a:p>
            <a:pPr lvl="1" fontAlgn="base"/>
            <a:r>
              <a:rPr lang="ko-KR" altLang="en-US" b="1" smtClean="0">
                <a:solidFill>
                  <a:srgbClr val="0000FF"/>
                </a:solidFill>
              </a:rPr>
              <a:t>헤더의 </a:t>
            </a:r>
            <a:r>
              <a:rPr lang="ko-KR" altLang="en-US" b="1">
                <a:solidFill>
                  <a:srgbClr val="0000FF"/>
                </a:solidFill>
              </a:rPr>
              <a:t>각 데이터는 무엇을 의미할까</a:t>
            </a:r>
            <a:r>
              <a:rPr lang="en-US" altLang="ko-KR" b="1">
                <a:solidFill>
                  <a:srgbClr val="0000FF"/>
                </a:solidFill>
              </a:rPr>
              <a:t>?</a:t>
            </a:r>
          </a:p>
          <a:p>
            <a:pPr lvl="2" fontAlgn="base"/>
            <a:r>
              <a:rPr lang="en-US" altLang="ko-KR" b="1" smtClean="0">
                <a:solidFill>
                  <a:srgbClr val="E509A6"/>
                </a:solidFill>
              </a:rPr>
              <a:t>6</a:t>
            </a:r>
            <a:r>
              <a:rPr lang="en-US" altLang="ko-KR" b="1">
                <a:solidFill>
                  <a:srgbClr val="E509A6"/>
                </a:solidFill>
              </a:rPr>
              <a:t>) </a:t>
            </a:r>
            <a:r>
              <a:rPr lang="ko-KR" altLang="en-US" b="1" smtClean="0">
                <a:solidFill>
                  <a:srgbClr val="E509A6"/>
                </a:solidFill>
              </a:rPr>
              <a:t>논스</a:t>
            </a:r>
            <a:r>
              <a:rPr lang="en-US" altLang="ko-KR" b="1"/>
              <a:t> (Nonce)</a:t>
            </a:r>
            <a:endParaRPr lang="ko-KR" altLang="en-US" b="1">
              <a:solidFill>
                <a:srgbClr val="E509A6"/>
              </a:solidFill>
            </a:endParaRPr>
          </a:p>
          <a:p>
            <a:pPr lvl="3" fontAlgn="base"/>
            <a:r>
              <a:rPr lang="ko-KR" altLang="en-US" b="1"/>
              <a:t>블록을 생성할 때 헤더에 담기는 많은 데이터 중 주어지거나</a:t>
            </a:r>
            <a:r>
              <a:rPr lang="en-US" altLang="ko-KR" b="1"/>
              <a:t>, </a:t>
            </a:r>
            <a:r>
              <a:rPr lang="ko-KR" altLang="en-US" b="1">
                <a:solidFill>
                  <a:srgbClr val="00CC00"/>
                </a:solidFill>
              </a:rPr>
              <a:t>계산하지 않는 </a:t>
            </a:r>
            <a:r>
              <a:rPr lang="en-US" altLang="ko-KR" b="1" smtClean="0">
                <a:solidFill>
                  <a:srgbClr val="00CC00"/>
                </a:solidFill>
              </a:rPr>
              <a:t/>
            </a:r>
            <a:br>
              <a:rPr lang="en-US" altLang="ko-KR" b="1" smtClean="0">
                <a:solidFill>
                  <a:srgbClr val="00CC00"/>
                </a:solidFill>
              </a:rPr>
            </a:br>
            <a:r>
              <a:rPr lang="ko-KR" altLang="en-US" b="1" smtClean="0">
                <a:solidFill>
                  <a:srgbClr val="00CC00"/>
                </a:solidFill>
              </a:rPr>
              <a:t>값이 </a:t>
            </a:r>
            <a:r>
              <a:rPr lang="ko-KR" altLang="en-US" b="1">
                <a:solidFill>
                  <a:srgbClr val="00CC00"/>
                </a:solidFill>
              </a:rPr>
              <a:t>하나 </a:t>
            </a:r>
            <a:endParaRPr lang="en-US" altLang="ko-KR" b="1" smtClean="0">
              <a:solidFill>
                <a:srgbClr val="00CC00"/>
              </a:solidFill>
            </a:endParaRPr>
          </a:p>
          <a:p>
            <a:pPr lvl="3" fontAlgn="base"/>
            <a:r>
              <a:rPr lang="ko-KR" altLang="en-US" b="1" smtClean="0"/>
              <a:t>채굴은 앞의 </a:t>
            </a:r>
            <a:r>
              <a:rPr lang="en-US" altLang="ko-KR" b="1" smtClean="0"/>
              <a:t>5</a:t>
            </a:r>
            <a:r>
              <a:rPr lang="ko-KR" altLang="en-US" b="1"/>
              <a:t>가지 데이터와 논스를 조합해 </a:t>
            </a:r>
            <a:r>
              <a:rPr lang="ko-KR" altLang="en-US" b="1">
                <a:solidFill>
                  <a:srgbClr val="FF0000"/>
                </a:solidFill>
              </a:rPr>
              <a:t>목표에서 정한 값보다 작은 해시값을 찾는 </a:t>
            </a:r>
            <a:r>
              <a:rPr lang="ko-KR" altLang="en-US" b="1" smtClean="0">
                <a:solidFill>
                  <a:srgbClr val="FF0000"/>
                </a:solidFill>
              </a:rPr>
              <a:t>것임</a:t>
            </a:r>
            <a:endParaRPr lang="en-US" altLang="ko-KR" b="1" smtClean="0">
              <a:solidFill>
                <a:srgbClr val="FF0000"/>
              </a:solidFill>
            </a:endParaRPr>
          </a:p>
          <a:p>
            <a:pPr lvl="3" fontAlgn="base"/>
            <a:r>
              <a:rPr lang="en-US" altLang="ko-KR" b="1" smtClean="0"/>
              <a:t>5</a:t>
            </a:r>
            <a:r>
              <a:rPr lang="ko-KR" altLang="en-US" b="1"/>
              <a:t>가지 데이터는 모두 자동으로 주어지거나</a:t>
            </a:r>
            <a:r>
              <a:rPr lang="en-US" altLang="ko-KR" b="1"/>
              <a:t>, </a:t>
            </a:r>
            <a:r>
              <a:rPr lang="ko-KR" altLang="en-US" b="1"/>
              <a:t>계산되는 고정값이기 때문에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u="sng" smtClean="0">
                <a:solidFill>
                  <a:srgbClr val="FF0000"/>
                </a:solidFill>
              </a:rPr>
              <a:t>변수값</a:t>
            </a:r>
            <a:r>
              <a:rPr lang="en-US" altLang="ko-KR" b="1" u="sng" smtClean="0">
                <a:solidFill>
                  <a:srgbClr val="FF0000"/>
                </a:solidFill>
              </a:rPr>
              <a:t>(=</a:t>
            </a:r>
            <a:r>
              <a:rPr lang="ko-KR" altLang="en-US" b="1" u="sng" smtClean="0">
                <a:solidFill>
                  <a:srgbClr val="FF0000"/>
                </a:solidFill>
              </a:rPr>
              <a:t>논스</a:t>
            </a:r>
            <a:r>
              <a:rPr lang="en-US" altLang="ko-KR" b="1" u="sng" smtClean="0">
                <a:solidFill>
                  <a:srgbClr val="FF0000"/>
                </a:solidFill>
              </a:rPr>
              <a:t>)</a:t>
            </a:r>
            <a:r>
              <a:rPr lang="ko-KR" altLang="en-US" b="1" u="sng" smtClean="0">
                <a:solidFill>
                  <a:srgbClr val="FF0000"/>
                </a:solidFill>
              </a:rPr>
              <a:t>을 </a:t>
            </a:r>
            <a:r>
              <a:rPr lang="ko-KR" altLang="en-US" b="1" u="sng">
                <a:solidFill>
                  <a:srgbClr val="FF0000"/>
                </a:solidFill>
              </a:rPr>
              <a:t>적용해가며 </a:t>
            </a:r>
            <a:r>
              <a:rPr lang="ko-KR" altLang="en-US" b="1" u="sng" smtClean="0">
                <a:solidFill>
                  <a:srgbClr val="FF0000"/>
                </a:solidFill>
              </a:rPr>
              <a:t>목표값보다 </a:t>
            </a:r>
            <a:r>
              <a:rPr lang="ko-KR" altLang="en-US" b="1" u="sng">
                <a:solidFill>
                  <a:srgbClr val="FF0000"/>
                </a:solidFill>
              </a:rPr>
              <a:t>낮은 해시값을 찾아야 </a:t>
            </a:r>
            <a:r>
              <a:rPr lang="ko-KR" altLang="en-US" b="1" u="sng" smtClean="0">
                <a:solidFill>
                  <a:srgbClr val="FF0000"/>
                </a:solidFill>
              </a:rPr>
              <a:t>함</a:t>
            </a:r>
            <a:endParaRPr lang="en-US" altLang="ko-KR" b="1" u="sng" smtClean="0">
              <a:solidFill>
                <a:srgbClr val="FF0000"/>
              </a:solidFill>
            </a:endParaRPr>
          </a:p>
          <a:p>
            <a:pPr lvl="3" fontAlgn="base"/>
            <a:endParaRPr lang="en-US" altLang="ko-KR" b="1" u="sng" smtClean="0">
              <a:solidFill>
                <a:srgbClr val="FF0000"/>
              </a:solidFill>
            </a:endParaRPr>
          </a:p>
          <a:p>
            <a:pPr lvl="3" fontAlgn="base"/>
            <a:r>
              <a:rPr lang="ko-KR" altLang="en-US" b="1" u="sng" smtClean="0">
                <a:solidFill>
                  <a:srgbClr val="FF0000"/>
                </a:solidFill>
              </a:rPr>
              <a:t>이더리움은 </a:t>
            </a:r>
            <a:r>
              <a:rPr lang="ko-KR" altLang="en-US" b="1" u="sng">
                <a:solidFill>
                  <a:srgbClr val="FF0000"/>
                </a:solidFill>
              </a:rPr>
              <a:t>트랜잭션 내에도 논스가 </a:t>
            </a:r>
            <a:r>
              <a:rPr lang="ko-KR" altLang="en-US" b="1" u="sng" smtClean="0">
                <a:solidFill>
                  <a:srgbClr val="FF0000"/>
                </a:solidFill>
              </a:rPr>
              <a:t>존재함</a:t>
            </a:r>
            <a:endParaRPr lang="en-US" altLang="ko-KR" b="1" u="sn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888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구조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C00000"/>
                </a:solidFill>
              </a:rPr>
              <a:t>비트코인과 이더리움 블록헤더 비교</a:t>
            </a:r>
          </a:p>
          <a:p>
            <a:endParaRPr lang="ko-KR" altLang="en-US"/>
          </a:p>
        </p:txBody>
      </p:sp>
      <p:pic>
        <p:nvPicPr>
          <p:cNvPr id="10242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39119"/>
            <a:ext cx="5688632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038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ko-KR" altLang="en-US" b="1"/>
              <a:t>블록체인 트랜잭션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b="1">
                <a:solidFill>
                  <a:srgbClr val="C00000"/>
                </a:solidFill>
              </a:rPr>
              <a:t>트랜잭션</a:t>
            </a:r>
            <a:r>
              <a:rPr lang="en-US" altLang="ko-KR" b="1">
                <a:solidFill>
                  <a:srgbClr val="C00000"/>
                </a:solidFill>
              </a:rPr>
              <a:t>(Transaction)</a:t>
            </a:r>
            <a:r>
              <a:rPr lang="ko-KR" altLang="en-US" b="1" smtClean="0">
                <a:solidFill>
                  <a:srgbClr val="C00000"/>
                </a:solidFill>
              </a:rPr>
              <a:t>이란</a:t>
            </a:r>
            <a:endParaRPr lang="en-US" altLang="ko-KR" b="1" smtClean="0">
              <a:solidFill>
                <a:srgbClr val="C00000"/>
              </a:solidFill>
            </a:endParaRPr>
          </a:p>
          <a:p>
            <a:pPr lvl="1" fontAlgn="base"/>
            <a:r>
              <a:rPr lang="ko-KR" altLang="en-US" b="1" smtClean="0"/>
              <a:t>블록체인이라는 </a:t>
            </a:r>
            <a:r>
              <a:rPr lang="ko-KR" altLang="en-US" b="1">
                <a:solidFill>
                  <a:srgbClr val="0000FF"/>
                </a:solidFill>
              </a:rPr>
              <a:t>데이터베이스의 상태를 변환시키는 </a:t>
            </a:r>
            <a:r>
              <a:rPr lang="ko-KR" altLang="en-US" b="1"/>
              <a:t>하나의 논리적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기능을 </a:t>
            </a:r>
            <a:r>
              <a:rPr lang="ko-KR" altLang="en-US" b="1"/>
              <a:t>수행하기 위한 작업의 </a:t>
            </a:r>
            <a:r>
              <a:rPr lang="ko-KR" altLang="en-US" b="1" smtClean="0"/>
              <a:t>단위</a:t>
            </a:r>
            <a:endParaRPr lang="en-US" altLang="ko-KR" b="1" smtClean="0"/>
          </a:p>
          <a:p>
            <a:pPr lvl="2" fontAlgn="base"/>
            <a:r>
              <a:rPr lang="ko-KR" altLang="en-US" b="1" smtClean="0">
                <a:solidFill>
                  <a:srgbClr val="FF0000"/>
                </a:solidFill>
              </a:rPr>
              <a:t>블록체인 </a:t>
            </a:r>
            <a:r>
              <a:rPr lang="ko-KR" altLang="en-US" b="1">
                <a:solidFill>
                  <a:srgbClr val="FF0000"/>
                </a:solidFill>
              </a:rPr>
              <a:t>네트워크는 하나의 커다란 데이터베이스로</a:t>
            </a:r>
            <a:r>
              <a:rPr lang="en-US" altLang="ko-KR" b="1"/>
              <a:t>, </a:t>
            </a:r>
            <a:r>
              <a:rPr lang="ko-KR" altLang="en-US" b="1"/>
              <a:t>블록체인 내 트랜잭션 역시 다른 데이터베이스에서 트랜잭션의 안전성을 보장하기 위한 성질인 </a:t>
            </a:r>
            <a:r>
              <a:rPr lang="en-US" altLang="ko-KR" b="1" smtClean="0">
                <a:solidFill>
                  <a:srgbClr val="006600"/>
                </a:solidFill>
              </a:rPr>
              <a:t>A.C.I.D(=</a:t>
            </a:r>
            <a:r>
              <a:rPr lang="ko-KR" altLang="en-US" b="1" smtClean="0">
                <a:solidFill>
                  <a:srgbClr val="006600"/>
                </a:solidFill>
              </a:rPr>
              <a:t>데이터베이스 </a:t>
            </a:r>
            <a:r>
              <a:rPr lang="ko-KR" altLang="en-US" b="1">
                <a:solidFill>
                  <a:srgbClr val="006600"/>
                </a:solidFill>
              </a:rPr>
              <a:t>트랜잭션의 네 가지 핵심 특성을 나타내는 </a:t>
            </a:r>
            <a:r>
              <a:rPr lang="en-US" altLang="ko-KR" b="1" smtClean="0">
                <a:solidFill>
                  <a:srgbClr val="006600"/>
                </a:solidFill>
              </a:rPr>
              <a:t/>
            </a:r>
            <a:br>
              <a:rPr lang="en-US" altLang="ko-KR" b="1" smtClean="0">
                <a:solidFill>
                  <a:srgbClr val="006600"/>
                </a:solidFill>
              </a:rPr>
            </a:br>
            <a:r>
              <a:rPr lang="ko-KR" altLang="en-US" b="1" smtClean="0">
                <a:solidFill>
                  <a:srgbClr val="006600"/>
                </a:solidFill>
              </a:rPr>
              <a:t>약어</a:t>
            </a:r>
            <a:r>
              <a:rPr lang="en-US" altLang="ko-KR" b="1" smtClean="0">
                <a:solidFill>
                  <a:srgbClr val="006600"/>
                </a:solidFill>
              </a:rPr>
              <a:t>,</a:t>
            </a:r>
            <a:r>
              <a:rPr lang="en-US" altLang="ko-KR" b="1">
                <a:solidFill>
                  <a:srgbClr val="006600"/>
                </a:solidFill>
              </a:rPr>
              <a:t> </a:t>
            </a:r>
            <a:r>
              <a:rPr lang="en-US" altLang="ko-KR" b="1" smtClean="0">
                <a:solidFill>
                  <a:srgbClr val="006600"/>
                </a:solidFill>
              </a:rPr>
              <a:t>Atomicity&lt;</a:t>
            </a:r>
            <a:r>
              <a:rPr lang="ko-KR" altLang="en-US" b="1" smtClean="0">
                <a:solidFill>
                  <a:srgbClr val="006600"/>
                </a:solidFill>
              </a:rPr>
              <a:t>원자성</a:t>
            </a:r>
            <a:r>
              <a:rPr lang="en-US" altLang="ko-KR" b="1" smtClean="0">
                <a:solidFill>
                  <a:srgbClr val="006600"/>
                </a:solidFill>
              </a:rPr>
              <a:t>&gt;, Consistency&lt;</a:t>
            </a:r>
            <a:r>
              <a:rPr lang="ko-KR" altLang="en-US" b="1" smtClean="0">
                <a:solidFill>
                  <a:srgbClr val="006600"/>
                </a:solidFill>
              </a:rPr>
              <a:t>일관성</a:t>
            </a:r>
            <a:r>
              <a:rPr lang="en-US" altLang="ko-KR" b="1" smtClean="0">
                <a:solidFill>
                  <a:srgbClr val="006600"/>
                </a:solidFill>
              </a:rPr>
              <a:t>&gt;, Isolation&lt;</a:t>
            </a:r>
            <a:r>
              <a:rPr lang="ko-KR" altLang="en-US" b="1" smtClean="0">
                <a:solidFill>
                  <a:srgbClr val="006600"/>
                </a:solidFill>
              </a:rPr>
              <a:t>고립성</a:t>
            </a:r>
            <a:r>
              <a:rPr lang="en-US" altLang="ko-KR" b="1" smtClean="0">
                <a:solidFill>
                  <a:srgbClr val="006600"/>
                </a:solidFill>
              </a:rPr>
              <a:t>&gt;, Durability&lt;</a:t>
            </a:r>
            <a:r>
              <a:rPr lang="ko-KR" altLang="en-US" b="1" smtClean="0">
                <a:solidFill>
                  <a:srgbClr val="006600"/>
                </a:solidFill>
              </a:rPr>
              <a:t>지속성</a:t>
            </a:r>
            <a:r>
              <a:rPr lang="en-US" altLang="ko-KR" b="1" smtClean="0">
                <a:solidFill>
                  <a:srgbClr val="006600"/>
                </a:solidFill>
              </a:rPr>
              <a:t>&gt;</a:t>
            </a:r>
            <a:r>
              <a:rPr lang="ko-KR" altLang="en-US" b="1" smtClean="0">
                <a:solidFill>
                  <a:srgbClr val="006600"/>
                </a:solidFill>
              </a:rPr>
              <a:t>를 </a:t>
            </a:r>
            <a:r>
              <a:rPr lang="ko-KR" altLang="en-US" b="1">
                <a:solidFill>
                  <a:srgbClr val="006600"/>
                </a:solidFill>
              </a:rPr>
              <a:t>가지고 </a:t>
            </a:r>
            <a:r>
              <a:rPr lang="ko-KR" altLang="en-US" b="1" smtClean="0">
                <a:solidFill>
                  <a:srgbClr val="006600"/>
                </a:solidFill>
              </a:rPr>
              <a:t>있음</a:t>
            </a:r>
            <a:endParaRPr lang="en-US" altLang="ko-KR" b="1" smtClean="0">
              <a:solidFill>
                <a:srgbClr val="006600"/>
              </a:solidFill>
            </a:endParaRPr>
          </a:p>
          <a:p>
            <a:pPr lvl="3" fontAlgn="base"/>
            <a:r>
              <a:rPr lang="ko-KR" altLang="en-US" b="1">
                <a:solidFill>
                  <a:srgbClr val="E509A6"/>
                </a:solidFill>
              </a:rPr>
              <a:t>“</a:t>
            </a:r>
            <a:r>
              <a:rPr lang="en-US" altLang="ko-KR" b="1">
                <a:solidFill>
                  <a:srgbClr val="E509A6"/>
                </a:solidFill>
              </a:rPr>
              <a:t>A</a:t>
            </a:r>
            <a:r>
              <a:rPr lang="ko-KR" altLang="en-US" b="1">
                <a:solidFill>
                  <a:srgbClr val="E509A6"/>
                </a:solidFill>
              </a:rPr>
              <a:t>가 </a:t>
            </a:r>
            <a:r>
              <a:rPr lang="en-US" altLang="ko-KR" b="1">
                <a:solidFill>
                  <a:srgbClr val="E509A6"/>
                </a:solidFill>
              </a:rPr>
              <a:t>B</a:t>
            </a:r>
            <a:r>
              <a:rPr lang="ko-KR" altLang="en-US" b="1">
                <a:solidFill>
                  <a:srgbClr val="E509A6"/>
                </a:solidFill>
              </a:rPr>
              <a:t>에게 </a:t>
            </a:r>
            <a:r>
              <a:rPr lang="en-US" altLang="ko-KR" b="1">
                <a:solidFill>
                  <a:srgbClr val="E509A6"/>
                </a:solidFill>
              </a:rPr>
              <a:t>1BTC</a:t>
            </a:r>
            <a:r>
              <a:rPr lang="ko-KR" altLang="en-US" b="1">
                <a:solidFill>
                  <a:srgbClr val="E509A6"/>
                </a:solidFill>
              </a:rPr>
              <a:t>를 </a:t>
            </a:r>
            <a:r>
              <a:rPr lang="ko-KR" altLang="en-US" b="1" smtClean="0">
                <a:solidFill>
                  <a:srgbClr val="E509A6"/>
                </a:solidFill>
              </a:rPr>
              <a:t>보냈다</a:t>
            </a:r>
            <a:r>
              <a:rPr lang="en-US" altLang="ko-KR" b="1" smtClean="0">
                <a:solidFill>
                  <a:srgbClr val="E509A6"/>
                </a:solidFill>
              </a:rPr>
              <a:t>”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/>
            </a:r>
            <a:br>
              <a:rPr lang="ko-KR" altLang="en-US"/>
            </a:br>
            <a:endParaRPr lang="en-US" altLang="ko-KR" b="1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228306"/>
            <a:ext cx="7681714" cy="220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57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ko-KR" altLang="en-US" b="1"/>
              <a:t>블록체인 트랜잭션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b="1">
                <a:solidFill>
                  <a:srgbClr val="C00000"/>
                </a:solidFill>
              </a:rPr>
              <a:t>비트코인 트랜잭션 구조</a:t>
            </a:r>
          </a:p>
          <a:p>
            <a:pPr lvl="1" fontAlgn="base"/>
            <a:r>
              <a:rPr lang="ko-KR" altLang="en-US" b="1" smtClean="0">
                <a:solidFill>
                  <a:srgbClr val="0000FF"/>
                </a:solidFill>
              </a:rPr>
              <a:t>바디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 fontAlgn="base"/>
            <a:r>
              <a:rPr lang="ko-KR" altLang="en-US" b="1" smtClean="0">
                <a:solidFill>
                  <a:srgbClr val="E509A6"/>
                </a:solidFill>
              </a:rPr>
              <a:t>트랜잭션들을 </a:t>
            </a:r>
            <a:r>
              <a:rPr lang="ko-KR" altLang="en-US" b="1">
                <a:solidFill>
                  <a:srgbClr val="E509A6"/>
                </a:solidFill>
              </a:rPr>
              <a:t>기록한 </a:t>
            </a:r>
            <a:r>
              <a:rPr lang="ko-KR" altLang="en-US" b="1" smtClean="0">
                <a:solidFill>
                  <a:srgbClr val="E509A6"/>
                </a:solidFill>
              </a:rPr>
              <a:t>부분</a:t>
            </a:r>
            <a:r>
              <a:rPr lang="en-US" altLang="ko-KR" b="1" smtClean="0">
                <a:latin typeface="+mn-ea"/>
              </a:rPr>
              <a:t>(=</a:t>
            </a:r>
            <a:r>
              <a:rPr lang="ko-KR" altLang="en-US" b="1">
                <a:latin typeface="+mn-ea"/>
              </a:rPr>
              <a:t>블록에서 가장 길고 큰 사이즈를 </a:t>
            </a:r>
            <a:r>
              <a:rPr lang="ko-KR" altLang="en-US" b="1" smtClean="0">
                <a:latin typeface="+mn-ea"/>
              </a:rPr>
              <a:t>차지</a:t>
            </a:r>
            <a:r>
              <a:rPr lang="en-US" altLang="ko-KR" b="1" smtClean="0">
                <a:latin typeface="+mn-ea"/>
              </a:rPr>
              <a:t>)</a:t>
            </a:r>
          </a:p>
          <a:p>
            <a:pPr lvl="2" fontAlgn="base"/>
            <a:endParaRPr lang="en-US" altLang="ko-KR" b="1" smtClean="0">
              <a:latin typeface="+mn-ea"/>
            </a:endParaRPr>
          </a:p>
          <a:p>
            <a:pPr lvl="2" fontAlgn="base"/>
            <a:r>
              <a:rPr lang="en-US" altLang="ko-KR" b="1" smtClean="0"/>
              <a:t>1</a:t>
            </a:r>
            <a:r>
              <a:rPr lang="ko-KR" altLang="en-US" b="1"/>
              <a:t>개의 </a:t>
            </a:r>
            <a:r>
              <a:rPr lang="en-US" altLang="ko-KR" b="1"/>
              <a:t>BTC(</a:t>
            </a:r>
            <a:r>
              <a:rPr lang="ko-KR" altLang="en-US" b="1"/>
              <a:t>비트코인</a:t>
            </a:r>
            <a:r>
              <a:rPr lang="en-US" altLang="ko-KR" b="1"/>
              <a:t>)</a:t>
            </a:r>
            <a:r>
              <a:rPr lang="ko-KR" altLang="en-US" b="1"/>
              <a:t>를 주고받는 트랜잭션은 </a:t>
            </a:r>
            <a:r>
              <a:rPr lang="ko-KR" altLang="en-US" b="1" u="sng">
                <a:solidFill>
                  <a:schemeClr val="accent6">
                    <a:lumMod val="75000"/>
                  </a:schemeClr>
                </a:solidFill>
              </a:rPr>
              <a:t>은행 계좌에서 보는 것 같은 </a:t>
            </a:r>
            <a:r>
              <a:rPr lang="en-US" altLang="ko-KR" b="1" u="sng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b="1" u="sng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b="1" u="sng" smtClean="0">
                <a:solidFill>
                  <a:schemeClr val="accent6">
                    <a:lumMod val="75000"/>
                  </a:schemeClr>
                </a:solidFill>
              </a:rPr>
              <a:t>잔고증명 </a:t>
            </a:r>
            <a:r>
              <a:rPr lang="ko-KR" altLang="en-US" b="1" u="sng">
                <a:solidFill>
                  <a:schemeClr val="accent6">
                    <a:lumMod val="75000"/>
                  </a:schemeClr>
                </a:solidFill>
              </a:rPr>
              <a:t>방식이 </a:t>
            </a:r>
            <a:r>
              <a:rPr lang="ko-KR" altLang="en-US" b="1" u="sng" smtClean="0">
                <a:solidFill>
                  <a:schemeClr val="accent6">
                    <a:lumMod val="75000"/>
                  </a:schemeClr>
                </a:solidFill>
              </a:rPr>
              <a:t>아님</a:t>
            </a:r>
            <a:endParaRPr lang="en-US" altLang="ko-KR" b="1" u="sng" smtClean="0">
              <a:solidFill>
                <a:schemeClr val="accent6">
                  <a:lumMod val="75000"/>
                </a:schemeClr>
              </a:solidFill>
            </a:endParaRPr>
          </a:p>
          <a:p>
            <a:pPr lvl="2" fontAlgn="base"/>
            <a:endParaRPr lang="en-US" altLang="ko-KR" b="1" u="sng" smtClean="0">
              <a:solidFill>
                <a:schemeClr val="accent6">
                  <a:lumMod val="75000"/>
                </a:schemeClr>
              </a:solidFill>
            </a:endParaRPr>
          </a:p>
          <a:p>
            <a:pPr lvl="3" fontAlgn="base"/>
            <a:r>
              <a:rPr lang="ko-KR" altLang="en-US" b="1" smtClean="0"/>
              <a:t>비트코인은 </a:t>
            </a:r>
            <a:r>
              <a:rPr lang="en-US" altLang="ko-KR" b="1">
                <a:solidFill>
                  <a:srgbClr val="00CC00"/>
                </a:solidFill>
              </a:rPr>
              <a:t>UTXO(Unspent Transaction Output·</a:t>
            </a:r>
            <a:r>
              <a:rPr lang="ko-KR" altLang="en-US" b="1">
                <a:solidFill>
                  <a:srgbClr val="00CC00"/>
                </a:solidFill>
              </a:rPr>
              <a:t>미사용 트랜잭션</a:t>
            </a:r>
            <a:r>
              <a:rPr lang="en-US" altLang="ko-KR" b="1">
                <a:solidFill>
                  <a:srgbClr val="00CC00"/>
                </a:solidFill>
              </a:rPr>
              <a:t>)</a:t>
            </a:r>
            <a:r>
              <a:rPr lang="ko-KR" altLang="en-US" b="1">
                <a:solidFill>
                  <a:srgbClr val="00CC00"/>
                </a:solidFill>
              </a:rPr>
              <a:t>라는 </a:t>
            </a:r>
            <a:r>
              <a:rPr lang="en-US" altLang="ko-KR" b="1" smtClean="0">
                <a:solidFill>
                  <a:srgbClr val="00CC00"/>
                </a:solidFill>
              </a:rPr>
              <a:t/>
            </a:r>
            <a:br>
              <a:rPr lang="en-US" altLang="ko-KR" b="1" smtClean="0">
                <a:solidFill>
                  <a:srgbClr val="00CC00"/>
                </a:solidFill>
              </a:rPr>
            </a:br>
            <a:r>
              <a:rPr lang="ko-KR" altLang="en-US" b="1" smtClean="0">
                <a:solidFill>
                  <a:srgbClr val="00CC00"/>
                </a:solidFill>
              </a:rPr>
              <a:t>독특한 </a:t>
            </a:r>
            <a:r>
              <a:rPr lang="ko-KR" altLang="en-US" b="1">
                <a:solidFill>
                  <a:srgbClr val="00CC00"/>
                </a:solidFill>
              </a:rPr>
              <a:t>시스템을 </a:t>
            </a:r>
            <a:r>
              <a:rPr lang="ko-KR" altLang="en-US" b="1" smtClean="0">
                <a:solidFill>
                  <a:srgbClr val="00CC00"/>
                </a:solidFill>
              </a:rPr>
              <a:t>사용</a:t>
            </a:r>
            <a:endParaRPr lang="en-US" altLang="ko-KR" b="1" smtClean="0">
              <a:solidFill>
                <a:srgbClr val="00CC00"/>
              </a:solidFill>
            </a:endParaRPr>
          </a:p>
          <a:p>
            <a:pPr lvl="3" fontAlgn="base"/>
            <a:endParaRPr lang="en-US" altLang="ko-KR" b="1" smtClean="0">
              <a:solidFill>
                <a:srgbClr val="00CC00"/>
              </a:solidFill>
            </a:endParaRPr>
          </a:p>
          <a:p>
            <a:pPr lvl="4" fontAlgn="base"/>
            <a:r>
              <a:rPr lang="en-US" altLang="ko-KR" b="1" smtClean="0">
                <a:solidFill>
                  <a:srgbClr val="FF0000"/>
                </a:solidFill>
              </a:rPr>
              <a:t>UXTO</a:t>
            </a:r>
            <a:r>
              <a:rPr lang="en-US" altLang="ko-KR" b="1" smtClean="0"/>
              <a:t> </a:t>
            </a:r>
            <a:r>
              <a:rPr lang="en-US" altLang="ko-KR" b="1" smtClean="0"/>
              <a:t>-</a:t>
            </a:r>
            <a:r>
              <a:rPr lang="ko-KR" altLang="en-US" b="1" smtClean="0"/>
              <a:t> </a:t>
            </a:r>
            <a:r>
              <a:rPr lang="ko-KR" altLang="en-US" b="1"/>
              <a:t>아직 쓰지 않은 잔액이라는 의미로 비트코인 네트워크에서는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en-US" altLang="ko-KR" b="1" smtClean="0"/>
              <a:t>BTC</a:t>
            </a:r>
            <a:r>
              <a:rPr lang="ko-KR" altLang="en-US" b="1"/>
              <a:t>가 이체될 때</a:t>
            </a:r>
            <a:r>
              <a:rPr lang="en-US" altLang="ko-KR" b="1"/>
              <a:t>, UTXO</a:t>
            </a:r>
            <a:r>
              <a:rPr lang="ko-KR" altLang="en-US" b="1"/>
              <a:t>가 </a:t>
            </a:r>
            <a:r>
              <a:rPr lang="ko-KR" altLang="en-US" b="1" smtClean="0"/>
              <a:t>활용됨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1817773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트랜잭션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/>
              <a:t>비트코인 트랜잭션 구조</a:t>
            </a:r>
          </a:p>
          <a:p>
            <a:pPr lvl="1" fontAlgn="base"/>
            <a:r>
              <a:rPr lang="ko-KR" altLang="en-US"/>
              <a:t>바디</a:t>
            </a:r>
            <a:endParaRPr lang="en-US" altLang="ko-KR"/>
          </a:p>
          <a:p>
            <a:pPr lvl="2"/>
            <a:r>
              <a:rPr lang="ko-KR" altLang="en-US" smtClean="0">
                <a:solidFill>
                  <a:srgbClr val="009900"/>
                </a:solidFill>
              </a:rPr>
              <a:t>은행 </a:t>
            </a:r>
            <a:r>
              <a:rPr lang="ko-KR" altLang="en-US">
                <a:solidFill>
                  <a:srgbClr val="009900"/>
                </a:solidFill>
              </a:rPr>
              <a:t>계좌에서 이야기하는 잔고 증명 </a:t>
            </a:r>
            <a:r>
              <a:rPr lang="ko-KR" altLang="en-US" smtClean="0">
                <a:solidFill>
                  <a:srgbClr val="009900"/>
                </a:solidFill>
              </a:rPr>
              <a:t>방식</a:t>
            </a:r>
            <a:endParaRPr lang="en-US" altLang="ko-KR" smtClean="0">
              <a:solidFill>
                <a:srgbClr val="009900"/>
              </a:solidFill>
            </a:endParaRPr>
          </a:p>
          <a:p>
            <a:pPr lvl="2"/>
            <a:endParaRPr lang="en-US" altLang="ko-KR" smtClean="0">
              <a:solidFill>
                <a:srgbClr val="009900"/>
              </a:solidFill>
            </a:endParaRPr>
          </a:p>
          <a:p>
            <a:pPr lvl="3"/>
            <a:r>
              <a:rPr lang="ko-KR" altLang="en-US"/>
              <a:t>은행은 고객의 잔고를 블록체인의 계정 모델과 유사하게 </a:t>
            </a:r>
            <a:r>
              <a:rPr lang="ko-KR" altLang="en-US">
                <a:solidFill>
                  <a:srgbClr val="FF0000"/>
                </a:solidFill>
              </a:rPr>
              <a:t>단일 장부 시스템으로 </a:t>
            </a:r>
            <a:r>
              <a:rPr lang="ko-KR" altLang="en-US" smtClean="0">
                <a:solidFill>
                  <a:srgbClr val="FF0000"/>
                </a:solidFill>
              </a:rPr>
              <a:t>관리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 smtClean="0"/>
              <a:t>원리 </a:t>
            </a:r>
            <a:endParaRPr lang="en-US" altLang="ko-KR" smtClean="0"/>
          </a:p>
          <a:p>
            <a:pPr lvl="4"/>
            <a:r>
              <a:rPr lang="ko-KR" altLang="en-US" smtClean="0"/>
              <a:t>은행은 </a:t>
            </a:r>
            <a:r>
              <a:rPr lang="ko-KR" altLang="en-US"/>
              <a:t>모든 고객의 입출금 거래를 중앙 서버에 실시간으로 기록하고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>
                <a:solidFill>
                  <a:srgbClr val="FF0000"/>
                </a:solidFill>
              </a:rPr>
              <a:t>각 </a:t>
            </a:r>
            <a:r>
              <a:rPr lang="ko-KR" altLang="en-US">
                <a:solidFill>
                  <a:srgbClr val="FF0000"/>
                </a:solidFill>
              </a:rPr>
              <a:t>계좌별로 현재 잔액을 하나의 숫자로 </a:t>
            </a:r>
            <a:r>
              <a:rPr lang="ko-KR" altLang="en-US" smtClean="0">
                <a:solidFill>
                  <a:srgbClr val="FF0000"/>
                </a:solidFill>
              </a:rPr>
              <a:t>저장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 smtClean="0"/>
              <a:t>잔고 증명 </a:t>
            </a:r>
            <a:endParaRPr lang="en-US" altLang="ko-KR" smtClean="0"/>
          </a:p>
          <a:p>
            <a:pPr lvl="4"/>
            <a:r>
              <a:rPr lang="ko-KR" altLang="en-US" smtClean="0"/>
              <a:t>잔액은 </a:t>
            </a:r>
            <a:r>
              <a:rPr lang="ko-KR" altLang="en-US"/>
              <a:t>과거 거래를 일일이 추적할 필요 없이</a:t>
            </a:r>
            <a:r>
              <a:rPr lang="en-US" altLang="ko-KR"/>
              <a:t>, </a:t>
            </a:r>
            <a:r>
              <a:rPr lang="ko-KR" altLang="en-US">
                <a:solidFill>
                  <a:srgbClr val="FF0000"/>
                </a:solidFill>
              </a:rPr>
              <a:t>중앙 장부</a:t>
            </a:r>
            <a:r>
              <a:rPr lang="en-US" altLang="ko-KR">
                <a:solidFill>
                  <a:srgbClr val="FF0000"/>
                </a:solidFill>
              </a:rPr>
              <a:t>(Ledger)</a:t>
            </a:r>
            <a:r>
              <a:rPr lang="ko-KR" altLang="en-US">
                <a:solidFill>
                  <a:srgbClr val="FF0000"/>
                </a:solidFill>
              </a:rPr>
              <a:t>에 기록된 최종 숫자를 조회하여 즉시 </a:t>
            </a:r>
            <a:r>
              <a:rPr lang="ko-KR" altLang="en-US" smtClean="0">
                <a:solidFill>
                  <a:srgbClr val="FF0000"/>
                </a:solidFill>
              </a:rPr>
              <a:t>확인</a:t>
            </a:r>
            <a:endParaRPr lang="en-US" altLang="ko-KR" smtClean="0">
              <a:solidFill>
                <a:srgbClr val="FF0000"/>
              </a:solidFill>
            </a:endParaRPr>
          </a:p>
          <a:p>
            <a:pPr lvl="3"/>
            <a:r>
              <a:rPr lang="ko-KR" altLang="en-US" smtClean="0"/>
              <a:t>잔고의 불변성 </a:t>
            </a:r>
            <a:endParaRPr lang="en-US" altLang="ko-KR" smtClean="0"/>
          </a:p>
          <a:p>
            <a:pPr lvl="4"/>
            <a:r>
              <a:rPr lang="ko-KR" altLang="en-US" smtClean="0"/>
              <a:t>은행의 </a:t>
            </a:r>
            <a:r>
              <a:rPr lang="ko-KR" altLang="en-US"/>
              <a:t>장부는 권한이 있는 </a:t>
            </a:r>
            <a:r>
              <a:rPr lang="ko-KR" altLang="en-US">
                <a:solidFill>
                  <a:srgbClr val="FF0000"/>
                </a:solidFill>
              </a:rPr>
              <a:t>관리자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은행원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에 의해 수정될 수 </a:t>
            </a:r>
            <a:r>
              <a:rPr lang="en-US" altLang="ko-KR" smtClean="0">
                <a:solidFill>
                  <a:srgbClr val="FF0000"/>
                </a:solidFill>
              </a:rPr>
              <a:t/>
            </a:r>
            <a:br>
              <a:rPr lang="en-US" altLang="ko-KR" smtClean="0">
                <a:solidFill>
                  <a:srgbClr val="FF0000"/>
                </a:solidFill>
              </a:rPr>
            </a:br>
            <a:r>
              <a:rPr lang="ko-KR" altLang="en-US" smtClean="0">
                <a:solidFill>
                  <a:srgbClr val="FF0000"/>
                </a:solidFill>
              </a:rPr>
              <a:t>있음 </a:t>
            </a:r>
            <a:r>
              <a:rPr lang="en-US" altLang="ko-KR" smtClean="0">
                <a:sym typeface="Wingdings" panose="05000000000000000000" pitchFamily="2" charset="2"/>
              </a:rPr>
              <a:t></a:t>
            </a:r>
            <a:r>
              <a:rPr lang="en-US" altLang="ko-KR" smtClean="0"/>
              <a:t> </a:t>
            </a:r>
            <a:r>
              <a:rPr lang="ko-KR" altLang="en-US"/>
              <a:t>반면 블록체인은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공개적으로 분산되어 기록되므로 임의로 수정이 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불가능하다는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차이가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있음</a:t>
            </a:r>
            <a:endParaRPr lang="en-US" altLang="ko-KR">
              <a:solidFill>
                <a:schemeClr val="accent6">
                  <a:lumMod val="75000"/>
                </a:schemeClr>
              </a:solidFill>
            </a:endParaRPr>
          </a:p>
          <a:p>
            <a:pPr lvl="2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4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트랜잭션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200"/>
              <a:t>비트코인 트랜잭션 구조</a:t>
            </a:r>
          </a:p>
          <a:p>
            <a:pPr lvl="1" fontAlgn="base"/>
            <a:r>
              <a:rPr lang="ko-KR" altLang="en-US" sz="1900"/>
              <a:t>바디</a:t>
            </a:r>
            <a:endParaRPr lang="en-US" altLang="ko-KR" sz="1900"/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블록체인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장부 기록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방식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잔고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관리 모델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장부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(ledger))</a:t>
            </a:r>
          </a:p>
          <a:p>
            <a:pPr lvl="3"/>
            <a:r>
              <a:rPr lang="en-US" altLang="ko-KR" smtClean="0">
                <a:solidFill>
                  <a:srgbClr val="FF0000"/>
                </a:solidFill>
              </a:rPr>
              <a:t>UTXO </a:t>
            </a:r>
            <a:r>
              <a:rPr lang="ko-KR" altLang="en-US" smtClean="0">
                <a:solidFill>
                  <a:srgbClr val="FF0000"/>
                </a:solidFill>
              </a:rPr>
              <a:t>모델</a:t>
            </a:r>
            <a:r>
              <a:rPr lang="en-US" altLang="ko-KR" smtClean="0">
                <a:solidFill>
                  <a:srgbClr val="FF0000"/>
                </a:solidFill>
              </a:rPr>
              <a:t>(</a:t>
            </a:r>
            <a:r>
              <a:rPr lang="en-US" altLang="ko-KR">
                <a:solidFill>
                  <a:srgbClr val="FF0000"/>
                </a:solidFill>
              </a:rPr>
              <a:t>Unspent Transaction Output, </a:t>
            </a:r>
            <a:r>
              <a:rPr lang="ko-KR" altLang="en-US">
                <a:solidFill>
                  <a:srgbClr val="FF0000"/>
                </a:solidFill>
              </a:rPr>
              <a:t>비트코인 방식</a:t>
            </a:r>
            <a:r>
              <a:rPr lang="en-US" altLang="ko-KR">
                <a:solidFill>
                  <a:srgbClr val="FF0000"/>
                </a:solidFill>
              </a:rPr>
              <a:t>) </a:t>
            </a:r>
            <a:endParaRPr lang="en-US" altLang="ko-KR" smtClean="0">
              <a:solidFill>
                <a:srgbClr val="FF0000"/>
              </a:solidFill>
            </a:endParaRPr>
          </a:p>
          <a:p>
            <a:pPr lvl="4"/>
            <a:r>
              <a:rPr lang="ko-KR" altLang="en-US" smtClean="0">
                <a:solidFill>
                  <a:srgbClr val="0000FF"/>
                </a:solidFill>
              </a:rPr>
              <a:t>비트코인</a:t>
            </a:r>
            <a:r>
              <a:rPr lang="en-US" altLang="ko-KR">
                <a:solidFill>
                  <a:srgbClr val="0000FF"/>
                </a:solidFill>
              </a:rPr>
              <a:t>(BTC)</a:t>
            </a:r>
            <a:r>
              <a:rPr lang="ko-KR" altLang="en-US">
                <a:solidFill>
                  <a:srgbClr val="0000FF"/>
                </a:solidFill>
              </a:rPr>
              <a:t>은 </a:t>
            </a:r>
            <a:r>
              <a:rPr lang="ko-KR" altLang="en-US"/>
              <a:t>개별 주소의 최종 잔액을 기록하지 않고</a:t>
            </a:r>
            <a:r>
              <a:rPr lang="en-US" altLang="ko-KR"/>
              <a:t>, </a:t>
            </a:r>
            <a:r>
              <a:rPr lang="ko-KR" altLang="en-US"/>
              <a:t>사용하지 않고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남아 </a:t>
            </a:r>
            <a:r>
              <a:rPr lang="ko-KR" altLang="en-US"/>
              <a:t>있는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모든 거래 출력 조각을 모아 잔고를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증명</a:t>
            </a:r>
            <a:endParaRPr lang="en-US" altLang="ko-KR" smtClean="0">
              <a:solidFill>
                <a:schemeClr val="accent6">
                  <a:lumMod val="75000"/>
                </a:schemeClr>
              </a:solidFill>
            </a:endParaRPr>
          </a:p>
          <a:p>
            <a:pPr lvl="4"/>
            <a:endParaRPr lang="en-US" altLang="ko-KR" smtClean="0"/>
          </a:p>
          <a:p>
            <a:pPr lvl="4"/>
            <a:r>
              <a:rPr lang="ko-KR" altLang="en-US" smtClean="0"/>
              <a:t>잔고 증명 </a:t>
            </a:r>
            <a:endParaRPr lang="en-US" altLang="ko-KR" smtClean="0"/>
          </a:p>
          <a:p>
            <a:pPr lvl="5"/>
            <a:r>
              <a:rPr lang="ko-KR" altLang="en-US" sz="1400" b="1" smtClean="0"/>
              <a:t>사용자의 </a:t>
            </a:r>
            <a:r>
              <a:rPr lang="ko-KR" altLang="en-US" sz="1400" b="1"/>
              <a:t>지갑에 있는 모든 </a:t>
            </a:r>
            <a:r>
              <a:rPr lang="en-US" altLang="ko-KR" sz="1400" b="1"/>
              <a:t>UTXO (</a:t>
            </a:r>
            <a:r>
              <a:rPr lang="ko-KR" altLang="en-US" sz="1400" b="1"/>
              <a:t>마치 거스름돈 조각</a:t>
            </a:r>
            <a:r>
              <a:rPr lang="en-US" altLang="ko-KR" sz="1400" b="1"/>
              <a:t>)</a:t>
            </a:r>
            <a:r>
              <a:rPr lang="ko-KR" altLang="en-US" sz="1400" b="1"/>
              <a:t>를 합산해야 비로소 </a:t>
            </a:r>
            <a:r>
              <a:rPr lang="ko-KR" altLang="en-US" sz="1400" b="1" smtClean="0"/>
              <a:t>최종 </a:t>
            </a:r>
            <a:r>
              <a:rPr lang="ko-KR" altLang="en-US" sz="1400" b="1"/>
              <a:t>잔고가 </a:t>
            </a:r>
            <a:r>
              <a:rPr lang="ko-KR" altLang="en-US" sz="1400" b="1" smtClean="0"/>
              <a:t>증명됨</a:t>
            </a:r>
            <a:endParaRPr lang="en-US" altLang="ko-KR" sz="1400" b="1" smtClean="0"/>
          </a:p>
          <a:p>
            <a:pPr lvl="4"/>
            <a:r>
              <a:rPr lang="ko-KR" altLang="en-US" smtClean="0"/>
              <a:t>특징</a:t>
            </a:r>
            <a:endParaRPr lang="en-US" altLang="ko-KR" smtClean="0"/>
          </a:p>
          <a:p>
            <a:pPr lvl="5"/>
            <a:r>
              <a:rPr lang="ko-KR" altLang="en-US" sz="1400" b="1" smtClean="0"/>
              <a:t>모든 </a:t>
            </a:r>
            <a:r>
              <a:rPr lang="ko-KR" altLang="en-US" sz="1400" b="1"/>
              <a:t>거래는 이전 </a:t>
            </a:r>
            <a:r>
              <a:rPr lang="en-US" altLang="ko-KR" sz="1400" b="1" smtClean="0"/>
              <a:t>UTXO</a:t>
            </a:r>
            <a:r>
              <a:rPr lang="ko-KR" altLang="en-US" sz="1400" b="1" smtClean="0"/>
              <a:t>를 </a:t>
            </a:r>
            <a:r>
              <a:rPr lang="ko-KR" altLang="en-US" sz="1400" b="1"/>
              <a:t>입력으로 </a:t>
            </a:r>
            <a:r>
              <a:rPr lang="en-US" altLang="ko-KR" sz="1400" b="1"/>
              <a:t>'</a:t>
            </a:r>
            <a:r>
              <a:rPr lang="ko-KR" altLang="en-US" sz="1400" b="1"/>
              <a:t>소비</a:t>
            </a:r>
            <a:r>
              <a:rPr lang="en-US" altLang="ko-KR" sz="1400" b="1"/>
              <a:t>'</a:t>
            </a:r>
            <a:r>
              <a:rPr lang="ko-KR" altLang="en-US" sz="1400" b="1"/>
              <a:t>하고</a:t>
            </a:r>
            <a:r>
              <a:rPr lang="en-US" altLang="ko-KR" sz="1400" b="1"/>
              <a:t>,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ko-KR" altLang="en-US" sz="1400" b="1" smtClean="0"/>
              <a:t>새로운 </a:t>
            </a:r>
            <a:r>
              <a:rPr lang="en-US" altLang="ko-KR" sz="1400" b="1" smtClean="0"/>
              <a:t>UTXO</a:t>
            </a:r>
            <a:r>
              <a:rPr lang="ko-KR" altLang="en-US" sz="1400" b="1" smtClean="0"/>
              <a:t>를 </a:t>
            </a:r>
            <a:r>
              <a:rPr lang="ko-KR" altLang="en-US" sz="1400" b="1"/>
              <a:t>출력으로 </a:t>
            </a:r>
            <a:r>
              <a:rPr lang="en-US" altLang="ko-KR" sz="1400" b="1"/>
              <a:t>'</a:t>
            </a:r>
            <a:r>
              <a:rPr lang="ko-KR" altLang="en-US" sz="1400" b="1"/>
              <a:t>생성</a:t>
            </a:r>
            <a:r>
              <a:rPr lang="en-US" altLang="ko-KR" sz="1400" b="1"/>
              <a:t>'</a:t>
            </a:r>
            <a:r>
              <a:rPr lang="ko-KR" altLang="en-US" sz="1400" b="1" smtClean="0"/>
              <a:t>하는 방식으로 </a:t>
            </a:r>
            <a:r>
              <a:rPr lang="ko-KR" altLang="en-US" sz="1400" b="1"/>
              <a:t>이루어져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ko-KR" altLang="en-US" sz="1400" b="1" smtClean="0"/>
              <a:t>거래 </a:t>
            </a:r>
            <a:r>
              <a:rPr lang="ko-KR" altLang="en-US" sz="1400" b="1"/>
              <a:t>투명성이 </a:t>
            </a:r>
            <a:r>
              <a:rPr lang="ko-KR" altLang="en-US" sz="1400" b="1" smtClean="0"/>
              <a:t>높음</a:t>
            </a:r>
            <a:endParaRPr lang="en-US" altLang="ko-KR" sz="1400" b="1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51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트랜잭션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200"/>
              <a:t>비트코인 트랜잭션 구조</a:t>
            </a:r>
          </a:p>
          <a:p>
            <a:pPr lvl="1" fontAlgn="base"/>
            <a:r>
              <a:rPr lang="ko-KR" altLang="en-US" sz="1900"/>
              <a:t>바디</a:t>
            </a:r>
            <a:endParaRPr lang="en-US" altLang="ko-KR" sz="1900"/>
          </a:p>
          <a:p>
            <a:pPr lvl="2"/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블록체인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장부 기록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방식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잔고 </a:t>
            </a:r>
            <a:r>
              <a:rPr lang="ko-KR" altLang="en-US">
                <a:solidFill>
                  <a:schemeClr val="accent6">
                    <a:lumMod val="75000"/>
                  </a:schemeClr>
                </a:solidFill>
              </a:rPr>
              <a:t>관리 모델 </a:t>
            </a:r>
            <a:r>
              <a:rPr lang="ko-KR" altLang="en-US" smtClean="0">
                <a:solidFill>
                  <a:schemeClr val="accent6">
                    <a:lumMod val="75000"/>
                  </a:schemeClr>
                </a:solidFill>
              </a:rPr>
              <a:t>장부</a:t>
            </a:r>
            <a:r>
              <a:rPr lang="en-US" altLang="ko-KR" smtClean="0">
                <a:solidFill>
                  <a:schemeClr val="accent6">
                    <a:lumMod val="75000"/>
                  </a:schemeClr>
                </a:solidFill>
              </a:rPr>
              <a:t>(ledger))</a:t>
            </a:r>
          </a:p>
          <a:p>
            <a:pPr lvl="3"/>
            <a:r>
              <a:rPr lang="ko-KR" altLang="en-US" smtClean="0">
                <a:solidFill>
                  <a:srgbClr val="FF0000"/>
                </a:solidFill>
              </a:rPr>
              <a:t>계정 </a:t>
            </a:r>
            <a:r>
              <a:rPr lang="ko-KR" altLang="en-US" smtClean="0">
                <a:solidFill>
                  <a:srgbClr val="FF0000"/>
                </a:solidFill>
              </a:rPr>
              <a:t>모델</a:t>
            </a:r>
            <a:r>
              <a:rPr lang="en-US" altLang="ko-KR" smtClean="0">
                <a:solidFill>
                  <a:srgbClr val="FF0000"/>
                </a:solidFill>
              </a:rPr>
              <a:t>(</a:t>
            </a:r>
            <a:r>
              <a:rPr lang="en-US" altLang="ko-KR">
                <a:solidFill>
                  <a:srgbClr val="FF0000"/>
                </a:solidFill>
              </a:rPr>
              <a:t>Account Model, </a:t>
            </a:r>
            <a:r>
              <a:rPr lang="ko-KR" altLang="en-US">
                <a:solidFill>
                  <a:srgbClr val="FF0000"/>
                </a:solidFill>
              </a:rPr>
              <a:t>이더리움 방식</a:t>
            </a:r>
            <a:r>
              <a:rPr lang="en-US" altLang="ko-KR">
                <a:solidFill>
                  <a:srgbClr val="FF0000"/>
                </a:solidFill>
              </a:rPr>
              <a:t>) </a:t>
            </a:r>
            <a:endParaRPr lang="en-US" altLang="ko-KR" smtClean="0">
              <a:solidFill>
                <a:srgbClr val="FF0000"/>
              </a:solidFill>
            </a:endParaRPr>
          </a:p>
          <a:p>
            <a:pPr lvl="4"/>
            <a:r>
              <a:rPr lang="ko-KR" altLang="en-US" smtClean="0">
                <a:solidFill>
                  <a:srgbClr val="0000FF"/>
                </a:solidFill>
              </a:rPr>
              <a:t>이더리움</a:t>
            </a:r>
            <a:r>
              <a:rPr lang="en-US" altLang="ko-KR">
                <a:solidFill>
                  <a:srgbClr val="0000FF"/>
                </a:solidFill>
              </a:rPr>
              <a:t>(ETH) </a:t>
            </a:r>
            <a:r>
              <a:rPr lang="ko-KR" altLang="en-US">
                <a:solidFill>
                  <a:srgbClr val="0000FF"/>
                </a:solidFill>
              </a:rPr>
              <a:t>등 </a:t>
            </a:r>
            <a:r>
              <a:rPr lang="ko-KR" altLang="en-US"/>
              <a:t>많은 블록체인에서 사용하는 방식으로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전통적인 </a:t>
            </a:r>
            <a:r>
              <a:rPr lang="ko-KR" altLang="en-US"/>
              <a:t>은행 계좌와 </a:t>
            </a:r>
            <a:r>
              <a:rPr lang="ko-KR" altLang="en-US" smtClean="0"/>
              <a:t>유사</a:t>
            </a:r>
            <a:endParaRPr lang="en-US" altLang="ko-KR" smtClean="0"/>
          </a:p>
          <a:p>
            <a:pPr lvl="4"/>
            <a:endParaRPr lang="en-US" altLang="ko-KR" smtClean="0"/>
          </a:p>
          <a:p>
            <a:pPr lvl="4"/>
            <a:r>
              <a:rPr lang="ko-KR" altLang="en-US" smtClean="0"/>
              <a:t>잔고 </a:t>
            </a:r>
            <a:r>
              <a:rPr lang="ko-KR" altLang="en-US" smtClean="0"/>
              <a:t>증명 </a:t>
            </a:r>
            <a:endParaRPr lang="en-US" altLang="ko-KR" smtClean="0"/>
          </a:p>
          <a:p>
            <a:pPr lvl="5"/>
            <a:r>
              <a:rPr lang="ko-KR" altLang="en-US" sz="1400" b="1" smtClean="0"/>
              <a:t>블록체인 </a:t>
            </a:r>
            <a:r>
              <a:rPr lang="ko-KR" altLang="en-US" sz="1400" b="1"/>
              <a:t>네트워크의 </a:t>
            </a:r>
            <a:r>
              <a:rPr lang="ko-KR" altLang="en-US" sz="1400" b="1" smtClean="0"/>
              <a:t>전역 </a:t>
            </a:r>
            <a:r>
              <a:rPr lang="ko-KR" altLang="en-US" sz="1400" b="1"/>
              <a:t>상태</a:t>
            </a:r>
            <a:r>
              <a:rPr lang="en-US" altLang="ko-KR" sz="1400" b="1"/>
              <a:t>(Global State</a:t>
            </a:r>
            <a:r>
              <a:rPr lang="en-US" altLang="ko-KR" sz="1400" b="1" smtClean="0"/>
              <a:t>)</a:t>
            </a:r>
            <a:r>
              <a:rPr lang="ko-KR" altLang="en-US" sz="1400" b="1" smtClean="0"/>
              <a:t>에 </a:t>
            </a:r>
            <a:r>
              <a:rPr lang="ko-KR" altLang="en-US" sz="1400" b="1"/>
              <a:t>각 주소의 현재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ko-KR" altLang="en-US" sz="1400" b="1" smtClean="0"/>
              <a:t>잔액이 하나의 </a:t>
            </a:r>
            <a:r>
              <a:rPr lang="ko-KR" altLang="en-US" sz="1400" b="1"/>
              <a:t>숫자로 기록되어 </a:t>
            </a:r>
            <a:r>
              <a:rPr lang="ko-KR" altLang="en-US" sz="1400" b="1" smtClean="0"/>
              <a:t>있음 </a:t>
            </a:r>
            <a:r>
              <a:rPr lang="en-US" altLang="ko-KR" sz="1400" b="1" smtClean="0">
                <a:sym typeface="Wingdings" panose="05000000000000000000" pitchFamily="2" charset="2"/>
              </a:rPr>
              <a:t></a:t>
            </a:r>
            <a:r>
              <a:rPr lang="en-US" altLang="ko-KR" sz="1400" b="1" smtClean="0"/>
              <a:t> </a:t>
            </a:r>
            <a:r>
              <a:rPr lang="ko-KR" altLang="en-US" sz="1400" b="1"/>
              <a:t>이 숫자를 조회하여 잔고를 </a:t>
            </a:r>
            <a:r>
              <a:rPr lang="ko-KR" altLang="en-US" sz="1400" b="1" smtClean="0"/>
              <a:t>증명함</a:t>
            </a:r>
            <a:endParaRPr lang="en-US" altLang="ko-KR" sz="1400" b="1" smtClean="0"/>
          </a:p>
          <a:p>
            <a:pPr lvl="4"/>
            <a:r>
              <a:rPr lang="ko-KR" altLang="en-US" smtClean="0"/>
              <a:t>특징 </a:t>
            </a:r>
            <a:endParaRPr lang="en-US" altLang="ko-KR" smtClean="0"/>
          </a:p>
          <a:p>
            <a:pPr lvl="5"/>
            <a:r>
              <a:rPr lang="ko-KR" altLang="en-US" sz="1400" b="1" smtClean="0"/>
              <a:t>거래가 </a:t>
            </a:r>
            <a:r>
              <a:rPr lang="ko-KR" altLang="en-US" sz="1400" b="1"/>
              <a:t>발생하면 해당 계정의 잔액 숫자가 즉시 감소하고</a:t>
            </a:r>
            <a:r>
              <a:rPr lang="en-US" altLang="ko-KR" sz="1400" b="1"/>
              <a:t>, </a:t>
            </a:r>
            <a:r>
              <a:rPr lang="en-US" altLang="ko-KR" sz="1400" b="1" smtClean="0"/>
              <a:t/>
            </a:r>
            <a:br>
              <a:rPr lang="en-US" altLang="ko-KR" sz="1400" b="1" smtClean="0"/>
            </a:br>
            <a:r>
              <a:rPr lang="ko-KR" altLang="en-US" sz="1400" b="1" smtClean="0"/>
              <a:t>받는 </a:t>
            </a:r>
            <a:r>
              <a:rPr lang="ko-KR" altLang="en-US" sz="1400" b="1"/>
              <a:t>계정의 </a:t>
            </a:r>
            <a:r>
              <a:rPr lang="ko-KR" altLang="en-US" sz="1400" b="1" smtClean="0"/>
              <a:t>잔액이 </a:t>
            </a:r>
            <a:r>
              <a:rPr lang="ko-KR" altLang="en-US" sz="1400" b="1"/>
              <a:t>증가하는 직관적인 </a:t>
            </a:r>
            <a:r>
              <a:rPr lang="ko-KR" altLang="en-US" sz="1400" b="1" smtClean="0"/>
              <a:t>방식임</a:t>
            </a:r>
            <a:endParaRPr lang="en-US" altLang="ko-KR" sz="1400" b="1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040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ko-KR" altLang="en-US" sz="2000" b="1">
                <a:solidFill>
                  <a:srgbClr val="C00000"/>
                </a:solidFill>
              </a:rPr>
              <a:t>비트코인 트랜잭션 구조</a:t>
            </a:r>
          </a:p>
          <a:p>
            <a:pPr marL="742950" lvl="2" indent="-342900"/>
            <a:endParaRPr lang="en-US" altLang="ko-KR" sz="1800" b="1">
              <a:solidFill>
                <a:srgbClr val="0000FF"/>
              </a:solidFill>
            </a:endParaRPr>
          </a:p>
          <a:p>
            <a:endParaRPr lang="ko-KR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58" y="2060848"/>
            <a:ext cx="7416824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776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ko-KR" altLang="en-US" sz="2000" b="1">
                <a:solidFill>
                  <a:srgbClr val="C00000"/>
                </a:solidFill>
              </a:rPr>
              <a:t>비트코인 트랜잭션 구조</a:t>
            </a:r>
          </a:p>
          <a:p>
            <a:pPr marL="742950" lvl="2" indent="-342900"/>
            <a:r>
              <a:rPr lang="ko-KR" altLang="en-US" sz="1800" b="1" smtClean="0">
                <a:solidFill>
                  <a:srgbClr val="0000FF"/>
                </a:solidFill>
              </a:rPr>
              <a:t>바디의 </a:t>
            </a:r>
            <a:r>
              <a:rPr lang="ko-KR" altLang="en-US" sz="1800" b="1">
                <a:solidFill>
                  <a:srgbClr val="0000FF"/>
                </a:solidFill>
              </a:rPr>
              <a:t>각 데이터는 무엇을 의미할까</a:t>
            </a:r>
            <a:r>
              <a:rPr lang="en-US" altLang="ko-KR" sz="1800" b="1" smtClean="0">
                <a:solidFill>
                  <a:srgbClr val="0000FF"/>
                </a:solidFill>
              </a:rPr>
              <a:t>?</a:t>
            </a:r>
          </a:p>
          <a:p>
            <a:pPr marL="1200150" lvl="3" indent="-342900"/>
            <a:r>
              <a:rPr lang="ko-KR" altLang="en-US" b="1" smtClean="0">
                <a:solidFill>
                  <a:srgbClr val="E509A6"/>
                </a:solidFill>
              </a:rPr>
              <a:t>버전 </a:t>
            </a:r>
            <a:r>
              <a:rPr lang="ko-KR" altLang="en-US" b="1">
                <a:solidFill>
                  <a:srgbClr val="E509A6"/>
                </a:solidFill>
              </a:rPr>
              <a:t>번호 </a:t>
            </a:r>
            <a:r>
              <a:rPr lang="en-US" altLang="ko-KR" b="1"/>
              <a:t>: </a:t>
            </a:r>
            <a:r>
              <a:rPr lang="ko-KR" altLang="en-US" b="1"/>
              <a:t>채굴자와 노드가 트랜잭션 처리에 </a:t>
            </a:r>
            <a:r>
              <a:rPr lang="ko-KR" altLang="en-US" b="1" smtClean="0"/>
              <a:t>사용할 규칙의 버젼을 지정하는데 사용</a:t>
            </a:r>
            <a:endParaRPr lang="en-US" altLang="ko-KR" b="1" smtClean="0"/>
          </a:p>
          <a:p>
            <a:pPr marL="1200150" lvl="3" indent="-342900"/>
            <a:r>
              <a:rPr lang="ko-KR" altLang="en-US" b="1" smtClean="0">
                <a:solidFill>
                  <a:srgbClr val="E509A6"/>
                </a:solidFill>
              </a:rPr>
              <a:t>입력 </a:t>
            </a:r>
            <a:r>
              <a:rPr lang="ko-KR" altLang="en-US" b="1">
                <a:solidFill>
                  <a:srgbClr val="E509A6"/>
                </a:solidFill>
              </a:rPr>
              <a:t>카운터 </a:t>
            </a:r>
            <a:r>
              <a:rPr lang="en-US" altLang="ko-KR" b="1"/>
              <a:t>: </a:t>
            </a:r>
            <a:r>
              <a:rPr lang="ko-KR" altLang="en-US" b="1"/>
              <a:t>트랜잭션에 포함된 입력의 </a:t>
            </a:r>
            <a:r>
              <a:rPr lang="ko-KR" altLang="en-US" b="1" smtClean="0"/>
              <a:t>개수</a:t>
            </a:r>
            <a:endParaRPr lang="en-US" altLang="ko-KR" b="1" smtClean="0"/>
          </a:p>
          <a:p>
            <a:pPr marL="1200150" lvl="3" indent="-342900"/>
            <a:r>
              <a:rPr lang="ko-KR" altLang="en-US" b="1" smtClean="0">
                <a:solidFill>
                  <a:srgbClr val="E509A6"/>
                </a:solidFill>
              </a:rPr>
              <a:t>입력 </a:t>
            </a:r>
            <a:r>
              <a:rPr lang="ko-KR" altLang="en-US" b="1">
                <a:solidFill>
                  <a:srgbClr val="E509A6"/>
                </a:solidFill>
              </a:rPr>
              <a:t>리스트 </a:t>
            </a:r>
            <a:r>
              <a:rPr lang="en-US" altLang="ko-KR" b="1"/>
              <a:t>: </a:t>
            </a:r>
            <a:r>
              <a:rPr lang="ko-KR" altLang="en-US" b="1"/>
              <a:t>블록의 첫 트랜잭션은 </a:t>
            </a:r>
            <a:r>
              <a:rPr lang="ko-KR" altLang="en-US" b="1" smtClean="0"/>
              <a:t>코인베이스 트랜잭션</a:t>
            </a:r>
            <a:r>
              <a:rPr lang="en-US" altLang="ko-KR" b="1"/>
              <a:t>(Coinbase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en-US" altLang="ko-KR" b="1" smtClean="0"/>
              <a:t>Transaction</a:t>
            </a:r>
            <a:r>
              <a:rPr lang="en-US" altLang="ko-KR" b="1"/>
              <a:t>)</a:t>
            </a:r>
            <a:r>
              <a:rPr lang="ko-KR" altLang="en-US" b="1"/>
              <a:t>으로 </a:t>
            </a:r>
            <a:r>
              <a:rPr lang="ko-KR" altLang="en-US" b="1" smtClean="0"/>
              <a:t>입력 </a:t>
            </a:r>
            <a:r>
              <a:rPr lang="ko-KR" altLang="en-US" b="1"/>
              <a:t>리스트에는 하나 이상의 트랜잭션 입력이 </a:t>
            </a:r>
            <a:r>
              <a:rPr lang="ko-KR" altLang="en-US" b="1" smtClean="0"/>
              <a:t>포함</a:t>
            </a:r>
            <a:endParaRPr lang="en-US" altLang="ko-KR" b="1" smtClean="0"/>
          </a:p>
          <a:p>
            <a:pPr marL="1200150" lvl="3" indent="-342900"/>
            <a:r>
              <a:rPr lang="ko-KR" altLang="en-US" b="1" smtClean="0">
                <a:solidFill>
                  <a:srgbClr val="E509A6"/>
                </a:solidFill>
              </a:rPr>
              <a:t>출력 </a:t>
            </a:r>
            <a:r>
              <a:rPr lang="ko-KR" altLang="en-US" b="1">
                <a:solidFill>
                  <a:srgbClr val="E509A6"/>
                </a:solidFill>
              </a:rPr>
              <a:t>카운터 </a:t>
            </a:r>
            <a:r>
              <a:rPr lang="en-US" altLang="ko-KR" b="1"/>
              <a:t>: </a:t>
            </a:r>
            <a:r>
              <a:rPr lang="ko-KR" altLang="en-US" b="1"/>
              <a:t>출력의 개수를 나타내는 양의 </a:t>
            </a:r>
            <a:r>
              <a:rPr lang="ko-KR" altLang="en-US" b="1" smtClean="0"/>
              <a:t>정수</a:t>
            </a:r>
            <a:endParaRPr lang="en-US" altLang="ko-KR" b="1" smtClean="0"/>
          </a:p>
          <a:p>
            <a:pPr marL="1200150" lvl="3" indent="-342900"/>
            <a:r>
              <a:rPr lang="ko-KR" altLang="en-US" b="1" smtClean="0">
                <a:solidFill>
                  <a:srgbClr val="E509A6"/>
                </a:solidFill>
              </a:rPr>
              <a:t>출력 </a:t>
            </a:r>
            <a:r>
              <a:rPr lang="ko-KR" altLang="en-US" b="1">
                <a:solidFill>
                  <a:srgbClr val="E509A6"/>
                </a:solidFill>
              </a:rPr>
              <a:t>리스트 </a:t>
            </a:r>
            <a:r>
              <a:rPr lang="en-US" altLang="ko-KR" b="1"/>
              <a:t>: </a:t>
            </a:r>
            <a:r>
              <a:rPr lang="ko-KR" altLang="en-US" b="1"/>
              <a:t>트랜잭션에 포함된 </a:t>
            </a:r>
            <a:r>
              <a:rPr lang="ko-KR" altLang="en-US" b="1" smtClean="0"/>
              <a:t>출력</a:t>
            </a:r>
            <a:endParaRPr lang="en-US" altLang="ko-KR" b="1" smtClean="0"/>
          </a:p>
          <a:p>
            <a:pPr marL="1200150" lvl="3" indent="-342900"/>
            <a:r>
              <a:rPr lang="ko-KR" altLang="en-US" b="1" smtClean="0">
                <a:solidFill>
                  <a:srgbClr val="E509A6"/>
                </a:solidFill>
              </a:rPr>
              <a:t>락 </a:t>
            </a:r>
            <a:r>
              <a:rPr lang="ko-KR" altLang="en-US" b="1">
                <a:solidFill>
                  <a:srgbClr val="E509A6"/>
                </a:solidFill>
              </a:rPr>
              <a:t>시간 </a:t>
            </a:r>
            <a:r>
              <a:rPr lang="en-US" altLang="ko-KR" b="1"/>
              <a:t>: </a:t>
            </a:r>
            <a:r>
              <a:rPr lang="ko-KR" altLang="en-US" b="1"/>
              <a:t>트랜잭션이 유효해지는 </a:t>
            </a:r>
            <a:r>
              <a:rPr lang="ko-KR" altLang="en-US" b="1" smtClean="0"/>
              <a:t>가장 </a:t>
            </a:r>
            <a:r>
              <a:rPr lang="ko-KR" altLang="en-US" b="1"/>
              <a:t>빠른 시간을 정의하는 필드</a:t>
            </a:r>
          </a:p>
          <a:p>
            <a:pPr marL="742950" lvl="2" indent="-342900"/>
            <a:endParaRPr lang="en-US" altLang="ko-KR" sz="1800" b="1">
              <a:solidFill>
                <a:srgbClr val="0000FF"/>
              </a:solidFill>
            </a:endParaRPr>
          </a:p>
          <a:p>
            <a:endParaRPr lang="ko-KR" altLang="en-US"/>
          </a:p>
        </p:txBody>
      </p:sp>
      <p:pic>
        <p:nvPicPr>
          <p:cNvPr id="3074" name="Picture 2" descr="출처=루디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149080"/>
            <a:ext cx="4392488" cy="2568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출처=루디움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115404"/>
            <a:ext cx="4248472" cy="274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603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b="1">
                <a:solidFill>
                  <a:srgbClr val="C00000"/>
                </a:solidFill>
              </a:rPr>
              <a:t>이더리움 트랜잭션 구조</a:t>
            </a:r>
          </a:p>
          <a:p>
            <a:pPr marL="800100" lvl="3" indent="-342900" fontAlgn="base"/>
            <a:r>
              <a:rPr lang="ko-KR" altLang="en-US" sz="1800" b="1">
                <a:solidFill>
                  <a:srgbClr val="0000FF"/>
                </a:solidFill>
              </a:rPr>
              <a:t>바디의 각 데이터는 무엇을 의미할까</a:t>
            </a:r>
            <a:r>
              <a:rPr lang="en-US" altLang="ko-KR" sz="1800" b="1">
                <a:solidFill>
                  <a:srgbClr val="0000FF"/>
                </a:solidFill>
              </a:rPr>
              <a:t>?</a:t>
            </a:r>
          </a:p>
          <a:p>
            <a:pPr lvl="2" fontAlgn="base"/>
            <a:r>
              <a:rPr lang="ko-KR" altLang="en-US" b="1" smtClean="0">
                <a:solidFill>
                  <a:srgbClr val="E509A6"/>
                </a:solidFill>
              </a:rPr>
              <a:t>논스</a:t>
            </a:r>
            <a:r>
              <a:rPr lang="en-US" altLang="ko-KR" b="1">
                <a:solidFill>
                  <a:srgbClr val="E509A6"/>
                </a:solidFill>
              </a:rPr>
              <a:t>(Nonce) </a:t>
            </a:r>
            <a:r>
              <a:rPr lang="en-US" altLang="ko-KR" b="1"/>
              <a:t>: </a:t>
            </a:r>
            <a:r>
              <a:rPr lang="ko-KR" altLang="en-US" b="1"/>
              <a:t>트랜잭션 발신 </a:t>
            </a:r>
            <a:r>
              <a:rPr lang="en-US" altLang="ko-KR" b="1"/>
              <a:t>EOA(</a:t>
            </a:r>
            <a:r>
              <a:rPr lang="ko-KR" altLang="en-US" b="1"/>
              <a:t>지갑</a:t>
            </a:r>
            <a:r>
              <a:rPr lang="en-US" altLang="ko-KR" b="1"/>
              <a:t>)</a:t>
            </a:r>
            <a:r>
              <a:rPr lang="ko-KR" altLang="en-US" b="1"/>
              <a:t>에 의해 발행되어 트랜잭션 메시지 재사용을 방지하는 데 사용되는 일련번호</a:t>
            </a:r>
          </a:p>
          <a:p>
            <a:pPr lvl="2" fontAlgn="base"/>
            <a:r>
              <a:rPr lang="ko-KR" altLang="en-US" b="1" u="sng">
                <a:solidFill>
                  <a:srgbClr val="E509A6"/>
                </a:solidFill>
              </a:rPr>
              <a:t>가스 가격</a:t>
            </a:r>
            <a:r>
              <a:rPr lang="en-US" altLang="ko-KR" b="1" u="sng">
                <a:solidFill>
                  <a:srgbClr val="E509A6"/>
                </a:solidFill>
              </a:rPr>
              <a:t>(Gas Price) </a:t>
            </a:r>
            <a:r>
              <a:rPr lang="en-US" altLang="ko-KR" b="1" u="sng"/>
              <a:t>: </a:t>
            </a:r>
            <a:r>
              <a:rPr lang="ko-KR" altLang="en-US" b="1" u="sng"/>
              <a:t>발신자가 지급하는 가스</a:t>
            </a:r>
            <a:r>
              <a:rPr lang="en-US" altLang="ko-KR" b="1" u="sng"/>
              <a:t>(</a:t>
            </a:r>
            <a:r>
              <a:rPr lang="ko-KR" altLang="en-US" b="1" u="sng"/>
              <a:t>수수료</a:t>
            </a:r>
            <a:r>
              <a:rPr lang="en-US" altLang="ko-KR" b="1" u="sng"/>
              <a:t>)</a:t>
            </a:r>
            <a:r>
              <a:rPr lang="ko-KR" altLang="en-US" b="1" u="sng"/>
              <a:t>의 가격으로 </a:t>
            </a:r>
            <a:r>
              <a:rPr lang="en-US" altLang="ko-KR" b="1" u="sng" smtClean="0"/>
              <a:t/>
            </a:r>
            <a:br>
              <a:rPr lang="en-US" altLang="ko-KR" b="1" u="sng" smtClean="0"/>
            </a:br>
            <a:r>
              <a:rPr lang="ko-KR" altLang="en-US" b="1" u="sng" smtClean="0"/>
              <a:t>이더리움의 </a:t>
            </a:r>
            <a:r>
              <a:rPr lang="ko-KR" altLang="en-US" b="1" u="sng"/>
              <a:t>가장 작은 단위인 웨이</a:t>
            </a:r>
            <a:r>
              <a:rPr lang="en-US" altLang="ko-KR" b="1" u="sng"/>
              <a:t>(wei)</a:t>
            </a:r>
            <a:r>
              <a:rPr lang="ko-KR" altLang="en-US" b="1" u="sng"/>
              <a:t>단위로 기록</a:t>
            </a:r>
          </a:p>
          <a:p>
            <a:pPr lvl="2" fontAlgn="base"/>
            <a:r>
              <a:rPr lang="ko-KR" altLang="en-US" b="1" u="sng">
                <a:solidFill>
                  <a:srgbClr val="E509A6"/>
                </a:solidFill>
              </a:rPr>
              <a:t>가스 한도 </a:t>
            </a:r>
            <a:r>
              <a:rPr lang="en-US" altLang="ko-KR" b="1" u="sng"/>
              <a:t>: </a:t>
            </a:r>
            <a:r>
              <a:rPr lang="ko-KR" altLang="en-US" b="1" u="sng"/>
              <a:t>발신하는 트랜잭션을 위해 사용할 가스의 최대치로</a:t>
            </a:r>
            <a:r>
              <a:rPr lang="en-US" altLang="ko-KR" b="1" u="sng"/>
              <a:t>, </a:t>
            </a:r>
            <a:r>
              <a:rPr lang="en-US" altLang="ko-KR" b="1" u="sng" smtClean="0"/>
              <a:t/>
            </a:r>
            <a:br>
              <a:rPr lang="en-US" altLang="ko-KR" b="1" u="sng" smtClean="0"/>
            </a:br>
            <a:r>
              <a:rPr lang="ko-KR" altLang="en-US" b="1" u="sng" smtClean="0"/>
              <a:t>한도를 </a:t>
            </a:r>
            <a:r>
              <a:rPr lang="ko-KR" altLang="en-US" b="1" u="sng"/>
              <a:t>넘는 가스비가 사용된다면 트랜잭션 실패</a:t>
            </a:r>
          </a:p>
          <a:p>
            <a:pPr lvl="2" fontAlgn="base"/>
            <a:r>
              <a:rPr lang="ko-KR" altLang="en-US" b="1">
                <a:solidFill>
                  <a:srgbClr val="E509A6"/>
                </a:solidFill>
              </a:rPr>
              <a:t>수신자</a:t>
            </a:r>
            <a:r>
              <a:rPr lang="ko-KR" altLang="en-US" b="1"/>
              <a:t> </a:t>
            </a:r>
            <a:r>
              <a:rPr lang="en-US" altLang="ko-KR" b="1"/>
              <a:t>: </a:t>
            </a:r>
            <a:r>
              <a:rPr lang="ko-KR" altLang="en-US" b="1"/>
              <a:t>이 트랜잭션을 받는</a:t>
            </a:r>
            <a:r>
              <a:rPr lang="en-US" altLang="ko-KR" b="1"/>
              <a:t>, </a:t>
            </a:r>
            <a:r>
              <a:rPr lang="ko-KR" altLang="en-US" b="1"/>
              <a:t>트랜잭션의 목적지 이더리움 주소</a:t>
            </a:r>
          </a:p>
          <a:p>
            <a:pPr lvl="2" fontAlgn="base"/>
            <a:r>
              <a:rPr lang="ko-KR" altLang="en-US" b="1">
                <a:solidFill>
                  <a:srgbClr val="E509A6"/>
                </a:solidFill>
              </a:rPr>
              <a:t>값</a:t>
            </a:r>
            <a:r>
              <a:rPr lang="ko-KR" altLang="en-US" b="1"/>
              <a:t> </a:t>
            </a:r>
            <a:r>
              <a:rPr lang="en-US" altLang="ko-KR" b="1"/>
              <a:t>: </a:t>
            </a:r>
            <a:r>
              <a:rPr lang="ko-KR" altLang="en-US" b="1"/>
              <a:t>목적지에 보낼 이더</a:t>
            </a:r>
            <a:r>
              <a:rPr lang="en-US" altLang="ko-KR" b="1"/>
              <a:t>(</a:t>
            </a:r>
            <a:r>
              <a:rPr lang="ko-KR" altLang="en-US" b="1"/>
              <a:t>이더리움 코인</a:t>
            </a:r>
            <a:r>
              <a:rPr lang="en-US" altLang="ko-KR" b="1"/>
              <a:t>)</a:t>
            </a:r>
            <a:r>
              <a:rPr lang="ko-KR" altLang="en-US" b="1"/>
              <a:t>의 양</a:t>
            </a:r>
          </a:p>
          <a:p>
            <a:pPr lvl="2" fontAlgn="base"/>
            <a:r>
              <a:rPr lang="ko-KR" altLang="en-US" b="1">
                <a:solidFill>
                  <a:srgbClr val="E509A6"/>
                </a:solidFill>
              </a:rPr>
              <a:t>데이터</a:t>
            </a:r>
            <a:r>
              <a:rPr lang="ko-KR" altLang="en-US" b="1"/>
              <a:t> </a:t>
            </a:r>
            <a:r>
              <a:rPr lang="en-US" altLang="ko-KR" b="1"/>
              <a:t>: </a:t>
            </a:r>
            <a:r>
              <a:rPr lang="ko-KR" altLang="en-US" b="1"/>
              <a:t>가변 길이 바이너리 데이터 페이로드로</a:t>
            </a:r>
            <a:r>
              <a:rPr lang="en-US" altLang="ko-KR" b="1"/>
              <a:t>, </a:t>
            </a:r>
            <a:r>
              <a:rPr lang="ko-KR" altLang="en-US" b="1"/>
              <a:t>스마트 컨트랙트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호출 </a:t>
            </a:r>
            <a:r>
              <a:rPr lang="ko-KR" altLang="en-US" b="1"/>
              <a:t>시 사용</a:t>
            </a:r>
          </a:p>
          <a:p>
            <a:pPr lvl="2" fontAlgn="base"/>
            <a:r>
              <a:rPr lang="en-US" altLang="ko-KR" b="1" u="sng">
                <a:solidFill>
                  <a:srgbClr val="E509A6"/>
                </a:solidFill>
              </a:rPr>
              <a:t>v, r, s </a:t>
            </a:r>
            <a:r>
              <a:rPr lang="en-US" altLang="ko-KR" b="1" u="sng"/>
              <a:t>: EOA</a:t>
            </a:r>
            <a:r>
              <a:rPr lang="ko-KR" altLang="en-US" b="1" u="sng"/>
              <a:t>의 </a:t>
            </a:r>
            <a:r>
              <a:rPr lang="en-US" altLang="ko-KR" b="1" u="sng"/>
              <a:t>ECDSA </a:t>
            </a:r>
            <a:r>
              <a:rPr lang="ko-KR" altLang="en-US" b="1" u="sng"/>
              <a:t>디지털 서명의 세 가지 구성 요소</a:t>
            </a:r>
          </a:p>
          <a:p>
            <a:pPr marL="742950" lvl="2" indent="-342900"/>
            <a:endParaRPr lang="en-US" altLang="ko-KR" sz="1800" b="1">
              <a:solidFill>
                <a:srgbClr val="0000FF"/>
              </a:solidFill>
            </a:endParaRP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753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C00000"/>
                </a:solidFill>
              </a:rPr>
              <a:t>이더리움 블록 </a:t>
            </a:r>
            <a:r>
              <a:rPr lang="ko-KR" altLang="en-US" b="1" smtClean="0">
                <a:solidFill>
                  <a:srgbClr val="C00000"/>
                </a:solidFill>
              </a:rPr>
              <a:t>구성 </a:t>
            </a:r>
            <a:r>
              <a:rPr lang="ko-KR" altLang="en-US" b="1">
                <a:solidFill>
                  <a:srgbClr val="C00000"/>
                </a:solidFill>
              </a:rPr>
              <a:t>예</a:t>
            </a:r>
          </a:p>
          <a:p>
            <a:endParaRPr lang="ko-KR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7591425" cy="4531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018765" y="23929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b="1">
                <a:solidFill>
                  <a:srgbClr val="FF0000"/>
                </a:solidFill>
              </a:rPr>
              <a:t>블록체인에서 특정 블록의 위치를 나타내는 숫자</a:t>
            </a:r>
          </a:p>
        </p:txBody>
      </p:sp>
    </p:spTree>
    <p:extLst>
      <p:ext uri="{BB962C8B-B14F-4D97-AF65-F5344CB8AC3E}">
        <p14:creationId xmlns:p14="http://schemas.microsoft.com/office/powerpoint/2010/main" val="304170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>
                <a:solidFill>
                  <a:srgbClr val="C00000"/>
                </a:solidFill>
              </a:rPr>
              <a:t>이더리움의 코드</a:t>
            </a:r>
            <a:r>
              <a:rPr lang="en-US" altLang="ko-KR" b="1">
                <a:solidFill>
                  <a:srgbClr val="C00000"/>
                </a:solidFill>
              </a:rPr>
              <a:t>(GO</a:t>
            </a:r>
            <a:r>
              <a:rPr lang="en-US" altLang="ko-KR" b="1" smtClean="0">
                <a:solidFill>
                  <a:srgbClr val="C00000"/>
                </a:solidFill>
              </a:rPr>
              <a:t>) - </a:t>
            </a:r>
            <a:r>
              <a:rPr lang="ko-KR" altLang="en-US" b="1" smtClean="0">
                <a:solidFill>
                  <a:srgbClr val="C00000"/>
                </a:solidFill>
              </a:rPr>
              <a:t>블록과 </a:t>
            </a:r>
            <a:r>
              <a:rPr lang="ko-KR" altLang="en-US" b="1">
                <a:solidFill>
                  <a:srgbClr val="C00000"/>
                </a:solidFill>
              </a:rPr>
              <a:t>블록헤더가 </a:t>
            </a:r>
            <a:r>
              <a:rPr lang="en-US" altLang="ko-KR" b="1">
                <a:solidFill>
                  <a:srgbClr val="C00000"/>
                </a:solidFill>
              </a:rPr>
              <a:t>struct</a:t>
            </a:r>
            <a:r>
              <a:rPr lang="ko-KR" altLang="en-US" b="1">
                <a:solidFill>
                  <a:srgbClr val="C00000"/>
                </a:solidFill>
              </a:rPr>
              <a:t>로 </a:t>
            </a:r>
            <a:r>
              <a:rPr lang="ko-KR" altLang="en-US" b="1" smtClean="0">
                <a:solidFill>
                  <a:srgbClr val="C00000"/>
                </a:solidFill>
              </a:rPr>
              <a:t>선언되어 있음</a:t>
            </a:r>
            <a:endParaRPr lang="ko-KR" altLang="en-US" b="1">
              <a:solidFill>
                <a:srgbClr val="C00000"/>
              </a:solidFill>
            </a:endParaRPr>
          </a:p>
        </p:txBody>
      </p:sp>
      <p:pic>
        <p:nvPicPr>
          <p:cNvPr id="1638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3888432" cy="3774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091543"/>
            <a:ext cx="3528392" cy="383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229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트랜잭션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비트코인 트랜잭션 </a:t>
            </a:r>
            <a:r>
              <a:rPr lang="ko-KR" altLang="en-US" smtClean="0"/>
              <a:t>예시</a:t>
            </a:r>
            <a:r>
              <a:rPr lang="en-US" altLang="ko-KR" smtClean="0"/>
              <a:t>(</a:t>
            </a:r>
            <a:r>
              <a:rPr lang="en-US" altLang="ko-KR"/>
              <a:t>UTXO </a:t>
            </a:r>
            <a:r>
              <a:rPr lang="ko-KR" altLang="en-US"/>
              <a:t>모델</a:t>
            </a:r>
            <a:r>
              <a:rPr lang="en-US" altLang="ko-KR"/>
              <a:t>) </a:t>
            </a:r>
            <a:endParaRPr lang="ko-KR" altLang="en-US"/>
          </a:p>
          <a:p>
            <a:pPr lvl="1"/>
            <a:r>
              <a:rPr lang="ko-KR" altLang="en-US"/>
              <a:t>비트코인 트랜잭션은 </a:t>
            </a:r>
            <a:r>
              <a:rPr lang="en-US" altLang="ko-KR" smtClean="0"/>
              <a:t>'</a:t>
            </a:r>
            <a:r>
              <a:rPr lang="ko-KR" altLang="en-US"/>
              <a:t>누가 누구에게 얼마를 보낸다</a:t>
            </a:r>
            <a:r>
              <a:rPr lang="en-US" altLang="ko-KR" smtClean="0"/>
              <a:t>'</a:t>
            </a:r>
            <a:r>
              <a:rPr lang="ko-KR" altLang="en-US" smtClean="0"/>
              <a:t>는 </a:t>
            </a:r>
            <a:r>
              <a:rPr lang="ko-KR" altLang="en-US"/>
              <a:t>것보다 </a:t>
            </a:r>
            <a:r>
              <a:rPr lang="en-US" altLang="ko-KR" smtClean="0"/>
              <a:t>'</a:t>
            </a:r>
            <a:r>
              <a:rPr lang="ko-KR" altLang="en-US"/>
              <a:t>이전의 어떤 미사용 코인</a:t>
            </a:r>
            <a:r>
              <a:rPr lang="en-US" altLang="ko-KR"/>
              <a:t>(UTXO)</a:t>
            </a:r>
            <a:r>
              <a:rPr lang="ko-KR" altLang="en-US"/>
              <a:t>을 소비해서 새로운 코인 조각을 누구에게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만든다</a:t>
            </a:r>
            <a:r>
              <a:rPr lang="en-US" altLang="ko-KR" smtClean="0"/>
              <a:t>'</a:t>
            </a:r>
            <a:r>
              <a:rPr lang="ko-KR" altLang="en-US" smtClean="0"/>
              <a:t>는 </a:t>
            </a:r>
            <a:r>
              <a:rPr lang="ko-KR" altLang="en-US"/>
              <a:t>개념에 </a:t>
            </a:r>
            <a:r>
              <a:rPr lang="ko-KR" altLang="en-US" smtClean="0"/>
              <a:t>가까움</a:t>
            </a:r>
            <a:endParaRPr lang="en-US" altLang="ko-KR"/>
          </a:p>
          <a:p>
            <a:pPr lvl="2"/>
            <a:r>
              <a:rPr lang="ko-KR" altLang="en-US"/>
              <a:t>가정 </a:t>
            </a:r>
            <a:r>
              <a:rPr lang="ko-KR" altLang="en-US" smtClean="0"/>
              <a:t>상황 </a:t>
            </a:r>
            <a:endParaRPr lang="en-US" altLang="ko-KR" smtClean="0"/>
          </a:p>
          <a:p>
            <a:pPr lvl="3"/>
            <a:r>
              <a:rPr lang="ko-KR" altLang="en-US" smtClean="0"/>
              <a:t>앨리스가 </a:t>
            </a:r>
            <a:r>
              <a:rPr lang="ko-KR" altLang="en-US"/>
              <a:t>밥에게 </a:t>
            </a:r>
            <a:r>
              <a:rPr lang="en-US" altLang="ko-KR" smtClean="0"/>
              <a:t>1.5 BTC</a:t>
            </a:r>
            <a:r>
              <a:rPr lang="ko-KR" altLang="en-US" smtClean="0"/>
              <a:t>를 </a:t>
            </a:r>
            <a:r>
              <a:rPr lang="ko-KR" altLang="en-US"/>
              <a:t>송금하고 </a:t>
            </a:r>
            <a:r>
              <a:rPr lang="ko-KR" altLang="en-US" smtClean="0"/>
              <a:t>싶음</a:t>
            </a:r>
            <a:endParaRPr lang="en-US" altLang="ko-KR" smtClean="0"/>
          </a:p>
          <a:p>
            <a:pPr lvl="3"/>
            <a:r>
              <a:rPr lang="ko-KR" altLang="en-US" smtClean="0"/>
              <a:t>앨리스의 </a:t>
            </a:r>
            <a:r>
              <a:rPr lang="ko-KR" altLang="en-US"/>
              <a:t>지갑에는 </a:t>
            </a:r>
            <a:r>
              <a:rPr lang="en-US" altLang="ko-KR" smtClean="0"/>
              <a:t>2 BTC</a:t>
            </a:r>
            <a:r>
              <a:rPr lang="ko-KR" altLang="en-US" smtClean="0"/>
              <a:t>와 </a:t>
            </a:r>
            <a:r>
              <a:rPr lang="en-US" altLang="ko-KR"/>
              <a:t>0.7 BTC </a:t>
            </a:r>
            <a:r>
              <a:rPr lang="ko-KR" altLang="en-US"/>
              <a:t>짜리 미사용 코인 조각이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3"/>
            <a:r>
              <a:rPr lang="ko-KR" altLang="en-US" smtClean="0"/>
              <a:t>거래 </a:t>
            </a:r>
            <a:r>
              <a:rPr lang="ko-KR" altLang="en-US"/>
              <a:t>수수료는 </a:t>
            </a:r>
            <a:r>
              <a:rPr lang="en-US" altLang="ko-KR" smtClean="0"/>
              <a:t>0.0001 BTC</a:t>
            </a:r>
            <a:r>
              <a:rPr lang="ko-KR" altLang="en-US" smtClean="0"/>
              <a:t>임</a:t>
            </a:r>
            <a:endParaRPr lang="en-US" altLang="ko-KR"/>
          </a:p>
          <a:p>
            <a:pPr lvl="2"/>
            <a:r>
              <a:rPr lang="ko-KR" altLang="en-US"/>
              <a:t>비트코인 </a:t>
            </a:r>
            <a:r>
              <a:rPr lang="ko-KR" altLang="en-US" smtClean="0"/>
              <a:t>거래</a:t>
            </a:r>
            <a:endParaRPr lang="en-US" altLang="ko-KR" smtClean="0"/>
          </a:p>
          <a:p>
            <a:pPr lvl="3"/>
            <a:r>
              <a:rPr lang="en-US" altLang="ko-KR" smtClean="0"/>
              <a:t>2.7 BTC</a:t>
            </a:r>
            <a:r>
              <a:rPr lang="ko-KR" altLang="en-US" smtClean="0"/>
              <a:t>를 </a:t>
            </a:r>
            <a:r>
              <a:rPr lang="ko-KR" altLang="en-US"/>
              <a:t>소비하고</a:t>
            </a:r>
            <a:r>
              <a:rPr lang="en-US" altLang="ko-KR"/>
              <a:t>, </a:t>
            </a:r>
            <a:r>
              <a:rPr lang="ko-KR" altLang="en-US"/>
              <a:t>그 돈을 </a:t>
            </a:r>
            <a:r>
              <a:rPr lang="en-US" altLang="ko-KR" smtClean="0"/>
              <a:t>1.5 BTC</a:t>
            </a:r>
            <a:r>
              <a:rPr lang="ko-KR" altLang="en-US" smtClean="0"/>
              <a:t>는 </a:t>
            </a:r>
            <a:r>
              <a:rPr lang="ko-KR" altLang="en-US"/>
              <a:t>밥에게</a:t>
            </a:r>
            <a:r>
              <a:rPr lang="en-US" altLang="ko-KR"/>
              <a:t>, </a:t>
            </a:r>
            <a:r>
              <a:rPr lang="en-US" altLang="ko-KR" smtClean="0"/>
              <a:t>1.1999 BTC</a:t>
            </a:r>
            <a:r>
              <a:rPr lang="ko-KR" altLang="en-US" smtClean="0"/>
              <a:t>는 </a:t>
            </a:r>
            <a:r>
              <a:rPr lang="ko-KR" altLang="en-US"/>
              <a:t>앨리스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자신에게 새로운 출력으로 </a:t>
            </a:r>
            <a:r>
              <a:rPr lang="ko-KR" altLang="en-US"/>
              <a:t>만들어 </a:t>
            </a:r>
            <a:r>
              <a:rPr lang="ko-KR" altLang="en-US" smtClean="0"/>
              <a:t>분배함</a:t>
            </a:r>
            <a:endParaRPr lang="en-US" altLang="ko-KR" smtClean="0"/>
          </a:p>
          <a:p>
            <a:pPr lvl="3"/>
            <a:r>
              <a:rPr lang="ko-KR" altLang="en-US" smtClean="0"/>
              <a:t>남은 </a:t>
            </a:r>
            <a:r>
              <a:rPr lang="ko-KR" altLang="en-US"/>
              <a:t>차액</a:t>
            </a:r>
            <a:r>
              <a:rPr lang="en-US" altLang="ko-KR" smtClean="0"/>
              <a:t>(0.0001 BTC)</a:t>
            </a:r>
            <a:r>
              <a:rPr lang="ko-KR" altLang="en-US" smtClean="0"/>
              <a:t>이 </a:t>
            </a:r>
            <a:r>
              <a:rPr lang="ko-KR" altLang="en-US"/>
              <a:t>수수료가 </a:t>
            </a:r>
            <a:r>
              <a:rPr lang="ko-KR" altLang="en-US" smtClean="0"/>
              <a:t>됨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250716"/>
              </p:ext>
            </p:extLst>
          </p:nvPr>
        </p:nvGraphicFramePr>
        <p:xfrm>
          <a:off x="395536" y="5085184"/>
          <a:ext cx="8280920" cy="150467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68152"/>
                <a:gridCol w="2808312"/>
                <a:gridCol w="4104456"/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항목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내용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역할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9044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Input 1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이전 거래 </a:t>
                      </a:r>
                      <a:r>
                        <a:rPr lang="en-US" sz="1000" b="1">
                          <a:effectLst/>
                        </a:rPr>
                        <a:t>ID(Hash): 0xabcdef1234...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앨리스가 사용할 </a:t>
                      </a:r>
                      <a:r>
                        <a:rPr lang="en-US" altLang="ko-KR" sz="1000" b="1">
                          <a:effectLst/>
                        </a:rPr>
                        <a:t>2 BTC </a:t>
                      </a:r>
                      <a:r>
                        <a:rPr lang="ko-KR" altLang="en-US" sz="1000" b="1">
                          <a:effectLst/>
                        </a:rPr>
                        <a:t>조각의 출처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9044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Input 2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이전 거래 </a:t>
                      </a:r>
                      <a:r>
                        <a:rPr lang="en-US" sz="1000" b="1">
                          <a:effectLst/>
                        </a:rPr>
                        <a:t>ID(Hash): 0xbbccdd5678...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앨리스가 사용할 </a:t>
                      </a:r>
                      <a:r>
                        <a:rPr lang="en-US" altLang="ko-KR" sz="1000" b="1">
                          <a:effectLst/>
                        </a:rPr>
                        <a:t>0.7 BTC </a:t>
                      </a:r>
                      <a:r>
                        <a:rPr lang="ko-KR" altLang="en-US" sz="1000" b="1">
                          <a:effectLst/>
                        </a:rPr>
                        <a:t>조각의 출처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2564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ScriptSig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앨리스의 서명 및 공개 키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앨리스가 이 코인들을 사용할 권한이 있음을 증명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effectLst/>
                        </a:rPr>
                        <a:t>---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effectLst/>
                        </a:rPr>
                        <a:t>---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effectLst/>
                        </a:rPr>
                        <a:t>---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524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Output 1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금액</a:t>
                      </a:r>
                      <a:r>
                        <a:rPr lang="en-US" altLang="ko-KR" sz="1000" b="1">
                          <a:effectLst/>
                        </a:rPr>
                        <a:t>: 1.5 </a:t>
                      </a:r>
                      <a:r>
                        <a:rPr lang="en-US" sz="1000" b="1">
                          <a:effectLst/>
                        </a:rPr>
                        <a:t>BTC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수신자</a:t>
                      </a:r>
                      <a:r>
                        <a:rPr lang="en-US" altLang="ko-KR" sz="1000" b="1">
                          <a:effectLst/>
                        </a:rPr>
                        <a:t>: </a:t>
                      </a:r>
                      <a:r>
                        <a:rPr lang="ko-KR" altLang="en-US" sz="1000" b="1">
                          <a:effectLst/>
                        </a:rPr>
                        <a:t>밥의 지갑 주소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7844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Output 2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금액</a:t>
                      </a:r>
                      <a:r>
                        <a:rPr lang="en-US" altLang="ko-KR" sz="1000" b="1">
                          <a:effectLst/>
                        </a:rPr>
                        <a:t>: 1.1999 </a:t>
                      </a:r>
                      <a:r>
                        <a:rPr lang="en-US" sz="1000" b="1">
                          <a:effectLst/>
                        </a:rPr>
                        <a:t>BTC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잔돈</a:t>
                      </a:r>
                      <a:r>
                        <a:rPr lang="en-US" altLang="ko-KR" sz="1000" b="1">
                          <a:effectLst/>
                        </a:rPr>
                        <a:t>: </a:t>
                      </a:r>
                      <a:r>
                        <a:rPr lang="ko-KR" altLang="en-US" sz="1000" b="1">
                          <a:effectLst/>
                        </a:rPr>
                        <a:t>앨리스의 새로운 잔돈 주소로 회수 </a:t>
                      </a:r>
                      <a:r>
                        <a:rPr lang="en-US" altLang="ko-KR" sz="1000" b="1">
                          <a:effectLst/>
                        </a:rPr>
                        <a:t>(2+0.7)−1.5−0.0001=1.1999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43247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수수료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총 입력</a:t>
                      </a:r>
                      <a:r>
                        <a:rPr lang="en-US" altLang="ko-KR" sz="1000" b="1">
                          <a:effectLst/>
                        </a:rPr>
                        <a:t>(2.7 BTC) - </a:t>
                      </a:r>
                      <a:r>
                        <a:rPr lang="ko-KR" altLang="en-US" sz="1000" b="1">
                          <a:effectLst/>
                        </a:rPr>
                        <a:t>총 출력</a:t>
                      </a:r>
                      <a:r>
                        <a:rPr lang="en-US" altLang="ko-KR" sz="1000" b="1">
                          <a:effectLst/>
                        </a:rPr>
                        <a:t>(2.6999 BTC) = 0.0001 BTC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68" marR="11468" marT="7645" marB="764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채굴자에게 지급되는 보상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645" marB="76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61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블록체인 트랜잭션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이더리움 트랜잭션 </a:t>
            </a:r>
            <a:r>
              <a:rPr lang="ko-KR" altLang="en-US" smtClean="0"/>
              <a:t>예시</a:t>
            </a:r>
            <a:r>
              <a:rPr lang="en-US" altLang="ko-KR" smtClean="0"/>
              <a:t>(</a:t>
            </a:r>
            <a:r>
              <a:rPr lang="en-US" altLang="ko-KR"/>
              <a:t>Account </a:t>
            </a:r>
            <a:r>
              <a:rPr lang="ko-KR" altLang="en-US"/>
              <a:t>모델</a:t>
            </a:r>
            <a:r>
              <a:rPr lang="en-US" altLang="ko-KR"/>
              <a:t>) </a:t>
            </a:r>
            <a:endParaRPr lang="en-US" altLang="ko-KR" smtClean="0"/>
          </a:p>
          <a:p>
            <a:pPr lvl="1"/>
            <a:r>
              <a:rPr lang="ko-KR" altLang="en-US" smtClean="0"/>
              <a:t>이더리움</a:t>
            </a:r>
            <a:r>
              <a:rPr lang="en-US" altLang="ko-KR"/>
              <a:t>(ETH) </a:t>
            </a:r>
            <a:r>
              <a:rPr lang="ko-KR" altLang="en-US"/>
              <a:t>트랜잭션은 은행 이체와 더 유사하며</a:t>
            </a:r>
            <a:r>
              <a:rPr lang="en-US" altLang="ko-KR"/>
              <a:t>, </a:t>
            </a:r>
            <a:r>
              <a:rPr lang="ko-KR" altLang="en-US" smtClean="0"/>
              <a:t>상태</a:t>
            </a:r>
            <a:r>
              <a:rPr lang="en-US" altLang="ko-KR"/>
              <a:t>(</a:t>
            </a:r>
            <a:r>
              <a:rPr lang="ko-KR" altLang="en-US"/>
              <a:t>잔액</a:t>
            </a:r>
            <a:r>
              <a:rPr lang="en-US" altLang="ko-KR" smtClean="0"/>
              <a:t>)</a:t>
            </a:r>
            <a:r>
              <a:rPr lang="ko-KR" altLang="en-US" smtClean="0"/>
              <a:t>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변화시키는 </a:t>
            </a:r>
            <a:r>
              <a:rPr lang="ko-KR" altLang="en-US"/>
              <a:t>데 중점을 </a:t>
            </a:r>
            <a:r>
              <a:rPr lang="ko-KR" altLang="en-US" smtClean="0"/>
              <a:t>둠</a:t>
            </a:r>
            <a:endParaRPr lang="en-US" altLang="ko-KR" smtClean="0"/>
          </a:p>
          <a:p>
            <a:pPr lvl="2"/>
            <a:r>
              <a:rPr lang="ko-KR" altLang="en-US" smtClean="0"/>
              <a:t>가정 상황 </a:t>
            </a:r>
            <a:r>
              <a:rPr lang="en-US" altLang="ko-KR" smtClean="0"/>
              <a:t>:</a:t>
            </a:r>
            <a:r>
              <a:rPr lang="ko-KR" altLang="en-US" smtClean="0"/>
              <a:t> </a:t>
            </a:r>
            <a:r>
              <a:rPr lang="ko-KR" altLang="en-US"/>
              <a:t>찰리가 데이지에게 </a:t>
            </a:r>
            <a:r>
              <a:rPr lang="en-US" altLang="ko-KR" smtClean="0"/>
              <a:t>1.5 ETH</a:t>
            </a:r>
            <a:r>
              <a:rPr lang="ko-KR" altLang="en-US" smtClean="0"/>
              <a:t>를 송금</a:t>
            </a:r>
            <a:endParaRPr lang="en-US" altLang="ko-KR" smtClean="0"/>
          </a:p>
          <a:p>
            <a:pPr lvl="2"/>
            <a:r>
              <a:rPr lang="ko-KR" altLang="en-US" smtClean="0"/>
              <a:t>잔고 변화 </a:t>
            </a:r>
            <a:endParaRPr lang="ko-KR" altLang="en-US"/>
          </a:p>
          <a:p>
            <a:pPr lvl="3"/>
            <a:r>
              <a:rPr lang="ko-KR" altLang="en-US"/>
              <a:t>트랜잭션이 성공적으로 </a:t>
            </a:r>
            <a:r>
              <a:rPr lang="ko-KR" altLang="en-US" smtClean="0"/>
              <a:t>처리되면</a:t>
            </a:r>
            <a:endParaRPr lang="en-US" altLang="ko-KR"/>
          </a:p>
          <a:p>
            <a:pPr lvl="4"/>
            <a:r>
              <a:rPr lang="ko-KR" altLang="en-US"/>
              <a:t>찰리의 계정 잔액은 </a:t>
            </a:r>
            <a:r>
              <a:rPr lang="en-US" altLang="ko-KR" smtClean="0"/>
              <a:t>1.5 ETH</a:t>
            </a:r>
            <a:r>
              <a:rPr lang="ko-KR" altLang="en-US" smtClean="0"/>
              <a:t>와 </a:t>
            </a:r>
            <a:r>
              <a:rPr lang="ko-KR" altLang="en-US"/>
              <a:t>사용된 수수료만큼 </a:t>
            </a:r>
            <a:r>
              <a:rPr lang="ko-KR" altLang="en-US" smtClean="0"/>
              <a:t>감소함</a:t>
            </a:r>
            <a:endParaRPr lang="en-US" altLang="ko-KR" smtClean="0"/>
          </a:p>
          <a:p>
            <a:pPr lvl="4"/>
            <a:r>
              <a:rPr lang="ko-KR" altLang="en-US" smtClean="0"/>
              <a:t>데이지의 </a:t>
            </a:r>
            <a:r>
              <a:rPr lang="ko-KR" altLang="en-US"/>
              <a:t>계정 잔액은 </a:t>
            </a:r>
            <a:r>
              <a:rPr lang="en-US" altLang="ko-KR" smtClean="0"/>
              <a:t>1.5 ETH</a:t>
            </a:r>
            <a:r>
              <a:rPr lang="ko-KR" altLang="en-US" smtClean="0"/>
              <a:t>만큼 증가함</a:t>
            </a:r>
            <a:endParaRPr lang="en-US" altLang="ko-KR" smtClean="0"/>
          </a:p>
          <a:p>
            <a:pPr lvl="2"/>
            <a:r>
              <a:rPr lang="ko-KR" altLang="en-US" smtClean="0"/>
              <a:t>수수료 계산</a:t>
            </a:r>
            <a:endParaRPr lang="en-US" altLang="ko-KR" smtClean="0"/>
          </a:p>
          <a:p>
            <a:pPr lvl="3"/>
            <a:r>
              <a:rPr lang="en-US" altLang="ko-KR" smtClean="0"/>
              <a:t>(</a:t>
            </a:r>
            <a:r>
              <a:rPr lang="ko-KR" altLang="en-US"/>
              <a:t>사용된 </a:t>
            </a:r>
            <a:r>
              <a:rPr lang="en-US" altLang="ko-KR"/>
              <a:t>Gas) × (Gas Price)</a:t>
            </a:r>
            <a:r>
              <a:rPr lang="ko-KR" altLang="en-US"/>
              <a:t>는 채굴자</a:t>
            </a:r>
            <a:r>
              <a:rPr lang="en-US" altLang="ko-KR"/>
              <a:t>/</a:t>
            </a:r>
            <a:r>
              <a:rPr lang="ko-KR" altLang="en-US"/>
              <a:t>검증자에게 </a:t>
            </a:r>
            <a:r>
              <a:rPr lang="ko-KR" altLang="en-US" smtClean="0"/>
              <a:t>지급됨</a:t>
            </a:r>
            <a:endParaRPr lang="en-US" altLang="ko-KR" smtClean="0"/>
          </a:p>
          <a:p>
            <a:pPr lvl="3"/>
            <a:r>
              <a:rPr lang="ko-KR" altLang="en-US" smtClean="0"/>
              <a:t>수수료는 </a:t>
            </a:r>
            <a:r>
              <a:rPr lang="ko-KR" altLang="en-US"/>
              <a:t>별도의 출력 항목 없이 찰리의 계정에서 </a:t>
            </a:r>
            <a:r>
              <a:rPr lang="ko-KR" altLang="en-US" smtClean="0"/>
              <a:t>차감됨</a:t>
            </a:r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84146"/>
              </p:ext>
            </p:extLst>
          </p:nvPr>
        </p:nvGraphicFramePr>
        <p:xfrm>
          <a:off x="1403648" y="4941168"/>
          <a:ext cx="5904656" cy="15055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08112"/>
                <a:gridCol w="1656184"/>
                <a:gridCol w="3240360"/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항목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내용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역할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</a:tr>
              <a:tr h="1139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Nonce (</a:t>
                      </a:r>
                      <a:r>
                        <a:rPr lang="ko-KR" altLang="en-US" sz="1000" b="1">
                          <a:effectLst/>
                        </a:rPr>
                        <a:t>논스</a:t>
                      </a:r>
                      <a:r>
                        <a:rPr lang="en-US" altLang="ko-KR" sz="1000" b="1">
                          <a:effectLst/>
                        </a:rPr>
                        <a:t>)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effectLst/>
                        </a:rPr>
                        <a:t>15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찰리가 보낸 총 트랜잭션 횟수 </a:t>
                      </a:r>
                      <a:r>
                        <a:rPr lang="en-US" altLang="ko-KR" sz="1000" b="1">
                          <a:effectLst/>
                        </a:rPr>
                        <a:t>(</a:t>
                      </a:r>
                      <a:r>
                        <a:rPr lang="ko-KR" altLang="en-US" sz="1000" b="1">
                          <a:effectLst/>
                        </a:rPr>
                        <a:t>이중 지불 방지</a:t>
                      </a:r>
                      <a:r>
                        <a:rPr lang="en-US" altLang="ko-KR" sz="1000" b="1">
                          <a:effectLst/>
                        </a:rPr>
                        <a:t>)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439" marB="7439" anchor="ctr"/>
                </a:tc>
              </a:tr>
              <a:tr h="9538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Gas Price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50 Gwei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찰리가 단위 </a:t>
                      </a:r>
                      <a:r>
                        <a:rPr lang="en-US" altLang="ko-KR" sz="1000" b="1">
                          <a:effectLst/>
                        </a:rPr>
                        <a:t>Gas </a:t>
                      </a:r>
                      <a:r>
                        <a:rPr lang="ko-KR" altLang="en-US" sz="1000" b="1">
                          <a:effectLst/>
                        </a:rPr>
                        <a:t>당 지불하려는 가격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439" marB="7439" anchor="ctr"/>
                </a:tc>
              </a:tr>
              <a:tr h="13251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Gas Limit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effectLst/>
                        </a:rPr>
                        <a:t>21,000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찰리가 이 거래에 최대로 지불할 의향이 있는 </a:t>
                      </a:r>
                      <a:r>
                        <a:rPr lang="en-US" altLang="ko-KR" sz="1000" b="1">
                          <a:effectLst/>
                        </a:rPr>
                        <a:t>Gas </a:t>
                      </a:r>
                      <a:r>
                        <a:rPr lang="ko-KR" altLang="en-US" sz="1000" b="1">
                          <a:effectLst/>
                        </a:rPr>
                        <a:t>한도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439" marB="7439" anchor="ctr"/>
                </a:tc>
              </a:tr>
              <a:tr h="5826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From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찰리의 주소</a:t>
                      </a:r>
                      <a:r>
                        <a:rPr lang="en-US" altLang="ko-KR" sz="1000" b="1">
                          <a:effectLst/>
                        </a:rPr>
                        <a:t>: 0</a:t>
                      </a:r>
                      <a:r>
                        <a:rPr lang="en-US" sz="1000" b="1">
                          <a:effectLst/>
                        </a:rPr>
                        <a:t>x1a2b3c...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송신자의 주소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</a:tr>
              <a:tr h="7682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To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데이지의 주소</a:t>
                      </a:r>
                      <a:r>
                        <a:rPr lang="en-US" altLang="ko-KR" sz="1000" b="1">
                          <a:effectLst/>
                        </a:rPr>
                        <a:t>: 0x9d8e7f...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수신자의 주소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</a:tr>
              <a:tr h="5826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Value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1.5 ETH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송금하려는 금액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</a:tr>
              <a:tr h="13251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Data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>
                          <a:effectLst/>
                        </a:rPr>
                        <a:t>(</a:t>
                      </a:r>
                      <a:r>
                        <a:rPr lang="ko-KR" altLang="en-US" sz="1000" b="1">
                          <a:effectLst/>
                        </a:rPr>
                        <a:t>비어 있음</a:t>
                      </a:r>
                      <a:r>
                        <a:rPr lang="en-US" altLang="ko-KR" sz="1000" b="1">
                          <a:effectLst/>
                        </a:rPr>
                        <a:t>)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스마트 계약이 아닐 경우 비어 있거나 메모가 포함됨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439" marB="7439" anchor="ctr"/>
                </a:tc>
              </a:tr>
              <a:tr h="9538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>
                          <a:effectLst/>
                        </a:rPr>
                        <a:t>Signature</a:t>
                      </a:r>
                      <a:endParaRPr 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찰리의 전자 서명 </a:t>
                      </a:r>
                      <a:r>
                        <a:rPr lang="en-US" altLang="ko-KR" sz="1000" b="1">
                          <a:effectLst/>
                        </a:rPr>
                        <a:t>(r,s,v)</a:t>
                      </a:r>
                      <a:endParaRPr lang="en-US" altLang="ko-KR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159" marR="11159" marT="7439" marB="7439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>
                          <a:effectLst/>
                        </a:rPr>
                        <a:t>찰리가 이 거래를 승인했음을 증명</a:t>
                      </a:r>
                      <a:endParaRPr lang="ko-KR" altLang="en-US" sz="10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7439" marB="743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840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b="1" smtClean="0">
                <a:solidFill>
                  <a:srgbClr val="C00000"/>
                </a:solidFill>
              </a:rPr>
              <a:t>비트코인과 </a:t>
            </a:r>
            <a:r>
              <a:rPr lang="ko-KR" altLang="en-US" b="1">
                <a:solidFill>
                  <a:srgbClr val="C00000"/>
                </a:solidFill>
              </a:rPr>
              <a:t>이더리움 이 두 네트워크 트랜잭션의 가장 큰 </a:t>
            </a:r>
            <a:r>
              <a:rPr lang="ko-KR" altLang="en-US" b="1" smtClean="0">
                <a:solidFill>
                  <a:srgbClr val="C00000"/>
                </a:solidFill>
              </a:rPr>
              <a:t>차이</a:t>
            </a:r>
            <a:endParaRPr lang="en-US" altLang="ko-KR" b="1" smtClean="0">
              <a:solidFill>
                <a:srgbClr val="C00000"/>
              </a:solidFill>
            </a:endParaRPr>
          </a:p>
          <a:p>
            <a:pPr lvl="1" fontAlgn="base"/>
            <a:r>
              <a:rPr lang="ko-KR" altLang="en-US" b="1" smtClean="0">
                <a:solidFill>
                  <a:srgbClr val="0000FF"/>
                </a:solidFill>
              </a:rPr>
              <a:t>논스</a:t>
            </a:r>
            <a:r>
              <a:rPr lang="en-US" altLang="ko-KR" b="1">
                <a:solidFill>
                  <a:srgbClr val="0000FF"/>
                </a:solidFill>
              </a:rPr>
              <a:t>(Nonce)</a:t>
            </a:r>
            <a:r>
              <a:rPr lang="ko-KR" altLang="en-US" b="1">
                <a:solidFill>
                  <a:srgbClr val="0000FF"/>
                </a:solidFill>
              </a:rPr>
              <a:t>의 </a:t>
            </a:r>
            <a:r>
              <a:rPr lang="ko-KR" altLang="en-US" b="1" smtClean="0">
                <a:solidFill>
                  <a:srgbClr val="0000FF"/>
                </a:solidFill>
              </a:rPr>
              <a:t>유무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 fontAlgn="base"/>
            <a:r>
              <a:rPr lang="ko-KR" altLang="en-US" b="1" smtClean="0"/>
              <a:t>이더리움 </a:t>
            </a:r>
            <a:r>
              <a:rPr lang="ko-KR" altLang="en-US" b="1"/>
              <a:t>트랜잭션에는 논스가 존재하고</a:t>
            </a:r>
            <a:r>
              <a:rPr lang="en-US" altLang="ko-KR" b="1"/>
              <a:t>, </a:t>
            </a:r>
            <a:r>
              <a:rPr lang="ko-KR" altLang="en-US" b="1"/>
              <a:t>이 논스는 </a:t>
            </a:r>
            <a:r>
              <a:rPr lang="ko-KR" altLang="en-US" b="1">
                <a:solidFill>
                  <a:srgbClr val="E509A6"/>
                </a:solidFill>
              </a:rPr>
              <a:t>이중 지불을 </a:t>
            </a:r>
            <a:r>
              <a:rPr lang="en-US" altLang="ko-KR" b="1" smtClean="0">
                <a:solidFill>
                  <a:srgbClr val="E509A6"/>
                </a:solidFill>
              </a:rPr>
              <a:t/>
            </a:r>
            <a:br>
              <a:rPr lang="en-US" altLang="ko-KR" b="1" smtClean="0">
                <a:solidFill>
                  <a:srgbClr val="E509A6"/>
                </a:solidFill>
              </a:rPr>
            </a:br>
            <a:r>
              <a:rPr lang="ko-KR" altLang="en-US" b="1" smtClean="0">
                <a:solidFill>
                  <a:srgbClr val="E509A6"/>
                </a:solidFill>
              </a:rPr>
              <a:t>방지하는 </a:t>
            </a:r>
            <a:r>
              <a:rPr lang="ko-KR" altLang="en-US" b="1">
                <a:solidFill>
                  <a:srgbClr val="E509A6"/>
                </a:solidFill>
              </a:rPr>
              <a:t>데 </a:t>
            </a:r>
            <a:r>
              <a:rPr lang="ko-KR" altLang="en-US" b="1" smtClean="0">
                <a:solidFill>
                  <a:srgbClr val="E509A6"/>
                </a:solidFill>
              </a:rPr>
              <a:t>사용</a:t>
            </a:r>
            <a:endParaRPr lang="en-US" altLang="ko-KR" b="1" smtClean="0">
              <a:solidFill>
                <a:srgbClr val="E509A6"/>
              </a:solidFill>
            </a:endParaRPr>
          </a:p>
          <a:p>
            <a:pPr lvl="2" fontAlgn="base"/>
            <a:endParaRPr lang="en-US" altLang="ko-KR" b="1" smtClean="0">
              <a:solidFill>
                <a:srgbClr val="E509A6"/>
              </a:solidFill>
            </a:endParaRPr>
          </a:p>
          <a:p>
            <a:pPr lvl="2" fontAlgn="base"/>
            <a:r>
              <a:rPr lang="ko-KR" altLang="en-US" b="1" smtClean="0"/>
              <a:t>이중 </a:t>
            </a:r>
            <a:r>
              <a:rPr lang="ko-KR" altLang="en-US" b="1"/>
              <a:t>지불</a:t>
            </a:r>
            <a:r>
              <a:rPr lang="en-US" altLang="ko-KR" b="1"/>
              <a:t>(Double Spending) </a:t>
            </a:r>
            <a:r>
              <a:rPr lang="en-US" altLang="ko-KR" b="1" smtClean="0"/>
              <a:t>- </a:t>
            </a:r>
            <a:r>
              <a:rPr lang="ko-KR" altLang="en-US" b="1">
                <a:hlinkClick r:id="rId2"/>
              </a:rPr>
              <a:t>원본 파일에 저장된 가치를 지불한 뒤</a:t>
            </a:r>
            <a:r>
              <a:rPr lang="en-US" altLang="ko-KR" b="1">
                <a:hlinkClick r:id="rId2"/>
              </a:rPr>
              <a:t>, </a:t>
            </a:r>
            <a:r>
              <a:rPr lang="en-US" altLang="ko-KR" b="1" smtClean="0">
                <a:hlinkClick r:id="rId2"/>
              </a:rPr>
              <a:t/>
            </a:r>
            <a:br>
              <a:rPr lang="en-US" altLang="ko-KR" b="1" smtClean="0">
                <a:hlinkClick r:id="rId2"/>
              </a:rPr>
            </a:br>
            <a:r>
              <a:rPr lang="ko-KR" altLang="en-US" b="1" smtClean="0">
                <a:hlinkClick r:id="rId2"/>
              </a:rPr>
              <a:t>해당 </a:t>
            </a:r>
            <a:r>
              <a:rPr lang="ko-KR" altLang="en-US" b="1">
                <a:hlinkClick r:id="rId2"/>
              </a:rPr>
              <a:t>파일을 복사하여 다른 사람에게 또 지불하는 것을 </a:t>
            </a:r>
            <a:r>
              <a:rPr lang="ko-KR" altLang="en-US" b="1" smtClean="0">
                <a:hlinkClick r:id="rId2"/>
              </a:rPr>
              <a:t>의미</a:t>
            </a:r>
            <a:endParaRPr lang="en-US" altLang="ko-KR" b="1" smtClean="0"/>
          </a:p>
        </p:txBody>
      </p:sp>
      <p:pic>
        <p:nvPicPr>
          <p:cNvPr id="12292" name="Picture 4" descr="https://blog.kakaocdn.net/dna/SzM7o/btrI7K83tbE/AAAAAAAAAAAAAAAAAAAAAOEfjlYhwUUMIJEWd96KXQQD6uQqpfAq4ZrB2veartyZ/img.jpg?credential=yqXZFxpELC7KVnFOS48ylbz2pIh7yKj8&amp;expires=1756652399&amp;allow_ip=&amp;allow_referer=&amp;signature=Swoc%2BNTDJwnDHcfzt6VnHiSqH6I%3D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957" y="3933056"/>
            <a:ext cx="3558034" cy="253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256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b="1" smtClean="0">
                <a:solidFill>
                  <a:srgbClr val="C00000"/>
                </a:solidFill>
              </a:rPr>
              <a:t>비트코인과 </a:t>
            </a:r>
            <a:r>
              <a:rPr lang="ko-KR" altLang="en-US" b="1">
                <a:solidFill>
                  <a:srgbClr val="C00000"/>
                </a:solidFill>
              </a:rPr>
              <a:t>이더리움 이 두 네트워크 트랜잭션의 가장 큰 </a:t>
            </a:r>
            <a:r>
              <a:rPr lang="ko-KR" altLang="en-US" b="1" smtClean="0">
                <a:solidFill>
                  <a:srgbClr val="C00000"/>
                </a:solidFill>
              </a:rPr>
              <a:t>차이</a:t>
            </a:r>
            <a:endParaRPr lang="en-US" altLang="ko-KR" b="1" smtClean="0">
              <a:solidFill>
                <a:srgbClr val="C00000"/>
              </a:solidFill>
            </a:endParaRPr>
          </a:p>
          <a:p>
            <a:pPr lvl="1" fontAlgn="base"/>
            <a:r>
              <a:rPr lang="ko-KR" altLang="en-US" b="1" smtClean="0">
                <a:solidFill>
                  <a:srgbClr val="0000FF"/>
                </a:solidFill>
              </a:rPr>
              <a:t>논스</a:t>
            </a:r>
            <a:r>
              <a:rPr lang="en-US" altLang="ko-KR" b="1">
                <a:solidFill>
                  <a:srgbClr val="0000FF"/>
                </a:solidFill>
              </a:rPr>
              <a:t>(Nonce)</a:t>
            </a:r>
            <a:r>
              <a:rPr lang="ko-KR" altLang="en-US" b="1">
                <a:solidFill>
                  <a:srgbClr val="0000FF"/>
                </a:solidFill>
              </a:rPr>
              <a:t>의 </a:t>
            </a:r>
            <a:r>
              <a:rPr lang="ko-KR" altLang="en-US" b="1" smtClean="0">
                <a:solidFill>
                  <a:srgbClr val="0000FF"/>
                </a:solidFill>
              </a:rPr>
              <a:t>유무</a:t>
            </a:r>
            <a:endParaRPr lang="en-US" altLang="ko-KR" b="1" smtClean="0">
              <a:solidFill>
                <a:srgbClr val="0000FF"/>
              </a:solidFill>
            </a:endParaRPr>
          </a:p>
          <a:p>
            <a:pPr lvl="2" fontAlgn="base"/>
            <a:r>
              <a:rPr lang="ko-KR" altLang="en-US" b="1" smtClean="0"/>
              <a:t>이더리움의 </a:t>
            </a:r>
            <a:r>
              <a:rPr lang="ko-KR" altLang="en-US" b="1">
                <a:solidFill>
                  <a:srgbClr val="FF0000"/>
                </a:solidFill>
              </a:rPr>
              <a:t>논스는 두 가지 특성을 </a:t>
            </a:r>
            <a:r>
              <a:rPr lang="ko-KR" altLang="en-US" b="1" smtClean="0">
                <a:solidFill>
                  <a:srgbClr val="FF0000"/>
                </a:solidFill>
              </a:rPr>
              <a:t>가짐</a:t>
            </a:r>
            <a:endParaRPr lang="en-US" altLang="ko-KR" b="1" smtClean="0">
              <a:solidFill>
                <a:srgbClr val="FF0000"/>
              </a:solidFill>
            </a:endParaRPr>
          </a:p>
          <a:p>
            <a:pPr lvl="3" fontAlgn="base"/>
            <a:r>
              <a:rPr lang="ko-KR" altLang="en-US" b="1" smtClean="0"/>
              <a:t>트랜잭션 </a:t>
            </a:r>
            <a:r>
              <a:rPr lang="ko-KR" altLang="en-US" b="1"/>
              <a:t>시 논스가 </a:t>
            </a:r>
            <a:r>
              <a:rPr lang="en-US" altLang="ko-KR" b="1"/>
              <a:t>1</a:t>
            </a:r>
            <a:r>
              <a:rPr lang="ko-KR" altLang="en-US" b="1"/>
              <a:t>씩 증가하며</a:t>
            </a:r>
            <a:r>
              <a:rPr lang="en-US" altLang="ko-KR" b="1"/>
              <a:t>, </a:t>
            </a:r>
            <a:r>
              <a:rPr lang="ko-KR" altLang="en-US" b="1">
                <a:solidFill>
                  <a:srgbClr val="00CC00"/>
                </a:solidFill>
              </a:rPr>
              <a:t>한 계정 내 논스는 유일하고 동일한 논스가 </a:t>
            </a:r>
            <a:r>
              <a:rPr lang="en-US" altLang="ko-KR" b="1" smtClean="0">
                <a:solidFill>
                  <a:srgbClr val="00CC00"/>
                </a:solidFill>
              </a:rPr>
              <a:t/>
            </a:r>
            <a:br>
              <a:rPr lang="en-US" altLang="ko-KR" b="1" smtClean="0">
                <a:solidFill>
                  <a:srgbClr val="00CC00"/>
                </a:solidFill>
              </a:rPr>
            </a:br>
            <a:r>
              <a:rPr lang="ko-KR" altLang="en-US" b="1" smtClean="0">
                <a:solidFill>
                  <a:srgbClr val="00CC00"/>
                </a:solidFill>
              </a:rPr>
              <a:t>존재하지 않음</a:t>
            </a:r>
            <a:endParaRPr lang="en-US" altLang="ko-KR" b="1" smtClean="0">
              <a:solidFill>
                <a:srgbClr val="00CC00"/>
              </a:solidFill>
            </a:endParaRPr>
          </a:p>
          <a:p>
            <a:pPr lvl="4" fontAlgn="base"/>
            <a:r>
              <a:rPr lang="ko-KR" altLang="en-US" b="1" smtClean="0"/>
              <a:t>한 </a:t>
            </a:r>
            <a:r>
              <a:rPr lang="ko-KR" altLang="en-US" b="1"/>
              <a:t>계정의 트랜잭션들 또한 각각 고유한 논스를 가지고 있으며</a:t>
            </a:r>
            <a:r>
              <a:rPr lang="en-US" altLang="ko-KR" b="1"/>
              <a:t>,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가장 </a:t>
            </a:r>
            <a:r>
              <a:rPr lang="ko-KR" altLang="en-US" b="1"/>
              <a:t>오래된 </a:t>
            </a:r>
            <a:r>
              <a:rPr lang="ko-KR" altLang="en-US" b="1" smtClean="0"/>
              <a:t>순서부터 </a:t>
            </a:r>
            <a:r>
              <a:rPr lang="en-US" altLang="ko-KR" b="1"/>
              <a:t>1</a:t>
            </a:r>
            <a:r>
              <a:rPr lang="ko-KR" altLang="en-US" b="1"/>
              <a:t>씩 증가하는 값을 </a:t>
            </a:r>
            <a:r>
              <a:rPr lang="ko-KR" altLang="en-US" b="1" smtClean="0"/>
              <a:t>가짐</a:t>
            </a:r>
            <a:endParaRPr lang="en-US" altLang="ko-KR" b="1" smtClean="0"/>
          </a:p>
          <a:p>
            <a:pPr lvl="4" fontAlgn="base"/>
            <a:r>
              <a:rPr lang="ko-KR" altLang="en-US" b="1" smtClean="0"/>
              <a:t>만약 </a:t>
            </a:r>
            <a:r>
              <a:rPr lang="ko-KR" altLang="en-US" b="1"/>
              <a:t>논스가 </a:t>
            </a:r>
            <a:r>
              <a:rPr lang="en-US" altLang="ko-KR" b="1"/>
              <a:t>1</a:t>
            </a:r>
            <a:r>
              <a:rPr lang="ko-KR" altLang="en-US" b="1"/>
              <a:t>인 트랜잭션을 발신한 후 이어서 논스가 </a:t>
            </a:r>
            <a:r>
              <a:rPr lang="en-US" altLang="ko-KR" b="1"/>
              <a:t>2</a:t>
            </a:r>
            <a:r>
              <a:rPr lang="ko-KR" altLang="en-US" b="1"/>
              <a:t>인 트랜잭션을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발신한다면</a:t>
            </a:r>
            <a:r>
              <a:rPr lang="en-US" altLang="ko-KR" b="1"/>
              <a:t>, </a:t>
            </a:r>
            <a:r>
              <a:rPr lang="ko-KR" altLang="en-US" b="1"/>
              <a:t>두 번째 트랜잭션은 어떤 블록에도 포함되지 </a:t>
            </a:r>
            <a:r>
              <a:rPr lang="ko-KR" altLang="en-US" b="1" smtClean="0"/>
              <a:t>않음</a:t>
            </a:r>
            <a:endParaRPr lang="en-US" altLang="ko-KR" b="1" smtClean="0"/>
          </a:p>
          <a:p>
            <a:pPr lvl="4" fontAlgn="base"/>
            <a:r>
              <a:rPr lang="ko-KR" altLang="en-US" b="1" smtClean="0"/>
              <a:t>두 </a:t>
            </a:r>
            <a:r>
              <a:rPr lang="ko-KR" altLang="en-US" b="1"/>
              <a:t>번째 트랜잭션은 멤풀</a:t>
            </a:r>
            <a:r>
              <a:rPr lang="en-US" altLang="ko-KR" b="1"/>
              <a:t>(Mempool)</a:t>
            </a:r>
            <a:r>
              <a:rPr lang="ko-KR" altLang="en-US" b="1"/>
              <a:t>이라는 임시 저장공간에서 논스가 </a:t>
            </a:r>
            <a:r>
              <a:rPr lang="en-US" altLang="ko-KR" b="1"/>
              <a:t>1</a:t>
            </a:r>
            <a:r>
              <a:rPr lang="ko-KR" altLang="en-US" b="1"/>
              <a:t>인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트랜잭션을 </a:t>
            </a:r>
            <a:r>
              <a:rPr lang="ko-KR" altLang="en-US" b="1"/>
              <a:t>기다리며</a:t>
            </a:r>
            <a:r>
              <a:rPr lang="en-US" altLang="ko-KR" b="1"/>
              <a:t>, </a:t>
            </a:r>
            <a:r>
              <a:rPr lang="ko-KR" altLang="en-US" b="1"/>
              <a:t>논스가 </a:t>
            </a:r>
            <a:r>
              <a:rPr lang="en-US" altLang="ko-KR" b="1"/>
              <a:t>1</a:t>
            </a:r>
            <a:r>
              <a:rPr lang="ko-KR" altLang="en-US" b="1"/>
              <a:t>인 트랜잭션이 발신되면 멤풀에 있던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트랜잭션 역시 </a:t>
            </a:r>
            <a:r>
              <a:rPr lang="ko-KR" altLang="en-US" b="1"/>
              <a:t>처리되고 블록에 </a:t>
            </a:r>
            <a:r>
              <a:rPr lang="ko-KR" altLang="en-US" b="1" smtClean="0"/>
              <a:t>포함됨</a:t>
            </a:r>
            <a:endParaRPr lang="en-US" altLang="ko-KR" b="1" smtClean="0"/>
          </a:p>
          <a:p>
            <a:pPr lvl="3" fontAlgn="base"/>
            <a:r>
              <a:rPr lang="ko-KR" altLang="en-US">
                <a:solidFill>
                  <a:srgbClr val="0000FF"/>
                </a:solidFill>
              </a:rPr>
              <a:t>같은 논스를 가진 트랜잭션이 다수 발신된 경우에는 </a:t>
            </a:r>
            <a:r>
              <a:rPr lang="ko-KR" altLang="en-US"/>
              <a:t>가스비</a:t>
            </a:r>
            <a:r>
              <a:rPr lang="en-US" altLang="ko-KR"/>
              <a:t>(</a:t>
            </a:r>
            <a:r>
              <a:rPr lang="ko-KR" altLang="en-US"/>
              <a:t>수수료</a:t>
            </a:r>
            <a:r>
              <a:rPr lang="en-US" altLang="ko-KR"/>
              <a:t>)</a:t>
            </a:r>
            <a:r>
              <a:rPr lang="ko-KR" altLang="en-US"/>
              <a:t>가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가장 높은 트랜잭션 하나만 처리되며</a:t>
            </a:r>
            <a:r>
              <a:rPr lang="en-US" altLang="ko-KR"/>
              <a:t>, </a:t>
            </a:r>
            <a:r>
              <a:rPr lang="ko-KR" altLang="en-US"/>
              <a:t>이런 방법으로 이더리움은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이중 지불을 방지함</a:t>
            </a:r>
            <a:endParaRPr lang="en-US" altLang="ko-KR"/>
          </a:p>
          <a:p>
            <a:pPr lvl="3" fontAlgn="base"/>
            <a:endParaRPr lang="en-US" altLang="ko-KR" b="1"/>
          </a:p>
        </p:txBody>
      </p:sp>
      <p:pic>
        <p:nvPicPr>
          <p:cNvPr id="15362" name="Picture 2" descr="https://blog.kakaocdn.net/dna/bdg5De/btrYqKFCdUg/AAAAAAAAAAAAAAAAAAAAAPXTKYsDqgUYnxwAYEl81_z7DdHsJ9auu74dTBh_QTRU/img.png?credential=yqXZFxpELC7KVnFOS48ylbz2pIh7yKj8&amp;expires=1756652399&amp;allow_ip=&amp;allow_referer=&amp;signature=mHd%2B1U4Nzw0a33618OW%2FWTG6LO4%3D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5262314"/>
            <a:ext cx="2664296" cy="14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87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블록체인 트랜잭션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b="1">
                <a:solidFill>
                  <a:srgbClr val="C00000"/>
                </a:solidFill>
              </a:rPr>
              <a:t>비트코인과 이더리움 이 두 네트워크 트랜잭션의 가장 큰 차이</a:t>
            </a:r>
            <a:endParaRPr lang="en-US" altLang="ko-KR" b="1">
              <a:solidFill>
                <a:srgbClr val="C00000"/>
              </a:solidFill>
            </a:endParaRPr>
          </a:p>
          <a:p>
            <a:pPr lvl="1" fontAlgn="base"/>
            <a:r>
              <a:rPr lang="ko-KR" altLang="en-US" b="1" smtClean="0">
                <a:solidFill>
                  <a:schemeClr val="accent6">
                    <a:lumMod val="75000"/>
                  </a:schemeClr>
                </a:solidFill>
              </a:rPr>
              <a:t>논스가 </a:t>
            </a:r>
            <a:r>
              <a:rPr lang="ko-KR" altLang="en-US" b="1">
                <a:solidFill>
                  <a:schemeClr val="accent6">
                    <a:lumMod val="75000"/>
                  </a:schemeClr>
                </a:solidFill>
              </a:rPr>
              <a:t>존재하지 않는 비트코인은 이중 지불을 어떻게 방지할까요</a:t>
            </a:r>
            <a:r>
              <a:rPr lang="en-US" altLang="ko-KR" b="1" smtClean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lvl="1" fontAlgn="base"/>
            <a:endParaRPr lang="en-US" altLang="ko-KR" b="1" smtClean="0">
              <a:solidFill>
                <a:srgbClr val="FF0000"/>
              </a:solidFill>
            </a:endParaRPr>
          </a:p>
          <a:p>
            <a:pPr lvl="2" fontAlgn="base"/>
            <a:r>
              <a:rPr lang="en-US" altLang="ko-KR" b="1" smtClean="0">
                <a:hlinkClick r:id="rId2"/>
              </a:rPr>
              <a:t>UTXO(Unspent </a:t>
            </a:r>
            <a:r>
              <a:rPr lang="en-US" altLang="ko-KR" b="1"/>
              <a:t>Transaction </a:t>
            </a:r>
            <a:r>
              <a:rPr lang="en-US" altLang="ko-KR" b="1" smtClean="0"/>
              <a:t>Output, </a:t>
            </a:r>
            <a:r>
              <a:rPr lang="ko-KR" altLang="en-US" b="1"/>
              <a:t>미사용 트랜잭션 </a:t>
            </a:r>
            <a:r>
              <a:rPr lang="ko-KR" altLang="en-US" b="1" smtClean="0"/>
              <a:t>출력값</a:t>
            </a:r>
            <a:r>
              <a:rPr lang="en-US" altLang="ko-KR" b="1" smtClean="0"/>
              <a:t>)</a:t>
            </a:r>
            <a:r>
              <a:rPr lang="ko-KR" altLang="en-US" b="1" smtClean="0"/>
              <a:t>을 사용</a:t>
            </a:r>
            <a:endParaRPr lang="en-US" altLang="ko-KR" b="1" smtClean="0"/>
          </a:p>
          <a:p>
            <a:pPr lvl="2" fontAlgn="base"/>
            <a:endParaRPr lang="en-US" altLang="ko-KR" b="1" smtClean="0"/>
          </a:p>
          <a:p>
            <a:pPr lvl="2" fontAlgn="base"/>
            <a:r>
              <a:rPr lang="ko-KR" altLang="en-US" b="1" smtClean="0"/>
              <a:t>비트코인의 </a:t>
            </a:r>
            <a:r>
              <a:rPr lang="ko-KR" altLang="en-US" b="1"/>
              <a:t>송금은 실제 금액을 발신하고</a:t>
            </a:r>
            <a:r>
              <a:rPr lang="en-US" altLang="ko-KR" b="1"/>
              <a:t>, </a:t>
            </a:r>
            <a:r>
              <a:rPr lang="ko-KR" altLang="en-US" b="1"/>
              <a:t>수신하는 것이 아닌 송금하는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금액이 </a:t>
            </a:r>
            <a:r>
              <a:rPr lang="ko-KR" altLang="en-US" b="1"/>
              <a:t>적힌 </a:t>
            </a:r>
            <a:r>
              <a:rPr lang="en-US" altLang="ko-KR" b="1"/>
              <a:t>UTXO</a:t>
            </a:r>
            <a:r>
              <a:rPr lang="ko-KR" altLang="en-US" b="1"/>
              <a:t>를 </a:t>
            </a:r>
            <a:r>
              <a:rPr lang="ko-KR" altLang="en-US" b="1" smtClean="0"/>
              <a:t>주고받음</a:t>
            </a:r>
            <a:endParaRPr lang="en-US" altLang="ko-KR" b="1" smtClean="0"/>
          </a:p>
          <a:p>
            <a:pPr lvl="2" fontAlgn="base"/>
            <a:endParaRPr lang="en-US" altLang="ko-KR" b="1" smtClean="0"/>
          </a:p>
          <a:p>
            <a:pPr lvl="2" fontAlgn="base"/>
            <a:r>
              <a:rPr lang="ko-KR" altLang="en-US" b="1" smtClean="0"/>
              <a:t>트랜잭션을 </a:t>
            </a:r>
            <a:r>
              <a:rPr lang="ko-KR" altLang="en-US" b="1"/>
              <a:t>발생시키면 이 </a:t>
            </a:r>
            <a:r>
              <a:rPr lang="en-US" altLang="ko-KR" b="1"/>
              <a:t>UTXO</a:t>
            </a:r>
            <a:r>
              <a:rPr lang="ko-KR" altLang="en-US" b="1"/>
              <a:t>는 </a:t>
            </a:r>
            <a:r>
              <a:rPr lang="en-US" altLang="ko-KR" b="1"/>
              <a:t>TX Pool</a:t>
            </a:r>
            <a:r>
              <a:rPr lang="ko-KR" altLang="en-US" b="1"/>
              <a:t>에 들어가게 </a:t>
            </a:r>
            <a:r>
              <a:rPr lang="ko-KR" altLang="en-US" b="1" smtClean="0"/>
              <a:t>되며</a:t>
            </a:r>
            <a:r>
              <a:rPr lang="en-US" altLang="ko-KR" b="1" smtClean="0"/>
              <a:t> </a:t>
            </a:r>
            <a:r>
              <a:rPr lang="ko-KR" altLang="en-US" b="1"/>
              <a:t>채굴하는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과정에서 </a:t>
            </a:r>
            <a:r>
              <a:rPr lang="ko-KR" altLang="en-US" b="1"/>
              <a:t>이 </a:t>
            </a:r>
            <a:r>
              <a:rPr lang="en-US" altLang="ko-KR" b="1" u="sng"/>
              <a:t>UTXO</a:t>
            </a:r>
            <a:r>
              <a:rPr lang="ko-KR" altLang="en-US" b="1" u="sng"/>
              <a:t>에 사용 기록이 있다면 해당 거래를 무효화하는 </a:t>
            </a:r>
            <a:r>
              <a:rPr lang="en-US" altLang="ko-KR" b="1" u="sng" smtClean="0"/>
              <a:t/>
            </a:r>
            <a:br>
              <a:rPr lang="en-US" altLang="ko-KR" b="1" u="sng" smtClean="0"/>
            </a:br>
            <a:r>
              <a:rPr lang="ko-KR" altLang="en-US" b="1" u="sng" smtClean="0"/>
              <a:t>방식으로 </a:t>
            </a:r>
            <a:r>
              <a:rPr lang="ko-KR" altLang="en-US" b="1" u="sng"/>
              <a:t>이중 지불을 </a:t>
            </a:r>
            <a:r>
              <a:rPr lang="ko-KR" altLang="en-US" b="1" u="sng" smtClean="0"/>
              <a:t>방지함</a:t>
            </a:r>
            <a:endParaRPr lang="en-US" altLang="ko-KR" b="1" u="sng" smtClean="0"/>
          </a:p>
          <a:p>
            <a:pPr lvl="2" fontAlgn="base"/>
            <a:endParaRPr lang="en-US" altLang="ko-KR" b="1" smtClean="0"/>
          </a:p>
          <a:p>
            <a:pPr lvl="1" fontAlgn="base"/>
            <a:r>
              <a:rPr lang="ko-KR" altLang="en-US" b="1" smtClean="0">
                <a:solidFill>
                  <a:srgbClr val="009900"/>
                </a:solidFill>
              </a:rPr>
              <a:t>비트코인의 </a:t>
            </a:r>
            <a:r>
              <a:rPr lang="ko-KR" altLang="en-US" b="1">
                <a:solidFill>
                  <a:srgbClr val="009900"/>
                </a:solidFill>
              </a:rPr>
              <a:t>트랜잭션은 화폐 송금 기능만 가지고 있다면</a:t>
            </a:r>
            <a:r>
              <a:rPr lang="en-US" altLang="ko-KR" b="1">
                <a:solidFill>
                  <a:srgbClr val="009900"/>
                </a:solidFill>
              </a:rPr>
              <a:t>, </a:t>
            </a:r>
            <a:r>
              <a:rPr lang="ko-KR" altLang="en-US" b="1">
                <a:solidFill>
                  <a:srgbClr val="009900"/>
                </a:solidFill>
              </a:rPr>
              <a:t>이더리움 </a:t>
            </a:r>
            <a:r>
              <a:rPr lang="en-US" altLang="ko-KR" b="1" smtClean="0">
                <a:solidFill>
                  <a:srgbClr val="009900"/>
                </a:solidFill>
              </a:rPr>
              <a:t/>
            </a:r>
            <a:br>
              <a:rPr lang="en-US" altLang="ko-KR" b="1" smtClean="0">
                <a:solidFill>
                  <a:srgbClr val="009900"/>
                </a:solidFill>
              </a:rPr>
            </a:br>
            <a:r>
              <a:rPr lang="ko-KR" altLang="en-US" b="1" smtClean="0">
                <a:solidFill>
                  <a:srgbClr val="009900"/>
                </a:solidFill>
              </a:rPr>
              <a:t>트랜잭션은 </a:t>
            </a:r>
            <a:r>
              <a:rPr lang="ko-KR" altLang="en-US" b="1">
                <a:solidFill>
                  <a:srgbClr val="009900"/>
                </a:solidFill>
              </a:rPr>
              <a:t>송금을 넘어 </a:t>
            </a:r>
            <a:r>
              <a:rPr lang="ko-KR" altLang="en-US" b="1">
                <a:solidFill>
                  <a:srgbClr val="009900"/>
                </a:solidFill>
                <a:hlinkClick r:id="rId3"/>
              </a:rPr>
              <a:t>스마트 컨트랙트를 호출하는 용도로도 </a:t>
            </a:r>
            <a:r>
              <a:rPr lang="en-US" altLang="ko-KR" b="1" smtClean="0">
                <a:solidFill>
                  <a:srgbClr val="009900"/>
                </a:solidFill>
              </a:rPr>
              <a:t/>
            </a:r>
            <a:br>
              <a:rPr lang="en-US" altLang="ko-KR" b="1" smtClean="0">
                <a:solidFill>
                  <a:srgbClr val="009900"/>
                </a:solidFill>
              </a:rPr>
            </a:br>
            <a:r>
              <a:rPr lang="ko-KR" altLang="en-US" b="1" smtClean="0">
                <a:solidFill>
                  <a:srgbClr val="009900"/>
                </a:solidFill>
              </a:rPr>
              <a:t>사용할 </a:t>
            </a:r>
            <a:r>
              <a:rPr lang="ko-KR" altLang="en-US" b="1">
                <a:solidFill>
                  <a:srgbClr val="009900"/>
                </a:solidFill>
              </a:rPr>
              <a:t>수 있다는 차이가 </a:t>
            </a:r>
            <a:r>
              <a:rPr lang="ko-KR" altLang="en-US" b="1" smtClean="0">
                <a:solidFill>
                  <a:srgbClr val="009900"/>
                </a:solidFill>
              </a:rPr>
              <a:t>있음</a:t>
            </a:r>
            <a:endParaRPr lang="ko-KR" altLang="en-US" b="1">
              <a:solidFill>
                <a:srgbClr val="009900"/>
              </a:solidFill>
            </a:endParaRPr>
          </a:p>
          <a:p>
            <a:endParaRPr lang="ko-KR" altLang="en-US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18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598</Words>
  <Application>Microsoft Office PowerPoint</Application>
  <PresentationFormat>화면 슬라이드 쇼(4:3)</PresentationFormat>
  <Paragraphs>237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블록체인 구조와 블록체인 트랜잭션  비트코인과 이더리움 비교</vt:lpstr>
      <vt:lpstr>비트코인과 이더리움</vt:lpstr>
      <vt:lpstr>블록체인 구조</vt:lpstr>
      <vt:lpstr>블록체인 구조</vt:lpstr>
      <vt:lpstr>블록체인 구조</vt:lpstr>
      <vt:lpstr>블록체인 구조</vt:lpstr>
      <vt:lpstr>블록체인 구조</vt:lpstr>
      <vt:lpstr>블록체인 구조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  <vt:lpstr>블록체인 트랜잭션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블록체인 구조와  블록체인 트랜잭션</dc:title>
  <dc:creator>Microsoft Corporation</dc:creator>
  <cp:lastModifiedBy>박인철</cp:lastModifiedBy>
  <cp:revision>78</cp:revision>
  <dcterms:created xsi:type="dcterms:W3CDTF">2006-10-05T04:04:58Z</dcterms:created>
  <dcterms:modified xsi:type="dcterms:W3CDTF">2025-11-08T03:22:54Z</dcterms:modified>
</cp:coreProperties>
</file>