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316" r:id="rId4"/>
    <p:sldId id="317" r:id="rId5"/>
    <p:sldId id="352" r:id="rId6"/>
    <p:sldId id="367" r:id="rId7"/>
    <p:sldId id="318" r:id="rId8"/>
    <p:sldId id="319" r:id="rId9"/>
    <p:sldId id="320" r:id="rId10"/>
    <p:sldId id="353" r:id="rId11"/>
    <p:sldId id="321" r:id="rId12"/>
    <p:sldId id="322" r:id="rId13"/>
    <p:sldId id="323" r:id="rId14"/>
    <p:sldId id="324" r:id="rId15"/>
    <p:sldId id="325" r:id="rId16"/>
    <p:sldId id="326" r:id="rId17"/>
    <p:sldId id="351" r:id="rId18"/>
    <p:sldId id="327" r:id="rId19"/>
    <p:sldId id="328" r:id="rId20"/>
    <p:sldId id="355" r:id="rId21"/>
    <p:sldId id="329" r:id="rId22"/>
    <p:sldId id="333" r:id="rId23"/>
    <p:sldId id="334" r:id="rId24"/>
    <p:sldId id="354" r:id="rId25"/>
    <p:sldId id="335" r:id="rId26"/>
    <p:sldId id="336" r:id="rId27"/>
    <p:sldId id="337" r:id="rId28"/>
    <p:sldId id="338" r:id="rId29"/>
    <p:sldId id="340" r:id="rId30"/>
    <p:sldId id="357" r:id="rId31"/>
    <p:sldId id="362" r:id="rId32"/>
    <p:sldId id="366" r:id="rId33"/>
    <p:sldId id="363" r:id="rId34"/>
    <p:sldId id="364" r:id="rId35"/>
    <p:sldId id="356" r:id="rId36"/>
    <p:sldId id="358" r:id="rId37"/>
    <p:sldId id="365" r:id="rId38"/>
    <p:sldId id="359" r:id="rId39"/>
    <p:sldId id="343" r:id="rId40"/>
    <p:sldId id="361" r:id="rId41"/>
    <p:sldId id="344" r:id="rId42"/>
    <p:sldId id="345" r:id="rId43"/>
    <p:sldId id="360" r:id="rId44"/>
    <p:sldId id="346" r:id="rId45"/>
    <p:sldId id="350" r:id="rId4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94920" autoAdjust="0"/>
  </p:normalViewPr>
  <p:slideViewPr>
    <p:cSldViewPr>
      <p:cViewPr varScale="1">
        <p:scale>
          <a:sx n="86" d="100"/>
          <a:sy n="86" d="100"/>
        </p:scale>
        <p:origin x="-136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="1">
                <a:solidFill>
                  <a:srgbClr val="0000CC"/>
                </a:solidFill>
                <a:latin typeface="+mn-ea"/>
                <a:ea typeface="+mn-ea"/>
              </a:defRPr>
            </a:lvl1pPr>
            <a:lvl2pPr>
              <a:defRPr sz="1800" b="1">
                <a:solidFill>
                  <a:srgbClr val="C00000"/>
                </a:solidFill>
                <a:latin typeface="+mn-ea"/>
                <a:ea typeface="+mn-ea"/>
              </a:defRPr>
            </a:lvl2pPr>
            <a:lvl3pPr>
              <a:defRPr sz="1600" b="1">
                <a:latin typeface="+mn-ea"/>
                <a:ea typeface="+mn-ea"/>
              </a:defRPr>
            </a:lvl3pPr>
            <a:lvl4pPr>
              <a:defRPr sz="1400" b="1">
                <a:latin typeface="+mn-ea"/>
                <a:ea typeface="+mn-ea"/>
              </a:defRPr>
            </a:lvl4pPr>
            <a:lvl5pPr>
              <a:defRPr sz="1400" b="1">
                <a:latin typeface="+mn-ea"/>
                <a:ea typeface="+mn-ea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28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4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allstar927/90162050893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meabitcoin.com/technical/keys/base58/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coin.org/ko/download" TargetMode="External"/><Relationship Id="rId2" Type="http://schemas.openxmlformats.org/officeDocument/2006/relationships/hyperlink" Target="https://develsw.tistory.com/15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velog.io/@kaizen/%EB%B8%94%EB%A1%9D%EC%B2%B4%EC%9D%B8%EC%9D%98-%EB%85%B8%EB%93%9C%EB%9E%8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velog.io/@ghkdwp018/%EB%85%B8%EB%93%9C%EC%99%80-%EB%B8%94%EB%A1%9D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ckchair.com/explorers?from=bitcoin.co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velog.io/@choyeah/UTXO-Unspent-Transaction-Output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0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2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blog.everdu.com/48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7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blog.everdu.com/48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>
                <a:latin typeface="+mn-ea"/>
                <a:ea typeface="+mn-ea"/>
              </a:rPr>
              <a:t>블록체인 기술과 응용 서비스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02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0">
                <a:latin typeface="+mn-ea"/>
                <a:ea typeface="+mn-ea"/>
              </a:rPr>
              <a:t/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b="0">
                <a:latin typeface="+mn-ea"/>
                <a:ea typeface="+mn-ea"/>
              </a:rPr>
              <a:t> </a:t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b="0">
                <a:latin typeface="+mn-ea"/>
                <a:ea typeface="+mn-ea"/>
              </a:rPr>
              <a:t> </a:t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>
                <a:latin typeface="+mn-ea"/>
                <a:ea typeface="+mn-ea"/>
              </a:rPr>
              <a:t>비트코인블록체인의구조와동작원리</a:t>
            </a:r>
            <a:r>
              <a:rPr lang="ko-KR" altLang="en-US" b="0">
                <a:latin typeface="+mn-ea"/>
                <a:ea typeface="+mn-ea"/>
              </a:rPr>
              <a:t/>
            </a:r>
            <a:br>
              <a:rPr lang="ko-KR" altLang="en-US" b="0">
                <a:latin typeface="+mn-ea"/>
                <a:ea typeface="+mn-ea"/>
              </a:rPr>
            </a:br>
            <a:endParaRPr lang="ko-KR" altLang="en-US" b="0">
              <a:latin typeface="+mn-ea"/>
              <a:ea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>
                <a:solidFill>
                  <a:srgbClr val="C00000"/>
                </a:solidFill>
                <a:latin typeface="+mn-ea"/>
                <a:ea typeface="+mn-ea"/>
              </a:rPr>
              <a:t>  비트코인 네트워크 노드와 비트코인 주소 생성</a:t>
            </a:r>
            <a:r>
              <a:rPr lang="ko-KR" altLang="en-US" b="0">
                <a:latin typeface="+mn-ea"/>
                <a:ea typeface="+mn-ea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8502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학습목표</a:t>
            </a:r>
            <a:r>
              <a:rPr lang="en-US" altLang="ko-KR" smtClean="0"/>
              <a:t>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비트코인 </a:t>
            </a:r>
            <a:r>
              <a:rPr lang="ko-KR" altLang="en-US" smtClean="0">
                <a:solidFill>
                  <a:srgbClr val="FF0000"/>
                </a:solidFill>
              </a:rPr>
              <a:t>네트워크 노드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ko-KR" altLang="en-US">
                <a:solidFill>
                  <a:srgbClr val="FF0000"/>
                </a:solidFill>
              </a:rPr>
              <a:t>채굴노드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풀노드</a:t>
            </a:r>
            <a:r>
              <a:rPr lang="en-US" altLang="ko-KR">
                <a:solidFill>
                  <a:srgbClr val="FF0000"/>
                </a:solidFill>
              </a:rPr>
              <a:t>, SPV</a:t>
            </a:r>
            <a:r>
              <a:rPr lang="ko-KR" altLang="en-US">
                <a:solidFill>
                  <a:srgbClr val="FF0000"/>
                </a:solidFill>
              </a:rPr>
              <a:t>노드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 smtClean="0"/>
              <a:t>에 대하여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설명할 수 있다</a:t>
            </a:r>
            <a:r>
              <a:rPr lang="en-US" altLang="ko-KR" smtClean="0"/>
              <a:t>.</a:t>
            </a:r>
          </a:p>
          <a:p>
            <a:endParaRPr lang="ko-KR" altLang="en-US" b="0"/>
          </a:p>
          <a:p>
            <a:r>
              <a:rPr lang="ko-KR" altLang="en-US" smtClean="0"/>
              <a:t>비트코인 </a:t>
            </a:r>
            <a:r>
              <a:rPr lang="ko-KR" altLang="en-US" smtClean="0">
                <a:solidFill>
                  <a:srgbClr val="FF0000"/>
                </a:solidFill>
              </a:rPr>
              <a:t>주소의 생성 절차에 </a:t>
            </a:r>
            <a:r>
              <a:rPr lang="ko-KR" altLang="en-US" smtClean="0"/>
              <a:t>대하여 설명할 수 있다</a:t>
            </a:r>
            <a:r>
              <a:rPr lang="en-US" altLang="ko-KR"/>
              <a:t>. </a:t>
            </a:r>
            <a:endParaRPr lang="ko-KR" altLang="en-US" b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53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ko-KR" altLang="en-US" smtClean="0"/>
              <a:t>하드코딩</a:t>
            </a:r>
            <a:endParaRPr lang="ko-KR" altLang="en-US" b="0"/>
          </a:p>
          <a:p>
            <a:pPr lvl="2"/>
            <a:r>
              <a:rPr lang="ko-KR" altLang="en-US" smtClean="0"/>
              <a:t>설정사항이나 코드 등의 시스템적으로 사용하는 변수 값들을 변수에 담아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사용하는 것이 아니라 </a:t>
            </a:r>
            <a:r>
              <a:rPr lang="ko-KR" altLang="en-US" smtClean="0">
                <a:solidFill>
                  <a:srgbClr val="0000CC"/>
                </a:solidFill>
              </a:rPr>
              <a:t>직접 소스코드에 입력하는 코딩 방식</a:t>
            </a:r>
            <a:r>
              <a:rPr lang="en-US" altLang="ko-KR" smtClean="0">
                <a:solidFill>
                  <a:srgbClr val="0000CC"/>
                </a:solidFill>
              </a:rPr>
              <a:t> </a:t>
            </a:r>
          </a:p>
          <a:p>
            <a:pPr lvl="2"/>
            <a:endParaRPr lang="en-US" altLang="ko-KR" smtClean="0">
              <a:solidFill>
                <a:srgbClr val="0000CC"/>
              </a:solidFill>
            </a:endParaRPr>
          </a:p>
          <a:p>
            <a:pPr lvl="1"/>
            <a:r>
              <a:rPr lang="ko-KR" altLang="en-US"/>
              <a:t>소프트코딩</a:t>
            </a:r>
          </a:p>
          <a:p>
            <a:pPr lvl="2"/>
            <a:r>
              <a:rPr lang="ko-KR" altLang="en-US" smtClean="0"/>
              <a:t>값이 </a:t>
            </a:r>
            <a:r>
              <a:rPr lang="ko-KR" altLang="en-US"/>
              <a:t>고정되지 않고 </a:t>
            </a:r>
            <a:r>
              <a:rPr lang="ko-KR" altLang="en-US">
                <a:solidFill>
                  <a:srgbClr val="0000CC"/>
                </a:solidFill>
              </a:rPr>
              <a:t>가변적으로 변하는 </a:t>
            </a:r>
            <a:r>
              <a:rPr lang="ko-KR" altLang="en-US" smtClean="0">
                <a:solidFill>
                  <a:srgbClr val="0000CC"/>
                </a:solidFill>
              </a:rPr>
              <a:t>것</a:t>
            </a:r>
            <a:endParaRPr lang="ko-KR" altLang="en-US" b="0">
              <a:solidFill>
                <a:srgbClr val="0000CC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89039"/>
            <a:ext cx="5495925" cy="288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026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ko-KR" altLang="en-US" smtClean="0"/>
              <a:t>하드코딩 </a:t>
            </a:r>
            <a:r>
              <a:rPr lang="en-US" altLang="ko-KR" smtClean="0"/>
              <a:t>&amp; </a:t>
            </a:r>
            <a:r>
              <a:rPr lang="ko-KR" altLang="en-US" smtClean="0"/>
              <a:t>소프트코딩 차이</a:t>
            </a:r>
            <a:endParaRPr lang="ko-KR" altLang="en-US" b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91529"/>
              </p:ext>
            </p:extLst>
          </p:nvPr>
        </p:nvGraphicFramePr>
        <p:xfrm>
          <a:off x="1331640" y="2492896"/>
          <a:ext cx="7344816" cy="193837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52128"/>
                <a:gridCol w="3096344"/>
                <a:gridCol w="3096344"/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>
                          <a:effectLst/>
                        </a:rPr>
                        <a:t>구분</a:t>
                      </a:r>
                      <a:endParaRPr lang="ko-KR" altLang="en-US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>
                          <a:effectLst/>
                        </a:rPr>
                        <a:t>하드코딩 </a:t>
                      </a:r>
                      <a:r>
                        <a:rPr lang="en-US" altLang="ko-KR" sz="1100" b="1">
                          <a:effectLst/>
                        </a:rPr>
                        <a:t>(</a:t>
                      </a:r>
                      <a:r>
                        <a:rPr lang="en-US" sz="1100" b="1">
                          <a:effectLst/>
                        </a:rPr>
                        <a:t>Hardcoding)</a:t>
                      </a:r>
                      <a:endParaRPr lang="en-US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>
                          <a:effectLst/>
                        </a:rPr>
                        <a:t>소프트코딩 </a:t>
                      </a:r>
                      <a:r>
                        <a:rPr lang="en-US" altLang="ko-KR" sz="1100" b="1">
                          <a:effectLst/>
                        </a:rPr>
                        <a:t>(</a:t>
                      </a:r>
                      <a:r>
                        <a:rPr lang="en-US" sz="1100" b="1">
                          <a:effectLst/>
                        </a:rPr>
                        <a:t>Softcoding)</a:t>
                      </a:r>
                      <a:endParaRPr lang="en-US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6590" marB="6590" anchor="ctr"/>
                </a:tc>
              </a:tr>
              <a:tr h="376899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>
                          <a:effectLst/>
                        </a:rPr>
                        <a:t>정의</a:t>
                      </a:r>
                      <a:endParaRPr lang="ko-KR" altLang="en-US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100" b="1">
                          <a:effectLst/>
                        </a:rPr>
                        <a:t>데이터나 설정 값을 소스 코드에 직접</a:t>
                      </a:r>
                      <a:r>
                        <a:rPr lang="en-US" altLang="ko-KR" sz="1100" b="1">
                          <a:effectLst/>
                        </a:rPr>
                        <a:t>, </a:t>
                      </a:r>
                      <a:r>
                        <a:rPr lang="ko-KR" altLang="en-US" sz="1100" b="1">
                          <a:effectLst/>
                        </a:rPr>
                        <a:t>고정된 </a:t>
                      </a:r>
                      <a:endParaRPr lang="en-US" altLang="ko-KR" sz="1100" b="1" smtClean="0">
                        <a:effectLst/>
                      </a:endParaRPr>
                    </a:p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리터럴 </a:t>
                      </a:r>
                      <a:r>
                        <a:rPr lang="ko-KR" altLang="en-US" sz="1100" b="1">
                          <a:effectLst/>
                        </a:rPr>
                        <a:t>형태로 입력하는 </a:t>
                      </a:r>
                      <a:r>
                        <a:rPr lang="ko-KR" altLang="en-US" sz="1100" b="1" smtClean="0">
                          <a:effectLst/>
                        </a:rPr>
                        <a:t>방식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100" b="1">
                          <a:effectLst/>
                        </a:rPr>
                        <a:t>데이터나 설정 값을 외부 파일</a:t>
                      </a:r>
                      <a:r>
                        <a:rPr lang="en-US" altLang="ko-KR" sz="1100" b="1">
                          <a:effectLst/>
                        </a:rPr>
                        <a:t>(</a:t>
                      </a:r>
                      <a:r>
                        <a:rPr lang="ko-KR" altLang="en-US" sz="1100" b="1">
                          <a:effectLst/>
                        </a:rPr>
                        <a:t>설정 파일</a:t>
                      </a:r>
                      <a:r>
                        <a:rPr lang="en-US" altLang="ko-KR" sz="1100" b="1">
                          <a:effectLst/>
                        </a:rPr>
                        <a:t>, </a:t>
                      </a:r>
                      <a:r>
                        <a:rPr lang="ko-KR" altLang="en-US" sz="1100" b="1">
                          <a:effectLst/>
                        </a:rPr>
                        <a:t>데이터베이스</a:t>
                      </a:r>
                      <a:r>
                        <a:rPr lang="en-US" altLang="ko-KR" sz="1100" b="1">
                          <a:effectLst/>
                        </a:rPr>
                        <a:t>, </a:t>
                      </a:r>
                      <a:r>
                        <a:rPr lang="ko-KR" altLang="en-US" sz="1100" b="1">
                          <a:effectLst/>
                        </a:rPr>
                        <a:t>환경 변수 등</a:t>
                      </a:r>
                      <a:r>
                        <a:rPr lang="en-US" altLang="ko-KR" sz="1100" b="1">
                          <a:effectLst/>
                        </a:rPr>
                        <a:t>)</a:t>
                      </a:r>
                      <a:r>
                        <a:rPr lang="ko-KR" altLang="en-US" sz="1100" b="1">
                          <a:effectLst/>
                        </a:rPr>
                        <a:t>에서 읽어와 사용하는 </a:t>
                      </a:r>
                      <a:r>
                        <a:rPr lang="ko-KR" altLang="en-US" sz="1100" b="1" smtClean="0">
                          <a:effectLst/>
                        </a:rPr>
                        <a:t>방식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6590" marB="6590" anchor="ctr"/>
                </a:tc>
              </a:tr>
              <a:tr h="376899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>
                          <a:effectLst/>
                        </a:rPr>
                        <a:t>유연성</a:t>
                      </a:r>
                      <a:r>
                        <a:rPr lang="en-US" altLang="ko-KR" sz="1100" b="1">
                          <a:effectLst/>
                        </a:rPr>
                        <a:t>/</a:t>
                      </a:r>
                      <a:r>
                        <a:rPr lang="ko-KR" altLang="en-US" sz="1100" b="1">
                          <a:effectLst/>
                        </a:rPr>
                        <a:t>변경</a:t>
                      </a:r>
                      <a:endParaRPr lang="ko-KR" altLang="en-US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낮음</a:t>
                      </a:r>
                      <a:endParaRPr lang="en-US" altLang="ko-KR" sz="1100" b="1" smtClean="0">
                        <a:effectLst/>
                      </a:endParaRPr>
                    </a:p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값이 </a:t>
                      </a:r>
                      <a:r>
                        <a:rPr lang="ko-KR" altLang="en-US" sz="1100" b="1">
                          <a:effectLst/>
                        </a:rPr>
                        <a:t>변경되면 소스 코드를 직접 수정하고 재컴파일</a:t>
                      </a:r>
                      <a:r>
                        <a:rPr lang="en-US" altLang="ko-KR" sz="1100" b="1">
                          <a:effectLst/>
                        </a:rPr>
                        <a:t>/</a:t>
                      </a:r>
                      <a:r>
                        <a:rPr lang="ko-KR" altLang="en-US" sz="1100" b="1">
                          <a:effectLst/>
                        </a:rPr>
                        <a:t>재배포해야 </a:t>
                      </a:r>
                      <a:r>
                        <a:rPr lang="ko-KR" altLang="en-US" sz="1100" b="1" smtClean="0">
                          <a:effectLst/>
                        </a:rPr>
                        <a:t>함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높음</a:t>
                      </a:r>
                      <a:endParaRPr lang="en-US" altLang="ko-KR" sz="1100" b="1" smtClean="0">
                        <a:effectLst/>
                      </a:endParaRPr>
                    </a:p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값이 </a:t>
                      </a:r>
                      <a:r>
                        <a:rPr lang="ko-KR" altLang="en-US" sz="1100" b="1">
                          <a:effectLst/>
                        </a:rPr>
                        <a:t>변경되어도 외부 파일만 수정하면 되므로</a:t>
                      </a:r>
                      <a:r>
                        <a:rPr lang="en-US" altLang="ko-KR" sz="1100" b="1">
                          <a:effectLst/>
                        </a:rPr>
                        <a:t>, </a:t>
                      </a:r>
                      <a:r>
                        <a:rPr lang="ko-KR" altLang="en-US" sz="1100" b="1">
                          <a:effectLst/>
                        </a:rPr>
                        <a:t>코드 수정 없이 유연하게 대응할 수 </a:t>
                      </a:r>
                      <a:r>
                        <a:rPr lang="ko-KR" altLang="en-US" sz="1100" b="1" smtClean="0">
                          <a:effectLst/>
                        </a:rPr>
                        <a:t>있음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6590" marB="6590" anchor="ctr"/>
                </a:tc>
              </a:tr>
              <a:tr h="262156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>
                          <a:effectLst/>
                        </a:rPr>
                        <a:t>유지보수</a:t>
                      </a:r>
                      <a:endParaRPr lang="ko-KR" altLang="en-US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어려움</a:t>
                      </a:r>
                      <a:endParaRPr lang="en-US" altLang="ko-KR" sz="1100" b="1" smtClean="0">
                        <a:effectLst/>
                      </a:endParaRPr>
                    </a:p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변경이 </a:t>
                      </a:r>
                      <a:r>
                        <a:rPr lang="ko-KR" altLang="en-US" sz="1100" b="1">
                          <a:effectLst/>
                        </a:rPr>
                        <a:t>잦은 값에 사용하면 유지보수가 </a:t>
                      </a:r>
                      <a:r>
                        <a:rPr lang="ko-KR" altLang="en-US" sz="1100" b="1" smtClean="0">
                          <a:effectLst/>
                        </a:rPr>
                        <a:t>복잡해짐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용이함</a:t>
                      </a:r>
                      <a:endParaRPr lang="en-US" altLang="ko-KR" sz="1100" b="1" smtClean="0">
                        <a:effectLst/>
                      </a:endParaRPr>
                    </a:p>
                    <a:p>
                      <a:pPr algn="l" rtl="0" fontAlgn="b"/>
                      <a:r>
                        <a:rPr lang="ko-KR" altLang="en-US" sz="1100" b="1" smtClean="0">
                          <a:effectLst/>
                        </a:rPr>
                        <a:t>설정이 </a:t>
                      </a:r>
                      <a:r>
                        <a:rPr lang="ko-KR" altLang="en-US" sz="1100" b="1">
                          <a:effectLst/>
                        </a:rPr>
                        <a:t>코드와 분리되어 관리가 쉽고</a:t>
                      </a:r>
                      <a:r>
                        <a:rPr lang="en-US" altLang="ko-KR" sz="1100" b="1">
                          <a:effectLst/>
                        </a:rPr>
                        <a:t>, </a:t>
                      </a:r>
                      <a:r>
                        <a:rPr lang="ko-KR" altLang="en-US" sz="1100" b="1">
                          <a:effectLst/>
                        </a:rPr>
                        <a:t>재사용성이 </a:t>
                      </a:r>
                      <a:r>
                        <a:rPr lang="ko-KR" altLang="en-US" sz="1100" b="1" smtClean="0">
                          <a:effectLst/>
                        </a:rPr>
                        <a:t>높음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6590" marB="6590" anchor="ctr"/>
                </a:tc>
              </a:tr>
              <a:tr h="262156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>
                          <a:effectLst/>
                        </a:rPr>
                        <a:t>예시</a:t>
                      </a:r>
                      <a:endParaRPr lang="ko-KR" altLang="en-US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1100" b="1">
                          <a:effectLst/>
                        </a:rPr>
                        <a:t>int max_count = 100;</a:t>
                      </a:r>
                      <a:r>
                        <a:rPr lang="ko-KR" altLang="en-US" sz="1100" b="1">
                          <a:effectLst/>
                        </a:rPr>
                        <a:t>와 같이 코드에 특정 값을 직접 넣는 </a:t>
                      </a:r>
                      <a:r>
                        <a:rPr lang="ko-KR" altLang="en-US" sz="1100" b="1" smtClean="0">
                          <a:effectLst/>
                        </a:rPr>
                        <a:t>경우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9885" marR="9885" marT="6590" marB="659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1100" b="1">
                          <a:effectLst/>
                        </a:rPr>
                        <a:t>max_count</a:t>
                      </a:r>
                      <a:r>
                        <a:rPr lang="ko-KR" altLang="en-US" sz="1100" b="1">
                          <a:effectLst/>
                        </a:rPr>
                        <a:t>를 </a:t>
                      </a:r>
                      <a:r>
                        <a:rPr lang="ko-KR" altLang="en-US" sz="1100" b="1" smtClean="0">
                          <a:effectLst/>
                        </a:rPr>
                        <a:t>설정 </a:t>
                      </a:r>
                      <a:r>
                        <a:rPr lang="ko-KR" altLang="en-US" sz="1100" b="1">
                          <a:effectLst/>
                        </a:rPr>
                        <a:t>파일</a:t>
                      </a:r>
                      <a:r>
                        <a:rPr lang="en-US" altLang="ko-KR" sz="1100" b="1">
                          <a:effectLst/>
                        </a:rPr>
                        <a:t>(e.g., config.ini</a:t>
                      </a:r>
                      <a:r>
                        <a:rPr lang="en-US" altLang="ko-KR" sz="1100" b="1" smtClean="0">
                          <a:effectLst/>
                        </a:rPr>
                        <a:t>)</a:t>
                      </a:r>
                      <a:r>
                        <a:rPr lang="ko-KR" altLang="en-US" sz="1100" b="1" smtClean="0">
                          <a:effectLst/>
                        </a:rPr>
                        <a:t>에서 </a:t>
                      </a:r>
                      <a:r>
                        <a:rPr lang="ko-KR" altLang="en-US" sz="1100" b="1">
                          <a:effectLst/>
                        </a:rPr>
                        <a:t>읽어와 사용하는 </a:t>
                      </a:r>
                      <a:r>
                        <a:rPr lang="ko-KR" altLang="en-US" sz="1100" b="1" smtClean="0">
                          <a:effectLst/>
                        </a:rPr>
                        <a:t>경우</a:t>
                      </a:r>
                      <a:endParaRPr lang="en-US" altLang="ko-KR" sz="11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6590" marB="6590" anchor="ctr"/>
                </a:tc>
              </a:tr>
            </a:tbl>
          </a:graphicData>
        </a:graphic>
      </p:graphicFrame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053945"/>
              </p:ext>
            </p:extLst>
          </p:nvPr>
        </p:nvGraphicFramePr>
        <p:xfrm>
          <a:off x="1907704" y="5085184"/>
          <a:ext cx="28082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" name="포장기 셸 개체" showAsIcon="1" r:id="rId3" imgW="1667520" imgH="513360" progId="Package">
                  <p:embed/>
                </p:oleObj>
              </mc:Choice>
              <mc:Fallback>
                <p:oleObj name="포장기 셸 개체" showAsIcon="1" r:id="rId3" imgW="1667520" imgH="513360" progId="Package">
                  <p:embed/>
                  <p:pic>
                    <p:nvPicPr>
                      <p:cNvPr id="0" name="개체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085184"/>
                        <a:ext cx="28082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138648"/>
              </p:ext>
            </p:extLst>
          </p:nvPr>
        </p:nvGraphicFramePr>
        <p:xfrm>
          <a:off x="4716016" y="5013176"/>
          <a:ext cx="1152128" cy="95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name="포장기 셸 개체" showAsIcon="1" r:id="rId5" imgW="619560" imgH="513360" progId="Package">
                  <p:embed/>
                </p:oleObj>
              </mc:Choice>
              <mc:Fallback>
                <p:oleObj name="포장기 셸 개체" showAsIcon="1" r:id="rId5" imgW="61956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6016" y="5013176"/>
                        <a:ext cx="1152128" cy="95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826907"/>
              </p:ext>
            </p:extLst>
          </p:nvPr>
        </p:nvGraphicFramePr>
        <p:xfrm>
          <a:off x="6444208" y="5013176"/>
          <a:ext cx="1008112" cy="86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name="포장기 셸 개체" showAsIcon="1" r:id="rId7" imgW="600480" imgH="513360" progId="Package">
                  <p:embed/>
                </p:oleObj>
              </mc:Choice>
              <mc:Fallback>
                <p:oleObj name="포장기 셸 개체" showAsIcon="1" r:id="rId7" imgW="60048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44208" y="5013176"/>
                        <a:ext cx="1008112" cy="86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782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ko-KR" altLang="en-US" smtClean="0"/>
              <a:t>하드코딩 </a:t>
            </a:r>
            <a:r>
              <a:rPr lang="en-US" altLang="ko-KR" smtClean="0"/>
              <a:t>&amp; </a:t>
            </a:r>
            <a:r>
              <a:rPr lang="ko-KR" altLang="en-US" smtClean="0"/>
              <a:t>소프트코딩 차이</a:t>
            </a:r>
            <a:endParaRPr lang="ko-KR" altLang="en-US" b="0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621129"/>
              </p:ext>
            </p:extLst>
          </p:nvPr>
        </p:nvGraphicFramePr>
        <p:xfrm>
          <a:off x="1835696" y="3284984"/>
          <a:ext cx="28082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포장기 셸 개체" showAsIcon="1" r:id="rId3" imgW="1667520" imgH="513360" progId="Package">
                  <p:embed/>
                </p:oleObj>
              </mc:Choice>
              <mc:Fallback>
                <p:oleObj name="포장기 셸 개체" showAsIcon="1" r:id="rId3" imgW="1667520" imgH="513360" progId="Pack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284984"/>
                        <a:ext cx="28082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393045"/>
              </p:ext>
            </p:extLst>
          </p:nvPr>
        </p:nvGraphicFramePr>
        <p:xfrm>
          <a:off x="4644008" y="3212976"/>
          <a:ext cx="1152128" cy="95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포장기 셸 개체" showAsIcon="1" r:id="rId5" imgW="619560" imgH="513360" progId="Package">
                  <p:embed/>
                </p:oleObj>
              </mc:Choice>
              <mc:Fallback>
                <p:oleObj name="포장기 셸 개체" showAsIcon="1" r:id="rId5" imgW="61956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4008" y="3212976"/>
                        <a:ext cx="1152128" cy="95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763875"/>
              </p:ext>
            </p:extLst>
          </p:nvPr>
        </p:nvGraphicFramePr>
        <p:xfrm>
          <a:off x="6372200" y="3212976"/>
          <a:ext cx="1008112" cy="86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포장기 셸 개체" showAsIcon="1" r:id="rId7" imgW="600480" imgH="513360" progId="Package">
                  <p:embed/>
                </p:oleObj>
              </mc:Choice>
              <mc:Fallback>
                <p:oleObj name="포장기 셸 개체" showAsIcon="1" r:id="rId7" imgW="60048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2200" y="3212976"/>
                        <a:ext cx="1008112" cy="86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813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ko-KR" altLang="en-US" smtClean="0"/>
              <a:t>인코딩</a:t>
            </a:r>
            <a:endParaRPr lang="ko-KR" altLang="en-US"/>
          </a:p>
          <a:p>
            <a:pPr lvl="2"/>
            <a:r>
              <a:rPr lang="ko-KR" altLang="en-US" smtClean="0"/>
              <a:t>컴퓨터를 이용하여 영상</a:t>
            </a:r>
            <a:r>
              <a:rPr lang="en-US" altLang="ko-KR"/>
              <a:t>, </a:t>
            </a:r>
            <a:r>
              <a:rPr lang="ko-KR" altLang="en-US" smtClean="0"/>
              <a:t>이미지 또는 소리 데이터를 생성할 때</a:t>
            </a:r>
            <a:r>
              <a:rPr lang="en-US" altLang="ko-KR"/>
              <a:t>, </a:t>
            </a:r>
            <a:r>
              <a:rPr lang="ko-KR" altLang="en-US" smtClean="0"/>
              <a:t>원래의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데이터 양을 줄이기 위하여 </a:t>
            </a:r>
            <a:r>
              <a:rPr lang="ko-KR" altLang="en-US" smtClean="0">
                <a:solidFill>
                  <a:srgbClr val="FF0000"/>
                </a:solidFill>
              </a:rPr>
              <a:t>데이터를 코드화하고 압축하는 것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문자 인코딩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텍스트 데이터를 컴퓨터가 이해할 수 있는 이진 데이터로 변환하는 </a:t>
            </a:r>
            <a:r>
              <a:rPr lang="ko-KR" altLang="en-US" smtClean="0"/>
              <a:t>방식</a:t>
            </a:r>
            <a:endParaRPr lang="en-US" altLang="ko-KR" smtClean="0"/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동영상 인코딩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동영상 파일을 저장하거나 재생하기 위해 압축하거나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다른 </a:t>
            </a:r>
            <a:r>
              <a:rPr lang="ko-KR" altLang="en-US"/>
              <a:t>형식으로 변환하는 과정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5229200"/>
            <a:ext cx="6305550" cy="105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547664" y="6279432"/>
            <a:ext cx="72008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2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</a:rPr>
              <a:t>사이킷런의 머신러닝 </a:t>
            </a:r>
            <a:r>
              <a:rPr lang="ko-KR" altLang="en-US" sz="1200" b="1" smtClean="0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</a:rPr>
              <a:t>알고리즘 은 </a:t>
            </a:r>
            <a:r>
              <a:rPr lang="ko-KR" altLang="en-US" sz="12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</a:rPr>
              <a:t>문자열 값을 입력 값으로 허락하지 </a:t>
            </a:r>
            <a:r>
              <a:rPr lang="ko-KR" altLang="en-US" sz="1200" b="1" smtClean="0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</a:rPr>
              <a:t>않음</a:t>
            </a:r>
            <a:endParaRPr lang="en-US" altLang="ko-KR" sz="1200" b="1" smtClean="0">
              <a:solidFill>
                <a:srgbClr val="C00000"/>
              </a:solidFill>
              <a:latin typeface="HY그래픽" panose="02030600000101010101" pitchFamily="18" charset="-127"/>
              <a:ea typeface="HY그래픽" panose="02030600000101010101" pitchFamily="18" charset="-127"/>
            </a:endParaRPr>
          </a:p>
          <a:p>
            <a:r>
              <a:rPr lang="ko-KR" altLang="en-US" sz="1200" b="1" smtClean="0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</a:rPr>
              <a:t>모든 </a:t>
            </a:r>
            <a:r>
              <a:rPr lang="ko-KR" altLang="en-US" sz="12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</a:rPr>
              <a:t>문자열 값들을 숫자 형으로 인코딩하는 전처리 작업 후에 머신러닝 모델에 학습을 </a:t>
            </a:r>
            <a:r>
              <a:rPr lang="ko-KR" altLang="en-US" sz="1200" b="1" smtClean="0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</a:rPr>
              <a:t>시켜야함</a:t>
            </a:r>
            <a:endParaRPr lang="en-US" altLang="ko-KR" sz="1200" b="1" smtClean="0">
              <a:solidFill>
                <a:srgbClr val="C00000"/>
              </a:solidFill>
              <a:latin typeface="HY그래픽" panose="02030600000101010101" pitchFamily="18" charset="-127"/>
              <a:ea typeface="HY그래픽" panose="02030600000101010101" pitchFamily="18" charset="-127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790" y="3861048"/>
            <a:ext cx="5783361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227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en-US" altLang="ko-KR" smtClean="0"/>
              <a:t>Base 64</a:t>
            </a:r>
          </a:p>
          <a:p>
            <a:pPr lvl="2"/>
            <a:r>
              <a:rPr lang="en-US" altLang="ko-KR" smtClean="0"/>
              <a:t>Base 64 </a:t>
            </a:r>
            <a:r>
              <a:rPr lang="ko-KR" altLang="en-US"/>
              <a:t>인코딩은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모든 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8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비트 문자를 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64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개의 문자로 표시하기 위한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것</a:t>
            </a:r>
            <a:endParaRPr lang="en-US" altLang="ko-KR" smtClean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708920"/>
            <a:ext cx="5040560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611560" y="5671558"/>
            <a:ext cx="83603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Base64 -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문자 집합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숫자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0-9,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영어 대문자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A-Z,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영어 소문자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a-z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및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+, `/`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와 같은 특수 기호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개를 포함한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ko-KR" sz="1200" b="1" smtClean="0">
                <a:solidFill>
                  <a:srgbClr val="FF0000"/>
                </a:solidFill>
                <a:latin typeface="+mn-ea"/>
              </a:rPr>
            </a:b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총 </a:t>
            </a:r>
            <a:r>
              <a:rPr lang="en-US" altLang="ko-KR" sz="1200" b="1">
                <a:solidFill>
                  <a:srgbClr val="FF0000"/>
                </a:solidFill>
                <a:latin typeface="+mn-ea"/>
                <a:hlinkClick r:id="rId3"/>
              </a:rPr>
              <a:t>64</a:t>
            </a:r>
            <a:r>
              <a:rPr lang="ko-KR" altLang="en-US" sz="1200" b="1">
                <a:solidFill>
                  <a:srgbClr val="FF0000"/>
                </a:solidFill>
                <a:latin typeface="+mn-ea"/>
                <a:hlinkClick r:id="rId3"/>
              </a:rPr>
              <a:t>개 문자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  <a:hlinkClick r:id="rId3"/>
              </a:rPr>
              <a:t>사용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  <a:hlinkClick r:id="rId3"/>
              </a:rPr>
              <a:t> </a:t>
            </a:r>
            <a:endParaRPr lang="en-US" altLang="ko-KR" sz="1200" b="1" smtClean="0">
              <a:solidFill>
                <a:srgbClr val="FF0000"/>
              </a:solidFill>
              <a:latin typeface="+mn-ea"/>
            </a:endParaRPr>
          </a:p>
          <a:p>
            <a:endParaRPr lang="en-US" altLang="ko-KR" sz="1200" b="1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Base58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은 모호함을 피하기 위해 숫자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0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과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O,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소문자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l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과 대문자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I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등을 제거한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58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개의 문자를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사용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 </a:t>
            </a:r>
            <a:endParaRPr lang="en-US" altLang="ko-KR" sz="1200" b="1">
              <a:solidFill>
                <a:srgbClr val="FF0000"/>
              </a:solidFill>
              <a:latin typeface="+mn-ea"/>
            </a:endParaRPr>
          </a:p>
          <a:p>
            <a:endParaRPr lang="ko-KR" altLang="en-US" sz="1200" b="1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140968"/>
            <a:ext cx="3895891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04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ko-KR" altLang="en-US" smtClean="0"/>
              <a:t>베이스 </a:t>
            </a:r>
            <a:r>
              <a:rPr lang="en-US" altLang="ko-KR" smtClean="0"/>
              <a:t>58</a:t>
            </a:r>
          </a:p>
          <a:p>
            <a:pPr lvl="2"/>
            <a:r>
              <a:rPr lang="ko-KR" altLang="en-US">
                <a:solidFill>
                  <a:srgbClr val="0000CC"/>
                </a:solidFill>
              </a:rPr>
              <a:t>큰 숫자를 영숫자</a:t>
            </a:r>
            <a:r>
              <a:rPr lang="en-US" altLang="ko-KR">
                <a:solidFill>
                  <a:srgbClr val="0000CC"/>
                </a:solidFill>
              </a:rPr>
              <a:t>(alphanumeric) </a:t>
            </a:r>
            <a:r>
              <a:rPr lang="ko-KR" altLang="en-US">
                <a:solidFill>
                  <a:srgbClr val="0000CC"/>
                </a:solidFill>
              </a:rPr>
              <a:t>텍스트로</a:t>
            </a:r>
            <a:r>
              <a:rPr lang="ko-KR" altLang="en-US"/>
              <a:t> 나타내기 위해 사용되는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이진 </a:t>
            </a:r>
            <a:r>
              <a:rPr lang="ko-KR" altLang="en-US"/>
              <a:t>텍스트 인코딩 방식</a:t>
            </a:r>
            <a:endParaRPr lang="en-US" altLang="ko-KR"/>
          </a:p>
          <a:p>
            <a:pPr lvl="3"/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Base 64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와 유사하지만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Base 64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에서 사용되는 일부</a:t>
            </a:r>
            <a:r>
              <a:rPr lang="ko-KR" altLang="en-US"/>
              <a:t> 문자를 제외하여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가독성을 </a:t>
            </a:r>
            <a:r>
              <a:rPr lang="ko-KR" altLang="en-US"/>
              <a:t>높이고 오류 발생 가능성을 줄인 </a:t>
            </a:r>
            <a:r>
              <a:rPr lang="ko-KR" altLang="en-US" smtClean="0"/>
              <a:t>것 </a:t>
            </a:r>
            <a:endParaRPr lang="en-US" altLang="ko-KR" smtClean="0"/>
          </a:p>
          <a:p>
            <a:pPr lvl="3"/>
            <a:endParaRPr lang="en-US" altLang="ko-KR" smtClean="0">
              <a:solidFill>
                <a:srgbClr val="006600"/>
              </a:solidFill>
            </a:endParaRPr>
          </a:p>
          <a:p>
            <a:pPr lvl="3"/>
            <a:endParaRPr lang="en-US" altLang="ko-KR">
              <a:solidFill>
                <a:srgbClr val="006600"/>
              </a:solidFill>
            </a:endParaRPr>
          </a:p>
          <a:p>
            <a:pPr lvl="3"/>
            <a:endParaRPr lang="en-US" altLang="ko-KR" smtClean="0">
              <a:solidFill>
                <a:srgbClr val="006600"/>
              </a:solidFill>
            </a:endParaRPr>
          </a:p>
          <a:p>
            <a:pPr lvl="3"/>
            <a:r>
              <a:rPr lang="en-US" altLang="ko-KR" smtClean="0"/>
              <a:t>Base 58</a:t>
            </a:r>
            <a:r>
              <a:rPr lang="ko-KR" altLang="en-US"/>
              <a:t>은 사용자가 직접 타이핑을 하거나 </a:t>
            </a:r>
            <a:r>
              <a:rPr lang="en-US" altLang="ko-KR"/>
              <a:t>Copy &amp; Paste</a:t>
            </a:r>
            <a:r>
              <a:rPr lang="ko-KR" altLang="en-US"/>
              <a:t>를 용이하게 하기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위해서 </a:t>
            </a:r>
            <a:r>
              <a:rPr lang="ko-KR" altLang="en-US"/>
              <a:t>사용되며</a:t>
            </a:r>
            <a:r>
              <a:rPr lang="en-US" altLang="ko-KR"/>
              <a:t>, </a:t>
            </a:r>
            <a:r>
              <a:rPr lang="ko-KR" altLang="en-US">
                <a:solidFill>
                  <a:srgbClr val="0000CC"/>
                </a:solidFill>
              </a:rPr>
              <a:t>비트코인 주소 생성 시 </a:t>
            </a:r>
            <a:r>
              <a:rPr lang="en-US" altLang="ko-KR" smtClean="0">
                <a:solidFill>
                  <a:srgbClr val="0000CC"/>
                </a:solidFill>
              </a:rPr>
              <a:t>Base 58 </a:t>
            </a:r>
            <a:r>
              <a:rPr lang="ko-KR" altLang="en-US">
                <a:solidFill>
                  <a:srgbClr val="0000CC"/>
                </a:solidFill>
              </a:rPr>
              <a:t>인코딩을 </a:t>
            </a:r>
            <a:r>
              <a:rPr lang="ko-KR" altLang="en-US" smtClean="0">
                <a:solidFill>
                  <a:srgbClr val="0000CC"/>
                </a:solidFill>
              </a:rPr>
              <a:t>사용</a:t>
            </a:r>
            <a:endParaRPr lang="en-US" altLang="ko-KR" smtClean="0">
              <a:solidFill>
                <a:srgbClr val="0000CC"/>
              </a:solidFill>
            </a:endParaRPr>
          </a:p>
          <a:p>
            <a:pPr lvl="3"/>
            <a:r>
              <a:rPr lang="en-US" altLang="ko-KR"/>
              <a:t>Base  58</a:t>
            </a:r>
            <a:r>
              <a:rPr lang="ko-KR" altLang="en-US"/>
              <a:t>의 경우 공식적인 </a:t>
            </a:r>
            <a:r>
              <a:rPr lang="en-US" altLang="ko-KR"/>
              <a:t>table</a:t>
            </a:r>
            <a:r>
              <a:rPr lang="ko-KR" altLang="en-US"/>
              <a:t>이 없어 애플리케이션마다 다른 결과를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출력할 </a:t>
            </a:r>
            <a:r>
              <a:rPr lang="ko-KR" altLang="en-US"/>
              <a:t>수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특히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사토시 나카모토가 비트코인과 함께 사용하기 위해 </a:t>
            </a:r>
            <a:r>
              <a:rPr lang="ko-KR" altLang="en-US" smtClean="0">
                <a:solidFill>
                  <a:srgbClr val="FF0000"/>
                </a:solidFill>
              </a:rPr>
              <a:t>도입</a:t>
            </a:r>
            <a:r>
              <a:rPr lang="en-US" altLang="ko-KR" smtClean="0">
                <a:solidFill>
                  <a:srgbClr val="FF0000"/>
                </a:solidFill>
              </a:rPr>
              <a:t>(</a:t>
            </a:r>
            <a:r>
              <a:rPr lang="ko-KR" altLang="en-US" smtClean="0">
                <a:solidFill>
                  <a:srgbClr val="FF0000"/>
                </a:solidFill>
              </a:rPr>
              <a:t>비트코인 </a:t>
            </a:r>
            <a:r>
              <a:rPr lang="ko-KR" altLang="en-US">
                <a:solidFill>
                  <a:srgbClr val="FF0000"/>
                </a:solidFill>
              </a:rPr>
              <a:t>주소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인코딩에 사용</a:t>
            </a:r>
            <a:r>
              <a:rPr lang="en-US" altLang="ko-KR" smtClean="0">
                <a:solidFill>
                  <a:srgbClr val="FF0000"/>
                </a:solidFill>
              </a:rPr>
              <a:t>)</a:t>
            </a:r>
          </a:p>
          <a:p>
            <a:pPr lvl="2"/>
            <a:endParaRPr lang="en-US" altLang="ko-KR" b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242900"/>
            <a:ext cx="4896544" cy="1426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284984"/>
            <a:ext cx="4824536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082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ko-KR" altLang="en-US" smtClean="0"/>
              <a:t>베이스 </a:t>
            </a:r>
            <a:r>
              <a:rPr lang="en-US" altLang="ko-KR" smtClean="0"/>
              <a:t>58</a:t>
            </a:r>
          </a:p>
          <a:p>
            <a:pPr lvl="3"/>
            <a:r>
              <a:rPr lang="en-US" altLang="ko-KR" smtClean="0">
                <a:solidFill>
                  <a:srgbClr val="006600"/>
                </a:solidFill>
              </a:rPr>
              <a:t>Base 58</a:t>
            </a:r>
            <a:r>
              <a:rPr lang="ko-KR" altLang="en-US">
                <a:solidFill>
                  <a:srgbClr val="006600"/>
                </a:solidFill>
              </a:rPr>
              <a:t>은 입력된 값을 </a:t>
            </a:r>
            <a:r>
              <a:rPr lang="en-US" altLang="ko-KR">
                <a:solidFill>
                  <a:srgbClr val="006600"/>
                </a:solidFill>
              </a:rPr>
              <a:t>big number</a:t>
            </a:r>
            <a:r>
              <a:rPr lang="ko-KR" altLang="en-US">
                <a:solidFill>
                  <a:srgbClr val="006600"/>
                </a:solidFill>
              </a:rPr>
              <a:t>로 변경하여 </a:t>
            </a:r>
            <a:r>
              <a:rPr lang="en-US" altLang="ko-KR">
                <a:solidFill>
                  <a:srgbClr val="006600"/>
                </a:solidFill>
              </a:rPr>
              <a:t>58</a:t>
            </a:r>
            <a:r>
              <a:rPr lang="ko-KR" altLang="en-US">
                <a:solidFill>
                  <a:srgbClr val="006600"/>
                </a:solidFill>
              </a:rPr>
              <a:t>로 나누고 나머지를 지정된 </a:t>
            </a:r>
            <a:r>
              <a:rPr lang="en-US" altLang="ko-KR">
                <a:solidFill>
                  <a:srgbClr val="006600"/>
                </a:solidFill>
              </a:rPr>
              <a:t>table</a:t>
            </a:r>
            <a:r>
              <a:rPr lang="ko-KR" altLang="en-US">
                <a:solidFill>
                  <a:srgbClr val="006600"/>
                </a:solidFill>
              </a:rPr>
              <a:t>에 대응하는 </a:t>
            </a:r>
            <a:r>
              <a:rPr lang="en-US" altLang="ko-KR">
                <a:solidFill>
                  <a:srgbClr val="006600"/>
                </a:solidFill>
              </a:rPr>
              <a:t>character</a:t>
            </a:r>
            <a:r>
              <a:rPr lang="ko-KR" altLang="en-US">
                <a:solidFill>
                  <a:srgbClr val="006600"/>
                </a:solidFill>
              </a:rPr>
              <a:t>로 </a:t>
            </a:r>
            <a:r>
              <a:rPr lang="ko-KR" altLang="en-US" smtClean="0">
                <a:solidFill>
                  <a:srgbClr val="006600"/>
                </a:solidFill>
              </a:rPr>
              <a:t>치환</a:t>
            </a:r>
            <a:endParaRPr lang="en-US" altLang="ko-KR" smtClean="0">
              <a:solidFill>
                <a:srgbClr val="006600"/>
              </a:solidFill>
            </a:endParaRPr>
          </a:p>
          <a:p>
            <a:pPr lvl="3"/>
            <a:r>
              <a:rPr lang="en-US" altLang="ko-KR" smtClean="0">
                <a:hlinkClick r:id="rId3"/>
              </a:rPr>
              <a:t>https</a:t>
            </a:r>
            <a:r>
              <a:rPr lang="en-US" altLang="ko-KR">
                <a:hlinkClick r:id="rId3"/>
              </a:rPr>
              <a:t>://learnmeabitcoin.com/technical/keys/base58/</a:t>
            </a:r>
            <a:endParaRPr lang="en-US" altLang="ko-KR"/>
          </a:p>
          <a:p>
            <a:pPr lvl="2"/>
            <a:endParaRPr lang="en-US" altLang="ko-KR" b="0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694422"/>
              </p:ext>
            </p:extLst>
          </p:nvPr>
        </p:nvGraphicFramePr>
        <p:xfrm>
          <a:off x="2267744" y="3872871"/>
          <a:ext cx="2022092" cy="761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포장기 셸 개체" showAsIcon="1" r:id="rId4" imgW="1362600" imgH="513360" progId="Package">
                  <p:embed/>
                </p:oleObj>
              </mc:Choice>
              <mc:Fallback>
                <p:oleObj name="포장기 셸 개체" showAsIcon="1" r:id="rId4" imgW="136260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7744" y="3872871"/>
                        <a:ext cx="2022092" cy="761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872" y="4077072"/>
            <a:ext cx="2592288" cy="35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542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4834880" cy="4525963"/>
          </a:xfrm>
        </p:spPr>
        <p:txBody>
          <a:bodyPr/>
          <a:lstStyle/>
          <a:p>
            <a:r>
              <a:rPr lang="ko-KR" altLang="en-US" smtClean="0"/>
              <a:t>주요용어</a:t>
            </a:r>
            <a:endParaRPr lang="en-US" altLang="ko-KR" smtClean="0"/>
          </a:p>
          <a:p>
            <a:pPr lvl="1"/>
            <a:r>
              <a:rPr lang="ko-KR" altLang="en-US" smtClean="0"/>
              <a:t>체크섬</a:t>
            </a:r>
            <a:endParaRPr lang="ko-KR" altLang="en-US" b="0"/>
          </a:p>
          <a:p>
            <a:pPr lvl="2"/>
            <a:r>
              <a:rPr lang="ko-KR" altLang="en-US" smtClean="0"/>
              <a:t>오류 검출 방식의 하나</a:t>
            </a:r>
            <a:endParaRPr lang="en-US" altLang="ko-KR" smtClean="0"/>
          </a:p>
          <a:p>
            <a:pPr lvl="2"/>
            <a:endParaRPr lang="en-US" altLang="ko-KR" smtClean="0"/>
          </a:p>
          <a:p>
            <a:pPr lvl="2"/>
            <a:r>
              <a:rPr lang="ko-KR" altLang="en-US" smtClean="0"/>
              <a:t>데이터의 입력이나 전송 시에 제대로 되었는지를 확인하기 위해 입력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데이터나 </a:t>
            </a:r>
            <a:r>
              <a:rPr lang="ko-KR" altLang="en-US" smtClean="0">
                <a:solidFill>
                  <a:srgbClr val="006600"/>
                </a:solidFill>
              </a:rPr>
              <a:t>전송 데이터의 맨 마지막에 모든 데이터를 다 합한 합계를 따로</a:t>
            </a:r>
            <a:r>
              <a:rPr lang="en-US" altLang="ko-KR" smtClean="0">
                <a:solidFill>
                  <a:srgbClr val="006600"/>
                </a:solidFill>
              </a:rPr>
              <a:t/>
            </a:r>
            <a:br>
              <a:rPr lang="en-US" altLang="ko-KR" smtClean="0">
                <a:solidFill>
                  <a:srgbClr val="006600"/>
                </a:solidFill>
              </a:rPr>
            </a:br>
            <a:r>
              <a:rPr lang="ko-KR" altLang="en-US" smtClean="0">
                <a:solidFill>
                  <a:srgbClr val="006600"/>
                </a:solidFill>
              </a:rPr>
              <a:t>보내는 것</a:t>
            </a:r>
            <a:endParaRPr lang="en-US" altLang="ko-KR" smtClean="0">
              <a:solidFill>
                <a:srgbClr val="006600"/>
              </a:solidFill>
            </a:endParaRPr>
          </a:p>
          <a:p>
            <a:pPr lvl="2"/>
            <a:endParaRPr lang="en-US" altLang="ko-KR" smtClean="0"/>
          </a:p>
          <a:p>
            <a:pPr lvl="2"/>
            <a:r>
              <a:rPr lang="ko-KR" altLang="en-US" smtClean="0"/>
              <a:t>데이터를 받아들이는 측에서는 하나씩 받아들여 합산한 다음 이를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>
                <a:solidFill>
                  <a:srgbClr val="FF0000"/>
                </a:solidFill>
              </a:rPr>
              <a:t>최종적으로 들어온 검사 합계와 비교하여 착오가 있는지를 점검</a:t>
            </a:r>
            <a:endParaRPr lang="en-US" altLang="ko-KR" b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25" y="2221024"/>
            <a:ext cx="3672408" cy="3712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아래쪽 화살표 3"/>
          <p:cNvSpPr/>
          <p:nvPr/>
        </p:nvSpPr>
        <p:spPr>
          <a:xfrm>
            <a:off x="3203848" y="4077072"/>
            <a:ext cx="648072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436096" y="3972085"/>
            <a:ext cx="936104" cy="19986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668344" y="4124485"/>
            <a:ext cx="936104" cy="19986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81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525963"/>
          </a:xfrm>
        </p:spPr>
        <p:txBody>
          <a:bodyPr/>
          <a:lstStyle/>
          <a:p>
            <a:r>
              <a:rPr lang="ko-KR" altLang="en-US" smtClean="0"/>
              <a:t>비트코인 거래의 흐름도</a:t>
            </a:r>
            <a:endParaRPr lang="ko-KR" altLang="en-US" b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205" y="2221136"/>
            <a:ext cx="6480720" cy="59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96" y="2996952"/>
            <a:ext cx="7656146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79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997152"/>
          </a:xfrm>
        </p:spPr>
        <p:txBody>
          <a:bodyPr>
            <a:normAutofit/>
          </a:bodyPr>
          <a:lstStyle/>
          <a:p>
            <a:r>
              <a:rPr lang="ko-KR" altLang="en-US" smtClean="0"/>
              <a:t>비트코인 네트워크 노드</a:t>
            </a:r>
            <a:endParaRPr lang="en-US" altLang="ko-KR" smtClean="0"/>
          </a:p>
          <a:p>
            <a:pPr lvl="1"/>
            <a:r>
              <a:rPr lang="ko-KR" altLang="en-US" smtClean="0"/>
              <a:t>풀노드</a:t>
            </a:r>
            <a:endParaRPr lang="en-US" altLang="ko-KR" smtClean="0"/>
          </a:p>
          <a:p>
            <a:pPr lvl="2"/>
            <a:r>
              <a:rPr lang="ko-KR" altLang="en-US"/>
              <a:t>블록체인의 </a:t>
            </a:r>
            <a:r>
              <a:rPr lang="ko-KR" altLang="en-US">
                <a:solidFill>
                  <a:srgbClr val="FF0000"/>
                </a:solidFill>
              </a:rPr>
              <a:t>모든 거래 기록과 블록을 처음부터 끝까지 완전하게 저장하고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검증하며</a:t>
            </a:r>
            <a:r>
              <a:rPr lang="en-US" altLang="ko-KR"/>
              <a:t>, </a:t>
            </a:r>
            <a:r>
              <a:rPr lang="ko-KR" altLang="en-US"/>
              <a:t>네트워크의 규칙을 집행하는</a:t>
            </a:r>
            <a:r>
              <a:rPr lang="en-US" altLang="ko-KR"/>
              <a:t>(enforce) </a:t>
            </a:r>
            <a:r>
              <a:rPr lang="ko-KR" altLang="en-US"/>
              <a:t>컴퓨터 </a:t>
            </a:r>
            <a:r>
              <a:rPr lang="ko-KR" altLang="en-US" smtClean="0"/>
              <a:t>프로그램</a:t>
            </a:r>
            <a:endParaRPr lang="en-US" altLang="ko-KR" smtClean="0"/>
          </a:p>
          <a:p>
            <a:pPr lvl="3"/>
            <a:r>
              <a:rPr lang="ko-KR" altLang="en-US" smtClean="0"/>
              <a:t>전체거래 </a:t>
            </a:r>
            <a:r>
              <a:rPr lang="ko-KR" altLang="en-US"/>
              <a:t>내역을 가지며</a:t>
            </a:r>
            <a:r>
              <a:rPr lang="en-US" altLang="ko-KR"/>
              <a:t>, </a:t>
            </a:r>
            <a:r>
              <a:rPr lang="ko-KR" altLang="en-US" smtClean="0"/>
              <a:t>상시에 과반 이상의 데이터로 갱신하여 현행화 유지</a:t>
            </a:r>
            <a:endParaRPr lang="en-US" altLang="ko-KR" smtClean="0"/>
          </a:p>
          <a:p>
            <a:pPr lvl="3"/>
            <a:r>
              <a:rPr lang="ko-KR" altLang="en-US" smtClean="0"/>
              <a:t>채굴을 통해 생성된 블록의 검증 수행</a:t>
            </a:r>
            <a:endParaRPr lang="en-US" altLang="ko-KR" smtClean="0"/>
          </a:p>
          <a:p>
            <a:pPr lvl="3"/>
            <a:r>
              <a:rPr lang="ko-KR" altLang="en-US" smtClean="0"/>
              <a:t>검증을 담당하는 모든 풀노드가 채굴 노드는 아님</a:t>
            </a:r>
            <a:endParaRPr lang="en-US" altLang="ko-KR" smtClean="0"/>
          </a:p>
          <a:p>
            <a:pPr lvl="3"/>
            <a:endParaRPr lang="en-US" altLang="ko-KR" smtClean="0"/>
          </a:p>
          <a:p>
            <a:pPr lvl="1"/>
            <a:r>
              <a:rPr lang="ko-KR" altLang="en-US">
                <a:hlinkClick r:id="rId2"/>
              </a:rPr>
              <a:t>풀 노드의 </a:t>
            </a:r>
            <a:r>
              <a:rPr lang="ko-KR" altLang="en-US" smtClean="0">
                <a:hlinkClick r:id="rId2"/>
              </a:rPr>
              <a:t>종류</a:t>
            </a:r>
            <a:r>
              <a:rPr lang="en-US" altLang="ko-KR" smtClean="0">
                <a:hlinkClick r:id="rId2"/>
              </a:rPr>
              <a:t>(</a:t>
            </a:r>
            <a:r>
              <a:rPr lang="ko-KR" altLang="en-US">
                <a:hlinkClick r:id="rId2"/>
              </a:rPr>
              <a:t>비트코인 기준</a:t>
            </a:r>
            <a:r>
              <a:rPr lang="en-US" altLang="ko-KR">
                <a:hlinkClick r:id="rId2"/>
              </a:rPr>
              <a:t>)</a:t>
            </a:r>
            <a:endParaRPr lang="en-US" altLang="ko-KR"/>
          </a:p>
          <a:p>
            <a:pPr lvl="2"/>
            <a:r>
              <a:rPr lang="en-US" altLang="ko-KR">
                <a:solidFill>
                  <a:srgbClr val="006600"/>
                </a:solidFill>
              </a:rPr>
              <a:t>Bitcoin Core (</a:t>
            </a:r>
            <a:r>
              <a:rPr lang="ko-KR" altLang="en-US">
                <a:solidFill>
                  <a:srgbClr val="006600"/>
                </a:solidFill>
              </a:rPr>
              <a:t>비트코인 코어</a:t>
            </a:r>
            <a:r>
              <a:rPr lang="en-US" altLang="ko-KR" smtClean="0">
                <a:solidFill>
                  <a:srgbClr val="006600"/>
                </a:solidFill>
              </a:rPr>
              <a:t>)</a:t>
            </a:r>
          </a:p>
          <a:p>
            <a:pPr lvl="3"/>
            <a:r>
              <a:rPr lang="ko-KR" altLang="en-US"/>
              <a:t>사토시 나카모토에 의해 배급된 </a:t>
            </a:r>
            <a:r>
              <a:rPr lang="ko-KR" altLang="en-US">
                <a:solidFill>
                  <a:srgbClr val="0000CC"/>
                </a:solidFill>
              </a:rPr>
              <a:t>레퍼런스 풀 클라이언트</a:t>
            </a:r>
            <a:r>
              <a:rPr lang="en-US" altLang="ko-KR"/>
              <a:t>S/W</a:t>
            </a:r>
            <a:r>
              <a:rPr lang="en-US" altLang="ko-KR" b="0"/>
              <a:t>(</a:t>
            </a:r>
            <a:r>
              <a:rPr lang="en-US" altLang="ko-KR" b="0">
                <a:hlinkClick r:id="rId3"/>
              </a:rPr>
              <a:t>https://bitcoin.org/ko/download</a:t>
            </a:r>
            <a:r>
              <a:rPr lang="en-US" altLang="ko-KR" b="0"/>
              <a:t>), </a:t>
            </a:r>
          </a:p>
          <a:p>
            <a:pPr lvl="3"/>
            <a:r>
              <a:rPr lang="ko-KR" altLang="en-US" smtClean="0"/>
              <a:t>비트코인 </a:t>
            </a:r>
            <a:r>
              <a:rPr lang="ko-KR" altLang="en-US"/>
              <a:t>네트워크의 공식이자 가장 기본적인 풀 노드 </a:t>
            </a:r>
            <a:r>
              <a:rPr lang="ko-KR" altLang="en-US" smtClean="0"/>
              <a:t>소프트웨어</a:t>
            </a:r>
            <a:endParaRPr lang="en-US" altLang="ko-KR" smtClean="0"/>
          </a:p>
          <a:p>
            <a:pPr lvl="3"/>
            <a:r>
              <a:rPr lang="en-US" altLang="ko-KR" smtClean="0"/>
              <a:t>GUI</a:t>
            </a:r>
            <a:r>
              <a:rPr lang="ko-KR" altLang="en-US"/>
              <a:t>를 포함하며</a:t>
            </a:r>
            <a:r>
              <a:rPr lang="en-US" altLang="ko-KR"/>
              <a:t>, </a:t>
            </a:r>
            <a:r>
              <a:rPr lang="ko-KR" altLang="en-US"/>
              <a:t>풀 노드의 모든 기능을 </a:t>
            </a:r>
            <a:r>
              <a:rPr lang="ko-KR" altLang="en-US" smtClean="0"/>
              <a:t>수행</a:t>
            </a:r>
            <a:endParaRPr lang="en-US" altLang="ko-KR"/>
          </a:p>
          <a:p>
            <a:pPr lvl="2"/>
            <a:r>
              <a:rPr lang="en-US" altLang="ko-KR">
                <a:solidFill>
                  <a:srgbClr val="006600"/>
                </a:solidFill>
              </a:rPr>
              <a:t>btcd, libbitcoin, rust-bitcoin </a:t>
            </a:r>
            <a:r>
              <a:rPr lang="ko-KR" altLang="en-US" smtClean="0">
                <a:solidFill>
                  <a:srgbClr val="006600"/>
                </a:solidFill>
              </a:rPr>
              <a:t>등</a:t>
            </a:r>
            <a:endParaRPr lang="en-US" altLang="ko-KR" smtClean="0">
              <a:solidFill>
                <a:srgbClr val="006600"/>
              </a:solidFill>
            </a:endParaRPr>
          </a:p>
          <a:p>
            <a:pPr lvl="3"/>
            <a:r>
              <a:rPr lang="ko-KR" altLang="en-US" smtClean="0"/>
              <a:t>비트코인 </a:t>
            </a:r>
            <a:r>
              <a:rPr lang="ko-KR" altLang="en-US"/>
              <a:t>코어 외에도 다양한 프로그래밍 언어로 구현된 풀 노드 소프트웨어가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존재</a:t>
            </a:r>
            <a:endParaRPr lang="ko-KR" altLang="en-US" b="0"/>
          </a:p>
        </p:txBody>
      </p:sp>
    </p:spTree>
    <p:extLst>
      <p:ext uri="{BB962C8B-B14F-4D97-AF65-F5344CB8AC3E}">
        <p14:creationId xmlns:p14="http://schemas.microsoft.com/office/powerpoint/2010/main" val="226007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비트코인 네트워크 노드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0848"/>
            <a:ext cx="8352928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343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비트코인 네트워크 노드</a:t>
            </a:r>
            <a:endParaRPr lang="en-US" altLang="ko-KR"/>
          </a:p>
          <a:p>
            <a:pPr lvl="1"/>
            <a:r>
              <a:rPr lang="ko-KR" altLang="en-US" smtClean="0"/>
              <a:t>블록체인 노드 구축</a:t>
            </a:r>
            <a:endParaRPr lang="en-US" altLang="ko-KR" smtClean="0"/>
          </a:p>
          <a:p>
            <a:pPr lvl="2"/>
            <a:r>
              <a:rPr lang="ko-KR" altLang="en-US" smtClean="0"/>
              <a:t>클라이언트 </a:t>
            </a:r>
            <a:r>
              <a:rPr lang="en-US" altLang="ko-KR" smtClean="0"/>
              <a:t>S/W</a:t>
            </a:r>
            <a:r>
              <a:rPr lang="ko-KR" altLang="en-US" smtClean="0"/>
              <a:t>를 실행하여 네트워크에 접속</a:t>
            </a:r>
            <a:endParaRPr lang="en-US" altLang="ko-KR" smtClean="0"/>
          </a:p>
          <a:p>
            <a:pPr lvl="2"/>
            <a:r>
              <a:rPr lang="ko-KR" altLang="en-US" smtClean="0"/>
              <a:t>블록 </a:t>
            </a:r>
            <a:r>
              <a:rPr lang="en-US" altLang="ko-KR" smtClean="0"/>
              <a:t>D/B</a:t>
            </a:r>
            <a:r>
              <a:rPr lang="ko-KR" altLang="en-US" smtClean="0"/>
              <a:t>를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종자노드로부터 다운로드받아 동기화 후 </a:t>
            </a:r>
            <a:r>
              <a:rPr lang="ko-KR" altLang="en-US" smtClean="0"/>
              <a:t>새로운 노드로 동작</a:t>
            </a:r>
            <a:endParaRPr lang="en-US" altLang="ko-KR" smtClean="0"/>
          </a:p>
          <a:p>
            <a:pPr lvl="2"/>
            <a:r>
              <a:rPr lang="ko-KR" altLang="en-US" smtClean="0"/>
              <a:t>종자노드</a:t>
            </a:r>
            <a:r>
              <a:rPr lang="en-US" altLang="ko-KR"/>
              <a:t>(seed node</a:t>
            </a:r>
            <a:r>
              <a:rPr lang="en-US" altLang="ko-KR" smtClean="0"/>
              <a:t>) – </a:t>
            </a:r>
            <a:r>
              <a:rPr lang="ko-KR" altLang="en-US" smtClean="0"/>
              <a:t>네트워크에서 오랜기간 </a:t>
            </a:r>
            <a:r>
              <a:rPr lang="ko-KR" altLang="en-US" smtClean="0">
                <a:solidFill>
                  <a:srgbClr val="006600"/>
                </a:solidFill>
              </a:rPr>
              <a:t>안정적으로 작동되고 있는 </a:t>
            </a:r>
            <a:r>
              <a:rPr lang="en-US" altLang="ko-KR" smtClean="0">
                <a:solidFill>
                  <a:srgbClr val="006600"/>
                </a:solidFill>
              </a:rPr>
              <a:t/>
            </a:r>
            <a:br>
              <a:rPr lang="en-US" altLang="ko-KR" smtClean="0">
                <a:solidFill>
                  <a:srgbClr val="006600"/>
                </a:solidFill>
              </a:rPr>
            </a:br>
            <a:r>
              <a:rPr lang="ko-KR" altLang="en-US" smtClean="0">
                <a:solidFill>
                  <a:srgbClr val="006600"/>
                </a:solidFill>
              </a:rPr>
              <a:t>풀노드</a:t>
            </a:r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ko-KR" altLang="en-US" smtClean="0"/>
              <a:t>추가된 노드는 자신의 </a:t>
            </a:r>
            <a:r>
              <a:rPr lang="en-US" altLang="ko-KR" smtClean="0"/>
              <a:t>IP</a:t>
            </a:r>
            <a:r>
              <a:rPr lang="ko-KR" altLang="en-US" smtClean="0"/>
              <a:t>주소를 이웃노드들에게 전송하여 다른 노드들이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검색할 수 있게 됨</a:t>
            </a:r>
            <a:endParaRPr lang="ko-KR" altLang="en-US" b="0"/>
          </a:p>
          <a:p>
            <a:endParaRPr lang="ko-KR" altLang="en-US"/>
          </a:p>
        </p:txBody>
      </p:sp>
      <p:pic>
        <p:nvPicPr>
          <p:cNvPr id="819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60" y="4077072"/>
            <a:ext cx="2963813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955" y="4077072"/>
            <a:ext cx="2921425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398" y="4077072"/>
            <a:ext cx="2771800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747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ko-KR"/>
              <a:t>Peer </a:t>
            </a:r>
            <a:r>
              <a:rPr lang="ko-KR" altLang="en-US" smtClean="0"/>
              <a:t>노드 검색</a:t>
            </a:r>
            <a:endParaRPr lang="en-US" altLang="ko-KR" smtClean="0"/>
          </a:p>
          <a:p>
            <a:pPr lvl="1"/>
            <a:r>
              <a:rPr lang="ko-KR" altLang="en-US"/>
              <a:t>비트코인 네트워크는 </a:t>
            </a:r>
            <a:r>
              <a:rPr lang="en-US" altLang="ko-KR"/>
              <a:t>P2P(Peer-to-Peer) </a:t>
            </a:r>
            <a:r>
              <a:rPr lang="ko-KR" altLang="en-US"/>
              <a:t>방식으로 작동하기 때문에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중앙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서버 없이 각 노드가 자율적으로 다른 노드를 찾아 연결하고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정보를 주고받음</a:t>
            </a:r>
            <a:endParaRPr lang="en-US" altLang="ko-KR" smtClean="0"/>
          </a:p>
          <a:p>
            <a:pPr lvl="2"/>
            <a:r>
              <a:rPr lang="ko-KR" altLang="en-US"/>
              <a:t>비트코인 네트워크는 특정 노드에 대한 </a:t>
            </a:r>
            <a:r>
              <a:rPr lang="ko-KR" altLang="en-US">
                <a:solidFill>
                  <a:srgbClr val="FF0000"/>
                </a:solidFill>
              </a:rPr>
              <a:t>의존성 없이 자율적으로 확장하고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유지될 </a:t>
            </a:r>
            <a:r>
              <a:rPr lang="ko-KR" altLang="en-US">
                <a:solidFill>
                  <a:srgbClr val="FF0000"/>
                </a:solidFill>
              </a:rPr>
              <a:t>수 있으며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/>
              <a:t>이는 비트코인의 핵심 가치인 탈중앙화와 검열 저항성을 보장하는 중요한 </a:t>
            </a:r>
            <a:r>
              <a:rPr lang="ko-KR" altLang="en-US" smtClean="0"/>
              <a:t>요소</a:t>
            </a:r>
            <a:endParaRPr lang="en-US" altLang="ko-KR" smtClean="0"/>
          </a:p>
          <a:p>
            <a:pPr lvl="2"/>
            <a:endParaRPr lang="en-US" altLang="ko-KR"/>
          </a:p>
          <a:p>
            <a:pPr lvl="3"/>
            <a:r>
              <a:rPr lang="ko-KR" altLang="en-US" smtClean="0"/>
              <a:t>① 비트코인 클라이언트는 이전에 연결했던 </a:t>
            </a:r>
            <a:r>
              <a:rPr lang="en-US" altLang="ko-KR" smtClean="0"/>
              <a:t>Peer </a:t>
            </a:r>
            <a:r>
              <a:rPr lang="ko-KR" altLang="en-US" smtClean="0"/>
              <a:t>주소를 캐시에서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가져옴</a:t>
            </a:r>
            <a:endParaRPr lang="en-US" altLang="ko-KR" smtClean="0"/>
          </a:p>
          <a:p>
            <a:pPr lvl="4"/>
            <a:r>
              <a:rPr lang="en-US" altLang="ko-KR" smtClean="0"/>
              <a:t>Bitcoin </a:t>
            </a:r>
            <a:r>
              <a:rPr lang="en-US" altLang="ko-KR"/>
              <a:t>Core</a:t>
            </a:r>
            <a:r>
              <a:rPr lang="ko-KR" altLang="en-US" smtClean="0"/>
              <a:t>는 처음 </a:t>
            </a:r>
            <a:r>
              <a:rPr lang="en-US" altLang="ko-KR" smtClean="0"/>
              <a:t>11</a:t>
            </a:r>
            <a:r>
              <a:rPr lang="ko-KR" altLang="en-US" smtClean="0"/>
              <a:t>초 동안 캐시에 있는 </a:t>
            </a:r>
            <a:r>
              <a:rPr lang="en-US" altLang="ko-KR" smtClean="0"/>
              <a:t>Peer</a:t>
            </a:r>
            <a:r>
              <a:rPr lang="ko-KR" altLang="en-US" smtClean="0"/>
              <a:t>들과 연결 시도</a:t>
            </a:r>
            <a:endParaRPr lang="en-US" altLang="ko-KR" smtClean="0"/>
          </a:p>
          <a:p>
            <a:pPr lvl="4"/>
            <a:r>
              <a:rPr lang="en-US" altLang="ko-KR" smtClean="0"/>
              <a:t>BitcoinJ</a:t>
            </a:r>
            <a:r>
              <a:rPr lang="ko-KR" altLang="en-US" smtClean="0"/>
              <a:t>는 캐시를 사용않으며</a:t>
            </a:r>
            <a:r>
              <a:rPr lang="en-US" altLang="ko-KR"/>
              <a:t>, </a:t>
            </a:r>
            <a:r>
              <a:rPr lang="ko-KR" altLang="en-US" smtClean="0"/>
              <a:t>바로 </a:t>
            </a:r>
            <a:r>
              <a:rPr lang="en-US" altLang="ko-KR" smtClean="0"/>
              <a:t>DNS </a:t>
            </a:r>
            <a:r>
              <a:rPr lang="en-US" altLang="ko-KR"/>
              <a:t>Seed </a:t>
            </a:r>
            <a:r>
              <a:rPr lang="en-US" altLang="ko-KR" baseline="30000" smtClean="0">
                <a:solidFill>
                  <a:srgbClr val="C00000"/>
                </a:solidFill>
              </a:rPr>
              <a:t>(</a:t>
            </a:r>
            <a:r>
              <a:rPr lang="ko-KR" altLang="en-US" baseline="30000">
                <a:solidFill>
                  <a:srgbClr val="C00000"/>
                </a:solidFill>
              </a:rPr>
              <a:t>새로운 노드가 네트워크에 처음 연결할 때 다른 </a:t>
            </a:r>
            <a:r>
              <a:rPr lang="en-US" altLang="ko-KR" baseline="30000">
                <a:solidFill>
                  <a:srgbClr val="C00000"/>
                </a:solidFill>
              </a:rPr>
              <a:t>Peer </a:t>
            </a:r>
            <a:r>
              <a:rPr lang="ko-KR" altLang="en-US" baseline="30000">
                <a:solidFill>
                  <a:srgbClr val="C00000"/>
                </a:solidFill>
              </a:rPr>
              <a:t>노드의 주소를 찾을 수 있도록 도와주는 특별한 종류의 </a:t>
            </a:r>
            <a:r>
              <a:rPr lang="en-US" altLang="ko-KR" baseline="30000">
                <a:solidFill>
                  <a:srgbClr val="C00000"/>
                </a:solidFill>
              </a:rPr>
              <a:t>DNS </a:t>
            </a:r>
            <a:r>
              <a:rPr lang="ko-KR" altLang="en-US" baseline="30000" smtClean="0">
                <a:solidFill>
                  <a:srgbClr val="C00000"/>
                </a:solidFill>
              </a:rPr>
              <a:t>서버</a:t>
            </a:r>
            <a:r>
              <a:rPr lang="en-US" altLang="ko-KR" baseline="30000" smtClean="0">
                <a:solidFill>
                  <a:srgbClr val="C00000"/>
                </a:solidFill>
              </a:rPr>
              <a:t>) </a:t>
            </a:r>
            <a:r>
              <a:rPr lang="ko-KR" altLang="en-US" smtClean="0"/>
              <a:t>방법 </a:t>
            </a:r>
            <a:r>
              <a:rPr lang="ko-KR" altLang="en-US"/>
              <a:t>사용</a:t>
            </a:r>
            <a:endParaRPr lang="en-US" altLang="ko-KR" smtClean="0"/>
          </a:p>
          <a:p>
            <a:pPr lvl="3"/>
            <a:r>
              <a:rPr lang="ko-KR" altLang="en-US" smtClean="0"/>
              <a:t>② 캐시 방법이 실패하면</a:t>
            </a:r>
            <a:r>
              <a:rPr lang="en-US" altLang="ko-KR"/>
              <a:t>, 60</a:t>
            </a:r>
            <a:r>
              <a:rPr lang="ko-KR" altLang="en-US" smtClean="0"/>
              <a:t>초 동안 </a:t>
            </a:r>
            <a:r>
              <a:rPr lang="en-US" altLang="ko-KR" smtClean="0"/>
              <a:t>DNS </a:t>
            </a:r>
            <a:r>
              <a:rPr lang="en-US" altLang="ko-KR"/>
              <a:t>Seed </a:t>
            </a:r>
            <a:r>
              <a:rPr lang="ko-KR" altLang="en-US" smtClean="0"/>
              <a:t>방법 사용</a:t>
            </a:r>
            <a:endParaRPr lang="en-US" altLang="ko-KR" smtClean="0"/>
          </a:p>
          <a:p>
            <a:pPr lvl="4"/>
            <a:r>
              <a:rPr lang="ko-KR" altLang="en-US" smtClean="0"/>
              <a:t>비트코인 커뮤니티가 관리하는 </a:t>
            </a:r>
            <a:r>
              <a:rPr lang="en-US" altLang="ko-KR" smtClean="0"/>
              <a:t>DNS Seed </a:t>
            </a:r>
            <a:r>
              <a:rPr lang="ko-KR" altLang="en-US" smtClean="0"/>
              <a:t>노드에게 종자노드들의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IP</a:t>
            </a:r>
            <a:r>
              <a:rPr lang="ko-KR" altLang="en-US" smtClean="0"/>
              <a:t>주소 조회</a:t>
            </a:r>
            <a:endParaRPr lang="en-US" altLang="ko-KR" smtClean="0"/>
          </a:p>
          <a:p>
            <a:pPr lvl="4"/>
            <a:r>
              <a:rPr lang="en-US" altLang="ko-KR" smtClean="0"/>
              <a:t>DNS Seed </a:t>
            </a:r>
            <a:r>
              <a:rPr lang="ko-KR" altLang="en-US" smtClean="0"/>
              <a:t>노드</a:t>
            </a:r>
            <a:r>
              <a:rPr lang="en-US" altLang="ko-KR" smtClean="0"/>
              <a:t>(</a:t>
            </a:r>
            <a:r>
              <a:rPr lang="ko-KR" altLang="en-US"/>
              <a:t>서버의 도메인 이름 </a:t>
            </a:r>
            <a:r>
              <a:rPr lang="ko-KR" altLang="en-US" smtClean="0"/>
              <a:t>목록</a:t>
            </a:r>
            <a:r>
              <a:rPr lang="en-US" altLang="ko-KR" smtClean="0"/>
              <a:t>)</a:t>
            </a:r>
            <a:r>
              <a:rPr lang="ko-KR" altLang="en-US" smtClean="0"/>
              <a:t> </a:t>
            </a:r>
            <a:r>
              <a:rPr lang="en-US" altLang="ko-KR" smtClean="0"/>
              <a:t>- </a:t>
            </a:r>
            <a:r>
              <a:rPr lang="en-US" altLang="ko-KR"/>
              <a:t>Bitseed.xf2.org, Dnsseed.bluematt.me, </a:t>
            </a:r>
            <a:r>
              <a:rPr lang="en-US" altLang="ko-KR" smtClean="0"/>
              <a:t>seed.bitcoin.sipa.be</a:t>
            </a:r>
          </a:p>
          <a:p>
            <a:pPr lvl="3"/>
            <a:r>
              <a:rPr lang="ko-KR" altLang="en-US" smtClean="0"/>
              <a:t>③ 위의 방법들이 실패하면</a:t>
            </a:r>
            <a:r>
              <a:rPr lang="en-US" altLang="ko-KR"/>
              <a:t>, </a:t>
            </a:r>
            <a:r>
              <a:rPr lang="ko-KR" altLang="en-US" smtClean="0"/>
              <a:t>마지막으로 </a:t>
            </a:r>
            <a:r>
              <a:rPr lang="en-US" altLang="ko-KR" smtClean="0">
                <a:solidFill>
                  <a:srgbClr val="0000CC"/>
                </a:solidFill>
              </a:rPr>
              <a:t>chainparamsseeds.h </a:t>
            </a:r>
            <a:r>
              <a:rPr lang="ko-KR" altLang="en-US" smtClean="0">
                <a:solidFill>
                  <a:srgbClr val="0000CC"/>
                </a:solidFill>
              </a:rPr>
              <a:t>파일에</a:t>
            </a:r>
            <a:r>
              <a:rPr lang="en-US" altLang="ko-KR" smtClean="0">
                <a:solidFill>
                  <a:srgbClr val="0000CC"/>
                </a:solidFill>
              </a:rPr>
              <a:t/>
            </a:r>
            <a:br>
              <a:rPr lang="en-US" altLang="ko-KR" smtClean="0">
                <a:solidFill>
                  <a:srgbClr val="0000CC"/>
                </a:solidFill>
              </a:rPr>
            </a:br>
            <a:r>
              <a:rPr lang="en-US" altLang="ko-KR" smtClean="0">
                <a:solidFill>
                  <a:srgbClr val="0000CC"/>
                </a:solidFill>
              </a:rPr>
              <a:t>    </a:t>
            </a:r>
            <a:r>
              <a:rPr lang="ko-KR" altLang="en-US" smtClean="0">
                <a:solidFill>
                  <a:srgbClr val="0000CC"/>
                </a:solidFill>
              </a:rPr>
              <a:t>하드코드된 </a:t>
            </a:r>
            <a:r>
              <a:rPr lang="en-US" altLang="ko-KR" smtClean="0">
                <a:solidFill>
                  <a:srgbClr val="0000CC"/>
                </a:solidFill>
              </a:rPr>
              <a:t>IP </a:t>
            </a:r>
            <a:r>
              <a:rPr lang="ko-KR" altLang="en-US" smtClean="0">
                <a:solidFill>
                  <a:srgbClr val="0000CC"/>
                </a:solidFill>
              </a:rPr>
              <a:t>주소 사용</a:t>
            </a:r>
            <a:endParaRPr lang="ko-KR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76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r>
              <a:rPr lang="ko-KR" altLang="en-US" smtClean="0"/>
              <a:t>비트코인 주소 생성</a:t>
            </a:r>
            <a:endParaRPr lang="en-US" altLang="ko-KR" smtClean="0"/>
          </a:p>
          <a:p>
            <a:pPr lvl="1"/>
            <a:r>
              <a:rPr lang="ko-KR" altLang="en-US" smtClean="0"/>
              <a:t>비트코인 계좌를 만들면 자동 생성되는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개인키는 송금 시에 본인을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증명하는 전자서명</a:t>
            </a:r>
            <a:r>
              <a:rPr lang="ko-KR" altLang="en-US" smtClean="0"/>
              <a:t>에 사용되며</a:t>
            </a:r>
            <a:r>
              <a:rPr lang="en-US" altLang="ko-KR"/>
              <a:t>, </a:t>
            </a:r>
            <a:r>
              <a:rPr lang="ko-KR" altLang="en-US" smtClean="0">
                <a:solidFill>
                  <a:srgbClr val="006600"/>
                </a:solidFill>
              </a:rPr>
              <a:t>공개키는 전자서명의 검증에 사용</a:t>
            </a:r>
            <a:endParaRPr lang="ko-KR" altLang="en-US" b="0">
              <a:solidFill>
                <a:srgbClr val="006600"/>
              </a:solidFill>
            </a:endParaRPr>
          </a:p>
          <a:p>
            <a:pPr lvl="2"/>
            <a:r>
              <a:rPr lang="ko-KR" altLang="en-US" smtClean="0"/>
              <a:t>공개키에 해시연산과 베이스</a:t>
            </a:r>
            <a:r>
              <a:rPr lang="en-US" altLang="ko-KR"/>
              <a:t>58 </a:t>
            </a:r>
            <a:r>
              <a:rPr lang="ko-KR" altLang="en-US" smtClean="0"/>
              <a:t>인코딩하여 </a:t>
            </a:r>
            <a:r>
              <a:rPr lang="en-US" altLang="ko-KR" smtClean="0"/>
              <a:t>29~35</a:t>
            </a:r>
            <a:r>
              <a:rPr lang="ko-KR" altLang="en-US" smtClean="0"/>
              <a:t>바이트의 </a:t>
            </a:r>
            <a:r>
              <a:rPr lang="ko-KR" altLang="en-US" smtClean="0">
                <a:solidFill>
                  <a:srgbClr val="0000CC"/>
                </a:solidFill>
              </a:rPr>
              <a:t>비트코인</a:t>
            </a:r>
            <a:r>
              <a:rPr lang="en-US" altLang="ko-KR" smtClean="0">
                <a:solidFill>
                  <a:srgbClr val="0000CC"/>
                </a:solidFill>
              </a:rPr>
              <a:t/>
            </a:r>
            <a:br>
              <a:rPr lang="en-US" altLang="ko-KR" smtClean="0">
                <a:solidFill>
                  <a:srgbClr val="0000CC"/>
                </a:solidFill>
              </a:rPr>
            </a:br>
            <a:r>
              <a:rPr lang="ko-KR" altLang="en-US" smtClean="0">
                <a:solidFill>
                  <a:srgbClr val="0000CC"/>
                </a:solidFill>
              </a:rPr>
              <a:t>주소 생성</a:t>
            </a:r>
            <a:endParaRPr lang="en-US" altLang="ko-KR" smtClean="0">
              <a:solidFill>
                <a:srgbClr val="0000CC"/>
              </a:solidFill>
            </a:endParaRPr>
          </a:p>
          <a:p>
            <a:pPr lvl="2"/>
            <a:endParaRPr lang="en-US" altLang="ko-KR" b="0"/>
          </a:p>
          <a:p>
            <a:pPr lvl="2"/>
            <a:endParaRPr lang="en-US" altLang="ko-KR" b="0" smtClean="0"/>
          </a:p>
          <a:p>
            <a:pPr lvl="2"/>
            <a:endParaRPr lang="en-US" altLang="ko-KR" b="0"/>
          </a:p>
          <a:p>
            <a:pPr lvl="2"/>
            <a:endParaRPr lang="en-US" altLang="ko-KR" b="0" smtClean="0"/>
          </a:p>
          <a:p>
            <a:pPr lvl="2"/>
            <a:endParaRPr lang="ko-KR" altLang="en-US" b="0"/>
          </a:p>
          <a:p>
            <a:endParaRPr lang="ko-KR" altLang="en-US" b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934368"/>
            <a:ext cx="4500364" cy="95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861048"/>
            <a:ext cx="667702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623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r>
              <a:rPr lang="ko-KR" altLang="en-US" smtClean="0"/>
              <a:t>비트코인 주소 생성</a:t>
            </a:r>
            <a:endParaRPr lang="en-US" altLang="ko-KR" smtClean="0"/>
          </a:p>
          <a:p>
            <a:pPr lvl="1"/>
            <a:r>
              <a:rPr lang="ko-KR" altLang="en-US" smtClean="0"/>
              <a:t>블록체인 </a:t>
            </a:r>
            <a:r>
              <a:rPr lang="ko-KR" altLang="en-US"/>
              <a:t>익스플로러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Blockchair, Blockchain.com) </a:t>
            </a:r>
            <a:endParaRPr lang="en-US" altLang="ko-KR" smtClean="0"/>
          </a:p>
          <a:p>
            <a:pPr lvl="2"/>
            <a:r>
              <a:rPr lang="en-US" altLang="ko-KR">
                <a:hlinkClick r:id="rId2"/>
              </a:rPr>
              <a:t>https://blockchair.com/explorers?from=bitcoin.com</a:t>
            </a:r>
            <a:r>
              <a:rPr lang="en-US" altLang="ko-KR" smtClean="0"/>
              <a:t>)</a:t>
            </a:r>
          </a:p>
          <a:p>
            <a:pPr lvl="2"/>
            <a:endParaRPr lang="en-US" altLang="ko-KR"/>
          </a:p>
          <a:p>
            <a:pPr lvl="3"/>
            <a:r>
              <a:rPr lang="ko-KR" altLang="en-US" sz="1500"/>
              <a:t>다중 체인 블록 익스플로러</a:t>
            </a:r>
            <a:r>
              <a:rPr lang="en-US" altLang="ko-KR" sz="1500"/>
              <a:t>(Multi-chain Block Explorer)</a:t>
            </a:r>
            <a:r>
              <a:rPr lang="ko-KR" altLang="en-US" sz="1500"/>
              <a:t>이자 </a:t>
            </a:r>
            <a:r>
              <a:rPr lang="en-US" altLang="ko-KR" sz="1500" smtClean="0"/>
              <a:t/>
            </a:r>
            <a:br>
              <a:rPr lang="en-US" altLang="ko-KR" sz="1500" smtClean="0"/>
            </a:br>
            <a:r>
              <a:rPr lang="ko-KR" altLang="en-US" sz="1500" smtClean="0">
                <a:solidFill>
                  <a:srgbClr val="FF0000"/>
                </a:solidFill>
              </a:rPr>
              <a:t>블록체인 </a:t>
            </a:r>
            <a:r>
              <a:rPr lang="ko-KR" altLang="en-US" sz="1500">
                <a:solidFill>
                  <a:srgbClr val="FF0000"/>
                </a:solidFill>
              </a:rPr>
              <a:t>검색 및 </a:t>
            </a:r>
            <a:r>
              <a:rPr lang="ko-KR" altLang="en-US" sz="1500" smtClean="0">
                <a:solidFill>
                  <a:srgbClr val="FF0000"/>
                </a:solidFill>
              </a:rPr>
              <a:t>분석 </a:t>
            </a:r>
            <a:r>
              <a:rPr lang="ko-KR" altLang="en-US" sz="1500">
                <a:solidFill>
                  <a:srgbClr val="FF0000"/>
                </a:solidFill>
              </a:rPr>
              <a:t>엔진</a:t>
            </a:r>
            <a:endParaRPr lang="en-US" altLang="ko-KR" sz="1500">
              <a:solidFill>
                <a:srgbClr val="FF0000"/>
              </a:solidFill>
            </a:endParaRPr>
          </a:p>
          <a:p>
            <a:pPr lvl="4"/>
            <a:r>
              <a:rPr lang="ko-KR" altLang="en-US" sz="1500"/>
              <a:t>쉽게 말해</a:t>
            </a:r>
            <a:r>
              <a:rPr lang="en-US" altLang="ko-KR" sz="1500"/>
              <a:t>, </a:t>
            </a:r>
            <a:r>
              <a:rPr lang="ko-KR" altLang="en-US" sz="1500"/>
              <a:t>구글이 웹 페이지를 검색하는 것처럼</a:t>
            </a:r>
            <a:r>
              <a:rPr lang="en-US" altLang="ko-KR" sz="1500"/>
              <a:t>, </a:t>
            </a:r>
            <a:r>
              <a:rPr lang="en-US" altLang="ko-KR" sz="1500" smtClean="0"/>
              <a:t/>
            </a:r>
            <a:br>
              <a:rPr lang="en-US" altLang="ko-KR" sz="1500" smtClean="0"/>
            </a:br>
            <a:r>
              <a:rPr lang="en-US" altLang="ko-KR" sz="1500" smtClean="0">
                <a:solidFill>
                  <a:srgbClr val="006600"/>
                </a:solidFill>
              </a:rPr>
              <a:t>Blockchair</a:t>
            </a:r>
            <a:r>
              <a:rPr lang="ko-KR" altLang="en-US" sz="1500">
                <a:solidFill>
                  <a:srgbClr val="006600"/>
                </a:solidFill>
              </a:rPr>
              <a:t>는 다양한 </a:t>
            </a:r>
            <a:r>
              <a:rPr lang="ko-KR" altLang="en-US" sz="1500" smtClean="0">
                <a:solidFill>
                  <a:srgbClr val="006600"/>
                </a:solidFill>
              </a:rPr>
              <a:t>블록체인 네트워크의 </a:t>
            </a:r>
            <a:r>
              <a:rPr lang="ko-KR" altLang="en-US" sz="1500">
                <a:solidFill>
                  <a:srgbClr val="006600"/>
                </a:solidFill>
              </a:rPr>
              <a:t>데이터를 검색하고 </a:t>
            </a:r>
            <a:r>
              <a:rPr lang="en-US" altLang="ko-KR" sz="1500" smtClean="0">
                <a:solidFill>
                  <a:srgbClr val="006600"/>
                </a:solidFill>
              </a:rPr>
              <a:t/>
            </a:r>
            <a:br>
              <a:rPr lang="en-US" altLang="ko-KR" sz="1500" smtClean="0">
                <a:solidFill>
                  <a:srgbClr val="006600"/>
                </a:solidFill>
              </a:rPr>
            </a:br>
            <a:r>
              <a:rPr lang="ko-KR" altLang="en-US" sz="1500" smtClean="0">
                <a:solidFill>
                  <a:srgbClr val="006600"/>
                </a:solidFill>
              </a:rPr>
              <a:t>분석할 </a:t>
            </a:r>
            <a:r>
              <a:rPr lang="ko-KR" altLang="en-US" sz="1500">
                <a:solidFill>
                  <a:srgbClr val="006600"/>
                </a:solidFill>
              </a:rPr>
              <a:t>수 있도록 도와주는 </a:t>
            </a:r>
            <a:r>
              <a:rPr lang="ko-KR" altLang="en-US" sz="1500" smtClean="0">
                <a:solidFill>
                  <a:srgbClr val="006600"/>
                </a:solidFill>
              </a:rPr>
              <a:t>웹사이트</a:t>
            </a:r>
            <a:endParaRPr lang="en-US" altLang="ko-KR" sz="1500" smtClean="0">
              <a:solidFill>
                <a:srgbClr val="006600"/>
              </a:solidFill>
            </a:endParaRPr>
          </a:p>
          <a:p>
            <a:pPr lvl="4"/>
            <a:endParaRPr lang="en-US" altLang="ko-KR" sz="1500">
              <a:solidFill>
                <a:srgbClr val="006600"/>
              </a:solidFill>
            </a:endParaRPr>
          </a:p>
          <a:p>
            <a:pPr lvl="2"/>
            <a:r>
              <a:rPr lang="ko-KR" altLang="en-US" smtClean="0"/>
              <a:t>사토시의 비트코인 지갑주소</a:t>
            </a:r>
            <a:endParaRPr lang="en-US" altLang="ko-KR" smtClean="0"/>
          </a:p>
          <a:p>
            <a:pPr lvl="3"/>
            <a:r>
              <a:rPr lang="en-US" altLang="ko-KR" smtClean="0"/>
              <a:t>1A1zP1eP5QGefi2DMPTfTL5SLmv7DivfNa</a:t>
            </a:r>
            <a:endParaRPr lang="en-US" altLang="ko-KR"/>
          </a:p>
          <a:p>
            <a:pPr lvl="2"/>
            <a:endParaRPr lang="ko-KR" altLang="en-US" b="0"/>
          </a:p>
          <a:p>
            <a:endParaRPr lang="ko-KR" altLang="en-US" b="0"/>
          </a:p>
        </p:txBody>
      </p:sp>
    </p:spTree>
    <p:extLst>
      <p:ext uri="{BB962C8B-B14F-4D97-AF65-F5344CB8AC3E}">
        <p14:creationId xmlns:p14="http://schemas.microsoft.com/office/powerpoint/2010/main" val="245559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5122912" cy="4525963"/>
          </a:xfrm>
        </p:spPr>
        <p:txBody>
          <a:bodyPr>
            <a:normAutofit/>
          </a:bodyPr>
          <a:lstStyle/>
          <a:p>
            <a:r>
              <a:rPr lang="ko-KR" altLang="en-US" smtClean="0"/>
              <a:t>비트코인 주소 생성</a:t>
            </a:r>
            <a:endParaRPr lang="en-US" altLang="ko-KR" smtClean="0"/>
          </a:p>
          <a:p>
            <a:pPr lvl="1"/>
            <a:r>
              <a:rPr lang="ko-KR" altLang="en-US" smtClean="0"/>
              <a:t>공개키</a:t>
            </a:r>
            <a:r>
              <a:rPr lang="ko-KR" altLang="en-US"/>
              <a:t>→ </a:t>
            </a:r>
            <a:r>
              <a:rPr lang="en-US" altLang="ko-KR"/>
              <a:t>SHA256 </a:t>
            </a:r>
            <a:r>
              <a:rPr lang="ko-KR" altLang="en-US"/>
              <a:t>연산→ </a:t>
            </a:r>
            <a:r>
              <a:rPr lang="en-US" altLang="ko-KR"/>
              <a:t>RIPEMD160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연산</a:t>
            </a:r>
            <a:r>
              <a:rPr lang="ko-KR" altLang="en-US"/>
              <a:t>→ </a:t>
            </a:r>
            <a:r>
              <a:rPr lang="en-US" altLang="ko-KR"/>
              <a:t>160</a:t>
            </a:r>
            <a:r>
              <a:rPr lang="ko-KR" altLang="en-US" smtClean="0"/>
              <a:t>비트 페이로드 생성</a:t>
            </a:r>
            <a:endParaRPr lang="ko-KR" altLang="en-US" b="0"/>
          </a:p>
          <a:p>
            <a:pPr lvl="2"/>
            <a:r>
              <a:rPr lang="ko-KR" altLang="en-US" sz="1400" smtClean="0"/>
              <a:t>① 페이로드에 </a:t>
            </a:r>
            <a:r>
              <a:rPr lang="en-US" altLang="ko-KR" sz="1400" smtClean="0"/>
              <a:t>1</a:t>
            </a:r>
            <a:r>
              <a:rPr lang="ko-KR" altLang="en-US" sz="1400" smtClean="0"/>
              <a:t>바이트 크기의 버전</a:t>
            </a:r>
            <a:r>
              <a:rPr lang="en-US" altLang="ko-KR" sz="1400"/>
              <a:t>(0x00) </a:t>
            </a:r>
            <a:r>
              <a:rPr lang="ko-KR" altLang="en-US" sz="1400"/>
              <a:t>붙임</a:t>
            </a:r>
            <a:endParaRPr lang="ko-KR" altLang="en-US" sz="1400" b="0"/>
          </a:p>
          <a:p>
            <a:pPr lvl="2"/>
            <a:r>
              <a:rPr lang="ko-KR" altLang="en-US" sz="1400" smtClean="0"/>
              <a:t>② </a:t>
            </a:r>
            <a:r>
              <a:rPr lang="en-US" altLang="ko-KR" sz="1400" smtClean="0"/>
              <a:t>SHA 256 </a:t>
            </a:r>
            <a:r>
              <a:rPr lang="ko-KR" altLang="en-US" sz="1400" smtClean="0"/>
              <a:t>해시 두번 수행 </a:t>
            </a:r>
            <a:r>
              <a:rPr lang="en-US" altLang="ko-KR" sz="1400" smtClean="0"/>
              <a:t>-   </a:t>
            </a:r>
            <a:br>
              <a:rPr lang="en-US" altLang="ko-KR" sz="1400" smtClean="0"/>
            </a:br>
            <a:r>
              <a:rPr lang="en-US" altLang="ko-KR" sz="1400" smtClean="0"/>
              <a:t>    SHA 256(SHA 256</a:t>
            </a:r>
            <a:r>
              <a:rPr lang="en-US" altLang="ko-KR" sz="1400"/>
              <a:t>(</a:t>
            </a:r>
            <a:r>
              <a:rPr lang="ko-KR" altLang="en-US" sz="1400"/>
              <a:t>버전</a:t>
            </a:r>
            <a:r>
              <a:rPr lang="en-US" altLang="ko-KR" sz="1400"/>
              <a:t>+ </a:t>
            </a:r>
            <a:r>
              <a:rPr lang="ko-KR" altLang="en-US" sz="1400"/>
              <a:t>페이로드</a:t>
            </a:r>
            <a:r>
              <a:rPr lang="en-US" altLang="ko-KR" sz="1400"/>
              <a:t>))</a:t>
            </a:r>
            <a:endParaRPr lang="ko-KR" altLang="en-US" sz="1400" b="0"/>
          </a:p>
          <a:p>
            <a:pPr lvl="2"/>
            <a:r>
              <a:rPr lang="ko-KR" altLang="en-US" sz="1400" smtClean="0"/>
              <a:t>③ </a:t>
            </a:r>
            <a:r>
              <a:rPr lang="en-US" altLang="ko-KR" sz="1400" smtClean="0"/>
              <a:t>2</a:t>
            </a:r>
            <a:r>
              <a:rPr lang="ko-KR" altLang="en-US" sz="1400" smtClean="0"/>
              <a:t>번 결과로 생성된 </a:t>
            </a:r>
            <a:r>
              <a:rPr lang="en-US" altLang="ko-KR" sz="1400" smtClean="0"/>
              <a:t>256</a:t>
            </a:r>
            <a:r>
              <a:rPr lang="ko-KR" altLang="en-US" sz="1400" smtClean="0"/>
              <a:t>비트 중에 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    </a:t>
            </a:r>
            <a:r>
              <a:rPr lang="ko-KR" altLang="en-US" sz="1400" smtClean="0"/>
              <a:t>첫 </a:t>
            </a:r>
            <a:r>
              <a:rPr lang="en-US" altLang="ko-KR" sz="1400" smtClean="0"/>
              <a:t>32</a:t>
            </a:r>
            <a:r>
              <a:rPr lang="ko-KR" altLang="en-US" sz="1400" smtClean="0"/>
              <a:t>비트를 오류 체크용의 체크섬으로 사용</a:t>
            </a:r>
            <a:endParaRPr lang="ko-KR" altLang="en-US" sz="1400" b="0"/>
          </a:p>
          <a:p>
            <a:pPr lvl="2"/>
            <a:r>
              <a:rPr lang="ko-KR" altLang="en-US" sz="1400" smtClean="0"/>
              <a:t>④ 베이스</a:t>
            </a:r>
            <a:r>
              <a:rPr lang="en-US" altLang="ko-KR" sz="1400" smtClean="0"/>
              <a:t>58 </a:t>
            </a:r>
            <a:r>
              <a:rPr lang="ko-KR" altLang="en-US" sz="1400" smtClean="0"/>
              <a:t>인코딩하여 주소생성</a:t>
            </a:r>
            <a:r>
              <a:rPr lang="en-US" altLang="ko-KR" sz="1400"/>
              <a:t>(</a:t>
            </a:r>
            <a:r>
              <a:rPr lang="ko-KR" altLang="en-US" sz="1400" smtClean="0"/>
              <a:t>앞에 있는 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    0x00 </a:t>
            </a:r>
            <a:r>
              <a:rPr lang="ko-KR" altLang="en-US" sz="1400" smtClean="0"/>
              <a:t>바이트 수 만큼 </a:t>
            </a:r>
            <a:r>
              <a:rPr lang="en-US" altLang="ko-KR" sz="1400" smtClean="0"/>
              <a:t>1</a:t>
            </a:r>
            <a:r>
              <a:rPr lang="ko-KR" altLang="en-US" sz="1400" smtClean="0"/>
              <a:t>을 생성하고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    </a:t>
            </a:r>
            <a:r>
              <a:rPr lang="ko-KR" altLang="en-US" sz="1400" smtClean="0"/>
              <a:t>나머지 바이트들에 대하여 인코딩</a:t>
            </a:r>
            <a:r>
              <a:rPr lang="en-US" altLang="ko-KR" sz="1400"/>
              <a:t>) </a:t>
            </a:r>
            <a:endParaRPr lang="ko-KR" altLang="en-US" sz="1400" b="0"/>
          </a:p>
          <a:p>
            <a:pPr lvl="2"/>
            <a:endParaRPr lang="ko-KR" altLang="en-US" b="0"/>
          </a:p>
          <a:p>
            <a:endParaRPr lang="ko-KR" altLang="en-US" b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844824"/>
            <a:ext cx="3312368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4509120"/>
            <a:ext cx="5256584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17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5122912" cy="4525963"/>
          </a:xfrm>
        </p:spPr>
        <p:txBody>
          <a:bodyPr>
            <a:normAutofit/>
          </a:bodyPr>
          <a:lstStyle/>
          <a:p>
            <a:r>
              <a:rPr lang="ko-KR" altLang="en-US" smtClean="0"/>
              <a:t>비트코인 주소 생성</a:t>
            </a:r>
            <a:endParaRPr lang="en-US" altLang="ko-KR" smtClean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443971"/>
              </p:ext>
            </p:extLst>
          </p:nvPr>
        </p:nvGraphicFramePr>
        <p:xfrm>
          <a:off x="2627784" y="2924944"/>
          <a:ext cx="3498071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포장기 셸 개체" showAsIcon="1" r:id="rId3" imgW="1915560" imgH="513360" progId="Package">
                  <p:embed/>
                </p:oleObj>
              </mc:Choice>
              <mc:Fallback>
                <p:oleObj name="포장기 셸 개체" showAsIcon="1" r:id="rId3" imgW="191556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2924944"/>
                        <a:ext cx="3498071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747166"/>
              </p:ext>
            </p:extLst>
          </p:nvPr>
        </p:nvGraphicFramePr>
        <p:xfrm>
          <a:off x="2339752" y="4149080"/>
          <a:ext cx="4391706" cy="905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포장기 셸 개체" showAsIcon="1" r:id="rId5" imgW="2487240" imgH="513360" progId="Package">
                  <p:embed/>
                </p:oleObj>
              </mc:Choice>
              <mc:Fallback>
                <p:oleObj name="포장기 셸 개체" showAsIcon="1" r:id="rId5" imgW="248724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9752" y="4149080"/>
                        <a:ext cx="4391706" cy="905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05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비트코인 네트워크 노드와 비트코인 주소 생성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r>
              <a:rPr lang="en-US" altLang="ko-KR"/>
              <a:t>Base58 </a:t>
            </a:r>
            <a:r>
              <a:rPr lang="ko-KR" altLang="en-US" smtClean="0"/>
              <a:t>인코딩</a:t>
            </a:r>
            <a:endParaRPr lang="en-US" altLang="ko-KR" smtClean="0"/>
          </a:p>
          <a:p>
            <a:pPr lvl="1"/>
            <a:r>
              <a:rPr lang="en-US" altLang="ko-KR" smtClean="0"/>
              <a:t>Base64 </a:t>
            </a:r>
            <a:r>
              <a:rPr lang="ko-KR" altLang="en-US" smtClean="0"/>
              <a:t>인코딩은 사람에게 혼동되는 유사한 문자들이 존재</a:t>
            </a:r>
            <a:endParaRPr lang="en-US" altLang="ko-KR" smtClean="0"/>
          </a:p>
          <a:p>
            <a:pPr lvl="2"/>
            <a:r>
              <a:rPr lang="ko-KR" altLang="en-US" smtClean="0"/>
              <a:t>숫자</a:t>
            </a:r>
            <a:r>
              <a:rPr lang="en-US" altLang="ko-KR"/>
              <a:t>0, </a:t>
            </a:r>
            <a:r>
              <a:rPr lang="ko-KR" altLang="en-US"/>
              <a:t>영문대문자</a:t>
            </a:r>
            <a:r>
              <a:rPr lang="en-US" altLang="ko-KR"/>
              <a:t>O, </a:t>
            </a:r>
            <a:r>
              <a:rPr lang="ko-KR" altLang="en-US"/>
              <a:t>영문대문자</a:t>
            </a:r>
            <a:r>
              <a:rPr lang="en-US" altLang="ko-KR"/>
              <a:t>I, </a:t>
            </a:r>
            <a:r>
              <a:rPr lang="ko-KR" altLang="en-US"/>
              <a:t>영문소문자</a:t>
            </a:r>
            <a:r>
              <a:rPr lang="en-US" altLang="ko-KR" smtClean="0"/>
              <a:t>l</a:t>
            </a:r>
          </a:p>
          <a:p>
            <a:pPr lvl="2"/>
            <a:endParaRPr lang="ko-KR" altLang="en-US" b="0"/>
          </a:p>
          <a:p>
            <a:pPr lvl="1"/>
            <a:r>
              <a:rPr lang="en-US" altLang="ko-KR" smtClean="0"/>
              <a:t>Base58</a:t>
            </a:r>
            <a:r>
              <a:rPr lang="ko-KR" altLang="en-US" smtClean="0"/>
              <a:t>은 </a:t>
            </a:r>
            <a:r>
              <a:rPr lang="en-US" altLang="ko-KR" smtClean="0"/>
              <a:t>Base64</a:t>
            </a:r>
            <a:r>
              <a:rPr lang="ko-KR" altLang="en-US" smtClean="0"/>
              <a:t>에서 </a:t>
            </a:r>
            <a:r>
              <a:rPr lang="ko-KR" altLang="en-US" smtClean="0">
                <a:solidFill>
                  <a:srgbClr val="006600"/>
                </a:solidFill>
              </a:rPr>
              <a:t>혼동되는 숫자와 문자를 제거하고 인코딩</a:t>
            </a:r>
            <a:endParaRPr lang="ko-KR" altLang="en-US" b="0">
              <a:solidFill>
                <a:srgbClr val="006600"/>
              </a:solidFill>
            </a:endParaRPr>
          </a:p>
          <a:p>
            <a:endParaRPr lang="ko-KR" altLang="en-US" b="0"/>
          </a:p>
          <a:p>
            <a:endParaRPr lang="ko-KR" altLang="en-US" b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501008"/>
            <a:ext cx="3503290" cy="315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249396"/>
            <a:ext cx="4192315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419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0">
                <a:latin typeface="+mn-ea"/>
                <a:ea typeface="+mn-ea"/>
              </a:rPr>
              <a:t/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b="0">
                <a:latin typeface="+mn-ea"/>
                <a:ea typeface="+mn-ea"/>
              </a:rPr>
              <a:t> </a:t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b="0">
                <a:latin typeface="+mn-ea"/>
                <a:ea typeface="+mn-ea"/>
              </a:rPr>
              <a:t> </a:t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smtClean="0">
                <a:latin typeface="+mn-ea"/>
                <a:ea typeface="+mn-ea"/>
              </a:rPr>
              <a:t>비트코인 블록체인의 구조와 동작원리</a:t>
            </a:r>
            <a:r>
              <a:rPr lang="ko-KR" altLang="en-US" b="0">
                <a:latin typeface="+mn-ea"/>
                <a:ea typeface="+mn-ea"/>
              </a:rPr>
              <a:t/>
            </a:r>
            <a:br>
              <a:rPr lang="ko-KR" altLang="en-US" b="0">
                <a:latin typeface="+mn-ea"/>
                <a:ea typeface="+mn-ea"/>
              </a:rPr>
            </a:br>
            <a:endParaRPr lang="ko-KR" altLang="en-US" b="0">
              <a:latin typeface="+mn-ea"/>
              <a:ea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>
                <a:solidFill>
                  <a:srgbClr val="C00000"/>
                </a:solidFill>
                <a:latin typeface="+mn-ea"/>
                <a:ea typeface="+mn-ea"/>
              </a:rPr>
              <a:t>블록의 구조 및 헤더</a:t>
            </a:r>
            <a:r>
              <a:rPr lang="ko-KR" altLang="en-US" b="0">
                <a:latin typeface="+mn-ea"/>
                <a:ea typeface="+mn-ea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33089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학습목표</a:t>
            </a:r>
            <a:r>
              <a:rPr lang="en-US" altLang="ko-KR" smtClean="0"/>
              <a:t>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비트코인 블록체인의 블록구조</a:t>
            </a:r>
            <a:r>
              <a:rPr lang="en-US" altLang="ko-KR"/>
              <a:t>(</a:t>
            </a:r>
            <a:r>
              <a:rPr lang="ko-KR" altLang="en-US" smtClean="0"/>
              <a:t>헤더와 바디</a:t>
            </a:r>
            <a:r>
              <a:rPr lang="en-US" altLang="ko-KR"/>
              <a:t>)</a:t>
            </a:r>
            <a:r>
              <a:rPr lang="ko-KR" altLang="en-US" smtClean="0"/>
              <a:t>에 대하여 설명할 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있다</a:t>
            </a:r>
            <a:r>
              <a:rPr lang="en-US" altLang="ko-KR" smtClean="0"/>
              <a:t>.</a:t>
            </a:r>
          </a:p>
          <a:p>
            <a:endParaRPr lang="ko-KR" altLang="en-US" b="0"/>
          </a:p>
          <a:p>
            <a:r>
              <a:rPr lang="ko-KR" altLang="en-US" smtClean="0"/>
              <a:t>비트코인 블록의 트랜잭션과 채굴 난이도에 대하여 설명할 수 있다</a:t>
            </a:r>
            <a:r>
              <a:rPr lang="en-US" altLang="ko-KR"/>
              <a:t>.</a:t>
            </a:r>
            <a:endParaRPr lang="ko-KR" altLang="en-US" b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661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4690864" cy="4525963"/>
          </a:xfrm>
        </p:spPr>
        <p:txBody>
          <a:bodyPr>
            <a:normAutofit/>
          </a:bodyPr>
          <a:lstStyle/>
          <a:p>
            <a:r>
              <a:rPr lang="ko-KR" altLang="en-US" smtClean="0"/>
              <a:t>블록구조</a:t>
            </a:r>
            <a:endParaRPr lang="en-US" altLang="ko-KR" smtClean="0"/>
          </a:p>
          <a:p>
            <a:pPr lvl="1"/>
            <a:r>
              <a:rPr lang="ko-KR" altLang="en-US" smtClean="0"/>
              <a:t>블록해시</a:t>
            </a:r>
            <a:r>
              <a:rPr lang="en-US" altLang="ko-KR"/>
              <a:t>(Hash of Block)</a:t>
            </a:r>
            <a:endParaRPr lang="en-US" altLang="ko-KR" b="0"/>
          </a:p>
          <a:p>
            <a:pPr lvl="2"/>
            <a:r>
              <a:rPr lang="ko-KR" altLang="en-US" smtClean="0"/>
              <a:t>블록헤더의 구성요소를 모두 더한 후</a:t>
            </a:r>
            <a:r>
              <a:rPr lang="en-US" altLang="ko-KR"/>
              <a:t>, SHA-256 </a:t>
            </a:r>
            <a:r>
              <a:rPr lang="ko-KR" altLang="en-US" smtClean="0"/>
              <a:t>함수를 두 번 적용</a:t>
            </a:r>
            <a:endParaRPr lang="en-US" altLang="ko-KR" smtClean="0"/>
          </a:p>
          <a:p>
            <a:pPr lvl="1"/>
            <a:r>
              <a:rPr lang="ko-KR" altLang="en-US" smtClean="0"/>
              <a:t>블록헤더</a:t>
            </a:r>
            <a:r>
              <a:rPr lang="en-US" altLang="ko-KR"/>
              <a:t>(Header</a:t>
            </a:r>
            <a:r>
              <a:rPr lang="en-US" altLang="ko-KR" smtClean="0"/>
              <a:t>) : </a:t>
            </a:r>
            <a:r>
              <a:rPr lang="en-US" altLang="ko-KR">
                <a:solidFill>
                  <a:schemeClr val="tx1"/>
                </a:solidFill>
              </a:rPr>
              <a:t>80</a:t>
            </a:r>
            <a:r>
              <a:rPr lang="ko-KR" altLang="en-US">
                <a:solidFill>
                  <a:schemeClr val="tx1"/>
                </a:solidFill>
              </a:rPr>
              <a:t>바이트</a:t>
            </a:r>
            <a:endParaRPr lang="ko-KR" altLang="en-US" b="0">
              <a:solidFill>
                <a:schemeClr val="tx1"/>
              </a:solidFill>
            </a:endParaRPr>
          </a:p>
          <a:p>
            <a:pPr lvl="1"/>
            <a:r>
              <a:rPr lang="ko-KR" altLang="en-US" smtClean="0"/>
              <a:t>거래 카운트</a:t>
            </a:r>
            <a:r>
              <a:rPr lang="en-US" altLang="ko-KR"/>
              <a:t>(Transaction count</a:t>
            </a:r>
            <a:r>
              <a:rPr lang="en-US" altLang="ko-KR" smtClean="0"/>
              <a:t>) : </a:t>
            </a:r>
            <a:r>
              <a:rPr lang="ko-KR" altLang="en-US" smtClean="0">
                <a:solidFill>
                  <a:schemeClr val="tx1"/>
                </a:solidFill>
              </a:rPr>
              <a:t>블록 해시계산에 사용되지 않음</a:t>
            </a:r>
            <a:endParaRPr lang="ko-KR" altLang="en-US" b="0">
              <a:solidFill>
                <a:schemeClr val="tx1"/>
              </a:solidFill>
            </a:endParaRPr>
          </a:p>
          <a:p>
            <a:pPr lvl="1"/>
            <a:r>
              <a:rPr lang="ko-KR" altLang="en-US" smtClean="0"/>
              <a:t>바디</a:t>
            </a:r>
            <a:r>
              <a:rPr lang="en-US" altLang="ko-KR"/>
              <a:t>(Body</a:t>
            </a:r>
            <a:r>
              <a:rPr lang="en-US" altLang="ko-KR" smtClean="0"/>
              <a:t>) : </a:t>
            </a:r>
            <a:r>
              <a:rPr lang="ko-KR" altLang="en-US"/>
              <a:t>트랜잭션</a:t>
            </a:r>
            <a:r>
              <a:rPr lang="en-US" altLang="ko-KR"/>
              <a:t>(</a:t>
            </a:r>
            <a:r>
              <a:rPr lang="ko-KR" altLang="en-US"/>
              <a:t>거래내역</a:t>
            </a:r>
            <a:r>
              <a:rPr lang="en-US" altLang="ko-KR" smtClean="0"/>
              <a:t>)</a:t>
            </a:r>
          </a:p>
          <a:p>
            <a:pPr lvl="2"/>
            <a:r>
              <a:rPr lang="ko-KR" altLang="en-US" smtClean="0"/>
              <a:t>평균</a:t>
            </a:r>
            <a:r>
              <a:rPr lang="en-US" altLang="ko-KR"/>
              <a:t>1,858</a:t>
            </a:r>
            <a:r>
              <a:rPr lang="ko-KR" altLang="en-US" smtClean="0"/>
              <a:t>개의 거래정보가 포함되며</a:t>
            </a:r>
            <a:r>
              <a:rPr lang="en-US" altLang="ko-KR"/>
              <a:t>, </a:t>
            </a:r>
            <a:r>
              <a:rPr lang="ko-KR" altLang="en-US"/>
              <a:t>평균</a:t>
            </a:r>
            <a:r>
              <a:rPr lang="en-US" altLang="ko-KR"/>
              <a:t>1.297Mbyte </a:t>
            </a:r>
            <a:r>
              <a:rPr lang="ko-KR" altLang="en-US"/>
              <a:t>크기</a:t>
            </a:r>
            <a:r>
              <a:rPr lang="en-US" altLang="ko-KR"/>
              <a:t>(2021.6.30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기준</a:t>
            </a:r>
            <a:r>
              <a:rPr lang="en-US" altLang="ko-KR"/>
              <a:t>)</a:t>
            </a:r>
            <a:endParaRPr lang="ko-KR" altLang="en-US" b="0"/>
          </a:p>
          <a:p>
            <a:endParaRPr lang="ko-KR" altLang="en-US" b="0"/>
          </a:p>
          <a:p>
            <a:endParaRPr lang="ko-KR" altLang="en-US" b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132856"/>
            <a:ext cx="3460254" cy="3288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929188"/>
            <a:ext cx="2322190" cy="177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929188"/>
            <a:ext cx="2425452" cy="176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141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블록헤더</a:t>
            </a:r>
          </a:p>
          <a:p>
            <a:pPr lvl="1"/>
            <a:r>
              <a:rPr lang="ko-KR" altLang="en-US" smtClean="0"/>
              <a:t>버전</a:t>
            </a:r>
            <a:r>
              <a:rPr lang="en-US" altLang="ko-KR"/>
              <a:t>(Version)</a:t>
            </a:r>
          </a:p>
          <a:p>
            <a:pPr lvl="1"/>
            <a:r>
              <a:rPr lang="ko-KR" altLang="en-US" smtClean="0"/>
              <a:t>이전 블록해시</a:t>
            </a:r>
            <a:r>
              <a:rPr lang="en-US" altLang="ko-KR"/>
              <a:t>(Previousblock hash)</a:t>
            </a:r>
          </a:p>
          <a:p>
            <a:pPr lvl="1"/>
            <a:r>
              <a:rPr lang="ko-KR" altLang="en-US" smtClean="0"/>
              <a:t>머클 루트</a:t>
            </a:r>
            <a:r>
              <a:rPr lang="en-US" altLang="ko-KR"/>
              <a:t>(Merklehash root)</a:t>
            </a:r>
          </a:p>
          <a:p>
            <a:pPr lvl="1"/>
            <a:r>
              <a:rPr lang="ko-KR" altLang="en-US" smtClean="0"/>
              <a:t>시간</a:t>
            </a:r>
            <a:r>
              <a:rPr lang="en-US" altLang="ko-KR"/>
              <a:t>(Timestamp</a:t>
            </a:r>
            <a:r>
              <a:rPr lang="en-US" altLang="ko-KR" smtClean="0"/>
              <a:t>) : </a:t>
            </a:r>
            <a:r>
              <a:rPr lang="ko-KR" altLang="en-US" smtClean="0">
                <a:solidFill>
                  <a:schemeClr val="tx1"/>
                </a:solidFill>
              </a:rPr>
              <a:t>블록 생성 시간으로 </a:t>
            </a:r>
            <a:r>
              <a:rPr lang="en-US" altLang="ko-KR" smtClean="0">
                <a:solidFill>
                  <a:schemeClr val="tx1"/>
                </a:solidFill>
              </a:rPr>
              <a:t>1970</a:t>
            </a:r>
            <a:r>
              <a:rPr lang="ko-KR" altLang="en-US" smtClean="0">
                <a:solidFill>
                  <a:schemeClr val="tx1"/>
                </a:solidFill>
              </a:rPr>
              <a:t>년 </a:t>
            </a:r>
            <a:r>
              <a:rPr lang="en-US" altLang="ko-KR" smtClean="0">
                <a:solidFill>
                  <a:schemeClr val="tx1"/>
                </a:solidFill>
              </a:rPr>
              <a:t>1</a:t>
            </a:r>
            <a:r>
              <a:rPr lang="ko-KR" altLang="en-US" smtClean="0">
                <a:solidFill>
                  <a:schemeClr val="tx1"/>
                </a:solidFill>
              </a:rPr>
              <a:t>월 </a:t>
            </a:r>
            <a:r>
              <a:rPr lang="en-US" altLang="ko-KR" smtClean="0">
                <a:solidFill>
                  <a:schemeClr val="tx1"/>
                </a:solidFill>
              </a:rPr>
              <a:t>1</a:t>
            </a:r>
            <a:r>
              <a:rPr lang="ko-KR" altLang="en-US" smtClean="0">
                <a:solidFill>
                  <a:schemeClr val="tx1"/>
                </a:solidFill>
              </a:rPr>
              <a:t>일 이후의 </a:t>
            </a:r>
            <a:r>
              <a:rPr lang="en-US" altLang="ko-KR" smtClean="0">
                <a:solidFill>
                  <a:schemeClr val="tx1"/>
                </a:solidFill>
              </a:rPr>
              <a:t/>
            </a:r>
            <a:br>
              <a:rPr lang="en-US" altLang="ko-KR" smtClean="0">
                <a:solidFill>
                  <a:schemeClr val="tx1"/>
                </a:solidFill>
              </a:rPr>
            </a:br>
            <a:r>
              <a:rPr lang="ko-KR" altLang="en-US" smtClean="0"/>
              <a:t>초 단위시간</a:t>
            </a:r>
            <a:endParaRPr lang="ko-KR" altLang="en-US"/>
          </a:p>
          <a:p>
            <a:pPr lvl="1"/>
            <a:r>
              <a:rPr lang="ko-KR" altLang="en-US" smtClean="0"/>
              <a:t>난이도 목표</a:t>
            </a:r>
            <a:r>
              <a:rPr lang="en-US" altLang="ko-KR"/>
              <a:t>(Bits</a:t>
            </a:r>
            <a:r>
              <a:rPr lang="en-US" altLang="ko-KR" smtClean="0"/>
              <a:t>) : </a:t>
            </a:r>
            <a:r>
              <a:rPr lang="ko-KR" altLang="en-US" smtClean="0">
                <a:solidFill>
                  <a:schemeClr val="tx1"/>
                </a:solidFill>
              </a:rPr>
              <a:t>작업증명의 해시 난이도 목표값</a:t>
            </a:r>
            <a:endParaRPr lang="ko-KR" altLang="en-US">
              <a:solidFill>
                <a:schemeClr val="tx1"/>
              </a:solidFill>
            </a:endParaRPr>
          </a:p>
          <a:p>
            <a:pPr lvl="1"/>
            <a:r>
              <a:rPr lang="ko-KR" altLang="en-US" smtClean="0"/>
              <a:t>논스</a:t>
            </a:r>
            <a:r>
              <a:rPr lang="en-US" altLang="ko-KR"/>
              <a:t>(Nonce</a:t>
            </a:r>
            <a:r>
              <a:rPr lang="en-US" altLang="ko-KR" smtClean="0"/>
              <a:t>) : </a:t>
            </a:r>
            <a:r>
              <a:rPr lang="ko-KR" altLang="en-US" smtClean="0">
                <a:solidFill>
                  <a:schemeClr val="tx1"/>
                </a:solidFill>
              </a:rPr>
              <a:t>난이도 목표값 이하를 구할 때 입력 값으로 사용</a:t>
            </a:r>
            <a:endParaRPr lang="ko-KR" altLang="en-US">
              <a:solidFill>
                <a:schemeClr val="tx1"/>
              </a:solidFill>
            </a:endParaRPr>
          </a:p>
          <a:p>
            <a:endParaRPr lang="ko-KR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653136"/>
            <a:ext cx="3168352" cy="1544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34868"/>
            <a:ext cx="2898254" cy="218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901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머클 트리</a:t>
            </a:r>
            <a:r>
              <a:rPr lang="en-US" altLang="ko-KR"/>
              <a:t>(Merkle Tree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데이터 </a:t>
            </a:r>
            <a:r>
              <a:rPr lang="ko-KR" altLang="en-US"/>
              <a:t>무결성을 검증하는 데 사용되는 효율적인 자료 </a:t>
            </a:r>
            <a:r>
              <a:rPr lang="ko-KR" altLang="en-US" smtClean="0"/>
              <a:t>구조</a:t>
            </a:r>
            <a:endParaRPr lang="en-US" altLang="ko-KR" smtClean="0"/>
          </a:p>
          <a:p>
            <a:pPr lvl="1"/>
            <a:endParaRPr lang="en-US" altLang="ko-KR" smtClean="0"/>
          </a:p>
          <a:p>
            <a:pPr lvl="2"/>
            <a:r>
              <a:rPr lang="ko-KR" altLang="en-US" smtClean="0"/>
              <a:t>특히 </a:t>
            </a:r>
            <a:r>
              <a:rPr lang="ko-KR" altLang="en-US">
                <a:solidFill>
                  <a:srgbClr val="006600"/>
                </a:solidFill>
              </a:rPr>
              <a:t>블록체인에서 블록 내 거래 데이터의 무결성을 확인하는 데 널리 </a:t>
            </a:r>
            <a:r>
              <a:rPr lang="ko-KR" altLang="en-US" smtClean="0">
                <a:solidFill>
                  <a:srgbClr val="006600"/>
                </a:solidFill>
              </a:rPr>
              <a:t>활용</a:t>
            </a:r>
            <a:endParaRPr lang="en-US" altLang="ko-KR" smtClean="0">
              <a:solidFill>
                <a:srgbClr val="006600"/>
              </a:solidFill>
            </a:endParaRPr>
          </a:p>
          <a:p>
            <a:pPr lvl="2"/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ko-KR" altLang="en-US" smtClean="0"/>
              <a:t>머클 </a:t>
            </a:r>
            <a:r>
              <a:rPr lang="ko-KR" altLang="en-US"/>
              <a:t>트리는 데이터를 잎 노드</a:t>
            </a:r>
            <a:r>
              <a:rPr lang="en-US" altLang="ko-KR"/>
              <a:t>(leaf node)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  <a:r>
              <a:rPr lang="ko-KR" altLang="en-US"/>
              <a:t>각 노드의 해시 값을 부모 노드로 합쳐 최종적으로 하나의 루트 해시 값을 </a:t>
            </a:r>
            <a:r>
              <a:rPr lang="ko-KR" altLang="en-US" smtClean="0"/>
              <a:t>생성</a:t>
            </a:r>
            <a:endParaRPr lang="en-US" altLang="ko-KR" smtClean="0"/>
          </a:p>
          <a:p>
            <a:pPr lvl="2"/>
            <a:endParaRPr lang="en-US" altLang="ko-KR" smtClean="0"/>
          </a:p>
          <a:p>
            <a:pPr lvl="2"/>
            <a:r>
              <a:rPr lang="ko-KR" altLang="en-US" smtClean="0"/>
              <a:t>이 </a:t>
            </a:r>
            <a:r>
              <a:rPr lang="ko-KR" altLang="en-US"/>
              <a:t>루트 해시 값으로 전체 데이터의 무결성을 확인할 수 </a:t>
            </a:r>
            <a:r>
              <a:rPr lang="ko-KR" altLang="en-US" smtClean="0"/>
              <a:t>있음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870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머클해시루트</a:t>
            </a:r>
          </a:p>
          <a:p>
            <a:pPr lvl="1"/>
            <a:r>
              <a:rPr lang="ko-KR" altLang="en-US"/>
              <a:t>데이터 무결성을 검증하는 데 사용되는 효율적인 자료 구조</a:t>
            </a:r>
            <a:endParaRPr lang="en-US" altLang="ko-KR"/>
          </a:p>
          <a:p>
            <a:pPr lvl="2"/>
            <a:r>
              <a:rPr lang="ko-KR" altLang="en-US"/>
              <a:t>머클 트리는 데이터를 잎 노드</a:t>
            </a:r>
            <a:r>
              <a:rPr lang="en-US" altLang="ko-KR"/>
              <a:t>(leaf node)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  <a:r>
              <a:rPr lang="ko-KR" altLang="en-US"/>
              <a:t>각 노드의 해시 값을 부모 노드로 합쳐 최종적으로 하나의 루트 해시 값을 생성</a:t>
            </a:r>
            <a:endParaRPr lang="en-US" altLang="ko-KR"/>
          </a:p>
          <a:p>
            <a:pPr lvl="2"/>
            <a:r>
              <a:rPr lang="ko-KR" altLang="en-US"/>
              <a:t>이 </a:t>
            </a:r>
            <a:r>
              <a:rPr lang="ko-KR" altLang="en-US">
                <a:solidFill>
                  <a:srgbClr val="006600"/>
                </a:solidFill>
              </a:rPr>
              <a:t>루트 해시 값으로 전체 데이터의 무결성을 확인할 수 있음</a:t>
            </a:r>
          </a:p>
          <a:p>
            <a:pPr lvl="3"/>
            <a:r>
              <a:rPr lang="ko-KR" altLang="en-US" smtClean="0"/>
              <a:t>트랜잭션 </a:t>
            </a:r>
            <a:r>
              <a:rPr lang="en-US" altLang="ko-KR" smtClean="0"/>
              <a:t>I </a:t>
            </a:r>
            <a:r>
              <a:rPr lang="ko-KR" altLang="en-US" smtClean="0"/>
              <a:t>해시값과트랜잭션 </a:t>
            </a:r>
            <a:r>
              <a:rPr lang="en-US" altLang="ko-KR" smtClean="0"/>
              <a:t>i+1 </a:t>
            </a:r>
            <a:r>
              <a:rPr lang="ko-KR" altLang="en-US" smtClean="0"/>
              <a:t>해시값을 더해서 해시값</a:t>
            </a:r>
            <a:r>
              <a:rPr lang="en-US" altLang="ko-KR"/>
              <a:t>, H(i, i+1)</a:t>
            </a:r>
            <a:r>
              <a:rPr lang="ko-KR" altLang="en-US"/>
              <a:t>계산</a:t>
            </a:r>
          </a:p>
          <a:p>
            <a:pPr lvl="4"/>
            <a:r>
              <a:rPr lang="ko-KR" altLang="en-US" smtClean="0"/>
              <a:t>각각의 트랜잭션을 이진트리 형태로 만들 경우 최종적으로 남는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루트 해시값</a:t>
            </a:r>
            <a:endParaRPr lang="ko-KR" altLang="en-US"/>
          </a:p>
          <a:p>
            <a:pPr lvl="3"/>
            <a:r>
              <a:rPr lang="ko-KR" altLang="en-US" smtClean="0"/>
              <a:t>거래 데이터가 하나라도 바뀌면 머클루트가 변함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머클 루트 값을 </a:t>
            </a:r>
            <a: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비교하여 거래가 위변조되었는지 효율적 검증이 가능</a:t>
            </a:r>
            <a:endParaRPr lang="ko-KR" altLang="en-US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93096"/>
            <a:ext cx="4104456" cy="2292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293096"/>
            <a:ext cx="410445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5565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이전 블록 해시</a:t>
            </a:r>
            <a:endParaRPr lang="en-US" altLang="ko-KR" smtClean="0"/>
          </a:p>
          <a:p>
            <a:pPr lvl="1"/>
            <a:r>
              <a:rPr lang="ko-KR" altLang="en-US" smtClean="0"/>
              <a:t>블록체인은 이전 블록 해시값으로 블록간의 연결이 이루어짐</a:t>
            </a:r>
            <a:endParaRPr lang="ko-KR" altLang="en-US" b="0"/>
          </a:p>
          <a:p>
            <a:pPr lvl="1"/>
            <a:r>
              <a:rPr lang="ko-KR" altLang="en-US" smtClean="0">
                <a:solidFill>
                  <a:srgbClr val="0000CC"/>
                </a:solidFill>
              </a:rPr>
              <a:t>블록</a:t>
            </a:r>
            <a:r>
              <a:rPr lang="en-US" altLang="ko-KR">
                <a:solidFill>
                  <a:srgbClr val="0000CC"/>
                </a:solidFill>
              </a:rPr>
              <a:t>1</a:t>
            </a:r>
            <a:r>
              <a:rPr lang="ko-KR" altLang="en-US" smtClean="0">
                <a:solidFill>
                  <a:srgbClr val="0000CC"/>
                </a:solidFill>
              </a:rPr>
              <a:t>의 어떤 거래가 변경되면 머클루트 해시값 변경 </a:t>
            </a:r>
            <a:r>
              <a:rPr lang="ko-KR" altLang="en-US" smtClean="0"/>
              <a:t>→ </a:t>
            </a:r>
            <a:r>
              <a:rPr lang="ko-KR" altLang="en-US">
                <a:solidFill>
                  <a:srgbClr val="006600"/>
                </a:solidFill>
              </a:rPr>
              <a:t>블록</a:t>
            </a:r>
            <a:r>
              <a:rPr lang="en-US" altLang="ko-KR">
                <a:solidFill>
                  <a:srgbClr val="006600"/>
                </a:solidFill>
              </a:rPr>
              <a:t>1</a:t>
            </a:r>
            <a:r>
              <a:rPr lang="ko-KR" altLang="en-US" smtClean="0">
                <a:solidFill>
                  <a:srgbClr val="006600"/>
                </a:solidFill>
              </a:rPr>
              <a:t>의 </a:t>
            </a:r>
            <a:r>
              <a:rPr lang="en-US" altLang="ko-KR" smtClean="0">
                <a:solidFill>
                  <a:srgbClr val="006600"/>
                </a:solidFill>
              </a:rPr>
              <a:t/>
            </a:r>
            <a:br>
              <a:rPr lang="en-US" altLang="ko-KR" smtClean="0">
                <a:solidFill>
                  <a:srgbClr val="006600"/>
                </a:solidFill>
              </a:rPr>
            </a:br>
            <a:r>
              <a:rPr lang="ko-KR" altLang="en-US" smtClean="0">
                <a:solidFill>
                  <a:srgbClr val="006600"/>
                </a:solidFill>
              </a:rPr>
              <a:t>블록 해시가 변경되어 블록</a:t>
            </a:r>
            <a:r>
              <a:rPr lang="en-US" altLang="ko-KR">
                <a:solidFill>
                  <a:srgbClr val="006600"/>
                </a:solidFill>
              </a:rPr>
              <a:t>2</a:t>
            </a:r>
            <a:r>
              <a:rPr lang="ko-KR" altLang="en-US" smtClean="0">
                <a:solidFill>
                  <a:srgbClr val="006600"/>
                </a:solidFill>
              </a:rPr>
              <a:t>의 이전 블록 해시값과 일치하지 않음</a:t>
            </a:r>
            <a:endParaRPr lang="ko-KR" altLang="en-US" b="0">
              <a:solidFill>
                <a:srgbClr val="006600"/>
              </a:solidFill>
            </a:endParaRPr>
          </a:p>
          <a:p>
            <a:pPr lvl="2"/>
            <a:r>
              <a:rPr lang="ko-KR" altLang="en-US" smtClean="0"/>
              <a:t>체인을 유지하려면 블록</a:t>
            </a:r>
            <a:r>
              <a:rPr lang="en-US" altLang="ko-KR"/>
              <a:t>2</a:t>
            </a:r>
            <a:r>
              <a:rPr lang="ko-KR" altLang="en-US" smtClean="0"/>
              <a:t>의 이전 블록 해시값 갱신 후에 블록해시를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새로 계산하고</a:t>
            </a:r>
            <a:r>
              <a:rPr lang="en-US" altLang="ko-KR"/>
              <a:t>, </a:t>
            </a:r>
            <a:r>
              <a:rPr lang="ko-KR" altLang="en-US" smtClean="0"/>
              <a:t>연이어 이후의 모든 블록을 순서대로 다시 채굴해야함</a:t>
            </a:r>
            <a:endParaRPr lang="ko-KR" altLang="en-US" b="0"/>
          </a:p>
          <a:p>
            <a:pPr lvl="2"/>
            <a:r>
              <a:rPr lang="ko-KR" altLang="en-US" smtClean="0"/>
              <a:t>거래를 변조하는</a:t>
            </a:r>
            <a:r>
              <a:rPr lang="en-US" altLang="ko-KR"/>
              <a:t>10</a:t>
            </a:r>
            <a:r>
              <a:rPr lang="ko-KR" altLang="en-US" smtClean="0"/>
              <a:t>분 동안 다른 노드들은 새로운 블록 생성 → </a:t>
            </a: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길이가 </a:t>
            </a:r>
            <a: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긴 정상 블록체인에 의해 짧은 악의적인 블록체인은 버려짐</a:t>
            </a:r>
            <a:endParaRPr lang="ko-KR" altLang="en-US" b="0" u="sng">
              <a:solidFill>
                <a:schemeClr val="accent6">
                  <a:lumMod val="75000"/>
                </a:schemeClr>
              </a:solidFill>
            </a:endParaRPr>
          </a:p>
          <a:p>
            <a:endParaRPr lang="ko-KR" altLang="en-US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149080"/>
            <a:ext cx="7344816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8320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UTXO(Unspent </a:t>
            </a:r>
            <a:r>
              <a:rPr lang="en-US" altLang="ko-KR"/>
              <a:t>Transaction </a:t>
            </a:r>
            <a:r>
              <a:rPr lang="en-US" altLang="ko-KR" smtClean="0"/>
              <a:t>Output, </a:t>
            </a:r>
            <a:r>
              <a:rPr lang="ko-KR" altLang="en-US" smtClean="0"/>
              <a:t>미사용트랜잭션출력값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>
                <a:solidFill>
                  <a:schemeClr val="tx1"/>
                </a:solidFill>
              </a:rPr>
              <a:t>비트코인과 같은 </a:t>
            </a:r>
            <a:r>
              <a:rPr lang="en-US" altLang="ko-KR"/>
              <a:t>UTXO </a:t>
            </a:r>
            <a:r>
              <a:rPr lang="ko-KR" altLang="en-US"/>
              <a:t>기반 블록체인을 </a:t>
            </a:r>
            <a:r>
              <a:rPr lang="ko-KR" altLang="en-US">
                <a:solidFill>
                  <a:schemeClr val="tx1"/>
                </a:solidFill>
              </a:rPr>
              <a:t>이해하는 데 매우 중요한 </a:t>
            </a:r>
            <a:r>
              <a:rPr lang="ko-KR" altLang="en-US" smtClean="0">
                <a:solidFill>
                  <a:schemeClr val="tx1"/>
                </a:solidFill>
              </a:rPr>
              <a:t>개념</a:t>
            </a:r>
            <a:endParaRPr lang="en-US" altLang="ko-KR" smtClean="0">
              <a:solidFill>
                <a:schemeClr val="tx1"/>
              </a:solidFill>
            </a:endParaRPr>
          </a:p>
          <a:p>
            <a:pPr lvl="2"/>
            <a:r>
              <a:rPr lang="ko-KR" altLang="en-US" smtClean="0">
                <a:solidFill>
                  <a:schemeClr val="tx1"/>
                </a:solidFill>
              </a:rPr>
              <a:t>비트코인을 </a:t>
            </a:r>
            <a:r>
              <a:rPr lang="ko-KR" altLang="en-US">
                <a:solidFill>
                  <a:schemeClr val="tx1"/>
                </a:solidFill>
              </a:rPr>
              <a:t>비롯한 많은 블록체인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예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라이트코인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비트코인 캐시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en-US" altLang="ko-KR" smtClean="0">
                <a:solidFill>
                  <a:schemeClr val="tx1"/>
                </a:solidFill>
              </a:rPr>
              <a:t/>
            </a:r>
            <a:br>
              <a:rPr lang="en-US" altLang="ko-KR" smtClean="0">
                <a:solidFill>
                  <a:schemeClr val="tx1"/>
                </a:solidFill>
              </a:rPr>
            </a:br>
            <a:r>
              <a:rPr lang="ko-KR" altLang="en-US" smtClean="0">
                <a:solidFill>
                  <a:schemeClr val="tx1"/>
                </a:solidFill>
              </a:rPr>
              <a:t>카르다노의 </a:t>
            </a:r>
            <a:r>
              <a:rPr lang="en-US" altLang="ko-KR">
                <a:solidFill>
                  <a:schemeClr val="tx1"/>
                </a:solidFill>
              </a:rPr>
              <a:t>EUTXO </a:t>
            </a:r>
            <a:r>
              <a:rPr lang="ko-KR" altLang="en-US">
                <a:solidFill>
                  <a:schemeClr val="tx1"/>
                </a:solidFill>
              </a:rPr>
              <a:t>모델 등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r>
              <a:rPr lang="ko-KR" altLang="en-US">
                <a:solidFill>
                  <a:schemeClr val="tx1"/>
                </a:solidFill>
              </a:rPr>
              <a:t>의 핵심적인 작동 </a:t>
            </a:r>
            <a:r>
              <a:rPr lang="ko-KR" altLang="en-US" smtClean="0">
                <a:solidFill>
                  <a:schemeClr val="tx1"/>
                </a:solidFill>
              </a:rPr>
              <a:t>방식</a:t>
            </a:r>
            <a:endParaRPr lang="en-US" altLang="ko-KR" smtClean="0">
              <a:solidFill>
                <a:schemeClr val="tx1"/>
              </a:solidFill>
            </a:endParaRPr>
          </a:p>
          <a:p>
            <a:pPr lvl="2"/>
            <a:endParaRPr lang="en-US" altLang="ko-KR" smtClean="0">
              <a:solidFill>
                <a:schemeClr val="tx1"/>
              </a:solidFill>
            </a:endParaRPr>
          </a:p>
          <a:p>
            <a:pPr lvl="1"/>
            <a:r>
              <a:rPr lang="ko-KR" altLang="en-US" smtClean="0"/>
              <a:t>비트코인은 </a:t>
            </a:r>
            <a:r>
              <a:rPr lang="ko-KR" altLang="en-US"/>
              <a:t>이더리움의 계좌잔고 모델</a:t>
            </a:r>
            <a:r>
              <a:rPr lang="en-US" altLang="ko-KR"/>
              <a:t>(Account Balance Model)</a:t>
            </a:r>
            <a:r>
              <a:rPr lang="ko-KR" altLang="en-US"/>
              <a:t>과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달리 </a:t>
            </a:r>
            <a:r>
              <a:rPr lang="ko-KR" altLang="en-US">
                <a:solidFill>
                  <a:srgbClr val="006600"/>
                </a:solidFill>
              </a:rPr>
              <a:t>계정이나 잔고가 </a:t>
            </a:r>
            <a:r>
              <a:rPr lang="ko-KR" altLang="en-US" smtClean="0">
                <a:solidFill>
                  <a:srgbClr val="006600"/>
                </a:solidFill>
              </a:rPr>
              <a:t>없음 </a:t>
            </a:r>
            <a:r>
              <a:rPr lang="en-US" altLang="ko-KR" smtClean="0">
                <a:solidFill>
                  <a:srgbClr val="006600"/>
                </a:solidFill>
                <a:sym typeface="Wingdings" panose="05000000000000000000" pitchFamily="2" charset="2"/>
              </a:rPr>
              <a:t></a:t>
            </a:r>
            <a:r>
              <a:rPr lang="en-US" altLang="ko-KR" smtClean="0">
                <a:solidFill>
                  <a:srgbClr val="006600"/>
                </a:solidFill>
              </a:rPr>
              <a:t> </a:t>
            </a:r>
            <a:r>
              <a:rPr lang="en-US" altLang="ko-KR"/>
              <a:t>UTXO </a:t>
            </a:r>
            <a:r>
              <a:rPr lang="ko-KR" altLang="en-US"/>
              <a:t>모델은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이더리움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(Ethereum)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이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사용하는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계정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(Account)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기반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모델과 </a:t>
            </a:r>
            <a:r>
              <a:rPr lang="ko-KR" altLang="en-US"/>
              <a:t>대비됨</a:t>
            </a:r>
            <a:endParaRPr lang="en-US" altLang="ko-KR"/>
          </a:p>
          <a:p>
            <a:pPr lvl="1"/>
            <a:endParaRPr lang="ko-KR" altLang="en-US" b="0">
              <a:solidFill>
                <a:srgbClr val="006600"/>
              </a:solidFill>
            </a:endParaRPr>
          </a:p>
          <a:p>
            <a:pPr lvl="2"/>
            <a:r>
              <a:rPr lang="ko-KR" altLang="en-US"/>
              <a:t>블록체인 기록중에 내 앞으로 보내진 </a:t>
            </a:r>
            <a:r>
              <a:rPr lang="en-US" altLang="ko-KR"/>
              <a:t>UTXO</a:t>
            </a:r>
            <a:r>
              <a:rPr lang="ko-KR" altLang="en-US"/>
              <a:t>를 찾아 모으면 나의 잔고가 됨</a:t>
            </a:r>
            <a:endParaRPr lang="ko-KR" altLang="en-US" b="0"/>
          </a:p>
          <a:p>
            <a:pPr lvl="2"/>
            <a:r>
              <a:rPr lang="ko-KR" altLang="en-US"/>
              <a:t>지갑업체의 기본 서비스는 이용자들이 </a:t>
            </a:r>
            <a:r>
              <a:rPr lang="ko-KR" altLang="en-US">
                <a:solidFill>
                  <a:srgbClr val="006600"/>
                </a:solidFill>
              </a:rPr>
              <a:t>편리하게 송금하고 잔고를 확인하는 </a:t>
            </a:r>
            <a:r>
              <a:rPr lang="en-US" altLang="ko-KR">
                <a:solidFill>
                  <a:srgbClr val="006600"/>
                </a:solidFill>
              </a:rPr>
              <a:t>UI</a:t>
            </a:r>
            <a:r>
              <a:rPr lang="ko-KR" altLang="en-US">
                <a:solidFill>
                  <a:srgbClr val="006600"/>
                </a:solidFill>
              </a:rPr>
              <a:t>를 </a:t>
            </a:r>
            <a:r>
              <a:rPr lang="ko-KR" altLang="en-US" smtClean="0">
                <a:solidFill>
                  <a:srgbClr val="006600"/>
                </a:solidFill>
              </a:rPr>
              <a:t>제공함</a:t>
            </a:r>
            <a:endParaRPr lang="en-US" altLang="ko-KR" smtClean="0">
              <a:solidFill>
                <a:srgbClr val="006600"/>
              </a:solidFill>
            </a:endParaRPr>
          </a:p>
          <a:p>
            <a:pPr lvl="2"/>
            <a:endParaRPr lang="ko-KR" altLang="en-US" b="0">
              <a:solidFill>
                <a:srgbClr val="006600"/>
              </a:solidFill>
            </a:endParaRPr>
          </a:p>
          <a:p>
            <a:pPr lvl="2"/>
            <a:endParaRPr lang="en-US" altLang="ko-KR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02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UTXO(Unspent </a:t>
            </a:r>
            <a:r>
              <a:rPr lang="en-US" altLang="ko-KR"/>
              <a:t>Transaction </a:t>
            </a:r>
            <a:r>
              <a:rPr lang="en-US" altLang="ko-KR" smtClean="0"/>
              <a:t>Output, </a:t>
            </a:r>
            <a:r>
              <a:rPr lang="ko-KR" altLang="en-US" smtClean="0"/>
              <a:t>미사용트랜잭션출력값</a:t>
            </a:r>
            <a:r>
              <a:rPr lang="en-US" altLang="ko-KR" smtClean="0"/>
              <a:t>)</a:t>
            </a:r>
          </a:p>
          <a:p>
            <a:pPr lvl="1"/>
            <a:r>
              <a:rPr lang="en-US" altLang="ko-KR" smtClean="0"/>
              <a:t>UTXO</a:t>
            </a:r>
            <a:r>
              <a:rPr lang="ko-KR" altLang="en-US"/>
              <a:t>의 개념 </a:t>
            </a:r>
            <a:r>
              <a:rPr lang="ko-KR" altLang="en-US" smtClean="0"/>
              <a:t>비유</a:t>
            </a:r>
            <a:endParaRPr lang="en-US" altLang="ko-KR" smtClean="0"/>
          </a:p>
          <a:p>
            <a:pPr lvl="2"/>
            <a:r>
              <a:rPr lang="ko-KR" altLang="en-US" smtClean="0">
                <a:solidFill>
                  <a:srgbClr val="FF0000"/>
                </a:solidFill>
              </a:rPr>
              <a:t>현금 지갑 </a:t>
            </a:r>
            <a:r>
              <a:rPr lang="ko-KR" altLang="en-US">
                <a:solidFill>
                  <a:srgbClr val="FF0000"/>
                </a:solidFill>
              </a:rPr>
              <a:t>속 지폐</a:t>
            </a:r>
            <a:r>
              <a:rPr lang="en-US" altLang="ko-KR">
                <a:solidFill>
                  <a:srgbClr val="FF0000"/>
                </a:solidFill>
              </a:rPr>
              <a:t>/</a:t>
            </a:r>
            <a:r>
              <a:rPr lang="ko-KR" altLang="en-US" smtClean="0">
                <a:solidFill>
                  <a:srgbClr val="FF0000"/>
                </a:solidFill>
              </a:rPr>
              <a:t>동전</a:t>
            </a:r>
            <a:r>
              <a:rPr lang="en-US" altLang="ko-KR" smtClean="0">
                <a:solidFill>
                  <a:srgbClr val="FF0000"/>
                </a:solidFill>
              </a:rPr>
              <a:t>)</a:t>
            </a:r>
          </a:p>
          <a:p>
            <a:pPr lvl="2"/>
            <a:endParaRPr lang="en-US" altLang="ko-KR" smtClean="0">
              <a:solidFill>
                <a:srgbClr val="FF0000"/>
              </a:solidFill>
            </a:endParaRPr>
          </a:p>
          <a:p>
            <a:pPr lvl="3"/>
            <a:r>
              <a:rPr lang="ko-KR" altLang="en-US" smtClean="0"/>
              <a:t>현금 </a:t>
            </a:r>
            <a:r>
              <a:rPr lang="ko-KR" altLang="en-US"/>
              <a:t>지갑 속에 있는 여러 장의 지폐나 동전을 </a:t>
            </a:r>
            <a:r>
              <a:rPr lang="ko-KR" altLang="en-US" smtClean="0"/>
              <a:t>떠올려보자</a:t>
            </a:r>
            <a:endParaRPr lang="en-US" altLang="ko-KR"/>
          </a:p>
          <a:p>
            <a:pPr lvl="4"/>
            <a:r>
              <a:rPr lang="ko-KR" altLang="en-US"/>
              <a:t>당신의 지갑에 </a:t>
            </a:r>
            <a:r>
              <a:rPr lang="en-US" altLang="ko-KR"/>
              <a:t>1</a:t>
            </a:r>
            <a:r>
              <a:rPr lang="ko-KR" altLang="en-US"/>
              <a:t>만원짜리 지폐 한 장</a:t>
            </a:r>
            <a:r>
              <a:rPr lang="en-US" altLang="ko-KR"/>
              <a:t>, 5</a:t>
            </a:r>
            <a:r>
              <a:rPr lang="ko-KR" altLang="en-US"/>
              <a:t>천원짜리 지폐 한 장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1</a:t>
            </a:r>
            <a:r>
              <a:rPr lang="ko-KR" altLang="en-US"/>
              <a:t>천원짜리 지폐 두 장이 있다고 </a:t>
            </a:r>
            <a:r>
              <a:rPr lang="ko-KR" altLang="en-US" smtClean="0"/>
              <a:t>가정</a:t>
            </a:r>
            <a:endParaRPr lang="en-US" altLang="ko-KR"/>
          </a:p>
          <a:p>
            <a:pPr lvl="4"/>
            <a:r>
              <a:rPr lang="ko-KR" altLang="en-US"/>
              <a:t>이때 당신의 총 현금 잔액은 </a:t>
            </a:r>
            <a:r>
              <a:rPr lang="en-US" altLang="ko-KR"/>
              <a:t>10,000 + 5,000 + 1,000 + 1,000 = 17,000</a:t>
            </a:r>
            <a:r>
              <a:rPr lang="ko-KR" altLang="en-US" smtClean="0"/>
              <a:t>원임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ko-KR" altLang="en-US" smtClean="0">
                <a:solidFill>
                  <a:srgbClr val="006600"/>
                </a:solidFill>
              </a:rPr>
              <a:t>각 </a:t>
            </a:r>
            <a:r>
              <a:rPr lang="ko-KR" altLang="en-US">
                <a:solidFill>
                  <a:srgbClr val="006600"/>
                </a:solidFill>
              </a:rPr>
              <a:t>지폐나 동전 하나하나가 바로 하나의 </a:t>
            </a:r>
            <a:r>
              <a:rPr lang="en-US" altLang="ko-KR" smtClean="0">
                <a:solidFill>
                  <a:srgbClr val="006600"/>
                </a:solidFill>
              </a:rPr>
              <a:t>UTXO</a:t>
            </a:r>
          </a:p>
          <a:p>
            <a:pPr lvl="4"/>
            <a:endParaRPr lang="en-US" altLang="ko-KR">
              <a:solidFill>
                <a:srgbClr val="006600"/>
              </a:solidFill>
            </a:endParaRPr>
          </a:p>
          <a:p>
            <a:pPr lvl="3"/>
            <a:r>
              <a:rPr lang="ko-KR" altLang="en-US"/>
              <a:t>당신은 </a:t>
            </a:r>
            <a:r>
              <a:rPr lang="en-US" altLang="ko-KR"/>
              <a:t>17,000</a:t>
            </a:r>
            <a:r>
              <a:rPr lang="ko-KR" altLang="en-US"/>
              <a:t>원이라는 </a:t>
            </a:r>
            <a:r>
              <a:rPr lang="en-US" altLang="ko-KR"/>
              <a:t>'</a:t>
            </a:r>
            <a:r>
              <a:rPr lang="ko-KR" altLang="en-US"/>
              <a:t>잔액</a:t>
            </a:r>
            <a:r>
              <a:rPr lang="en-US" altLang="ko-KR"/>
              <a:t>'</a:t>
            </a:r>
            <a:r>
              <a:rPr lang="ko-KR" altLang="en-US"/>
              <a:t>을 가지고 있지만</a:t>
            </a:r>
            <a:r>
              <a:rPr lang="en-US" altLang="ko-KR"/>
              <a:t>, </a:t>
            </a:r>
            <a:r>
              <a:rPr lang="ko-KR" altLang="en-US"/>
              <a:t>실제로는 </a:t>
            </a:r>
            <a:r>
              <a:rPr lang="en-US" altLang="ko-KR"/>
              <a:t>17,000</a:t>
            </a:r>
            <a:r>
              <a:rPr lang="ko-KR" altLang="en-US"/>
              <a:t>원짜리 </a:t>
            </a:r>
            <a:r>
              <a:rPr lang="en-US" altLang="ko-KR"/>
              <a:t>'</a:t>
            </a:r>
            <a:r>
              <a:rPr lang="ko-KR" altLang="en-US"/>
              <a:t>하나의 돈 덩어리</a:t>
            </a:r>
            <a:r>
              <a:rPr lang="en-US" altLang="ko-KR"/>
              <a:t>'</a:t>
            </a:r>
            <a:r>
              <a:rPr lang="ko-KR" altLang="en-US"/>
              <a:t>가 아니라 여러 개의 개별적인 </a:t>
            </a:r>
            <a:r>
              <a:rPr lang="en-US" altLang="ko-KR"/>
              <a:t>'</a:t>
            </a:r>
            <a:r>
              <a:rPr lang="ko-KR" altLang="en-US"/>
              <a:t>지폐 덩어리</a:t>
            </a:r>
            <a:r>
              <a:rPr lang="en-US" altLang="ko-KR"/>
              <a:t>'</a:t>
            </a:r>
            <a:r>
              <a:rPr lang="ko-KR" altLang="en-US"/>
              <a:t>들로 이루어져 있는 </a:t>
            </a:r>
            <a:r>
              <a:rPr lang="ko-KR" altLang="en-US" smtClean="0"/>
              <a:t>것임</a:t>
            </a:r>
            <a:endParaRPr lang="en-US" altLang="ko-KR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475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smtClean="0">
                <a:solidFill>
                  <a:srgbClr val="C00000"/>
                </a:solidFill>
              </a:rPr>
              <a:t>UTXO(Unspent </a:t>
            </a:r>
            <a:r>
              <a:rPr lang="en-US" altLang="ko-KR" b="1">
                <a:solidFill>
                  <a:srgbClr val="C00000"/>
                </a:solidFill>
              </a:rPr>
              <a:t>Transaction </a:t>
            </a:r>
            <a:r>
              <a:rPr lang="en-US" altLang="ko-KR" b="1" smtClean="0">
                <a:solidFill>
                  <a:srgbClr val="C00000"/>
                </a:solidFill>
              </a:rPr>
              <a:t>Output ,</a:t>
            </a:r>
            <a:r>
              <a:rPr lang="ko-KR" altLang="en-US" b="1" smtClean="0">
                <a:solidFill>
                  <a:srgbClr val="C00000"/>
                </a:solidFill>
              </a:rPr>
              <a:t>아직 </a:t>
            </a:r>
            <a:r>
              <a:rPr lang="ko-KR" altLang="en-US" b="1">
                <a:solidFill>
                  <a:srgbClr val="C00000"/>
                </a:solidFill>
              </a:rPr>
              <a:t>쓰지않은 </a:t>
            </a:r>
            <a:r>
              <a:rPr lang="ko-KR" altLang="en-US" b="1" smtClean="0">
                <a:solidFill>
                  <a:srgbClr val="C00000"/>
                </a:solidFill>
              </a:rPr>
              <a:t>잔액</a:t>
            </a:r>
            <a:r>
              <a:rPr lang="en-US" altLang="ko-KR" b="1" smtClean="0">
                <a:solidFill>
                  <a:srgbClr val="C00000"/>
                </a:solidFill>
              </a:rPr>
              <a:t>)</a:t>
            </a:r>
            <a:endParaRPr lang="en-US" altLang="ko-KR" b="1">
              <a:solidFill>
                <a:srgbClr val="C00000"/>
              </a:solidFill>
            </a:endParaRPr>
          </a:p>
          <a:p>
            <a:pPr lvl="1"/>
            <a:r>
              <a:rPr lang="ko-KR" altLang="en-US" b="1" smtClean="0">
                <a:solidFill>
                  <a:srgbClr val="0000FF"/>
                </a:solidFill>
              </a:rPr>
              <a:t>잔액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/>
            <a:r>
              <a:rPr lang="ko-KR" altLang="en-US" b="1" smtClean="0"/>
              <a:t>비트코인 </a:t>
            </a:r>
            <a:r>
              <a:rPr lang="ko-KR" altLang="en-US" b="1"/>
              <a:t>네트워크에서는 잔액이라는 개념은 존재하지 않고</a:t>
            </a:r>
            <a:r>
              <a:rPr lang="en-US" altLang="ko-KR" b="1"/>
              <a:t>, 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>
                <a:solidFill>
                  <a:srgbClr val="FF0000"/>
                </a:solidFill>
              </a:rPr>
              <a:t>트랜잭션에 </a:t>
            </a:r>
            <a:r>
              <a:rPr lang="ko-KR" altLang="en-US" b="1">
                <a:solidFill>
                  <a:srgbClr val="FF0000"/>
                </a:solidFill>
              </a:rPr>
              <a:t>의한 블록체인에 기록된 소비되지 않은 출력값들의 합을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잔액이라는 </a:t>
            </a:r>
            <a:r>
              <a:rPr lang="ko-KR" altLang="en-US" b="1"/>
              <a:t>개념으로 사용하는데 이때 </a:t>
            </a:r>
            <a:r>
              <a:rPr lang="en-US" altLang="ko-KR" b="1"/>
              <a:t>UTXO </a:t>
            </a:r>
            <a:r>
              <a:rPr lang="ko-KR" altLang="en-US" b="1"/>
              <a:t>데이터를 </a:t>
            </a:r>
            <a:r>
              <a:rPr lang="ko-KR" altLang="en-US" b="1" smtClean="0"/>
              <a:t>사용함</a:t>
            </a:r>
            <a:endParaRPr lang="en-US" altLang="ko-KR" b="1" smtClean="0"/>
          </a:p>
          <a:p>
            <a:pPr lvl="2"/>
            <a:r>
              <a:rPr lang="ko-KR" altLang="en-US" b="1" smtClean="0"/>
              <a:t>퀀텀</a:t>
            </a:r>
            <a:r>
              <a:rPr lang="en-US" altLang="ko-KR" b="1"/>
              <a:t>, </a:t>
            </a:r>
            <a:r>
              <a:rPr lang="ko-KR" altLang="en-US" b="1"/>
              <a:t>레이븐 코인에서도 </a:t>
            </a:r>
            <a:r>
              <a:rPr lang="en-US" altLang="ko-KR" b="1"/>
              <a:t>UTXO </a:t>
            </a:r>
            <a:r>
              <a:rPr lang="ko-KR" altLang="en-US" b="1"/>
              <a:t>방식을 사용하고 이더리움은 “계좌 잔고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모델</a:t>
            </a:r>
            <a:r>
              <a:rPr lang="en-US" altLang="ko-KR" b="1" smtClean="0"/>
              <a:t>(</a:t>
            </a:r>
            <a:r>
              <a:rPr lang="en-US" altLang="ko-KR" b="1"/>
              <a:t>Account Balance Model)” </a:t>
            </a:r>
            <a:r>
              <a:rPr lang="ko-KR" altLang="en-US" b="1"/>
              <a:t>방식을 </a:t>
            </a:r>
            <a:r>
              <a:rPr lang="ko-KR" altLang="en-US" b="1" smtClean="0"/>
              <a:t>사용함</a:t>
            </a:r>
            <a:endParaRPr lang="en-US" altLang="ko-KR" b="1" smtClean="0"/>
          </a:p>
          <a:p>
            <a:pPr lvl="1"/>
            <a:r>
              <a:rPr lang="en-US" altLang="ko-KR" b="1">
                <a:solidFill>
                  <a:srgbClr val="0000FF"/>
                </a:solidFill>
              </a:rPr>
              <a:t>UTXO(</a:t>
            </a:r>
            <a:r>
              <a:rPr lang="ko-KR" altLang="en-US" b="1">
                <a:solidFill>
                  <a:srgbClr val="0000FF"/>
                </a:solidFill>
              </a:rPr>
              <a:t>미사용 출력값</a:t>
            </a:r>
            <a:r>
              <a:rPr lang="en-US" altLang="ko-KR" b="1" smtClean="0">
                <a:solidFill>
                  <a:srgbClr val="0000FF"/>
                </a:solidFill>
              </a:rPr>
              <a:t>)</a:t>
            </a:r>
          </a:p>
          <a:p>
            <a:pPr lvl="2"/>
            <a:r>
              <a:rPr lang="ko-KR" altLang="en-US" b="1"/>
              <a:t>화폐와 다르게 일정한 기준의 금액 값을 가지지 않고 </a:t>
            </a:r>
            <a:r>
              <a:rPr lang="ko-KR" altLang="en-US" b="1">
                <a:solidFill>
                  <a:srgbClr val="E509A6"/>
                </a:solidFill>
              </a:rPr>
              <a:t>이전 소유주가 </a:t>
            </a:r>
            <a:r>
              <a:rPr lang="ko-KR" altLang="en-US" b="1" smtClean="0">
                <a:solidFill>
                  <a:srgbClr val="E509A6"/>
                </a:solidFill>
              </a:rPr>
              <a:t>보낸</a:t>
            </a:r>
            <a:r>
              <a:rPr lang="en-US" altLang="ko-KR" b="1" smtClean="0">
                <a:solidFill>
                  <a:srgbClr val="E509A6"/>
                </a:solidFill>
              </a:rPr>
              <a:t/>
            </a:r>
            <a:br>
              <a:rPr lang="en-US" altLang="ko-KR" b="1" smtClean="0">
                <a:solidFill>
                  <a:srgbClr val="E509A6"/>
                </a:solidFill>
              </a:rPr>
            </a:br>
            <a:r>
              <a:rPr lang="ko-KR" altLang="en-US" b="1" smtClean="0">
                <a:solidFill>
                  <a:srgbClr val="E509A6"/>
                </a:solidFill>
              </a:rPr>
              <a:t>단위에 </a:t>
            </a:r>
            <a:r>
              <a:rPr lang="ko-KR" altLang="en-US" b="1">
                <a:solidFill>
                  <a:srgbClr val="E509A6"/>
                </a:solidFill>
              </a:rPr>
              <a:t>따라 무수한 단위로</a:t>
            </a:r>
            <a:r>
              <a:rPr lang="ko-KR" altLang="en-US" b="1"/>
              <a:t> 형성될 수 </a:t>
            </a:r>
            <a:r>
              <a:rPr lang="ko-KR" altLang="en-US" b="1" smtClean="0"/>
              <a:t>있음</a:t>
            </a:r>
            <a:endParaRPr lang="en-US" altLang="ko-KR" b="1"/>
          </a:p>
          <a:p>
            <a:pPr lvl="3"/>
            <a:r>
              <a:rPr lang="ko-KR" altLang="en-US" b="1" smtClean="0"/>
              <a:t>현실의 </a:t>
            </a:r>
            <a:r>
              <a:rPr lang="en-US" altLang="ko-KR" b="1"/>
              <a:t>5</a:t>
            </a:r>
            <a:r>
              <a:rPr lang="ko-KR" altLang="en-US" b="1"/>
              <a:t>만원</a:t>
            </a:r>
            <a:r>
              <a:rPr lang="en-US" altLang="ko-KR" b="1"/>
              <a:t>, </a:t>
            </a:r>
            <a:r>
              <a:rPr lang="ko-KR" altLang="en-US" b="1"/>
              <a:t>만원</a:t>
            </a:r>
            <a:r>
              <a:rPr lang="en-US" altLang="ko-KR" b="1"/>
              <a:t>, </a:t>
            </a:r>
            <a:r>
              <a:rPr lang="ko-KR" altLang="en-US" b="1"/>
              <a:t>천원</a:t>
            </a:r>
            <a:r>
              <a:rPr lang="en-US" altLang="ko-KR" b="1"/>
              <a:t>, </a:t>
            </a:r>
            <a:r>
              <a:rPr lang="ko-KR" altLang="en-US" b="1"/>
              <a:t>오백원</a:t>
            </a:r>
            <a:r>
              <a:rPr lang="en-US" altLang="ko-KR" b="1"/>
              <a:t>, </a:t>
            </a:r>
            <a:r>
              <a:rPr lang="ko-KR" altLang="en-US" b="1"/>
              <a:t>백원 각각의 지폐 또는 동전과 </a:t>
            </a:r>
            <a:r>
              <a:rPr lang="ko-KR" altLang="en-US" b="1" smtClean="0"/>
              <a:t>대응</a:t>
            </a:r>
            <a:endParaRPr lang="en-US" altLang="ko-KR" b="1" smtClean="0"/>
          </a:p>
          <a:p>
            <a:pPr lvl="3"/>
            <a:r>
              <a:rPr lang="ko-KR" altLang="en-US" b="1" smtClean="0"/>
              <a:t>최하 </a:t>
            </a:r>
            <a:r>
              <a:rPr lang="ko-KR" altLang="en-US" b="1"/>
              <a:t>단위로는 </a:t>
            </a:r>
            <a:r>
              <a:rPr lang="en-US" altLang="ko-KR" b="1"/>
              <a:t>1</a:t>
            </a:r>
            <a:r>
              <a:rPr lang="ko-KR" altLang="en-US" b="1"/>
              <a:t>사토시</a:t>
            </a:r>
            <a:r>
              <a:rPr lang="en-US" altLang="ko-KR" b="1"/>
              <a:t>(0.000000001BTC)</a:t>
            </a:r>
            <a:r>
              <a:rPr lang="ko-KR" altLang="en-US" b="1"/>
              <a:t>이고 발행량이 </a:t>
            </a:r>
            <a:r>
              <a:rPr lang="en-US" altLang="ko-KR" b="1"/>
              <a:t>2,100</a:t>
            </a:r>
            <a:r>
              <a:rPr lang="ko-KR" altLang="en-US" b="1"/>
              <a:t>만개 이므로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이론상으로 </a:t>
            </a:r>
            <a:r>
              <a:rPr lang="en-US" altLang="ko-KR" b="1"/>
              <a:t>UTXO</a:t>
            </a:r>
            <a:r>
              <a:rPr lang="ko-KR" altLang="en-US" b="1"/>
              <a:t>의 가장 큰 단위는 </a:t>
            </a:r>
            <a:r>
              <a:rPr lang="en-US" altLang="ko-KR" b="1"/>
              <a:t>2,100</a:t>
            </a:r>
            <a:r>
              <a:rPr lang="ko-KR" altLang="en-US" b="1"/>
              <a:t>만 </a:t>
            </a:r>
            <a:r>
              <a:rPr lang="ko-KR" altLang="en-US" b="1" smtClean="0"/>
              <a:t>비트코인임</a:t>
            </a:r>
            <a:endParaRPr lang="en-US" altLang="ko-KR" b="1"/>
          </a:p>
          <a:p>
            <a:endParaRPr lang="ko-KR" altLang="en-US"/>
          </a:p>
        </p:txBody>
      </p:sp>
      <p:pic>
        <p:nvPicPr>
          <p:cNvPr id="17410" name="Picture 2" descr="https://velog.velcdn.com/images/choyeah/post/32d9c8b6-6959-46a8-b189-4742b5909a9a/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75" y="5233684"/>
            <a:ext cx="5972175" cy="1556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708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UTXO(Unspent </a:t>
            </a:r>
            <a:r>
              <a:rPr lang="en-US" altLang="ko-KR"/>
              <a:t>Transaction </a:t>
            </a:r>
            <a:r>
              <a:rPr lang="en-US" altLang="ko-KR" smtClean="0"/>
              <a:t>Output, </a:t>
            </a:r>
            <a:r>
              <a:rPr lang="ko-KR" altLang="en-US" smtClean="0"/>
              <a:t>미사용트랜잭션출력값</a:t>
            </a:r>
            <a:r>
              <a:rPr lang="en-US" altLang="ko-KR" smtClean="0"/>
              <a:t>)</a:t>
            </a:r>
          </a:p>
          <a:p>
            <a:pPr lvl="1"/>
            <a:r>
              <a:rPr lang="en-US" altLang="ko-KR"/>
              <a:t>UTXO</a:t>
            </a:r>
            <a:r>
              <a:rPr lang="ko-KR" altLang="en-US"/>
              <a:t>의 작동 방식 </a:t>
            </a:r>
            <a:r>
              <a:rPr lang="en-US" altLang="ko-KR"/>
              <a:t>(</a:t>
            </a:r>
            <a:r>
              <a:rPr lang="ko-KR" altLang="en-US"/>
              <a:t>비트코인 거래의 관점에서</a:t>
            </a:r>
            <a:r>
              <a:rPr lang="en-US" altLang="ko-KR" smtClean="0"/>
              <a:t>)</a:t>
            </a:r>
          </a:p>
          <a:p>
            <a:pPr lvl="2"/>
            <a:r>
              <a:rPr lang="en-US" altLang="ko-KR" smtClean="0">
                <a:solidFill>
                  <a:srgbClr val="006600"/>
                </a:solidFill>
              </a:rPr>
              <a:t>UTXO</a:t>
            </a:r>
            <a:r>
              <a:rPr lang="ko-KR" altLang="en-US">
                <a:solidFill>
                  <a:srgbClr val="006600"/>
                </a:solidFill>
              </a:rPr>
              <a:t>의 </a:t>
            </a:r>
            <a:r>
              <a:rPr lang="ko-KR" altLang="en-US" smtClean="0">
                <a:solidFill>
                  <a:srgbClr val="006600"/>
                </a:solidFill>
              </a:rPr>
              <a:t>생성</a:t>
            </a:r>
            <a:endParaRPr lang="en-US" altLang="ko-KR" smtClean="0">
              <a:solidFill>
                <a:srgbClr val="006600"/>
              </a:solidFill>
            </a:endParaRPr>
          </a:p>
          <a:p>
            <a:pPr lvl="2"/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en-US" altLang="ko-KR" smtClean="0">
                <a:solidFill>
                  <a:srgbClr val="006600"/>
                </a:solidFill>
              </a:rPr>
              <a:t>UTXO</a:t>
            </a:r>
            <a:r>
              <a:rPr lang="ko-KR" altLang="en-US">
                <a:solidFill>
                  <a:srgbClr val="006600"/>
                </a:solidFill>
              </a:rPr>
              <a:t>의 사용 </a:t>
            </a:r>
            <a:r>
              <a:rPr lang="en-US" altLang="ko-KR">
                <a:solidFill>
                  <a:srgbClr val="006600"/>
                </a:solidFill>
              </a:rPr>
              <a:t>(Input</a:t>
            </a:r>
            <a:r>
              <a:rPr lang="en-US" altLang="ko-KR" smtClean="0">
                <a:solidFill>
                  <a:srgbClr val="006600"/>
                </a:solidFill>
              </a:rPr>
              <a:t>)</a:t>
            </a:r>
          </a:p>
          <a:p>
            <a:pPr lvl="2"/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ko-KR" altLang="en-US" smtClean="0">
                <a:solidFill>
                  <a:srgbClr val="006600"/>
                </a:solidFill>
              </a:rPr>
              <a:t>새로운 </a:t>
            </a:r>
            <a:r>
              <a:rPr lang="en-US" altLang="ko-KR">
                <a:solidFill>
                  <a:srgbClr val="006600"/>
                </a:solidFill>
              </a:rPr>
              <a:t>UTXO</a:t>
            </a:r>
            <a:r>
              <a:rPr lang="ko-KR" altLang="en-US">
                <a:solidFill>
                  <a:srgbClr val="006600"/>
                </a:solidFill>
              </a:rPr>
              <a:t>의 생성 </a:t>
            </a:r>
            <a:r>
              <a:rPr lang="en-US" altLang="ko-KR">
                <a:solidFill>
                  <a:srgbClr val="006600"/>
                </a:solidFill>
              </a:rPr>
              <a:t>(Output) </a:t>
            </a:r>
            <a:r>
              <a:rPr lang="ko-KR" altLang="en-US">
                <a:solidFill>
                  <a:srgbClr val="006600"/>
                </a:solidFill>
              </a:rPr>
              <a:t>및 </a:t>
            </a:r>
            <a:r>
              <a:rPr lang="ko-KR" altLang="en-US" smtClean="0">
                <a:solidFill>
                  <a:srgbClr val="006600"/>
                </a:solidFill>
              </a:rPr>
              <a:t>거스름돈 </a:t>
            </a:r>
            <a:endParaRPr lang="en-US" altLang="ko-KR" smtClean="0">
              <a:solidFill>
                <a:srgbClr val="006600"/>
              </a:solidFill>
            </a:endParaRPr>
          </a:p>
          <a:p>
            <a:pPr lvl="2"/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en-US" altLang="ko-KR" smtClean="0">
                <a:solidFill>
                  <a:srgbClr val="006600"/>
                </a:solidFill>
              </a:rPr>
              <a:t>UTXO</a:t>
            </a:r>
            <a:r>
              <a:rPr lang="ko-KR" altLang="en-US">
                <a:solidFill>
                  <a:srgbClr val="006600"/>
                </a:solidFill>
              </a:rPr>
              <a:t>의 </a:t>
            </a:r>
            <a:r>
              <a:rPr lang="ko-KR" altLang="en-US" smtClean="0">
                <a:solidFill>
                  <a:srgbClr val="006600"/>
                </a:solidFill>
              </a:rPr>
              <a:t>소모</a:t>
            </a:r>
            <a:endParaRPr lang="en-US" altLang="ko-KR" smtClean="0">
              <a:solidFill>
                <a:srgbClr val="006600"/>
              </a:solidFill>
            </a:endParaRPr>
          </a:p>
          <a:p>
            <a:pPr lvl="2"/>
            <a:endParaRPr lang="ko-KR" altLang="en-US"/>
          </a:p>
          <a:p>
            <a:pPr lvl="1"/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4" name="아래쪽 화살표 3"/>
          <p:cNvSpPr/>
          <p:nvPr/>
        </p:nvSpPr>
        <p:spPr>
          <a:xfrm>
            <a:off x="2411760" y="2708920"/>
            <a:ext cx="360040" cy="720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>
            <a:off x="2415091" y="3284984"/>
            <a:ext cx="360040" cy="720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2415091" y="3861048"/>
            <a:ext cx="360040" cy="720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114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>
                <a:solidFill>
                  <a:srgbClr val="C00000"/>
                </a:solidFill>
              </a:rPr>
              <a:t>UTXO</a:t>
            </a:r>
            <a:r>
              <a:rPr lang="ko-KR" altLang="en-US" b="1">
                <a:solidFill>
                  <a:srgbClr val="C00000"/>
                </a:solidFill>
              </a:rPr>
              <a:t>의 소유권 이동</a:t>
            </a:r>
          </a:p>
          <a:p>
            <a:pPr lvl="1"/>
            <a:r>
              <a:rPr lang="en-US" altLang="ko-KR" b="1">
                <a:solidFill>
                  <a:srgbClr val="0000FF"/>
                </a:solidFill>
              </a:rPr>
              <a:t>A</a:t>
            </a:r>
            <a:r>
              <a:rPr lang="ko-KR" altLang="en-US" b="1">
                <a:solidFill>
                  <a:srgbClr val="0000FF"/>
                </a:solidFill>
              </a:rPr>
              <a:t>가 </a:t>
            </a:r>
            <a:r>
              <a:rPr lang="en-US" altLang="ko-KR" b="1">
                <a:solidFill>
                  <a:srgbClr val="0000FF"/>
                </a:solidFill>
              </a:rPr>
              <a:t>B</a:t>
            </a:r>
            <a:r>
              <a:rPr lang="ko-KR" altLang="en-US" b="1">
                <a:solidFill>
                  <a:srgbClr val="0000FF"/>
                </a:solidFill>
              </a:rPr>
              <a:t>에게 </a:t>
            </a:r>
            <a:r>
              <a:rPr lang="en-US" altLang="ko-KR" b="1">
                <a:solidFill>
                  <a:srgbClr val="0000FF"/>
                </a:solidFill>
              </a:rPr>
              <a:t>UTXO</a:t>
            </a:r>
            <a:r>
              <a:rPr lang="ko-KR" altLang="en-US" b="1">
                <a:solidFill>
                  <a:srgbClr val="0000FF"/>
                </a:solidFill>
              </a:rPr>
              <a:t>를 전송하려고 </a:t>
            </a:r>
            <a:r>
              <a:rPr lang="ko-KR" altLang="en-US" b="1" smtClean="0">
                <a:solidFill>
                  <a:srgbClr val="0000FF"/>
                </a:solidFill>
              </a:rPr>
              <a:t>하는 경우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1"/>
            <a:endParaRPr lang="en-US" altLang="ko-KR" b="1" smtClean="0">
              <a:solidFill>
                <a:srgbClr val="0000FF"/>
              </a:solidFill>
            </a:endParaRPr>
          </a:p>
          <a:p>
            <a:pPr lvl="2"/>
            <a:r>
              <a:rPr lang="en-US" altLang="ko-KR" b="1" smtClean="0"/>
              <a:t>A</a:t>
            </a:r>
            <a:r>
              <a:rPr lang="ko-KR" altLang="en-US" b="1"/>
              <a:t>의 </a:t>
            </a:r>
            <a:r>
              <a:rPr lang="en-US" altLang="ko-KR" b="1"/>
              <a:t>UXTO</a:t>
            </a:r>
            <a:r>
              <a:rPr lang="ko-KR" altLang="en-US" b="1"/>
              <a:t>는 자신의 공개키</a:t>
            </a:r>
            <a:r>
              <a:rPr lang="en-US" altLang="ko-KR" b="1"/>
              <a:t>(</a:t>
            </a:r>
            <a:r>
              <a:rPr lang="ko-KR" altLang="en-US" b="1"/>
              <a:t>지갑주소</a:t>
            </a:r>
            <a:r>
              <a:rPr lang="en-US" altLang="ko-KR" b="1"/>
              <a:t>)</a:t>
            </a:r>
            <a:r>
              <a:rPr lang="ko-KR" altLang="en-US" b="1"/>
              <a:t>로 암호화 </a:t>
            </a:r>
            <a:r>
              <a:rPr lang="ko-KR" altLang="en-US" b="1" smtClean="0"/>
              <a:t>되어있음 </a:t>
            </a:r>
            <a:r>
              <a:rPr lang="en-US" altLang="ko-KR" b="1" smtClean="0">
                <a:sym typeface="Wingdings" panose="05000000000000000000" pitchFamily="2" charset="2"/>
              </a:rPr>
              <a:t></a:t>
            </a:r>
            <a:r>
              <a:rPr lang="en-US" altLang="ko-KR" b="1" smtClean="0"/>
              <a:t> </a:t>
            </a:r>
            <a:r>
              <a:rPr lang="ko-KR" altLang="en-US" b="1"/>
              <a:t>따라서 자신의 개인키로만 </a:t>
            </a:r>
            <a:r>
              <a:rPr lang="ko-KR" altLang="en-US" b="1" smtClean="0"/>
              <a:t>복호화할 </a:t>
            </a:r>
            <a:r>
              <a:rPr lang="ko-KR" altLang="en-US" b="1"/>
              <a:t>수 </a:t>
            </a:r>
            <a:r>
              <a:rPr lang="ko-KR" altLang="en-US" b="1" smtClean="0"/>
              <a:t>있음</a:t>
            </a:r>
            <a:endParaRPr lang="en-US" altLang="ko-KR" b="1" smtClean="0"/>
          </a:p>
          <a:p>
            <a:pPr lvl="2"/>
            <a:endParaRPr lang="en-US" altLang="ko-KR" b="1" smtClean="0"/>
          </a:p>
          <a:p>
            <a:pPr lvl="2"/>
            <a:r>
              <a:rPr lang="ko-KR" altLang="en-US" b="1" smtClean="0"/>
              <a:t>소유권을 </a:t>
            </a:r>
            <a:r>
              <a:rPr lang="ko-KR" altLang="en-US" b="1"/>
              <a:t>이동하려면 </a:t>
            </a:r>
            <a:r>
              <a:rPr lang="en-US" altLang="ko-KR" b="1"/>
              <a:t>A </a:t>
            </a:r>
            <a:r>
              <a:rPr lang="ko-KR" altLang="en-US" b="1"/>
              <a:t>자신의 개인키로 </a:t>
            </a:r>
            <a:r>
              <a:rPr lang="ko-KR" altLang="en-US" b="1" smtClean="0"/>
              <a:t>복호화하고 </a:t>
            </a:r>
            <a:r>
              <a:rPr lang="en-US" altLang="ko-KR" b="1"/>
              <a:t>B</a:t>
            </a:r>
            <a:r>
              <a:rPr lang="ko-KR" altLang="en-US" b="1"/>
              <a:t>의 공개키</a:t>
            </a:r>
            <a:r>
              <a:rPr lang="en-US" altLang="ko-KR" b="1"/>
              <a:t>(</a:t>
            </a:r>
            <a:r>
              <a:rPr lang="ko-KR" altLang="en-US" b="1"/>
              <a:t>주소</a:t>
            </a:r>
            <a:r>
              <a:rPr lang="en-US" altLang="ko-KR" b="1"/>
              <a:t>)</a:t>
            </a:r>
            <a:r>
              <a:rPr lang="ko-KR" altLang="en-US" b="1"/>
              <a:t>를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사용하여 </a:t>
            </a:r>
            <a:r>
              <a:rPr lang="ko-KR" altLang="en-US" b="1"/>
              <a:t>소유권을 </a:t>
            </a:r>
            <a:r>
              <a:rPr lang="ko-KR" altLang="en-US" b="1" smtClean="0"/>
              <a:t>넘겨줌</a:t>
            </a:r>
            <a:endParaRPr lang="en-US" altLang="ko-KR" b="1" smtClean="0"/>
          </a:p>
          <a:p>
            <a:pPr lvl="2"/>
            <a:endParaRPr lang="en-US" altLang="ko-KR" b="1"/>
          </a:p>
          <a:p>
            <a:pPr lvl="2"/>
            <a:r>
              <a:rPr lang="ko-KR" altLang="en-US" b="1"/>
              <a:t>소유권을 갖게된 </a:t>
            </a:r>
            <a:r>
              <a:rPr lang="en-US" altLang="ko-KR" b="1"/>
              <a:t>B </a:t>
            </a:r>
            <a:r>
              <a:rPr lang="ko-KR" altLang="en-US" b="1"/>
              <a:t>또한 같은 원리로 자신의 개인키만을 사용하여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소유권을 이동할 </a:t>
            </a:r>
            <a:r>
              <a:rPr lang="ko-KR" altLang="en-US" b="1"/>
              <a:t>수 </a:t>
            </a:r>
            <a:r>
              <a:rPr lang="ko-KR" altLang="en-US" b="1" smtClean="0"/>
              <a:t>있음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058244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>
                <a:solidFill>
                  <a:srgbClr val="C00000"/>
                </a:solidFill>
              </a:rPr>
              <a:t>UTXO</a:t>
            </a:r>
            <a:r>
              <a:rPr lang="ko-KR" altLang="en-US" b="1">
                <a:solidFill>
                  <a:srgbClr val="C00000"/>
                </a:solidFill>
              </a:rPr>
              <a:t>의 생성과 소멸</a:t>
            </a:r>
          </a:p>
          <a:p>
            <a:pPr lvl="1"/>
            <a:r>
              <a:rPr lang="ko-KR" altLang="en-US" b="1"/>
              <a:t>비트코인 플랫폼에서는 거래가 이루어질때 마다 </a:t>
            </a:r>
            <a:r>
              <a:rPr lang="en-US" altLang="ko-KR" b="1">
                <a:solidFill>
                  <a:srgbClr val="0000FF"/>
                </a:solidFill>
              </a:rPr>
              <a:t>UTXO</a:t>
            </a:r>
            <a:r>
              <a:rPr lang="ko-KR" altLang="en-US" b="1">
                <a:solidFill>
                  <a:srgbClr val="0000FF"/>
                </a:solidFill>
              </a:rPr>
              <a:t>의 소멸과 </a:t>
            </a:r>
            <a:r>
              <a:rPr lang="en-US" altLang="ko-KR" b="1" smtClean="0">
                <a:solidFill>
                  <a:srgbClr val="0000FF"/>
                </a:solidFill>
              </a:rPr>
              <a:t/>
            </a:r>
            <a:br>
              <a:rPr lang="en-US" altLang="ko-KR" b="1" smtClean="0">
                <a:solidFill>
                  <a:srgbClr val="0000FF"/>
                </a:solidFill>
              </a:rPr>
            </a:br>
            <a:r>
              <a:rPr lang="ko-KR" altLang="en-US" b="1" smtClean="0">
                <a:solidFill>
                  <a:srgbClr val="0000FF"/>
                </a:solidFill>
              </a:rPr>
              <a:t>생성이 반복됨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1"/>
            <a:endParaRPr lang="en-US" altLang="ko-KR" b="1" smtClean="0">
              <a:solidFill>
                <a:srgbClr val="0000FF"/>
              </a:solidFill>
            </a:endParaRPr>
          </a:p>
          <a:p>
            <a:pPr lvl="1"/>
            <a:r>
              <a:rPr lang="ko-KR" altLang="en-US" b="1" smtClean="0"/>
              <a:t>한번 </a:t>
            </a:r>
            <a:r>
              <a:rPr lang="ko-KR" altLang="en-US" b="1"/>
              <a:t>소비된 거래 정보는 두 번 다시 사용할 수 없으며</a:t>
            </a:r>
            <a:r>
              <a:rPr lang="en-US" altLang="ko-KR" b="1"/>
              <a:t>,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이렇게 </a:t>
            </a:r>
            <a:r>
              <a:rPr lang="ko-KR" altLang="en-US" b="1"/>
              <a:t>소비된 거래 </a:t>
            </a:r>
            <a:r>
              <a:rPr lang="ko-KR" altLang="en-US" b="1">
                <a:solidFill>
                  <a:srgbClr val="0000FF"/>
                </a:solidFill>
              </a:rPr>
              <a:t>정보를 </a:t>
            </a:r>
            <a:r>
              <a:rPr lang="en-US" altLang="ko-KR" b="1">
                <a:solidFill>
                  <a:srgbClr val="0000FF"/>
                </a:solidFill>
              </a:rPr>
              <a:t>Spent Transaction</a:t>
            </a:r>
            <a:r>
              <a:rPr lang="ko-KR" altLang="en-US" b="1"/>
              <a:t>이라고 </a:t>
            </a:r>
            <a:r>
              <a:rPr lang="ko-KR" altLang="en-US" b="1" smtClean="0"/>
              <a:t>표현함</a:t>
            </a:r>
            <a:endParaRPr lang="ko-KR" altLang="en-US" b="1"/>
          </a:p>
        </p:txBody>
      </p:sp>
      <p:pic>
        <p:nvPicPr>
          <p:cNvPr id="18434" name="Picture 2" descr="https://velog.velcdn.com/images/choyeah/post/da4fc646-90d8-45e7-bf5a-b7144e26ec29/image.pn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717032"/>
            <a:ext cx="3407718" cy="275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572000" y="4294382"/>
            <a:ext cx="4259352" cy="16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/>
              <a:t>A, B</a:t>
            </a:r>
            <a:r>
              <a:rPr lang="ko-KR" altLang="en-US" sz="1400" b="1"/>
              <a:t>가 </a:t>
            </a:r>
            <a:r>
              <a:rPr lang="en-US" altLang="ko-KR" sz="1400" b="1"/>
              <a:t>F</a:t>
            </a:r>
            <a:r>
              <a:rPr lang="ko-KR" altLang="en-US" sz="1400" b="1"/>
              <a:t>에게 각 </a:t>
            </a:r>
            <a:r>
              <a:rPr lang="en-US" altLang="ko-KR" sz="1400" b="1"/>
              <a:t>1BTC, 2BTC</a:t>
            </a:r>
            <a:r>
              <a:rPr lang="ko-KR" altLang="en-US" sz="1400" b="1"/>
              <a:t>를 송금해주면 </a:t>
            </a:r>
            <a:r>
              <a:rPr lang="en-US" altLang="ko-KR" sz="1400" b="1" smtClean="0"/>
              <a:t/>
            </a:r>
            <a:br>
              <a:rPr lang="en-US" altLang="ko-KR" sz="1400" b="1" smtClean="0"/>
            </a:br>
            <a:r>
              <a:rPr lang="en-US" altLang="ko-KR" sz="1400" b="1" smtClean="0"/>
              <a:t>F</a:t>
            </a:r>
            <a:r>
              <a:rPr lang="ko-KR" altLang="en-US" sz="1400" b="1"/>
              <a:t>는 </a:t>
            </a:r>
            <a:r>
              <a:rPr lang="en-US" altLang="ko-KR" sz="1400" b="1"/>
              <a:t>2</a:t>
            </a:r>
            <a:r>
              <a:rPr lang="ko-KR" altLang="en-US" sz="1400" b="1"/>
              <a:t>개의 </a:t>
            </a:r>
            <a:r>
              <a:rPr lang="en-US" altLang="ko-KR" sz="1400" b="1"/>
              <a:t>UTXO</a:t>
            </a:r>
            <a:r>
              <a:rPr lang="ko-KR" altLang="en-US" sz="1400" b="1"/>
              <a:t>가 </a:t>
            </a:r>
            <a:r>
              <a:rPr lang="ko-KR" altLang="en-US" sz="1400" b="1" smtClean="0"/>
              <a:t>생성되고 </a:t>
            </a:r>
            <a:r>
              <a:rPr lang="en-US" altLang="ko-KR" sz="1400" b="1" smtClean="0"/>
              <a:t>A</a:t>
            </a:r>
            <a:r>
              <a:rPr lang="en-US" altLang="ko-KR" sz="1400" b="1"/>
              <a:t>, B</a:t>
            </a:r>
            <a:r>
              <a:rPr lang="ko-KR" altLang="en-US" sz="1400" b="1"/>
              <a:t>는 송금에 </a:t>
            </a:r>
            <a:r>
              <a:rPr lang="en-US" altLang="ko-KR" sz="1400" b="1" smtClean="0"/>
              <a:t/>
            </a:r>
            <a:br>
              <a:rPr lang="en-US" altLang="ko-KR" sz="1400" b="1" smtClean="0"/>
            </a:br>
            <a:r>
              <a:rPr lang="ko-KR" altLang="en-US" sz="1400" b="1" smtClean="0"/>
              <a:t>사용된 </a:t>
            </a:r>
            <a:r>
              <a:rPr lang="en-US" altLang="ko-KR" sz="1400" b="1"/>
              <a:t>UTXO</a:t>
            </a:r>
            <a:r>
              <a:rPr lang="ko-KR" altLang="en-US" sz="1400" b="1"/>
              <a:t>가 소멸될 </a:t>
            </a:r>
            <a:r>
              <a:rPr lang="ko-KR" altLang="en-US" sz="1400" b="1" smtClean="0"/>
              <a:t>것임</a:t>
            </a:r>
            <a:endParaRPr lang="en-US" altLang="ko-KR" sz="1400" b="1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smtClean="0"/>
              <a:t>C</a:t>
            </a:r>
            <a:r>
              <a:rPr lang="en-US" altLang="ko-KR" sz="1400" b="1"/>
              <a:t>, D, E</a:t>
            </a:r>
            <a:r>
              <a:rPr lang="ko-KR" altLang="en-US" sz="1400" b="1"/>
              <a:t>가 </a:t>
            </a:r>
            <a:r>
              <a:rPr lang="en-US" altLang="ko-KR" sz="1400" b="1"/>
              <a:t>G</a:t>
            </a:r>
            <a:r>
              <a:rPr lang="ko-KR" altLang="en-US" sz="1400" b="1"/>
              <a:t>에게 </a:t>
            </a:r>
            <a:r>
              <a:rPr lang="en-US" altLang="ko-KR" sz="1400" b="1"/>
              <a:t>3BTC, 4BTC, 10BTC</a:t>
            </a:r>
            <a:r>
              <a:rPr lang="ko-KR" altLang="en-US" sz="1400" b="1"/>
              <a:t>를 송금을 </a:t>
            </a:r>
            <a:r>
              <a:rPr lang="en-US" altLang="ko-KR" sz="1400" b="1" smtClean="0"/>
              <a:t/>
            </a:r>
            <a:br>
              <a:rPr lang="en-US" altLang="ko-KR" sz="1400" b="1" smtClean="0"/>
            </a:br>
            <a:r>
              <a:rPr lang="ko-KR" altLang="en-US" sz="1400" b="1" smtClean="0"/>
              <a:t>하면 </a:t>
            </a:r>
            <a:r>
              <a:rPr lang="en-US" altLang="ko-KR" sz="1400" b="1"/>
              <a:t>G</a:t>
            </a:r>
            <a:r>
              <a:rPr lang="ko-KR" altLang="en-US" sz="1400" b="1"/>
              <a:t>는 </a:t>
            </a:r>
            <a:r>
              <a:rPr lang="en-US" altLang="ko-KR" sz="1400" b="1"/>
              <a:t>3</a:t>
            </a:r>
            <a:r>
              <a:rPr lang="ko-KR" altLang="en-US" sz="1400" b="1"/>
              <a:t>개의 </a:t>
            </a:r>
            <a:r>
              <a:rPr lang="en-US" altLang="ko-KR" sz="1400" b="1"/>
              <a:t>UTXO</a:t>
            </a:r>
            <a:r>
              <a:rPr lang="ko-KR" altLang="en-US" sz="1400" b="1"/>
              <a:t>가 </a:t>
            </a:r>
            <a:r>
              <a:rPr lang="ko-KR" altLang="en-US" sz="1400" b="1" smtClean="0"/>
              <a:t>생성되고 </a:t>
            </a:r>
            <a:r>
              <a:rPr lang="en-US" altLang="ko-KR" sz="1400" b="1" smtClean="0"/>
              <a:t>C</a:t>
            </a:r>
            <a:r>
              <a:rPr lang="en-US" altLang="ko-KR" sz="1400" b="1"/>
              <a:t>, D, E </a:t>
            </a:r>
            <a:r>
              <a:rPr lang="ko-KR" altLang="en-US" sz="1400" b="1"/>
              <a:t>각각 송금에 사용된 </a:t>
            </a:r>
            <a:r>
              <a:rPr lang="en-US" altLang="ko-KR" sz="1400" b="1"/>
              <a:t>UTXO</a:t>
            </a:r>
            <a:r>
              <a:rPr lang="ko-KR" altLang="en-US" sz="1400" b="1"/>
              <a:t>는 소멸될 </a:t>
            </a:r>
            <a:r>
              <a:rPr lang="ko-KR" altLang="en-US" sz="1400" b="1" smtClean="0"/>
              <a:t>것임</a:t>
            </a:r>
            <a:endParaRPr lang="en-US" altLang="ko-KR" sz="1400" b="1"/>
          </a:p>
        </p:txBody>
      </p:sp>
    </p:spTree>
    <p:extLst>
      <p:ext uri="{BB962C8B-B14F-4D97-AF65-F5344CB8AC3E}">
        <p14:creationId xmlns:p14="http://schemas.microsoft.com/office/powerpoint/2010/main" val="2797834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예 </a:t>
            </a:r>
            <a:r>
              <a:rPr lang="en-US" altLang="ko-KR" smtClean="0"/>
              <a:t>1) </a:t>
            </a:r>
            <a:r>
              <a:rPr lang="ko-KR" altLang="en-US" smtClean="0"/>
              <a:t>지갑주소 </a:t>
            </a:r>
            <a:r>
              <a:rPr lang="en-US" altLang="ko-KR" smtClean="0"/>
              <a:t>G</a:t>
            </a:r>
            <a:r>
              <a:rPr lang="ko-KR" altLang="en-US" smtClean="0"/>
              <a:t>에서 </a:t>
            </a:r>
            <a:r>
              <a:rPr lang="en-US" altLang="ko-KR" smtClean="0"/>
              <a:t>H</a:t>
            </a:r>
            <a:r>
              <a:rPr lang="ko-KR" altLang="en-US" smtClean="0"/>
              <a:t>로 </a:t>
            </a:r>
            <a:r>
              <a:rPr lang="en-US" altLang="ko-KR" smtClean="0"/>
              <a:t>9BTC </a:t>
            </a:r>
            <a:r>
              <a:rPr lang="ko-KR" altLang="en-US" smtClean="0"/>
              <a:t>송금</a:t>
            </a:r>
            <a:r>
              <a:rPr lang="en-US" altLang="ko-KR" smtClean="0"/>
              <a:t>	</a:t>
            </a:r>
          </a:p>
          <a:p>
            <a:pPr lvl="1"/>
            <a:r>
              <a:rPr lang="ko-KR" altLang="en-US" smtClean="0"/>
              <a:t>① </a:t>
            </a:r>
            <a:r>
              <a:rPr lang="en-US" altLang="ko-KR" smtClean="0"/>
              <a:t>G</a:t>
            </a:r>
            <a:r>
              <a:rPr lang="ko-KR" altLang="en-US" smtClean="0"/>
              <a:t>의 </a:t>
            </a:r>
            <a:r>
              <a:rPr lang="en-US" altLang="ko-KR" smtClean="0"/>
              <a:t>UTXO </a:t>
            </a:r>
            <a:r>
              <a:rPr lang="ko-KR" altLang="en-US" smtClean="0"/>
              <a:t>중 </a:t>
            </a:r>
            <a:r>
              <a:rPr lang="en-US" altLang="ko-KR" smtClean="0"/>
              <a:t>9BTC </a:t>
            </a:r>
            <a:r>
              <a:rPr lang="ko-KR" altLang="en-US" smtClean="0"/>
              <a:t>이상인 </a:t>
            </a:r>
            <a:r>
              <a:rPr lang="en-US" altLang="ko-KR" smtClean="0">
                <a:solidFill>
                  <a:srgbClr val="006600"/>
                </a:solidFill>
              </a:rPr>
              <a:t>UTXO </a:t>
            </a:r>
            <a:r>
              <a:rPr lang="en-US" altLang="ko-KR">
                <a:solidFill>
                  <a:srgbClr val="006600"/>
                </a:solidFill>
              </a:rPr>
              <a:t>10BTC </a:t>
            </a:r>
            <a:r>
              <a:rPr lang="ko-KR" altLang="en-US" smtClean="0">
                <a:solidFill>
                  <a:srgbClr val="006600"/>
                </a:solidFill>
              </a:rPr>
              <a:t>선택 </a:t>
            </a:r>
            <a:r>
              <a:rPr lang="ko-KR" altLang="en-US" smtClean="0"/>
              <a:t>→ </a:t>
            </a:r>
            <a:r>
              <a:rPr lang="en-US" altLang="ko-KR"/>
              <a:t>H</a:t>
            </a:r>
            <a:r>
              <a:rPr lang="ko-KR" altLang="en-US" smtClean="0"/>
              <a:t>로 </a:t>
            </a:r>
            <a:r>
              <a:rPr lang="en-US" altLang="ko-KR" smtClean="0"/>
              <a:t>9BTC </a:t>
            </a:r>
            <a:r>
              <a:rPr lang="ko-KR" altLang="en-US" smtClean="0"/>
              <a:t>송금</a:t>
            </a:r>
            <a:endParaRPr lang="en-US" altLang="ko-KR" smtClean="0"/>
          </a:p>
          <a:p>
            <a:pPr lvl="1"/>
            <a:r>
              <a:rPr lang="ko-KR" altLang="en-US" smtClean="0"/>
              <a:t>② 남은</a:t>
            </a:r>
            <a:r>
              <a:rPr lang="en-US" altLang="ko-KR"/>
              <a:t>1BTC</a:t>
            </a:r>
            <a:r>
              <a:rPr lang="ko-KR" altLang="en-US" smtClean="0"/>
              <a:t>를 </a:t>
            </a:r>
            <a:r>
              <a:rPr lang="en-US" altLang="ko-KR" smtClean="0"/>
              <a:t>G </a:t>
            </a:r>
            <a:r>
              <a:rPr lang="ko-KR" altLang="en-US" smtClean="0"/>
              <a:t>지갑으로 전송</a:t>
            </a:r>
            <a:endParaRPr lang="en-US" altLang="ko-KR" smtClean="0"/>
          </a:p>
          <a:p>
            <a:pPr lvl="1"/>
            <a:r>
              <a:rPr lang="ko-KR" altLang="en-US" smtClean="0"/>
              <a:t>③ </a:t>
            </a:r>
            <a:r>
              <a:rPr lang="en-US" altLang="ko-KR" smtClean="0"/>
              <a:t>G</a:t>
            </a:r>
            <a:r>
              <a:rPr lang="ko-KR" altLang="en-US" smtClean="0"/>
              <a:t>의 </a:t>
            </a:r>
            <a:r>
              <a:rPr lang="en-US" altLang="ko-KR" smtClean="0"/>
              <a:t>UTXO(10BTC</a:t>
            </a:r>
            <a:r>
              <a:rPr lang="en-US" altLang="ko-KR"/>
              <a:t>)</a:t>
            </a:r>
            <a:r>
              <a:rPr lang="ko-KR" altLang="en-US"/>
              <a:t>는</a:t>
            </a:r>
            <a:r>
              <a:rPr lang="en-US" altLang="ko-KR"/>
              <a:t>1BTC</a:t>
            </a:r>
            <a:r>
              <a:rPr lang="ko-KR" altLang="en-US" smtClean="0"/>
              <a:t>로 확정</a:t>
            </a:r>
            <a:endParaRPr lang="ko-KR" altLang="en-US" b="0"/>
          </a:p>
          <a:p>
            <a:pPr lvl="2"/>
            <a:endParaRPr lang="ko-KR" altLang="en-US"/>
          </a:p>
          <a:p>
            <a:pPr lvl="1"/>
            <a:endParaRPr lang="en-US" altLang="ko-KR" smtClean="0">
              <a:solidFill>
                <a:schemeClr val="tx1"/>
              </a:solidFill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177" y="3251287"/>
            <a:ext cx="7124700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939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예 </a:t>
            </a:r>
            <a:r>
              <a:rPr lang="en-US" altLang="ko-KR" smtClean="0"/>
              <a:t>2) </a:t>
            </a:r>
            <a:r>
              <a:rPr lang="ko-KR" altLang="en-US" smtClean="0"/>
              <a:t>지갑주소 </a:t>
            </a:r>
            <a:r>
              <a:rPr lang="en-US" altLang="ko-KR" smtClean="0"/>
              <a:t>A</a:t>
            </a:r>
            <a:r>
              <a:rPr lang="ko-KR" altLang="en-US" smtClean="0"/>
              <a:t>에서 </a:t>
            </a:r>
            <a:r>
              <a:rPr lang="en-US" altLang="ko-KR" smtClean="0"/>
              <a:t>10BTC</a:t>
            </a:r>
            <a:r>
              <a:rPr lang="ko-KR" altLang="en-US" smtClean="0"/>
              <a:t>와 </a:t>
            </a:r>
            <a:r>
              <a:rPr lang="en-US" altLang="ko-KR" smtClean="0"/>
              <a:t>5BTC </a:t>
            </a:r>
            <a:r>
              <a:rPr lang="ko-KR" altLang="en-US" smtClean="0"/>
              <a:t>두개의 </a:t>
            </a:r>
            <a:r>
              <a:rPr lang="en-US" altLang="ko-KR" smtClean="0"/>
              <a:t>UTXO</a:t>
            </a:r>
            <a:r>
              <a:rPr lang="ko-KR" altLang="en-US" smtClean="0"/>
              <a:t>를 사용하여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B</a:t>
            </a:r>
            <a:r>
              <a:rPr lang="ko-KR" altLang="en-US" smtClean="0"/>
              <a:t>로 </a:t>
            </a:r>
            <a:r>
              <a:rPr lang="en-US" altLang="ko-KR" smtClean="0"/>
              <a:t>12BTC </a:t>
            </a:r>
            <a:r>
              <a:rPr lang="ko-KR" altLang="en-US" smtClean="0"/>
              <a:t>송금</a:t>
            </a:r>
            <a:endParaRPr lang="en-US" altLang="ko-KR" smtClean="0"/>
          </a:p>
          <a:p>
            <a:pPr lvl="1"/>
            <a:r>
              <a:rPr lang="ko-KR" altLang="en-US"/>
              <a:t>거래에서 </a:t>
            </a:r>
            <a:r>
              <a:rPr lang="ko-KR" altLang="en-US">
                <a:solidFill>
                  <a:srgbClr val="006600"/>
                </a:solidFill>
              </a:rPr>
              <a:t>소비하고자 하는 </a:t>
            </a:r>
            <a:r>
              <a:rPr lang="en-US" altLang="ko-KR">
                <a:solidFill>
                  <a:srgbClr val="006600"/>
                </a:solidFill>
              </a:rPr>
              <a:t>UTXO</a:t>
            </a:r>
            <a:r>
              <a:rPr lang="ko-KR" altLang="en-US">
                <a:solidFill>
                  <a:srgbClr val="006600"/>
                </a:solidFill>
              </a:rPr>
              <a:t>가 입력 값이며</a:t>
            </a:r>
            <a:r>
              <a:rPr lang="en-US" altLang="ko-KR">
                <a:solidFill>
                  <a:srgbClr val="006600"/>
                </a:solidFill>
              </a:rPr>
              <a:t>, </a:t>
            </a:r>
            <a:r>
              <a:rPr lang="ko-KR" altLang="en-US">
                <a:solidFill>
                  <a:srgbClr val="006600"/>
                </a:solidFill>
              </a:rPr>
              <a:t>새로 만들어지는 </a:t>
            </a:r>
            <a:r>
              <a:rPr lang="en-US" altLang="ko-KR">
                <a:solidFill>
                  <a:srgbClr val="006600"/>
                </a:solidFill>
              </a:rPr>
              <a:t/>
            </a:r>
            <a:br>
              <a:rPr lang="en-US" altLang="ko-KR">
                <a:solidFill>
                  <a:srgbClr val="006600"/>
                </a:solidFill>
              </a:rPr>
            </a:br>
            <a:r>
              <a:rPr lang="en-US" altLang="ko-KR">
                <a:solidFill>
                  <a:srgbClr val="006600"/>
                </a:solidFill>
              </a:rPr>
              <a:t>UTXO</a:t>
            </a:r>
            <a:r>
              <a:rPr lang="ko-KR" altLang="en-US">
                <a:solidFill>
                  <a:srgbClr val="006600"/>
                </a:solidFill>
              </a:rPr>
              <a:t>가 </a:t>
            </a:r>
            <a:r>
              <a:rPr lang="ko-KR" altLang="en-US" smtClean="0">
                <a:solidFill>
                  <a:srgbClr val="006600"/>
                </a:solidFill>
              </a:rPr>
              <a:t>출력값</a:t>
            </a:r>
            <a:endParaRPr lang="en-US" altLang="ko-KR" smtClean="0">
              <a:solidFill>
                <a:srgbClr val="006600"/>
              </a:solidFill>
            </a:endParaRPr>
          </a:p>
          <a:p>
            <a:pPr lvl="1"/>
            <a:endParaRPr lang="ko-KR" altLang="en-US">
              <a:solidFill>
                <a:srgbClr val="006600"/>
              </a:solidFill>
            </a:endParaRPr>
          </a:p>
          <a:p>
            <a:pPr lvl="2"/>
            <a:r>
              <a:rPr lang="ko-KR" altLang="en-US" smtClean="0"/>
              <a:t>지갑 </a:t>
            </a:r>
            <a:r>
              <a:rPr lang="en-US" altLang="ko-KR" smtClean="0"/>
              <a:t>A</a:t>
            </a:r>
            <a:r>
              <a:rPr lang="ko-KR" altLang="en-US"/>
              <a:t>에서</a:t>
            </a:r>
            <a:r>
              <a:rPr lang="en-US" altLang="ko-KR"/>
              <a:t>10BTC</a:t>
            </a:r>
            <a:r>
              <a:rPr lang="ko-KR" altLang="en-US" smtClean="0"/>
              <a:t>와 </a:t>
            </a:r>
            <a:r>
              <a:rPr lang="en-US" altLang="ko-KR" smtClean="0"/>
              <a:t>5BTC </a:t>
            </a:r>
            <a:r>
              <a:rPr lang="ko-KR" altLang="en-US" smtClean="0"/>
              <a:t>소비되었으므로 더 이상 </a:t>
            </a:r>
            <a:r>
              <a:rPr lang="en-US" altLang="ko-KR" smtClean="0"/>
              <a:t>UTXO</a:t>
            </a:r>
            <a:r>
              <a:rPr lang="ko-KR" altLang="en-US" smtClean="0"/>
              <a:t>가 아님</a:t>
            </a:r>
            <a:endParaRPr lang="ko-KR" altLang="en-US"/>
          </a:p>
          <a:p>
            <a:pPr lvl="2"/>
            <a:r>
              <a:rPr lang="en-US" altLang="ko-KR" smtClean="0"/>
              <a:t>A</a:t>
            </a:r>
            <a:r>
              <a:rPr lang="ko-KR" altLang="en-US" smtClean="0"/>
              <a:t>에게 잔금을 송금하지 않으면 </a:t>
            </a:r>
            <a:r>
              <a:rPr lang="en-US" altLang="ko-KR" smtClean="0"/>
              <a:t>3BTC</a:t>
            </a:r>
            <a:r>
              <a:rPr lang="ko-KR" altLang="en-US" smtClean="0"/>
              <a:t>가 모두 수수료로 지불됨</a:t>
            </a:r>
            <a:endParaRPr lang="ko-KR" altLang="en-US"/>
          </a:p>
          <a:p>
            <a:pPr lvl="2"/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2.95BTC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를 다시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로 송금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수수료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0.05BTC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가 수수료로 자동 지불됨</a:t>
            </a:r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r>
              <a:rPr lang="ko-KR" altLang="en-US" smtClean="0"/>
              <a:t>두 개의 </a:t>
            </a:r>
            <a:r>
              <a:rPr lang="en-US" altLang="ko-KR" smtClean="0"/>
              <a:t>UTXO</a:t>
            </a:r>
            <a:r>
              <a:rPr lang="ko-KR" altLang="en-US" smtClean="0"/>
              <a:t>가 새로 탄생 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smtClean="0"/>
              <a:t> </a:t>
            </a:r>
            <a:r>
              <a:rPr lang="en-US" altLang="ko-KR"/>
              <a:t>B</a:t>
            </a:r>
            <a:r>
              <a:rPr lang="ko-KR" altLang="en-US" smtClean="0"/>
              <a:t>앞으로 된 </a:t>
            </a:r>
            <a:r>
              <a:rPr lang="en-US" altLang="ko-KR" smtClean="0"/>
              <a:t>12BTC</a:t>
            </a:r>
            <a:r>
              <a:rPr lang="ko-KR" altLang="en-US" smtClean="0"/>
              <a:t>와 </a:t>
            </a:r>
            <a:r>
              <a:rPr lang="en-US" altLang="ko-KR" smtClean="0"/>
              <a:t>A</a:t>
            </a:r>
            <a:r>
              <a:rPr lang="ko-KR" altLang="en-US" smtClean="0"/>
              <a:t>로 보낸 </a:t>
            </a:r>
            <a:r>
              <a:rPr lang="en-US" altLang="ko-KR" smtClean="0"/>
              <a:t>2.95BTC</a:t>
            </a:r>
            <a:endParaRPr lang="ko-KR" altLang="en-US"/>
          </a:p>
          <a:p>
            <a:pPr lvl="2"/>
            <a:endParaRPr lang="ko-KR" altLang="en-US"/>
          </a:p>
          <a:p>
            <a:pPr lvl="1"/>
            <a:endParaRPr lang="en-US" altLang="ko-KR" smtClean="0">
              <a:solidFill>
                <a:schemeClr val="tx1"/>
              </a:solidFill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82" y="4581128"/>
            <a:ext cx="5505450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8920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/>
              <a:t>장점</a:t>
            </a:r>
          </a:p>
          <a:p>
            <a:pPr lvl="1"/>
            <a:r>
              <a:rPr lang="ko-KR" altLang="en-US" b="1">
                <a:solidFill>
                  <a:schemeClr val="tx1"/>
                </a:solidFill>
              </a:rPr>
              <a:t>인출이 일어날 때 </a:t>
            </a:r>
            <a:r>
              <a:rPr lang="en-US" altLang="ko-KR" b="1">
                <a:solidFill>
                  <a:schemeClr val="tx1"/>
                </a:solidFill>
              </a:rPr>
              <a:t>UTXO</a:t>
            </a:r>
            <a:r>
              <a:rPr lang="ko-KR" altLang="en-US" b="1">
                <a:solidFill>
                  <a:schemeClr val="tx1"/>
                </a:solidFill>
              </a:rPr>
              <a:t>는 바로 사라지므로 </a:t>
            </a:r>
            <a:r>
              <a:rPr lang="ko-KR" altLang="en-US" b="1">
                <a:solidFill>
                  <a:srgbClr val="006600"/>
                </a:solidFill>
              </a:rPr>
              <a:t>정확한 사용 내역을 </a:t>
            </a:r>
            <a:r>
              <a:rPr lang="en-US" altLang="ko-KR" b="1" smtClean="0">
                <a:solidFill>
                  <a:srgbClr val="006600"/>
                </a:solidFill>
              </a:rPr>
              <a:t/>
            </a:r>
            <a:br>
              <a:rPr lang="en-US" altLang="ko-KR" b="1" smtClean="0">
                <a:solidFill>
                  <a:srgbClr val="006600"/>
                </a:solidFill>
              </a:rPr>
            </a:br>
            <a:r>
              <a:rPr lang="ko-KR" altLang="en-US" b="1" smtClean="0">
                <a:solidFill>
                  <a:srgbClr val="006600"/>
                </a:solidFill>
              </a:rPr>
              <a:t>파악하기 </a:t>
            </a:r>
            <a:r>
              <a:rPr lang="ko-KR" altLang="en-US" b="1">
                <a:solidFill>
                  <a:srgbClr val="006600"/>
                </a:solidFill>
              </a:rPr>
              <a:t>어려워 프라이버시가 </a:t>
            </a:r>
            <a:r>
              <a:rPr lang="ko-KR" altLang="en-US" b="1" smtClean="0">
                <a:solidFill>
                  <a:srgbClr val="006600"/>
                </a:solidFill>
              </a:rPr>
              <a:t>보장</a:t>
            </a:r>
            <a:endParaRPr lang="en-US" altLang="ko-KR" b="1">
              <a:solidFill>
                <a:srgbClr val="006600"/>
              </a:solidFill>
            </a:endParaRPr>
          </a:p>
          <a:p>
            <a:pPr lvl="1"/>
            <a:r>
              <a:rPr lang="ko-KR" altLang="en-US" b="1">
                <a:solidFill>
                  <a:schemeClr val="tx1"/>
                </a:solidFill>
              </a:rPr>
              <a:t>거래를 저장하는 필드에 거래를 진행한 사람의 지갑 번호가 적혀있기 때문에 유효성을 </a:t>
            </a:r>
            <a:r>
              <a:rPr lang="ko-KR" altLang="en-US" b="1" smtClean="0">
                <a:solidFill>
                  <a:schemeClr val="tx1"/>
                </a:solidFill>
              </a:rPr>
              <a:t>확인 가능</a:t>
            </a:r>
            <a:endParaRPr lang="en-US" altLang="ko-KR" b="1">
              <a:solidFill>
                <a:schemeClr val="tx1"/>
              </a:solidFill>
            </a:endParaRPr>
          </a:p>
          <a:p>
            <a:pPr lvl="1"/>
            <a:r>
              <a:rPr lang="en-US" altLang="ko-KR" b="1">
                <a:solidFill>
                  <a:srgbClr val="006600"/>
                </a:solidFill>
              </a:rPr>
              <a:t>Tx Pool</a:t>
            </a:r>
            <a:r>
              <a:rPr lang="ko-KR" altLang="en-US" b="1">
                <a:solidFill>
                  <a:srgbClr val="006600"/>
                </a:solidFill>
              </a:rPr>
              <a:t>을 통해 검증을 하기에 거래에서의 이중 지불과 같은 문제를 </a:t>
            </a:r>
            <a:r>
              <a:rPr lang="en-US" altLang="ko-KR" b="1" smtClean="0">
                <a:solidFill>
                  <a:srgbClr val="006600"/>
                </a:solidFill>
              </a:rPr>
              <a:t/>
            </a:r>
            <a:br>
              <a:rPr lang="en-US" altLang="ko-KR" b="1" smtClean="0">
                <a:solidFill>
                  <a:srgbClr val="006600"/>
                </a:solidFill>
              </a:rPr>
            </a:br>
            <a:r>
              <a:rPr lang="ko-KR" altLang="en-US" b="1" smtClean="0">
                <a:solidFill>
                  <a:srgbClr val="006600"/>
                </a:solidFill>
              </a:rPr>
              <a:t>효율적으로 방지</a:t>
            </a:r>
            <a:endParaRPr lang="en-US" altLang="ko-KR" b="1">
              <a:solidFill>
                <a:srgbClr val="006600"/>
              </a:solidFill>
            </a:endParaRPr>
          </a:p>
          <a:p>
            <a:r>
              <a:rPr lang="ko-KR" altLang="en-US" b="1"/>
              <a:t>단점</a:t>
            </a:r>
          </a:p>
          <a:p>
            <a:pPr lvl="1"/>
            <a:r>
              <a:rPr lang="en-US" altLang="ko-KR" b="1">
                <a:solidFill>
                  <a:schemeClr val="accent6">
                    <a:lumMod val="75000"/>
                  </a:schemeClr>
                </a:solidFill>
              </a:rPr>
              <a:t>UTXO </a:t>
            </a:r>
            <a:r>
              <a:rPr lang="ko-KR" altLang="en-US" b="1">
                <a:solidFill>
                  <a:schemeClr val="accent6">
                    <a:lumMod val="75000"/>
                  </a:schemeClr>
                </a:solidFill>
              </a:rPr>
              <a:t>마다 수수료가 부과되기 때문에 </a:t>
            </a:r>
            <a:r>
              <a:rPr lang="ko-KR" altLang="en-US" b="1">
                <a:solidFill>
                  <a:schemeClr val="tx1"/>
                </a:solidFill>
              </a:rPr>
              <a:t>다량의 비트코인 인출 시 </a:t>
            </a:r>
            <a:r>
              <a:rPr lang="en-US" altLang="ko-KR" b="1" smtClean="0">
                <a:solidFill>
                  <a:schemeClr val="tx1"/>
                </a:solidFill>
              </a:rPr>
              <a:t/>
            </a:r>
            <a:br>
              <a:rPr lang="en-US" altLang="ko-KR" b="1" smtClean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다량의 </a:t>
            </a:r>
            <a:r>
              <a:rPr lang="en-US" altLang="ko-KR" b="1">
                <a:solidFill>
                  <a:schemeClr val="tx1"/>
                </a:solidFill>
              </a:rPr>
              <a:t>UTXO</a:t>
            </a:r>
            <a:r>
              <a:rPr lang="ko-KR" altLang="en-US" b="1">
                <a:solidFill>
                  <a:schemeClr val="tx1"/>
                </a:solidFill>
              </a:rPr>
              <a:t>가 사용되는 경우 많은 수수료가 </a:t>
            </a:r>
            <a:r>
              <a:rPr lang="ko-KR" altLang="en-US" b="1" smtClean="0">
                <a:solidFill>
                  <a:schemeClr val="tx1"/>
                </a:solidFill>
              </a:rPr>
              <a:t>부과</a:t>
            </a:r>
            <a:endParaRPr lang="en-US" altLang="ko-KR" b="1">
              <a:solidFill>
                <a:schemeClr val="tx1"/>
              </a:solidFill>
            </a:endParaRPr>
          </a:p>
          <a:p>
            <a:pPr lvl="1"/>
            <a:r>
              <a:rPr lang="ko-KR" altLang="en-US" b="1">
                <a:solidFill>
                  <a:schemeClr val="tx1"/>
                </a:solidFill>
              </a:rPr>
              <a:t>사용자 간 거래 뿐 아니라 채굴로 생기는 코인베이스 </a:t>
            </a:r>
            <a:r>
              <a:rPr lang="ko-KR" altLang="en-US" b="1" smtClean="0">
                <a:solidFill>
                  <a:schemeClr val="tx1"/>
                </a:solidFill>
              </a:rPr>
              <a:t>거래</a:t>
            </a:r>
            <a:r>
              <a:rPr lang="en-US" altLang="ko-KR" sz="1200" b="1" baseline="30000" smtClean="0">
                <a:solidFill>
                  <a:schemeClr val="tx1"/>
                </a:solidFill>
              </a:rPr>
              <a:t>(</a:t>
            </a:r>
            <a:r>
              <a:rPr lang="ko-KR" altLang="en-US" sz="1200" b="1" baseline="30000" smtClean="0">
                <a:solidFill>
                  <a:schemeClr val="tx1"/>
                </a:solidFill>
              </a:rPr>
              <a:t>채굴자가 </a:t>
            </a:r>
            <a:r>
              <a:rPr lang="ko-KR" altLang="en-US" sz="1200" b="1" baseline="30000">
                <a:solidFill>
                  <a:schemeClr val="tx1"/>
                </a:solidFill>
              </a:rPr>
              <a:t>특정 블록을 </a:t>
            </a:r>
            <a:r>
              <a:rPr lang="en-US" altLang="ko-KR" sz="1200" b="1" baseline="30000" smtClean="0">
                <a:solidFill>
                  <a:schemeClr val="tx1"/>
                </a:solidFill>
              </a:rPr>
              <a:t/>
            </a:r>
            <a:br>
              <a:rPr lang="en-US" altLang="ko-KR" sz="1200" b="1" baseline="30000" smtClean="0">
                <a:solidFill>
                  <a:schemeClr val="tx1"/>
                </a:solidFill>
              </a:rPr>
            </a:br>
            <a:r>
              <a:rPr lang="ko-KR" altLang="en-US" sz="1200" b="1" baseline="30000" smtClean="0">
                <a:solidFill>
                  <a:schemeClr val="tx1"/>
                </a:solidFill>
              </a:rPr>
              <a:t>성공적으로 </a:t>
            </a:r>
            <a:r>
              <a:rPr lang="ko-KR" altLang="en-US" sz="1200" b="1" baseline="30000">
                <a:solidFill>
                  <a:schemeClr val="tx1"/>
                </a:solidFill>
              </a:rPr>
              <a:t>채굴했을 때 받는 보상으로</a:t>
            </a:r>
            <a:r>
              <a:rPr lang="en-US" altLang="ko-KR" sz="1200" b="1" baseline="30000">
                <a:solidFill>
                  <a:schemeClr val="tx1"/>
                </a:solidFill>
              </a:rPr>
              <a:t>, </a:t>
            </a:r>
            <a:r>
              <a:rPr lang="ko-KR" altLang="en-US" sz="1200" b="1" baseline="30000">
                <a:solidFill>
                  <a:schemeClr val="tx1"/>
                </a:solidFill>
              </a:rPr>
              <a:t>기존에 존재하지 않던 새로운 코인을 생성하여 채굴자에게 지급하는 </a:t>
            </a:r>
            <a:r>
              <a:rPr lang="ko-KR" altLang="en-US" sz="1200" b="1" baseline="30000" smtClean="0">
                <a:solidFill>
                  <a:schemeClr val="tx1"/>
                </a:solidFill>
              </a:rPr>
              <a:t>거래</a:t>
            </a:r>
            <a:r>
              <a:rPr lang="en-US" altLang="ko-KR" sz="1200" b="1" baseline="30000" smtClean="0">
                <a:solidFill>
                  <a:schemeClr val="tx1"/>
                </a:solidFill>
              </a:rPr>
              <a:t>) </a:t>
            </a:r>
            <a:r>
              <a:rPr lang="ko-KR" altLang="en-US" b="1" smtClean="0">
                <a:solidFill>
                  <a:schemeClr val="tx1"/>
                </a:solidFill>
              </a:rPr>
              <a:t>와 </a:t>
            </a:r>
            <a:r>
              <a:rPr lang="ko-KR" altLang="en-US" b="1">
                <a:solidFill>
                  <a:schemeClr val="tx1"/>
                </a:solidFill>
              </a:rPr>
              <a:t>같은 </a:t>
            </a:r>
            <a:r>
              <a:rPr lang="en-US" altLang="ko-KR" b="1" smtClean="0">
                <a:solidFill>
                  <a:schemeClr val="tx1"/>
                </a:solidFill>
              </a:rPr>
              <a:t/>
            </a:r>
            <a:br>
              <a:rPr lang="en-US" altLang="ko-KR" b="1" smtClean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형태의 </a:t>
            </a:r>
            <a:r>
              <a:rPr lang="ko-KR" altLang="en-US" b="1">
                <a:solidFill>
                  <a:schemeClr val="tx1"/>
                </a:solidFill>
              </a:rPr>
              <a:t>다양한 거래 형태가 저장이 되기 때문에 </a:t>
            </a:r>
            <a:r>
              <a:rPr lang="ko-KR" altLang="en-US" b="1">
                <a:solidFill>
                  <a:schemeClr val="accent6">
                    <a:lumMod val="75000"/>
                  </a:schemeClr>
                </a:solidFill>
              </a:rPr>
              <a:t>불필요한 공간을 </a:t>
            </a:r>
            <a:r>
              <a:rPr lang="ko-KR" altLang="en-US" b="1" smtClean="0">
                <a:solidFill>
                  <a:schemeClr val="accent6">
                    <a:lumMod val="75000"/>
                  </a:schemeClr>
                </a:solidFill>
              </a:rPr>
              <a:t>소비 </a:t>
            </a:r>
            <a:r>
              <a:rPr lang="en-US" altLang="ko-KR" b="1" smtClean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smtClean="0">
                <a:solidFill>
                  <a:schemeClr val="tx1"/>
                </a:solidFill>
              </a:rPr>
              <a:t>이런 이유로 </a:t>
            </a:r>
            <a:r>
              <a:rPr lang="ko-KR" altLang="en-US" b="1">
                <a:solidFill>
                  <a:schemeClr val="tx1"/>
                </a:solidFill>
              </a:rPr>
              <a:t>데이터를 처리하는 속도를 감소시키는 등 </a:t>
            </a:r>
            <a:r>
              <a:rPr lang="ko-KR" altLang="en-US" b="1" smtClean="0">
                <a:solidFill>
                  <a:schemeClr val="tx1"/>
                </a:solidFill>
              </a:rPr>
              <a:t>성능 </a:t>
            </a:r>
            <a:r>
              <a:rPr lang="ko-KR" altLang="en-US" b="1">
                <a:solidFill>
                  <a:schemeClr val="tx1"/>
                </a:solidFill>
              </a:rPr>
              <a:t>저하를 일으킬 수 </a:t>
            </a:r>
            <a:r>
              <a:rPr lang="ko-KR" altLang="en-US" b="1" smtClean="0">
                <a:solidFill>
                  <a:schemeClr val="tx1"/>
                </a:solidFill>
              </a:rPr>
              <a:t>있음</a:t>
            </a:r>
            <a:endParaRPr lang="en-US" altLang="ko-KR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0988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UTXO(Unspent </a:t>
            </a:r>
            <a:r>
              <a:rPr lang="en-US" altLang="ko-KR"/>
              <a:t>Transaction </a:t>
            </a:r>
            <a:r>
              <a:rPr lang="en-US" altLang="ko-KR" smtClean="0"/>
              <a:t>Output, </a:t>
            </a:r>
            <a:r>
              <a:rPr lang="ko-KR" altLang="en-US" smtClean="0"/>
              <a:t>미사용트랜잭션출력값</a:t>
            </a:r>
            <a:r>
              <a:rPr lang="en-US" altLang="ko-KR" smtClean="0"/>
              <a:t>)</a:t>
            </a:r>
          </a:p>
          <a:p>
            <a:pPr lvl="2"/>
            <a:endParaRPr lang="ko-KR" altLang="en-US"/>
          </a:p>
          <a:p>
            <a:pPr lvl="1"/>
            <a:endParaRPr lang="en-US" altLang="ko-KR" smtClean="0">
              <a:solidFill>
                <a:schemeClr val="tx1"/>
              </a:solidFill>
            </a:endParaRP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543373"/>
              </p:ext>
            </p:extLst>
          </p:nvPr>
        </p:nvGraphicFramePr>
        <p:xfrm>
          <a:off x="3419872" y="2852936"/>
          <a:ext cx="1728192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포장기 셸 개체" showAsIcon="1" r:id="rId3" imgW="552600" imgH="513360" progId="Package">
                  <p:embed/>
                </p:oleObj>
              </mc:Choice>
              <mc:Fallback>
                <p:oleObj name="포장기 셸 개체" showAsIcon="1" r:id="rId3" imgW="55260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9872" y="2852936"/>
                        <a:ext cx="1728192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50882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트랜잭션 정보의 전파</a:t>
            </a:r>
            <a:endParaRPr lang="ko-KR" altLang="en-US"/>
          </a:p>
          <a:p>
            <a:pPr lvl="1"/>
            <a:r>
              <a:rPr lang="ko-KR" altLang="en-US" smtClean="0"/>
              <a:t>사용자 </a:t>
            </a:r>
            <a:r>
              <a:rPr lang="en-US" altLang="ko-KR" smtClean="0"/>
              <a:t>F</a:t>
            </a:r>
            <a:r>
              <a:rPr lang="ko-KR" altLang="en-US" smtClean="0"/>
              <a:t>가 </a:t>
            </a:r>
            <a:r>
              <a:rPr lang="en-US" altLang="ko-KR" smtClean="0"/>
              <a:t>C</a:t>
            </a:r>
            <a:r>
              <a:rPr lang="ko-KR" altLang="en-US"/>
              <a:t>에게</a:t>
            </a:r>
            <a:r>
              <a:rPr lang="en-US" altLang="ko-KR"/>
              <a:t>1.6BTC</a:t>
            </a:r>
            <a:r>
              <a:rPr lang="ko-KR" altLang="en-US" smtClean="0"/>
              <a:t>와 수수료 </a:t>
            </a:r>
            <a:r>
              <a:rPr lang="en-US" altLang="ko-KR" smtClean="0"/>
              <a:t>0.001BTC </a:t>
            </a:r>
            <a:r>
              <a:rPr lang="ko-KR" altLang="en-US" smtClean="0"/>
              <a:t>송금했을 경우</a:t>
            </a:r>
            <a:endParaRPr lang="en-US" altLang="ko-KR" smtClean="0"/>
          </a:p>
          <a:p>
            <a:pPr lvl="2"/>
            <a:r>
              <a:rPr lang="ko-KR" altLang="en-US" smtClean="0"/>
              <a:t>지갑 앱은 블록체인 네트워크 상의 노드 </a:t>
            </a:r>
            <a:r>
              <a:rPr lang="en-US" altLang="ko-KR" smtClean="0"/>
              <a:t>A</a:t>
            </a:r>
            <a:r>
              <a:rPr lang="ko-KR" altLang="en-US" smtClean="0"/>
              <a:t>에게 거래 정보 전송</a:t>
            </a:r>
            <a:endParaRPr lang="ko-KR" altLang="en-US"/>
          </a:p>
          <a:p>
            <a:pPr lvl="3"/>
            <a:r>
              <a:rPr lang="ko-KR" altLang="en-US" smtClean="0"/>
              <a:t>① 노드 </a:t>
            </a:r>
            <a:r>
              <a:rPr lang="en-US" altLang="ko-KR" smtClean="0"/>
              <a:t>A</a:t>
            </a:r>
            <a:r>
              <a:rPr lang="ko-KR" altLang="en-US" smtClean="0"/>
              <a:t>는 해당거래의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유효성 검증 후에 </a:t>
            </a:r>
            <a:r>
              <a:rPr lang="ko-KR" altLang="en-US" smtClean="0"/>
              <a:t>그 거래를 생성 대기중인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후보 블록에 추가하고</a:t>
            </a:r>
            <a:r>
              <a:rPr lang="en-US" altLang="ko-KR"/>
              <a:t>, </a:t>
            </a:r>
            <a:r>
              <a:rPr lang="ko-KR" altLang="en-US" smtClean="0"/>
              <a:t>인접한 노드로 전파</a:t>
            </a:r>
            <a:endParaRPr lang="ko-KR" altLang="en-US"/>
          </a:p>
          <a:p>
            <a:pPr lvl="3"/>
            <a:r>
              <a:rPr lang="ko-KR" altLang="en-US" smtClean="0"/>
              <a:t>② 전파받은 노드 </a:t>
            </a:r>
            <a:r>
              <a:rPr lang="en-US" altLang="ko-KR" smtClean="0"/>
              <a:t>B</a:t>
            </a:r>
            <a:r>
              <a:rPr lang="ko-KR" altLang="en-US" smtClean="0"/>
              <a:t>도 </a:t>
            </a:r>
            <a:r>
              <a:rPr lang="en-US" altLang="ko-KR" smtClean="0"/>
              <a:t>A</a:t>
            </a:r>
            <a:r>
              <a:rPr lang="ko-KR" altLang="en-US" smtClean="0"/>
              <a:t>와 같은 일을 수행 후 다른 노드에게 전파하며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이 거래는 결국 </a:t>
            </a:r>
            <a:r>
              <a:rPr lang="ko-KR" altLang="en-US" smtClean="0">
                <a:solidFill>
                  <a:srgbClr val="006600"/>
                </a:solidFill>
              </a:rPr>
              <a:t>전체 노드로 전파</a:t>
            </a:r>
            <a:endParaRPr lang="ko-KR" altLang="en-US">
              <a:solidFill>
                <a:srgbClr val="006600"/>
              </a:solidFill>
            </a:endParaRPr>
          </a:p>
          <a:p>
            <a:endParaRPr lang="ko-KR" altLang="en-US" b="0"/>
          </a:p>
          <a:p>
            <a:pPr marL="0" indent="0">
              <a:buNone/>
            </a:pPr>
            <a:endParaRPr lang="en-US" altLang="ko-KR" smtClean="0">
              <a:solidFill>
                <a:schemeClr val="tx1"/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861048"/>
            <a:ext cx="7096125" cy="2838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747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트랜잭션 정보의 전파</a:t>
            </a:r>
            <a:endParaRPr lang="ko-KR" altLang="en-US"/>
          </a:p>
          <a:p>
            <a:endParaRPr lang="ko-KR" altLang="en-US" b="0"/>
          </a:p>
          <a:p>
            <a:pPr marL="0" indent="0">
              <a:buNone/>
            </a:pPr>
            <a:endParaRPr lang="en-US" altLang="ko-KR" smtClean="0">
              <a:solidFill>
                <a:schemeClr val="tx1"/>
              </a:solidFill>
            </a:endParaRP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75110"/>
              </p:ext>
            </p:extLst>
          </p:nvPr>
        </p:nvGraphicFramePr>
        <p:xfrm>
          <a:off x="2411760" y="2636912"/>
          <a:ext cx="4176236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포장기 셸 개체" showAsIcon="1" r:id="rId3" imgW="2287080" imgH="513360" progId="Package">
                  <p:embed/>
                </p:oleObj>
              </mc:Choice>
              <mc:Fallback>
                <p:oleObj name="포장기 셸 개체" showAsIcon="1" r:id="rId3" imgW="228708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2636912"/>
                        <a:ext cx="4176236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2516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트랜잭션의 검증</a:t>
            </a:r>
            <a:endParaRPr lang="ko-KR" altLang="en-US"/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각 노드는 독립적으로 </a:t>
            </a:r>
            <a:r>
              <a:rPr lang="ko-KR" altLang="en-US" smtClean="0"/>
              <a:t>검증 리스트에 </a:t>
            </a:r>
            <a:r>
              <a:rPr lang="ko-KR" altLang="en-US"/>
              <a:t>따라 수신한 트랜잭션을 검증 후</a:t>
            </a:r>
            <a:r>
              <a:rPr lang="en-US" altLang="ko-KR" smtClean="0">
                <a:solidFill>
                  <a:schemeClr val="tx1"/>
                </a:solidFill>
              </a:rPr>
              <a:t>,</a:t>
            </a:r>
            <a:br>
              <a:rPr lang="en-US" altLang="ko-KR" smtClean="0">
                <a:solidFill>
                  <a:schemeClr val="tx1"/>
                </a:solidFill>
              </a:rPr>
            </a:br>
            <a:r>
              <a:rPr lang="ko-KR" altLang="en-US" smtClean="0">
                <a:solidFill>
                  <a:srgbClr val="006600"/>
                </a:solidFill>
              </a:rPr>
              <a:t>이웃 노드로 브로드캐스팅하며 올바르지 않은 트랜잭션은 제거</a:t>
            </a:r>
            <a:endParaRPr lang="ko-KR" altLang="en-US">
              <a:solidFill>
                <a:srgbClr val="006600"/>
              </a:solidFill>
            </a:endParaRPr>
          </a:p>
          <a:p>
            <a:endParaRPr lang="ko-KR" altLang="en-US" b="0"/>
          </a:p>
          <a:p>
            <a:pPr marL="0" indent="0">
              <a:buNone/>
            </a:pPr>
            <a:endParaRPr lang="en-US" altLang="ko-KR" smtClean="0">
              <a:solidFill>
                <a:schemeClr val="tx1"/>
              </a:solidFill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852937"/>
            <a:ext cx="5535935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62311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트랜잭션 구조</a:t>
            </a:r>
            <a:endParaRPr lang="en-US" altLang="ko-KR" smtClean="0"/>
          </a:p>
          <a:p>
            <a:pPr lvl="1"/>
            <a:r>
              <a:rPr lang="ko-KR" altLang="en-US" smtClean="0"/>
              <a:t>블록의 바디에는 첫 번째 나타나는 코인베이스 트랜잭션과 하나 이상의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일반 트랜잭션으로 구성</a:t>
            </a:r>
          </a:p>
          <a:p>
            <a:pPr lvl="2"/>
            <a:r>
              <a:rPr lang="ko-KR" altLang="en-US" smtClean="0"/>
              <a:t>코인베이스 트랜잭션에는 블록의 채굴자에게 지급하는 보상금 내역이 있음</a:t>
            </a:r>
            <a:endParaRPr lang="en-US" altLang="ko-KR" smtClean="0"/>
          </a:p>
        </p:txBody>
      </p:sp>
      <p:pic>
        <p:nvPicPr>
          <p:cNvPr id="2253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40968"/>
            <a:ext cx="5521437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 descr="https://blog.kakaocdn.net/dna/c7pPhA/btsKjs4QWLw/AAAAAAAAAAAAAAAAAAAAACnDjOG2sv0AUuMoTDZkL9NTX3nkUxIRFFd9ED8J89eu/img.png?credential=yqXZFxpELC7KVnFOS48ylbz2pIh7yKj8&amp;expires=1753973999&amp;allow_ip=&amp;allow_referer=&amp;signature=DhWsDGjRjWW009v38uusWHb71kk%3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924944"/>
            <a:ext cx="4415667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736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트랜잭션의 전자서명 확인</a:t>
            </a:r>
            <a:endParaRPr lang="en-US" altLang="ko-KR" smtClean="0"/>
          </a:p>
          <a:p>
            <a:pPr lvl="1"/>
            <a:r>
              <a:rPr lang="ko-KR" altLang="en-US" smtClean="0"/>
              <a:t>과정</a:t>
            </a:r>
            <a:endParaRPr lang="en-US" altLang="ko-KR" smtClean="0"/>
          </a:p>
          <a:p>
            <a:pPr lvl="2"/>
            <a:r>
              <a:rPr lang="ko-KR" altLang="en-US" sz="1400" smtClean="0"/>
              <a:t>① 송금자의 서명</a:t>
            </a:r>
            <a:r>
              <a:rPr lang="en-US" altLang="ko-KR" sz="1400"/>
              <a:t>(sig)</a:t>
            </a:r>
            <a:r>
              <a:rPr lang="ko-KR" altLang="en-US" sz="1400" smtClean="0"/>
              <a:t>와 ② 송금자의 공개키</a:t>
            </a:r>
            <a:r>
              <a:rPr lang="en-US" altLang="ko-KR" sz="1400"/>
              <a:t>(pubKey)</a:t>
            </a:r>
            <a:r>
              <a:rPr lang="ko-KR" altLang="en-US" sz="1400" smtClean="0"/>
              <a:t>를 스택에 넣음</a:t>
            </a:r>
            <a:endParaRPr lang="ko-KR" altLang="en-US" sz="1400" b="0"/>
          </a:p>
          <a:p>
            <a:pPr lvl="2"/>
            <a:r>
              <a:rPr lang="ko-KR" altLang="en-US" sz="1400" smtClean="0"/>
              <a:t>③ </a:t>
            </a:r>
            <a:r>
              <a:rPr lang="en-US" altLang="ko-KR" sz="1400" smtClean="0"/>
              <a:t>OP_DUP : </a:t>
            </a:r>
            <a:r>
              <a:rPr lang="en-US" altLang="ko-KR" sz="1400"/>
              <a:t>pubKey</a:t>
            </a:r>
            <a:r>
              <a:rPr lang="ko-KR" altLang="en-US" sz="1400" smtClean="0"/>
              <a:t>를 복사하여 스택에 넣음</a:t>
            </a:r>
            <a:endParaRPr lang="en-US" altLang="ko-KR" sz="1400" smtClean="0"/>
          </a:p>
          <a:p>
            <a:pPr lvl="2"/>
            <a:r>
              <a:rPr lang="ko-KR" altLang="en-US" sz="1400" smtClean="0"/>
              <a:t>④ </a:t>
            </a:r>
            <a:r>
              <a:rPr lang="en-US" altLang="ko-KR" sz="1400" smtClean="0"/>
              <a:t>OP_HASH160 : </a:t>
            </a:r>
            <a:r>
              <a:rPr lang="en-US" altLang="ko-KR" sz="1400"/>
              <a:t>pubKey</a:t>
            </a:r>
            <a:r>
              <a:rPr lang="ko-KR" altLang="en-US" sz="1400" smtClean="0"/>
              <a:t>의 해시를 계산하여 </a:t>
            </a:r>
            <a:r>
              <a:rPr lang="en-US" altLang="ko-KR" sz="1400" smtClean="0"/>
              <a:t>pubKeyHash</a:t>
            </a:r>
            <a:r>
              <a:rPr lang="ko-KR" altLang="en-US" sz="1400" smtClean="0"/>
              <a:t>로 스택에 넣음</a:t>
            </a:r>
            <a:endParaRPr lang="en-US" altLang="ko-KR" sz="1400" smtClean="0"/>
          </a:p>
          <a:p>
            <a:pPr lvl="2"/>
            <a:r>
              <a:rPr lang="ko-KR" altLang="en-US" sz="1400" smtClean="0"/>
              <a:t>⑤ 송금자의 공개키 해시</a:t>
            </a:r>
            <a:r>
              <a:rPr lang="en-US" altLang="ko-KR" sz="1400"/>
              <a:t>(pubKeyHash)</a:t>
            </a:r>
            <a:r>
              <a:rPr lang="ko-KR" altLang="en-US" sz="1400" smtClean="0"/>
              <a:t>를 스택에 넣음</a:t>
            </a:r>
            <a:endParaRPr lang="ko-KR" altLang="en-US" sz="1400" b="0"/>
          </a:p>
          <a:p>
            <a:pPr lvl="2"/>
            <a:r>
              <a:rPr lang="ko-KR" altLang="en-US" sz="1400" smtClean="0"/>
              <a:t>⑥ </a:t>
            </a:r>
            <a:r>
              <a:rPr lang="en-US" altLang="ko-KR" sz="1400" smtClean="0"/>
              <a:t>OP_EQUALVERIFY : pubKeyHash 2 </a:t>
            </a:r>
            <a:r>
              <a:rPr lang="ko-KR" altLang="en-US" sz="1400" smtClean="0"/>
              <a:t>개를 비교하여 일치하지 않으면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    </a:t>
            </a:r>
            <a:r>
              <a:rPr lang="ko-KR" altLang="en-US" sz="1400" smtClean="0"/>
              <a:t>강제 종료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ko-KR" altLang="en-US" sz="1400" smtClean="0"/>
              <a:t>⑦ </a:t>
            </a:r>
            <a:r>
              <a:rPr lang="en-US" altLang="ko-KR" sz="1400" smtClean="0"/>
              <a:t>OP_CHECKSIG : </a:t>
            </a:r>
            <a:r>
              <a:rPr lang="ko-KR" altLang="en-US" sz="1400" smtClean="0"/>
              <a:t>송금자의 </a:t>
            </a:r>
            <a:r>
              <a:rPr lang="en-US" altLang="ko-KR" sz="1400" smtClean="0"/>
              <a:t>pubKey</a:t>
            </a:r>
            <a:r>
              <a:rPr lang="ko-KR" altLang="en-US" sz="1400" smtClean="0"/>
              <a:t>로 </a:t>
            </a:r>
            <a:r>
              <a:rPr lang="en-US" altLang="ko-KR" sz="1400" smtClean="0"/>
              <a:t>sig</a:t>
            </a:r>
            <a:r>
              <a:rPr lang="ko-KR" altLang="en-US" sz="1400" smtClean="0"/>
              <a:t>를 검증하여 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    </a:t>
            </a:r>
            <a:r>
              <a:rPr lang="ko-KR" altLang="en-US" sz="1400" smtClean="0"/>
              <a:t>결과</a:t>
            </a:r>
            <a:r>
              <a:rPr lang="en-US" altLang="ko-KR" sz="1400"/>
              <a:t>(1 </a:t>
            </a:r>
            <a:r>
              <a:rPr lang="ko-KR" altLang="en-US" sz="1400"/>
              <a:t>또는</a:t>
            </a:r>
            <a:r>
              <a:rPr lang="en-US" altLang="ko-KR" sz="1400"/>
              <a:t>0)</a:t>
            </a:r>
            <a:r>
              <a:rPr lang="ko-KR" altLang="en-US" sz="1400" smtClean="0"/>
              <a:t>을 스택에 넣음</a:t>
            </a:r>
            <a:endParaRPr lang="ko-KR" altLang="en-US" sz="140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55851"/>
            <a:ext cx="819150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34852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트랜잭션의 전자서명 확인</a:t>
            </a:r>
            <a:endParaRPr lang="en-US" altLang="ko-KR" smtClean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151154"/>
              </p:ext>
            </p:extLst>
          </p:nvPr>
        </p:nvGraphicFramePr>
        <p:xfrm>
          <a:off x="2555776" y="2564904"/>
          <a:ext cx="3935689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포장기 셸 개체" showAsIcon="1" r:id="rId3" imgW="2001240" imgH="513360" progId="Package">
                  <p:embed/>
                </p:oleObj>
              </mc:Choice>
              <mc:Fallback>
                <p:oleObj name="포장기 셸 개체" showAsIcon="1" r:id="rId3" imgW="200124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5776" y="2564904"/>
                        <a:ext cx="3935689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14974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블록의 구조 및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비트코인의 동작</a:t>
            </a:r>
          </a:p>
        </p:txBody>
      </p:sp>
      <p:pic>
        <p:nvPicPr>
          <p:cNvPr id="25602" name="Picture 2" descr="https://blog.kakaocdn.net/dna/eUKdCu/btsKh3erawA/AAAAAAAAAAAAAAAAAAAAALubN3QAZuohzuDoyBK-29cWNBwE6lXSK62riUjajgmr/img.png?credential=yqXZFxpELC7KVnFOS48ylbz2pIh7yKj8&amp;expires=1753973999&amp;allow_ip=&amp;allow_referer=&amp;signature=L4nVhhGMqQoH7ie%2F7IoN7dbt80k%3D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60848"/>
            <a:ext cx="7488832" cy="462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14372</TotalTime>
  <Words>1233</Words>
  <Application>Microsoft Office PowerPoint</Application>
  <PresentationFormat>화면 슬라이드 쇼(4:3)</PresentationFormat>
  <Paragraphs>300</Paragraphs>
  <Slides>45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7" baseType="lpstr">
      <vt:lpstr>Office 테마</vt:lpstr>
      <vt:lpstr>포장기 셸 개체</vt:lpstr>
      <vt:lpstr>블록체인 기술과 응용 서비스</vt:lpstr>
      <vt:lpstr>     비트코인블록체인의구조와동작원리 </vt:lpstr>
      <vt:lpstr>학습목표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비트코인 네트워크 노드와 비트코인 주소 생성 </vt:lpstr>
      <vt:lpstr>     비트코인 블록체인의 구조와 동작원리 </vt:lpstr>
      <vt:lpstr>학습목표 </vt:lpstr>
      <vt:lpstr>블록의 구조 및 헤더 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  <vt:lpstr>블록의 구조 및 헤더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블록체인의 개요</dc:title>
  <dc:creator>Microsoft Corporation</dc:creator>
  <cp:lastModifiedBy>박인철</cp:lastModifiedBy>
  <cp:revision>439</cp:revision>
  <dcterms:created xsi:type="dcterms:W3CDTF">2006-10-05T04:04:58Z</dcterms:created>
  <dcterms:modified xsi:type="dcterms:W3CDTF">2025-11-10T12:04:41Z</dcterms:modified>
</cp:coreProperties>
</file>